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73"/>
  </p:notesMasterIdLst>
  <p:sldIdLst>
    <p:sldId id="289" r:id="rId2"/>
    <p:sldId id="296" r:id="rId3"/>
    <p:sldId id="299" r:id="rId4"/>
    <p:sldId id="308" r:id="rId5"/>
    <p:sldId id="319" r:id="rId6"/>
    <p:sldId id="257" r:id="rId7"/>
    <p:sldId id="258" r:id="rId8"/>
    <p:sldId id="272" r:id="rId9"/>
    <p:sldId id="271" r:id="rId10"/>
    <p:sldId id="273" r:id="rId11"/>
    <p:sldId id="300" r:id="rId12"/>
    <p:sldId id="274" r:id="rId13"/>
    <p:sldId id="302" r:id="rId14"/>
    <p:sldId id="306" r:id="rId15"/>
    <p:sldId id="313" r:id="rId16"/>
    <p:sldId id="316" r:id="rId17"/>
    <p:sldId id="263" r:id="rId18"/>
    <p:sldId id="295" r:id="rId19"/>
    <p:sldId id="303" r:id="rId20"/>
    <p:sldId id="304" r:id="rId21"/>
    <p:sldId id="264" r:id="rId22"/>
    <p:sldId id="279" r:id="rId23"/>
    <p:sldId id="307" r:id="rId24"/>
    <p:sldId id="326" r:id="rId25"/>
    <p:sldId id="328" r:id="rId26"/>
    <p:sldId id="327" r:id="rId27"/>
    <p:sldId id="325" r:id="rId28"/>
    <p:sldId id="259" r:id="rId29"/>
    <p:sldId id="266" r:id="rId30"/>
    <p:sldId id="267" r:id="rId31"/>
    <p:sldId id="268" r:id="rId32"/>
    <p:sldId id="269" r:id="rId33"/>
    <p:sldId id="270" r:id="rId34"/>
    <p:sldId id="276" r:id="rId35"/>
    <p:sldId id="278" r:id="rId36"/>
    <p:sldId id="275" r:id="rId37"/>
    <p:sldId id="277" r:id="rId38"/>
    <p:sldId id="281" r:id="rId39"/>
    <p:sldId id="309" r:id="rId40"/>
    <p:sldId id="314" r:id="rId41"/>
    <p:sldId id="280" r:id="rId42"/>
    <p:sldId id="288" r:id="rId43"/>
    <p:sldId id="294" r:id="rId44"/>
    <p:sldId id="310" r:id="rId45"/>
    <p:sldId id="311" r:id="rId46"/>
    <p:sldId id="317" r:id="rId47"/>
    <p:sldId id="322" r:id="rId48"/>
    <p:sldId id="329" r:id="rId49"/>
    <p:sldId id="321" r:id="rId50"/>
    <p:sldId id="282" r:id="rId51"/>
    <p:sldId id="283" r:id="rId52"/>
    <p:sldId id="284" r:id="rId53"/>
    <p:sldId id="285" r:id="rId54"/>
    <p:sldId id="286" r:id="rId55"/>
    <p:sldId id="301" r:id="rId56"/>
    <p:sldId id="315" r:id="rId57"/>
    <p:sldId id="323" r:id="rId58"/>
    <p:sldId id="324" r:id="rId59"/>
    <p:sldId id="330" r:id="rId60"/>
    <p:sldId id="333" r:id="rId61"/>
    <p:sldId id="336" r:id="rId62"/>
    <p:sldId id="337" r:id="rId63"/>
    <p:sldId id="339" r:id="rId64"/>
    <p:sldId id="338" r:id="rId65"/>
    <p:sldId id="331" r:id="rId66"/>
    <p:sldId id="290" r:id="rId67"/>
    <p:sldId id="297" r:id="rId68"/>
    <p:sldId id="291" r:id="rId69"/>
    <p:sldId id="298" r:id="rId70"/>
    <p:sldId id="292" r:id="rId71"/>
    <p:sldId id="287" r:id="rId72"/>
  </p:sldIdLst>
  <p:sldSz cx="21770975" cy="12245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58" userDrawn="1">
          <p15:clr>
            <a:srgbClr val="A4A3A4"/>
          </p15:clr>
        </p15:guide>
        <p15:guide id="2" pos="44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1100"/>
    <a:srgbClr val="941651"/>
    <a:srgbClr val="C4AC4B"/>
    <a:srgbClr val="0404FF"/>
    <a:srgbClr val="FF0000"/>
    <a:srgbClr val="00BC00"/>
    <a:srgbClr val="3803FF"/>
    <a:srgbClr val="FF0B0B"/>
    <a:srgbClr val="FFFFFF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18"/>
    <p:restoredTop sz="94517"/>
  </p:normalViewPr>
  <p:slideViewPr>
    <p:cSldViewPr snapToGrid="0">
      <p:cViewPr>
        <p:scale>
          <a:sx n="56" d="100"/>
          <a:sy n="56" d="100"/>
        </p:scale>
        <p:origin x="-264" y="384"/>
      </p:cViewPr>
      <p:guideLst>
        <p:guide orient="horz" pos="3858"/>
        <p:guide pos="44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47C597-236F-2C4A-9699-EC0B76E604FA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29D07D-B4CB-4644-8E0A-B82CFD78DE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5319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26175" rtl="0" eaLnBrk="1" latinLnBrk="0" hangingPunct="1">
      <a:defRPr kumimoji="1" sz="1478" kern="1200">
        <a:solidFill>
          <a:schemeClr val="tx1"/>
        </a:solidFill>
        <a:latin typeface="+mn-lt"/>
        <a:ea typeface="+mn-ea"/>
        <a:cs typeface="+mn-cs"/>
      </a:defRPr>
    </a:lvl1pPr>
    <a:lvl2pPr marL="563088" algn="l" defTabSz="1126175" rtl="0" eaLnBrk="1" latinLnBrk="0" hangingPunct="1">
      <a:defRPr kumimoji="1" sz="1478" kern="1200">
        <a:solidFill>
          <a:schemeClr val="tx1"/>
        </a:solidFill>
        <a:latin typeface="+mn-lt"/>
        <a:ea typeface="+mn-ea"/>
        <a:cs typeface="+mn-cs"/>
      </a:defRPr>
    </a:lvl2pPr>
    <a:lvl3pPr marL="1126175" algn="l" defTabSz="1126175" rtl="0" eaLnBrk="1" latinLnBrk="0" hangingPunct="1">
      <a:defRPr kumimoji="1" sz="1478" kern="1200">
        <a:solidFill>
          <a:schemeClr val="tx1"/>
        </a:solidFill>
        <a:latin typeface="+mn-lt"/>
        <a:ea typeface="+mn-ea"/>
        <a:cs typeface="+mn-cs"/>
      </a:defRPr>
    </a:lvl3pPr>
    <a:lvl4pPr marL="1689263" algn="l" defTabSz="1126175" rtl="0" eaLnBrk="1" latinLnBrk="0" hangingPunct="1">
      <a:defRPr kumimoji="1" sz="1478" kern="1200">
        <a:solidFill>
          <a:schemeClr val="tx1"/>
        </a:solidFill>
        <a:latin typeface="+mn-lt"/>
        <a:ea typeface="+mn-ea"/>
        <a:cs typeface="+mn-cs"/>
      </a:defRPr>
    </a:lvl4pPr>
    <a:lvl5pPr marL="2252350" algn="l" defTabSz="1126175" rtl="0" eaLnBrk="1" latinLnBrk="0" hangingPunct="1">
      <a:defRPr kumimoji="1" sz="1478" kern="1200">
        <a:solidFill>
          <a:schemeClr val="tx1"/>
        </a:solidFill>
        <a:latin typeface="+mn-lt"/>
        <a:ea typeface="+mn-ea"/>
        <a:cs typeface="+mn-cs"/>
      </a:defRPr>
    </a:lvl5pPr>
    <a:lvl6pPr marL="2815438" algn="l" defTabSz="1126175" rtl="0" eaLnBrk="1" latinLnBrk="0" hangingPunct="1">
      <a:defRPr kumimoji="1" sz="1478" kern="1200">
        <a:solidFill>
          <a:schemeClr val="tx1"/>
        </a:solidFill>
        <a:latin typeface="+mn-lt"/>
        <a:ea typeface="+mn-ea"/>
        <a:cs typeface="+mn-cs"/>
      </a:defRPr>
    </a:lvl6pPr>
    <a:lvl7pPr marL="3378525" algn="l" defTabSz="1126175" rtl="0" eaLnBrk="1" latinLnBrk="0" hangingPunct="1">
      <a:defRPr kumimoji="1" sz="1478" kern="1200">
        <a:solidFill>
          <a:schemeClr val="tx1"/>
        </a:solidFill>
        <a:latin typeface="+mn-lt"/>
        <a:ea typeface="+mn-ea"/>
        <a:cs typeface="+mn-cs"/>
      </a:defRPr>
    </a:lvl7pPr>
    <a:lvl8pPr marL="3941613" algn="l" defTabSz="1126175" rtl="0" eaLnBrk="1" latinLnBrk="0" hangingPunct="1">
      <a:defRPr kumimoji="1" sz="1478" kern="1200">
        <a:solidFill>
          <a:schemeClr val="tx1"/>
        </a:solidFill>
        <a:latin typeface="+mn-lt"/>
        <a:ea typeface="+mn-ea"/>
        <a:cs typeface="+mn-cs"/>
      </a:defRPr>
    </a:lvl8pPr>
    <a:lvl9pPr marL="4504700" algn="l" defTabSz="1126175" rtl="0" eaLnBrk="1" latinLnBrk="0" hangingPunct="1">
      <a:defRPr kumimoji="1" sz="147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0D1BB-8014-4CCA-C238-A6426338F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FD1B87B-7BAA-8F6E-D3F2-73053A19E6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B72ED0C-6644-B997-59DC-E306CD1D1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E8080A6-CD08-7413-7646-A25C1F5B53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2804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B39B3-9E49-95DB-7769-7BF06CAEB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2E741F0-6FD3-C589-682F-E7FE17450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0A7BF1C-9808-7F8B-D0EE-D32853B85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E43663C-5597-51CD-31D2-407B4B9ECD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9852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4C128-83A4-27FF-AED1-DCE464C9E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692A89-2951-5052-B3B6-F06A1F1CF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CCE5E72-D1FB-6F51-97D3-14608CB50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01D8B0-30C4-C4EB-CB5F-24EE5FED5A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02099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3A504-B208-A903-4681-83FBC0DC9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1FD0200-2B91-B228-9EB7-80D4606ED1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CFF340C-3B2C-1FC9-B0B9-9690155A6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0B431CB-A252-843A-3E2D-8819E97CBA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9200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BF2EB-FED9-EEFB-E38C-011F32848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D61BB42-CD2D-0CDE-8118-7DBA8D7DA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B99E858-D760-8111-EB18-7F9130A9FC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AA49EE5-6C31-73E6-1AC6-83338F4009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3742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87841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42528-2C0C-F145-E9B2-BCCA3E46C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490DDFB-EB8E-7BD3-98A6-04ACA3C2BE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3BD2224-7541-26D3-18EC-F132415381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11C11-CC67-02B5-D2B4-E825BB61A2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48846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08979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173F0-2920-AF2C-1DE5-AB25F6DC0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D51F945-D231-F347-CB65-798F40DA6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99AD6AF-0D40-AC0A-E4DD-8E10826E7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07222A4-64DE-F9C5-884F-4BBDB585E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48179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D2519-835A-997A-A01E-6A58C2A11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C69503D-CEF3-B79F-F534-9ED3E82D8B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707963E-B33C-7E32-F088-6A3EBECA9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BB7CE2D-82B1-B396-4AAD-73874E68E6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0004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3270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4C2A0-293A-36B6-4F75-0F45DDBBB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9EDE57F-166F-F8CF-1492-81C05DB570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B84A45F-8708-B3C2-CFF6-2412BF277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8740DF2-ECB4-F9EC-F4A2-649F4F4757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63431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9948F-C147-0C5A-10EF-1891D1DFC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D331AA8-FF95-7D5B-C04A-06C484C8A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79898A1-486B-6D32-8CF5-B53275BBF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8DB46AD-84F4-315F-A05B-13720EF834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82945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283B3-3C65-052A-6DFF-C271576FC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6D9F945-9334-C7F0-B5CD-17DC40287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37F148E-EEBE-9F4F-2AD2-CA105F28FF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A65C28A-88AC-3FE0-4F2A-11DF12615B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77172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28049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341C5-162D-B011-B430-61888824B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A61FE78-DE82-5293-057D-48E37AF372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049FD17-103F-CC6B-949A-9E64F8696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EB513D3-F9BA-1800-1475-F9199767ED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34193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68833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03CDE-89C4-CCE0-2514-6EE03BAAB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41D4451-8688-72F1-495A-BC5EA63D42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1995856-AE8F-88CF-FF8D-DEF7160DBB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32E789B-0C85-F1CE-A4C9-4D2A7E978C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6666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870E2-FDE4-7D18-DDAB-E721D05AF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731481A-373C-D25F-6EC3-6E4BB9CE86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10460C9-D0F0-46A1-5512-560216EDD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FE8E71-29EF-6DD0-B9C8-AAD9D7073D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71365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18F90-FDC2-526B-1203-987D52A47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A8910A8-4319-AD39-3273-A34172DFB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4A55444-5021-D4AD-3C18-9EC58AF12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583B6B5-CAAD-3209-A5F4-128E3D16BD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93440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639BE-9A8A-4DAB-0452-A0AAADB71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84DBDA4-809A-3712-D236-85D18625F2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58641C3-C706-D24C-301E-78D0D4232B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DF1125-CA54-CE74-3C65-BCDD005924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08898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40377-C4DB-5725-DCDD-6AD7A7F7B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9FBA91B-88A6-8C98-0526-F6394F52A9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88B6CC4-62D9-BF14-E95B-7D03DC38C3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B91C83D-4B90-0700-ED69-243C65BBA0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73098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3E178-E7B5-610E-C4E3-3C914B299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D14FC21-1BE0-D711-9C2A-FFB540A151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9755B1F-A19F-FC76-5B19-FFDD7B727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BD883A8-B7A7-C97D-1C61-6973CC9099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00856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31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20287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34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60307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35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80937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38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75533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F02F5-422F-CDCB-DCD2-26154376F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9D2FF7A-E0F1-4F05-06DA-05D42DA58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D51DB0C-B5F2-B21F-7A60-D0AD8C9BB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DCE523A-3C35-D138-FDD7-2F3A2DCCF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39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01572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1FFA9-F0FA-6C11-AE28-3936F7DC5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3A7407B-756E-D96C-03A9-A579249EA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81AC056-034C-AB2D-9D3D-B4A929B3F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39628EE-7A47-D38A-A976-9455FDB2C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453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168602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11E08-10C6-6014-E09D-C2BA0C876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BB81321-F7DC-43C8-8CFB-CF51745287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2CE4AA1-E96D-FA1D-E2D7-50E4111C2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C637723-8573-BC0F-67AD-4746E9456F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977928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8A0CE-27FF-6069-AEF6-5E38167E3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8486364-1081-47CC-AA60-85FE953104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C4DA814-3753-DB75-28F1-9A9999405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7440F6B-4742-B542-6BD6-E969CB1189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28676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C1608-D49C-C7A6-2043-C74258D30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AF84CDA-D766-8B1E-3988-E985DF881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246F36F-5A62-4E01-3E34-AF2E07094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B44FBA9-1292-23E1-566C-B19FB160B3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140544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F7A09-1A44-5372-24B2-08ED55FD7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3C2D69E-E63A-7132-8B3D-E1CB6D1AD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802ADEB-DEA4-E500-2CDD-3E7955B39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5FFA050-0F9D-AD13-0318-09F3F87E93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68951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1EF4F-9E60-150C-E2D5-DAF0AF5D1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27DA95-F54F-7B3C-D56A-6A31FFB8DA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6E26740-FED7-B548-1C97-879DA24CE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5E83AB8-8090-40A9-AC2E-926963F61A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780020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32E2F-19A0-267E-4CDD-07B782017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8D7DA2E-DBEB-EFBD-E7E8-FE2367022E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2B5436A-AC0C-C842-92DD-BAF092795E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0E2E105-ABE8-B771-C0BF-B1FB268989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192122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103B1-858A-E4FE-9C0B-35DC83BD2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8D5C4DA-1B52-D6A7-FC30-A6E885E78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05BBADF-3CD0-29DF-A17E-4E7BBE57EB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899BB36-0E77-3309-CD92-D633F18554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082044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A3503-418E-D87F-1BB7-EE1BE8DB1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6F831B3-174F-9CF9-CC76-B62250CCC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091B1F6-0A35-2B38-2E4C-C7096EB36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C1C3D51-284D-DA21-FE84-0947415117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608473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50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37810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51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899655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2CD9E-7F96-8243-B3DF-31139FB45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74854D1-FEB8-88C1-BA5B-C61765E8B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F140BD3-3940-21D1-AAE2-42DF06FE5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51BE3F9-28E2-4601-643C-734AD74DAE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52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778847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7F168-3969-4D55-EA47-42E07379B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ECC4C4A-04EB-EDE9-2368-9E365B5E8A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5DC58E6-A37C-D418-24DB-7FE74CF86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C87B940-E2D5-B13A-7C21-718714F513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53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491765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29F4C-1D0F-7176-5C46-E55FA061C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FDFFCA7-9358-6EC1-4046-C73C5B93F2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D754938-D157-0EDB-8F4F-CB3212466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396E44-027B-2C0B-BC4C-EABD6B89A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54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059428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5FB75-B4D4-1A16-0177-3153F6B0E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D4C66A3-A248-7C21-B6DD-461EF732D4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9201C22-559D-24D9-7AF1-9B3B24EAD4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0E2FB8-7EB4-5A17-DA66-E192345812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55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2512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B90F9-8349-86BF-F350-15813E415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0602353-A80B-75B4-4EAC-1CA3832A07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04B5064-AB76-577A-FD28-A62E8C9F54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0BF9984-DF5E-A75C-AF90-9719A4056C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56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342891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C546A-E630-97BE-A269-E2CBE0568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0048E11-3BF8-F048-AB58-6C49B1404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D32A6C4-6D1A-B469-8891-CCE4CB447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80164FA-C51D-2ADC-63CB-40F146C5C5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57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893150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3C6E2-19CB-5921-6748-48B6A874C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FA84B26-42A7-4AD4-0998-E5ABB1CDC8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53B771D-2AE2-EBFD-9116-E0FD3CF8F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88B0A9F-47BE-97C5-8F4A-C3CAE740A8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58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768489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57E0B-95BC-919B-C9FA-866CFE7B1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EE0F5F0-8769-3EA0-8B55-3CE89A959C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BAB0572-E6DE-37B1-273A-19DBF3041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A64958B-46C9-C3D0-8C83-024C0B74B5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59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232849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9D440-F033-36B5-90C7-39BDE0358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98E41AC-CE1A-C4A1-2055-19A081742F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1014E3D-B41D-7BF8-9ED2-6922C6C288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82B3CDF-CFAB-7A20-3958-05786EEE6A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60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903246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18EAB-6F57-1311-A87D-5055E7E71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E883B44-10F1-15AF-57DE-973CB5947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B2D68BB-D3A0-C0DC-BFEF-BB1D55AD4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7E756D1-BACD-72C5-1E1A-27C23C86F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61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151503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62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855861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318BF-A9F1-0243-9909-ACFE405E6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B1AABF8-5638-4685-291A-20D7F952CE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6E28D52-F960-554D-2742-9D0B88258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FFA8CAA-248B-711A-6CC8-BA3F578D23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63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651766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F8E0D-1046-93CC-989C-30D710148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8100637-86F1-4E3F-4CC9-B10D3286B8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E85A76C-0A18-45AB-A30B-3032F3203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B4447F9-8342-C8DE-9BB1-824AAE93D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64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196250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E4E62-CFE3-A596-2DAA-421361F8C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B5ED307-9101-8C81-DDDC-A2BBFCECEA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B494D6E-26E9-D676-74B1-2061BB1093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5EC25FD-9A41-C527-96B7-E452A47FA8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65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231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21372" y="2004145"/>
            <a:ext cx="16328231" cy="4263414"/>
          </a:xfrm>
        </p:spPr>
        <p:txBody>
          <a:bodyPr anchor="b"/>
          <a:lstStyle>
            <a:lvl1pPr algn="ctr">
              <a:defRPr sz="1071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21372" y="6431973"/>
            <a:ext cx="16328231" cy="2956608"/>
          </a:xfrm>
        </p:spPr>
        <p:txBody>
          <a:bodyPr/>
          <a:lstStyle>
            <a:lvl1pPr marL="0" indent="0" algn="ctr">
              <a:buNone/>
              <a:defRPr sz="4285"/>
            </a:lvl1pPr>
            <a:lvl2pPr marL="816376" indent="0" algn="ctr">
              <a:buNone/>
              <a:defRPr sz="3571"/>
            </a:lvl2pPr>
            <a:lvl3pPr marL="1632753" indent="0" algn="ctr">
              <a:buNone/>
              <a:defRPr sz="3214"/>
            </a:lvl3pPr>
            <a:lvl4pPr marL="2449129" indent="0" algn="ctr">
              <a:buNone/>
              <a:defRPr sz="2857"/>
            </a:lvl4pPr>
            <a:lvl5pPr marL="3265505" indent="0" algn="ctr">
              <a:buNone/>
              <a:defRPr sz="2857"/>
            </a:lvl5pPr>
            <a:lvl6pPr marL="4081882" indent="0" algn="ctr">
              <a:buNone/>
              <a:defRPr sz="2857"/>
            </a:lvl6pPr>
            <a:lvl7pPr marL="4898258" indent="0" algn="ctr">
              <a:buNone/>
              <a:defRPr sz="2857"/>
            </a:lvl7pPr>
            <a:lvl8pPr marL="5714634" indent="0" algn="ctr">
              <a:buNone/>
              <a:defRPr sz="2857"/>
            </a:lvl8pPr>
            <a:lvl9pPr marL="6531011" indent="0" algn="ctr">
              <a:buNone/>
              <a:defRPr sz="2857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0479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7716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415" y="3052991"/>
            <a:ext cx="18777466" cy="5093985"/>
          </a:xfrm>
        </p:spPr>
        <p:txBody>
          <a:bodyPr anchor="b"/>
          <a:lstStyle>
            <a:lvl1pPr>
              <a:defRPr sz="1071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5415" y="8195167"/>
            <a:ext cx="18777466" cy="2678806"/>
          </a:xfrm>
        </p:spPr>
        <p:txBody>
          <a:bodyPr/>
          <a:lstStyle>
            <a:lvl1pPr marL="0" indent="0">
              <a:buNone/>
              <a:defRPr sz="4285">
                <a:solidFill>
                  <a:schemeClr val="tx1">
                    <a:tint val="82000"/>
                  </a:schemeClr>
                </a:solidFill>
              </a:defRPr>
            </a:lvl1pPr>
            <a:lvl2pPr marL="816376" indent="0">
              <a:buNone/>
              <a:defRPr sz="3571">
                <a:solidFill>
                  <a:schemeClr val="tx1">
                    <a:tint val="82000"/>
                  </a:schemeClr>
                </a:solidFill>
              </a:defRPr>
            </a:lvl2pPr>
            <a:lvl3pPr marL="1632753" indent="0">
              <a:buNone/>
              <a:defRPr sz="3214">
                <a:solidFill>
                  <a:schemeClr val="tx1">
                    <a:tint val="82000"/>
                  </a:schemeClr>
                </a:solidFill>
              </a:defRPr>
            </a:lvl3pPr>
            <a:lvl4pPr marL="2449129" indent="0">
              <a:buNone/>
              <a:defRPr sz="2857">
                <a:solidFill>
                  <a:schemeClr val="tx1">
                    <a:tint val="82000"/>
                  </a:schemeClr>
                </a:solidFill>
              </a:defRPr>
            </a:lvl4pPr>
            <a:lvl5pPr marL="3265505" indent="0">
              <a:buNone/>
              <a:defRPr sz="2857">
                <a:solidFill>
                  <a:schemeClr val="tx1">
                    <a:tint val="82000"/>
                  </a:schemeClr>
                </a:solidFill>
              </a:defRPr>
            </a:lvl5pPr>
            <a:lvl6pPr marL="4081882" indent="0">
              <a:buNone/>
              <a:defRPr sz="2857">
                <a:solidFill>
                  <a:schemeClr val="tx1">
                    <a:tint val="82000"/>
                  </a:schemeClr>
                </a:solidFill>
              </a:defRPr>
            </a:lvl6pPr>
            <a:lvl7pPr marL="4898258" indent="0">
              <a:buNone/>
              <a:defRPr sz="2857">
                <a:solidFill>
                  <a:schemeClr val="tx1">
                    <a:tint val="82000"/>
                  </a:schemeClr>
                </a:solidFill>
              </a:defRPr>
            </a:lvl7pPr>
            <a:lvl8pPr marL="5714634" indent="0">
              <a:buNone/>
              <a:defRPr sz="2857">
                <a:solidFill>
                  <a:schemeClr val="tx1">
                    <a:tint val="82000"/>
                  </a:schemeClr>
                </a:solidFill>
              </a:defRPr>
            </a:lvl8pPr>
            <a:lvl9pPr marL="6531011" indent="0">
              <a:buNone/>
              <a:defRPr sz="285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3903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96755" y="3259924"/>
            <a:ext cx="9252664" cy="776995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1556" y="3259924"/>
            <a:ext cx="9252664" cy="776995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326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9590" y="651986"/>
            <a:ext cx="18777466" cy="236698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9591" y="3001966"/>
            <a:ext cx="9210142" cy="1471217"/>
          </a:xfrm>
        </p:spPr>
        <p:txBody>
          <a:bodyPr anchor="b"/>
          <a:lstStyle>
            <a:lvl1pPr marL="0" indent="0">
              <a:buNone/>
              <a:defRPr sz="4285" b="1"/>
            </a:lvl1pPr>
            <a:lvl2pPr marL="816376" indent="0">
              <a:buNone/>
              <a:defRPr sz="3571" b="1"/>
            </a:lvl2pPr>
            <a:lvl3pPr marL="1632753" indent="0">
              <a:buNone/>
              <a:defRPr sz="3214" b="1"/>
            </a:lvl3pPr>
            <a:lvl4pPr marL="2449129" indent="0">
              <a:buNone/>
              <a:defRPr sz="2857" b="1"/>
            </a:lvl4pPr>
            <a:lvl5pPr marL="3265505" indent="0">
              <a:buNone/>
              <a:defRPr sz="2857" b="1"/>
            </a:lvl5pPr>
            <a:lvl6pPr marL="4081882" indent="0">
              <a:buNone/>
              <a:defRPr sz="2857" b="1"/>
            </a:lvl6pPr>
            <a:lvl7pPr marL="4898258" indent="0">
              <a:buNone/>
              <a:defRPr sz="2857" b="1"/>
            </a:lvl7pPr>
            <a:lvl8pPr marL="5714634" indent="0">
              <a:buNone/>
              <a:defRPr sz="2857" b="1"/>
            </a:lvl8pPr>
            <a:lvl9pPr marL="6531011" indent="0">
              <a:buNone/>
              <a:defRPr sz="2857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99591" y="4473182"/>
            <a:ext cx="9210142" cy="657937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021556" y="3001966"/>
            <a:ext cx="9255500" cy="1471217"/>
          </a:xfrm>
        </p:spPr>
        <p:txBody>
          <a:bodyPr anchor="b"/>
          <a:lstStyle>
            <a:lvl1pPr marL="0" indent="0">
              <a:buNone/>
              <a:defRPr sz="4285" b="1"/>
            </a:lvl1pPr>
            <a:lvl2pPr marL="816376" indent="0">
              <a:buNone/>
              <a:defRPr sz="3571" b="1"/>
            </a:lvl2pPr>
            <a:lvl3pPr marL="1632753" indent="0">
              <a:buNone/>
              <a:defRPr sz="3214" b="1"/>
            </a:lvl3pPr>
            <a:lvl4pPr marL="2449129" indent="0">
              <a:buNone/>
              <a:defRPr sz="2857" b="1"/>
            </a:lvl4pPr>
            <a:lvl5pPr marL="3265505" indent="0">
              <a:buNone/>
              <a:defRPr sz="2857" b="1"/>
            </a:lvl5pPr>
            <a:lvl6pPr marL="4081882" indent="0">
              <a:buNone/>
              <a:defRPr sz="2857" b="1"/>
            </a:lvl6pPr>
            <a:lvl7pPr marL="4898258" indent="0">
              <a:buNone/>
              <a:defRPr sz="2857" b="1"/>
            </a:lvl7pPr>
            <a:lvl8pPr marL="5714634" indent="0">
              <a:buNone/>
              <a:defRPr sz="2857" b="1"/>
            </a:lvl8pPr>
            <a:lvl9pPr marL="6531011" indent="0">
              <a:buNone/>
              <a:defRPr sz="2857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021556" y="4473182"/>
            <a:ext cx="9255500" cy="657937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7482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155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5029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9591" y="816398"/>
            <a:ext cx="7021705" cy="2857394"/>
          </a:xfrm>
        </p:spPr>
        <p:txBody>
          <a:bodyPr anchor="b"/>
          <a:lstStyle>
            <a:lvl1pPr>
              <a:defRPr sz="571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55500" y="1763195"/>
            <a:ext cx="11021556" cy="8702579"/>
          </a:xfrm>
        </p:spPr>
        <p:txBody>
          <a:bodyPr/>
          <a:lstStyle>
            <a:lvl1pPr>
              <a:defRPr sz="5714"/>
            </a:lvl1pPr>
            <a:lvl2pPr>
              <a:defRPr sz="5000"/>
            </a:lvl2pPr>
            <a:lvl3pPr>
              <a:defRPr sz="4285"/>
            </a:lvl3pPr>
            <a:lvl4pPr>
              <a:defRPr sz="3571"/>
            </a:lvl4pPr>
            <a:lvl5pPr>
              <a:defRPr sz="3571"/>
            </a:lvl5pPr>
            <a:lvl6pPr>
              <a:defRPr sz="3571"/>
            </a:lvl6pPr>
            <a:lvl7pPr>
              <a:defRPr sz="3571"/>
            </a:lvl7pPr>
            <a:lvl8pPr>
              <a:defRPr sz="3571"/>
            </a:lvl8pPr>
            <a:lvl9pPr>
              <a:defRPr sz="3571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9591" y="3673793"/>
            <a:ext cx="7021705" cy="6806155"/>
          </a:xfrm>
        </p:spPr>
        <p:txBody>
          <a:bodyPr/>
          <a:lstStyle>
            <a:lvl1pPr marL="0" indent="0">
              <a:buNone/>
              <a:defRPr sz="2857"/>
            </a:lvl1pPr>
            <a:lvl2pPr marL="816376" indent="0">
              <a:buNone/>
              <a:defRPr sz="2500"/>
            </a:lvl2pPr>
            <a:lvl3pPr marL="1632753" indent="0">
              <a:buNone/>
              <a:defRPr sz="2143"/>
            </a:lvl3pPr>
            <a:lvl4pPr marL="2449129" indent="0">
              <a:buNone/>
              <a:defRPr sz="1786"/>
            </a:lvl4pPr>
            <a:lvl5pPr marL="3265505" indent="0">
              <a:buNone/>
              <a:defRPr sz="1786"/>
            </a:lvl5pPr>
            <a:lvl6pPr marL="4081882" indent="0">
              <a:buNone/>
              <a:defRPr sz="1786"/>
            </a:lvl6pPr>
            <a:lvl7pPr marL="4898258" indent="0">
              <a:buNone/>
              <a:defRPr sz="1786"/>
            </a:lvl7pPr>
            <a:lvl8pPr marL="5714634" indent="0">
              <a:buNone/>
              <a:defRPr sz="1786"/>
            </a:lvl8pPr>
            <a:lvl9pPr marL="6531011" indent="0">
              <a:buNone/>
              <a:defRPr sz="1786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9031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9591" y="816398"/>
            <a:ext cx="7021705" cy="2857394"/>
          </a:xfrm>
        </p:spPr>
        <p:txBody>
          <a:bodyPr anchor="b"/>
          <a:lstStyle>
            <a:lvl1pPr>
              <a:defRPr sz="571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55500" y="1763195"/>
            <a:ext cx="11021556" cy="8702579"/>
          </a:xfrm>
        </p:spPr>
        <p:txBody>
          <a:bodyPr anchor="t"/>
          <a:lstStyle>
            <a:lvl1pPr marL="0" indent="0">
              <a:buNone/>
              <a:defRPr sz="5714"/>
            </a:lvl1pPr>
            <a:lvl2pPr marL="816376" indent="0">
              <a:buNone/>
              <a:defRPr sz="5000"/>
            </a:lvl2pPr>
            <a:lvl3pPr marL="1632753" indent="0">
              <a:buNone/>
              <a:defRPr sz="4285"/>
            </a:lvl3pPr>
            <a:lvl4pPr marL="2449129" indent="0">
              <a:buNone/>
              <a:defRPr sz="3571"/>
            </a:lvl4pPr>
            <a:lvl5pPr marL="3265505" indent="0">
              <a:buNone/>
              <a:defRPr sz="3571"/>
            </a:lvl5pPr>
            <a:lvl6pPr marL="4081882" indent="0">
              <a:buNone/>
              <a:defRPr sz="3571"/>
            </a:lvl6pPr>
            <a:lvl7pPr marL="4898258" indent="0">
              <a:buNone/>
              <a:defRPr sz="3571"/>
            </a:lvl7pPr>
            <a:lvl8pPr marL="5714634" indent="0">
              <a:buNone/>
              <a:defRPr sz="3571"/>
            </a:lvl8pPr>
            <a:lvl9pPr marL="6531011" indent="0">
              <a:buNone/>
              <a:defRPr sz="3571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9591" y="3673793"/>
            <a:ext cx="7021705" cy="6806155"/>
          </a:xfrm>
        </p:spPr>
        <p:txBody>
          <a:bodyPr/>
          <a:lstStyle>
            <a:lvl1pPr marL="0" indent="0">
              <a:buNone/>
              <a:defRPr sz="2857"/>
            </a:lvl1pPr>
            <a:lvl2pPr marL="816376" indent="0">
              <a:buNone/>
              <a:defRPr sz="2500"/>
            </a:lvl2pPr>
            <a:lvl3pPr marL="1632753" indent="0">
              <a:buNone/>
              <a:defRPr sz="2143"/>
            </a:lvl3pPr>
            <a:lvl4pPr marL="2449129" indent="0">
              <a:buNone/>
              <a:defRPr sz="1786"/>
            </a:lvl4pPr>
            <a:lvl5pPr marL="3265505" indent="0">
              <a:buNone/>
              <a:defRPr sz="1786"/>
            </a:lvl5pPr>
            <a:lvl6pPr marL="4081882" indent="0">
              <a:buNone/>
              <a:defRPr sz="1786"/>
            </a:lvl6pPr>
            <a:lvl7pPr marL="4898258" indent="0">
              <a:buNone/>
              <a:defRPr sz="1786"/>
            </a:lvl7pPr>
            <a:lvl8pPr marL="5714634" indent="0">
              <a:buNone/>
              <a:defRPr sz="1786"/>
            </a:lvl8pPr>
            <a:lvl9pPr marL="6531011" indent="0">
              <a:buNone/>
              <a:defRPr sz="1786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7139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8263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579854" y="651985"/>
            <a:ext cx="4694366" cy="1037789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96755" y="651985"/>
            <a:ext cx="13810962" cy="1037789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1231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96755" y="651986"/>
            <a:ext cx="18777466" cy="23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6755" y="3259924"/>
            <a:ext cx="18777466" cy="77699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96755" y="11350205"/>
            <a:ext cx="4898469" cy="6519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A39B6E-C761-2944-9DD9-97EBD619A687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11636" y="11350205"/>
            <a:ext cx="7347704" cy="6519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75751" y="11350205"/>
            <a:ext cx="4898469" cy="6519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8641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632753" rtl="0" eaLnBrk="1" latinLnBrk="0" hangingPunct="1">
        <a:lnSpc>
          <a:spcPct val="90000"/>
        </a:lnSpc>
        <a:spcBef>
          <a:spcPct val="0"/>
        </a:spcBef>
        <a:buNone/>
        <a:defRPr kumimoji="1" sz="785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8188" indent="-408188" algn="l" defTabSz="1632753" rtl="0" eaLnBrk="1" latinLnBrk="0" hangingPunct="1">
        <a:lnSpc>
          <a:spcPct val="90000"/>
        </a:lnSpc>
        <a:spcBef>
          <a:spcPts val="1786"/>
        </a:spcBef>
        <a:buFont typeface="Arial" panose="020B0604020202020204" pitchFamily="34" charset="0"/>
        <a:buChar char="•"/>
        <a:defRPr kumimoji="1" sz="5000" kern="1200">
          <a:solidFill>
            <a:schemeClr val="tx1"/>
          </a:solidFill>
          <a:latin typeface="+mn-lt"/>
          <a:ea typeface="+mn-ea"/>
          <a:cs typeface="+mn-cs"/>
        </a:defRPr>
      </a:lvl1pPr>
      <a:lvl2pPr marL="1224564" indent="-408188" algn="l" defTabSz="1632753" rtl="0" eaLnBrk="1" latinLnBrk="0" hangingPunct="1">
        <a:lnSpc>
          <a:spcPct val="90000"/>
        </a:lnSpc>
        <a:spcBef>
          <a:spcPts val="893"/>
        </a:spcBef>
        <a:buFont typeface="Arial" panose="020B0604020202020204" pitchFamily="34" charset="0"/>
        <a:buChar char="•"/>
        <a:defRPr kumimoji="1" sz="4285" kern="1200">
          <a:solidFill>
            <a:schemeClr val="tx1"/>
          </a:solidFill>
          <a:latin typeface="+mn-lt"/>
          <a:ea typeface="+mn-ea"/>
          <a:cs typeface="+mn-cs"/>
        </a:defRPr>
      </a:lvl2pPr>
      <a:lvl3pPr marL="2040941" indent="-408188" algn="l" defTabSz="1632753" rtl="0" eaLnBrk="1" latinLnBrk="0" hangingPunct="1">
        <a:lnSpc>
          <a:spcPct val="90000"/>
        </a:lnSpc>
        <a:spcBef>
          <a:spcPts val="893"/>
        </a:spcBef>
        <a:buFont typeface="Arial" panose="020B0604020202020204" pitchFamily="34" charset="0"/>
        <a:buChar char="•"/>
        <a:defRPr kumimoji="1" sz="3571" kern="1200">
          <a:solidFill>
            <a:schemeClr val="tx1"/>
          </a:solidFill>
          <a:latin typeface="+mn-lt"/>
          <a:ea typeface="+mn-ea"/>
          <a:cs typeface="+mn-cs"/>
        </a:defRPr>
      </a:lvl3pPr>
      <a:lvl4pPr marL="2857317" indent="-408188" algn="l" defTabSz="1632753" rtl="0" eaLnBrk="1" latinLnBrk="0" hangingPunct="1">
        <a:lnSpc>
          <a:spcPct val="90000"/>
        </a:lnSpc>
        <a:spcBef>
          <a:spcPts val="893"/>
        </a:spcBef>
        <a:buFont typeface="Arial" panose="020B0604020202020204" pitchFamily="34" charset="0"/>
        <a:buChar char="•"/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4pPr>
      <a:lvl5pPr marL="3673693" indent="-408188" algn="l" defTabSz="1632753" rtl="0" eaLnBrk="1" latinLnBrk="0" hangingPunct="1">
        <a:lnSpc>
          <a:spcPct val="90000"/>
        </a:lnSpc>
        <a:spcBef>
          <a:spcPts val="893"/>
        </a:spcBef>
        <a:buFont typeface="Arial" panose="020B0604020202020204" pitchFamily="34" charset="0"/>
        <a:buChar char="•"/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5pPr>
      <a:lvl6pPr marL="4490070" indent="-408188" algn="l" defTabSz="1632753" rtl="0" eaLnBrk="1" latinLnBrk="0" hangingPunct="1">
        <a:lnSpc>
          <a:spcPct val="90000"/>
        </a:lnSpc>
        <a:spcBef>
          <a:spcPts val="893"/>
        </a:spcBef>
        <a:buFont typeface="Arial" panose="020B0604020202020204" pitchFamily="34" charset="0"/>
        <a:buChar char="•"/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6pPr>
      <a:lvl7pPr marL="5306446" indent="-408188" algn="l" defTabSz="1632753" rtl="0" eaLnBrk="1" latinLnBrk="0" hangingPunct="1">
        <a:lnSpc>
          <a:spcPct val="90000"/>
        </a:lnSpc>
        <a:spcBef>
          <a:spcPts val="893"/>
        </a:spcBef>
        <a:buFont typeface="Arial" panose="020B0604020202020204" pitchFamily="34" charset="0"/>
        <a:buChar char="•"/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7pPr>
      <a:lvl8pPr marL="6122822" indent="-408188" algn="l" defTabSz="1632753" rtl="0" eaLnBrk="1" latinLnBrk="0" hangingPunct="1">
        <a:lnSpc>
          <a:spcPct val="90000"/>
        </a:lnSpc>
        <a:spcBef>
          <a:spcPts val="893"/>
        </a:spcBef>
        <a:buFont typeface="Arial" panose="020B0604020202020204" pitchFamily="34" charset="0"/>
        <a:buChar char="•"/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8pPr>
      <a:lvl9pPr marL="6939199" indent="-408188" algn="l" defTabSz="1632753" rtl="0" eaLnBrk="1" latinLnBrk="0" hangingPunct="1">
        <a:lnSpc>
          <a:spcPct val="90000"/>
        </a:lnSpc>
        <a:spcBef>
          <a:spcPts val="893"/>
        </a:spcBef>
        <a:buFont typeface="Arial" panose="020B0604020202020204" pitchFamily="34" charset="0"/>
        <a:buChar char="•"/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32753" rtl="0" eaLnBrk="1" latinLnBrk="0" hangingPunct="1"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1pPr>
      <a:lvl2pPr marL="816376" algn="l" defTabSz="1632753" rtl="0" eaLnBrk="1" latinLnBrk="0" hangingPunct="1"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2pPr>
      <a:lvl3pPr marL="1632753" algn="l" defTabSz="1632753" rtl="0" eaLnBrk="1" latinLnBrk="0" hangingPunct="1"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3pPr>
      <a:lvl4pPr marL="2449129" algn="l" defTabSz="1632753" rtl="0" eaLnBrk="1" latinLnBrk="0" hangingPunct="1"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4pPr>
      <a:lvl5pPr marL="3265505" algn="l" defTabSz="1632753" rtl="0" eaLnBrk="1" latinLnBrk="0" hangingPunct="1"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5pPr>
      <a:lvl6pPr marL="4081882" algn="l" defTabSz="1632753" rtl="0" eaLnBrk="1" latinLnBrk="0" hangingPunct="1"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6pPr>
      <a:lvl7pPr marL="4898258" algn="l" defTabSz="1632753" rtl="0" eaLnBrk="1" latinLnBrk="0" hangingPunct="1"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7pPr>
      <a:lvl8pPr marL="5714634" algn="l" defTabSz="1632753" rtl="0" eaLnBrk="1" latinLnBrk="0" hangingPunct="1"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8pPr>
      <a:lvl9pPr marL="6531011" algn="l" defTabSz="1632753" rtl="0" eaLnBrk="1" latinLnBrk="0" hangingPunct="1"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3" Type="http://schemas.openxmlformats.org/officeDocument/2006/relationships/image" Target="../media/image42.png"/><Relationship Id="rId21" Type="http://schemas.openxmlformats.org/officeDocument/2006/relationships/image" Target="../media/image60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55.png"/><Relationship Id="rId20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19" Type="http://schemas.openxmlformats.org/officeDocument/2006/relationships/image" Target="../media/image58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Relationship Id="rId22" Type="http://schemas.openxmlformats.org/officeDocument/2006/relationships/image" Target="../media/image6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18" Type="http://schemas.openxmlformats.org/officeDocument/2006/relationships/image" Target="../media/image77.png"/><Relationship Id="rId26" Type="http://schemas.openxmlformats.org/officeDocument/2006/relationships/image" Target="../media/image85.png"/><Relationship Id="rId3" Type="http://schemas.openxmlformats.org/officeDocument/2006/relationships/image" Target="../media/image62.png"/><Relationship Id="rId21" Type="http://schemas.openxmlformats.org/officeDocument/2006/relationships/image" Target="../media/image80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17" Type="http://schemas.openxmlformats.org/officeDocument/2006/relationships/image" Target="../media/image76.png"/><Relationship Id="rId25" Type="http://schemas.openxmlformats.org/officeDocument/2006/relationships/image" Target="../media/image84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75.png"/><Relationship Id="rId20" Type="http://schemas.openxmlformats.org/officeDocument/2006/relationships/image" Target="../media/image79.png"/><Relationship Id="rId29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24" Type="http://schemas.openxmlformats.org/officeDocument/2006/relationships/image" Target="../media/image83.png"/><Relationship Id="rId5" Type="http://schemas.openxmlformats.org/officeDocument/2006/relationships/image" Target="../media/image64.png"/><Relationship Id="rId15" Type="http://schemas.openxmlformats.org/officeDocument/2006/relationships/image" Target="../media/image74.png"/><Relationship Id="rId23" Type="http://schemas.openxmlformats.org/officeDocument/2006/relationships/image" Target="../media/image82.png"/><Relationship Id="rId28" Type="http://schemas.openxmlformats.org/officeDocument/2006/relationships/image" Target="../media/image87.png"/><Relationship Id="rId10" Type="http://schemas.openxmlformats.org/officeDocument/2006/relationships/image" Target="../media/image69.png"/><Relationship Id="rId19" Type="http://schemas.openxmlformats.org/officeDocument/2006/relationships/image" Target="../media/image78.png"/><Relationship Id="rId31" Type="http://schemas.openxmlformats.org/officeDocument/2006/relationships/image" Target="../media/image90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Relationship Id="rId22" Type="http://schemas.openxmlformats.org/officeDocument/2006/relationships/image" Target="../media/image81.png"/><Relationship Id="rId27" Type="http://schemas.openxmlformats.org/officeDocument/2006/relationships/image" Target="../media/image86.png"/><Relationship Id="rId30" Type="http://schemas.openxmlformats.org/officeDocument/2006/relationships/image" Target="../media/image8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93.png"/><Relationship Id="rId18" Type="http://schemas.openxmlformats.org/officeDocument/2006/relationships/image" Target="../media/image98.png"/><Relationship Id="rId26" Type="http://schemas.openxmlformats.org/officeDocument/2006/relationships/image" Target="../media/image90.png"/><Relationship Id="rId3" Type="http://schemas.openxmlformats.org/officeDocument/2006/relationships/image" Target="../media/image3.png"/><Relationship Id="rId21" Type="http://schemas.openxmlformats.org/officeDocument/2006/relationships/image" Target="../media/image101.png"/><Relationship Id="rId7" Type="http://schemas.openxmlformats.org/officeDocument/2006/relationships/image" Target="../media/image7.png"/><Relationship Id="rId12" Type="http://schemas.openxmlformats.org/officeDocument/2006/relationships/image" Target="../media/image92.png"/><Relationship Id="rId17" Type="http://schemas.openxmlformats.org/officeDocument/2006/relationships/image" Target="../media/image97.png"/><Relationship Id="rId25" Type="http://schemas.openxmlformats.org/officeDocument/2006/relationships/image" Target="../media/image89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96.png"/><Relationship Id="rId20" Type="http://schemas.openxmlformats.org/officeDocument/2006/relationships/image" Target="../media/image100.png"/><Relationship Id="rId29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91.png"/><Relationship Id="rId24" Type="http://schemas.openxmlformats.org/officeDocument/2006/relationships/image" Target="../media/image921.png"/><Relationship Id="rId5" Type="http://schemas.openxmlformats.org/officeDocument/2006/relationships/image" Target="../media/image5.png"/><Relationship Id="rId15" Type="http://schemas.openxmlformats.org/officeDocument/2006/relationships/image" Target="../media/image95.png"/><Relationship Id="rId23" Type="http://schemas.openxmlformats.org/officeDocument/2006/relationships/image" Target="../media/image911.png"/><Relationship Id="rId28" Type="http://schemas.openxmlformats.org/officeDocument/2006/relationships/image" Target="../media/image941.png"/><Relationship Id="rId10" Type="http://schemas.openxmlformats.org/officeDocument/2006/relationships/image" Target="../media/image23.png"/><Relationship Id="rId19" Type="http://schemas.openxmlformats.org/officeDocument/2006/relationships/image" Target="../media/image99.png"/><Relationship Id="rId31" Type="http://schemas.openxmlformats.org/officeDocument/2006/relationships/image" Target="../media/image105.png"/><Relationship Id="rId4" Type="http://schemas.openxmlformats.org/officeDocument/2006/relationships/image" Target="../media/image4.png"/><Relationship Id="rId9" Type="http://schemas.openxmlformats.org/officeDocument/2006/relationships/image" Target="../media/image22.png"/><Relationship Id="rId14" Type="http://schemas.openxmlformats.org/officeDocument/2006/relationships/image" Target="../media/image94.png"/><Relationship Id="rId22" Type="http://schemas.openxmlformats.org/officeDocument/2006/relationships/image" Target="../media/image102.png"/><Relationship Id="rId27" Type="http://schemas.openxmlformats.org/officeDocument/2006/relationships/image" Target="../media/image931.png"/><Relationship Id="rId30" Type="http://schemas.openxmlformats.org/officeDocument/2006/relationships/image" Target="../media/image10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7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0.png"/><Relationship Id="rId13" Type="http://schemas.openxmlformats.org/officeDocument/2006/relationships/image" Target="../media/image760.png"/><Relationship Id="rId18" Type="http://schemas.openxmlformats.org/officeDocument/2006/relationships/image" Target="../media/image810.png"/><Relationship Id="rId3" Type="http://schemas.openxmlformats.org/officeDocument/2006/relationships/image" Target="../media/image660.png"/><Relationship Id="rId7" Type="http://schemas.openxmlformats.org/officeDocument/2006/relationships/image" Target="../media/image700.png"/><Relationship Id="rId12" Type="http://schemas.openxmlformats.org/officeDocument/2006/relationships/image" Target="../media/image750.png"/><Relationship Id="rId17" Type="http://schemas.openxmlformats.org/officeDocument/2006/relationships/image" Target="../media/image800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790.png"/><Relationship Id="rId20" Type="http://schemas.openxmlformats.org/officeDocument/2006/relationships/image" Target="../media/image8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0.png"/><Relationship Id="rId11" Type="http://schemas.openxmlformats.org/officeDocument/2006/relationships/image" Target="../media/image740.png"/><Relationship Id="rId5" Type="http://schemas.openxmlformats.org/officeDocument/2006/relationships/image" Target="../media/image680.png"/><Relationship Id="rId15" Type="http://schemas.openxmlformats.org/officeDocument/2006/relationships/image" Target="../media/image780.png"/><Relationship Id="rId10" Type="http://schemas.openxmlformats.org/officeDocument/2006/relationships/image" Target="../media/image730.png"/><Relationship Id="rId19" Type="http://schemas.openxmlformats.org/officeDocument/2006/relationships/image" Target="../media/image820.png"/><Relationship Id="rId4" Type="http://schemas.openxmlformats.org/officeDocument/2006/relationships/image" Target="../media/image670.png"/><Relationship Id="rId9" Type="http://schemas.openxmlformats.org/officeDocument/2006/relationships/image" Target="../media/image720.png"/><Relationship Id="rId14" Type="http://schemas.openxmlformats.org/officeDocument/2006/relationships/image" Target="../media/image77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0.png"/><Relationship Id="rId13" Type="http://schemas.openxmlformats.org/officeDocument/2006/relationships/image" Target="../media/image890.png"/><Relationship Id="rId18" Type="http://schemas.openxmlformats.org/officeDocument/2006/relationships/image" Target="../media/image940.png"/><Relationship Id="rId3" Type="http://schemas.openxmlformats.org/officeDocument/2006/relationships/image" Target="../media/image660.png"/><Relationship Id="rId7" Type="http://schemas.openxmlformats.org/officeDocument/2006/relationships/image" Target="../media/image700.png"/><Relationship Id="rId12" Type="http://schemas.openxmlformats.org/officeDocument/2006/relationships/image" Target="../media/image880.png"/><Relationship Id="rId17" Type="http://schemas.openxmlformats.org/officeDocument/2006/relationships/image" Target="../media/image930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9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0.png"/><Relationship Id="rId11" Type="http://schemas.openxmlformats.org/officeDocument/2006/relationships/image" Target="../media/image870.png"/><Relationship Id="rId5" Type="http://schemas.openxmlformats.org/officeDocument/2006/relationships/image" Target="../media/image850.png"/><Relationship Id="rId15" Type="http://schemas.openxmlformats.org/officeDocument/2006/relationships/image" Target="../media/image910.png"/><Relationship Id="rId10" Type="http://schemas.openxmlformats.org/officeDocument/2006/relationships/image" Target="../media/image860.png"/><Relationship Id="rId19" Type="http://schemas.openxmlformats.org/officeDocument/2006/relationships/image" Target="../media/image950.png"/><Relationship Id="rId4" Type="http://schemas.openxmlformats.org/officeDocument/2006/relationships/image" Target="../media/image840.png"/><Relationship Id="rId9" Type="http://schemas.openxmlformats.org/officeDocument/2006/relationships/image" Target="../media/image720.png"/><Relationship Id="rId14" Type="http://schemas.openxmlformats.org/officeDocument/2006/relationships/image" Target="../media/image90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060.png"/><Relationship Id="rId7" Type="http://schemas.openxmlformats.org/officeDocument/2006/relationships/image" Target="../media/image1051.png"/><Relationship Id="rId12" Type="http://schemas.openxmlformats.org/officeDocument/2006/relationships/image" Target="../media/image10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1.png"/><Relationship Id="rId11" Type="http://schemas.openxmlformats.org/officeDocument/2006/relationships/image" Target="../media/image1040.png"/><Relationship Id="rId5" Type="http://schemas.openxmlformats.org/officeDocument/2006/relationships/image" Target="../media/image980.png"/><Relationship Id="rId15" Type="http://schemas.openxmlformats.org/officeDocument/2006/relationships/image" Target="../media/image108.png"/><Relationship Id="rId10" Type="http://schemas.openxmlformats.org/officeDocument/2006/relationships/image" Target="../media/image1030.png"/><Relationship Id="rId4" Type="http://schemas.openxmlformats.org/officeDocument/2006/relationships/image" Target="../media/image970.png"/><Relationship Id="rId9" Type="http://schemas.openxmlformats.org/officeDocument/2006/relationships/image" Target="../media/image107.png"/><Relationship Id="rId14" Type="http://schemas.openxmlformats.org/officeDocument/2006/relationships/image" Target="../media/image107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17.png"/><Relationship Id="rId3" Type="http://schemas.openxmlformats.org/officeDocument/2006/relationships/image" Target="../media/image1010.png"/><Relationship Id="rId7" Type="http://schemas.openxmlformats.org/officeDocument/2006/relationships/image" Target="../media/image111.png"/><Relationship Id="rId12" Type="http://schemas.openxmlformats.org/officeDocument/2006/relationships/image" Target="../media/image1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image" Target="../media/image115.png"/><Relationship Id="rId5" Type="http://schemas.openxmlformats.org/officeDocument/2006/relationships/image" Target="../media/image109.png"/><Relationship Id="rId15" Type="http://schemas.openxmlformats.org/officeDocument/2006/relationships/image" Target="../media/image119.png"/><Relationship Id="rId10" Type="http://schemas.openxmlformats.org/officeDocument/2006/relationships/image" Target="../media/image114.png"/><Relationship Id="rId4" Type="http://schemas.openxmlformats.org/officeDocument/2006/relationships/image" Target="../media/image1020.png"/><Relationship Id="rId9" Type="http://schemas.openxmlformats.org/officeDocument/2006/relationships/image" Target="../media/image113.png"/><Relationship Id="rId14" Type="http://schemas.openxmlformats.org/officeDocument/2006/relationships/image" Target="../media/image11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25.png"/><Relationship Id="rId3" Type="http://schemas.openxmlformats.org/officeDocument/2006/relationships/image" Target="../media/image120.png"/><Relationship Id="rId7" Type="http://schemas.openxmlformats.org/officeDocument/2006/relationships/image" Target="../media/image111.png"/><Relationship Id="rId12" Type="http://schemas.openxmlformats.org/officeDocument/2006/relationships/image" Target="../media/image1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image" Target="../media/image115.png"/><Relationship Id="rId5" Type="http://schemas.openxmlformats.org/officeDocument/2006/relationships/image" Target="../media/image109.png"/><Relationship Id="rId15" Type="http://schemas.openxmlformats.org/officeDocument/2006/relationships/image" Target="../media/image119.png"/><Relationship Id="rId10" Type="http://schemas.openxmlformats.org/officeDocument/2006/relationships/image" Target="../media/image123.png"/><Relationship Id="rId4" Type="http://schemas.openxmlformats.org/officeDocument/2006/relationships/image" Target="../media/image121.png"/><Relationship Id="rId9" Type="http://schemas.openxmlformats.org/officeDocument/2006/relationships/image" Target="../media/image122.png"/><Relationship Id="rId14" Type="http://schemas.openxmlformats.org/officeDocument/2006/relationships/image" Target="../media/image11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31.png"/><Relationship Id="rId3" Type="http://schemas.openxmlformats.org/officeDocument/2006/relationships/image" Target="../media/image126.png"/><Relationship Id="rId7" Type="http://schemas.openxmlformats.org/officeDocument/2006/relationships/image" Target="../media/image111.png"/><Relationship Id="rId12" Type="http://schemas.openxmlformats.org/officeDocument/2006/relationships/image" Target="../media/image1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image" Target="../media/image115.png"/><Relationship Id="rId5" Type="http://schemas.openxmlformats.org/officeDocument/2006/relationships/image" Target="../media/image109.png"/><Relationship Id="rId15" Type="http://schemas.openxmlformats.org/officeDocument/2006/relationships/image" Target="../media/image133.png"/><Relationship Id="rId10" Type="http://schemas.openxmlformats.org/officeDocument/2006/relationships/image" Target="../media/image129.png"/><Relationship Id="rId4" Type="http://schemas.openxmlformats.org/officeDocument/2006/relationships/image" Target="../media/image127.png"/><Relationship Id="rId9" Type="http://schemas.openxmlformats.org/officeDocument/2006/relationships/image" Target="../media/image128.png"/><Relationship Id="rId14" Type="http://schemas.openxmlformats.org/officeDocument/2006/relationships/image" Target="../media/image13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38.png"/><Relationship Id="rId3" Type="http://schemas.openxmlformats.org/officeDocument/2006/relationships/image" Target="../media/image134.png"/><Relationship Id="rId7" Type="http://schemas.openxmlformats.org/officeDocument/2006/relationships/image" Target="../media/image1051.png"/><Relationship Id="rId12" Type="http://schemas.openxmlformats.org/officeDocument/2006/relationships/image" Target="../media/image1050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1.png"/><Relationship Id="rId11" Type="http://schemas.openxmlformats.org/officeDocument/2006/relationships/image" Target="../media/image137.png"/><Relationship Id="rId15" Type="http://schemas.openxmlformats.org/officeDocument/2006/relationships/image" Target="../media/image140.png"/><Relationship Id="rId10" Type="http://schemas.openxmlformats.org/officeDocument/2006/relationships/image" Target="../media/image136.png"/><Relationship Id="rId4" Type="http://schemas.openxmlformats.org/officeDocument/2006/relationships/image" Target="../media/image135.png"/><Relationship Id="rId9" Type="http://schemas.openxmlformats.org/officeDocument/2006/relationships/image" Target="../media/image107.png"/><Relationship Id="rId14" Type="http://schemas.openxmlformats.org/officeDocument/2006/relationships/image" Target="../media/image13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emf"/><Relationship Id="rId2" Type="http://schemas.openxmlformats.org/officeDocument/2006/relationships/image" Target="../media/image109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0.png"/><Relationship Id="rId2" Type="http://schemas.openxmlformats.org/officeDocument/2006/relationships/image" Target="../media/image14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50.png"/><Relationship Id="rId4" Type="http://schemas.openxmlformats.org/officeDocument/2006/relationships/image" Target="../media/image114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emf"/><Relationship Id="rId2" Type="http://schemas.openxmlformats.org/officeDocument/2006/relationships/image" Target="../media/image144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.emf"/><Relationship Id="rId5" Type="http://schemas.openxmlformats.org/officeDocument/2006/relationships/image" Target="../media/image148.emf"/><Relationship Id="rId4" Type="http://schemas.openxmlformats.org/officeDocument/2006/relationships/image" Target="../media/image147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3" Type="http://schemas.openxmlformats.org/officeDocument/2006/relationships/image" Target="../media/image146.emf"/><Relationship Id="rId7" Type="http://schemas.openxmlformats.org/officeDocument/2006/relationships/image" Target="../media/image145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.emf"/><Relationship Id="rId5" Type="http://schemas.openxmlformats.org/officeDocument/2006/relationships/image" Target="../media/image148.emf"/><Relationship Id="rId4" Type="http://schemas.openxmlformats.org/officeDocument/2006/relationships/image" Target="../media/image147.e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3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5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0.png"/><Relationship Id="rId5" Type="http://schemas.openxmlformats.org/officeDocument/2006/relationships/image" Target="../media/image1250.png"/><Relationship Id="rId4" Type="http://schemas.openxmlformats.org/officeDocument/2006/relationships/image" Target="../media/image157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emf"/><Relationship Id="rId7" Type="http://schemas.openxmlformats.org/officeDocument/2006/relationships/image" Target="../media/image13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0.png"/><Relationship Id="rId5" Type="http://schemas.openxmlformats.org/officeDocument/2006/relationships/image" Target="../media/image160.emf"/><Relationship Id="rId4" Type="http://schemas.openxmlformats.org/officeDocument/2006/relationships/image" Target="../media/image159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emf"/><Relationship Id="rId7" Type="http://schemas.openxmlformats.org/officeDocument/2006/relationships/image" Target="../media/image129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0.png"/><Relationship Id="rId5" Type="http://schemas.openxmlformats.org/officeDocument/2006/relationships/image" Target="../media/image160.emf"/><Relationship Id="rId4" Type="http://schemas.openxmlformats.org/officeDocument/2006/relationships/image" Target="../media/image159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0.emf"/><Relationship Id="rId4" Type="http://schemas.openxmlformats.org/officeDocument/2006/relationships/image" Target="../media/image159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Relationship Id="rId5" Type="http://schemas.openxmlformats.org/officeDocument/2006/relationships/image" Target="../media/image160.emf"/><Relationship Id="rId4" Type="http://schemas.openxmlformats.org/officeDocument/2006/relationships/image" Target="../media/image159.e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3" Type="http://schemas.openxmlformats.org/officeDocument/2006/relationships/image" Target="../media/image162.emf"/><Relationship Id="rId7" Type="http://schemas.openxmlformats.org/officeDocument/2006/relationships/image" Target="../media/image135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0.png"/><Relationship Id="rId5" Type="http://schemas.openxmlformats.org/officeDocument/2006/relationships/image" Target="../media/image164.emf"/><Relationship Id="rId4" Type="http://schemas.openxmlformats.org/officeDocument/2006/relationships/image" Target="../media/image163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emf"/><Relationship Id="rId7" Type="http://schemas.openxmlformats.org/officeDocument/2006/relationships/image" Target="../media/image168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0.png"/><Relationship Id="rId5" Type="http://schemas.openxmlformats.org/officeDocument/2006/relationships/image" Target="../media/image1390.png"/><Relationship Id="rId4" Type="http://schemas.openxmlformats.org/officeDocument/2006/relationships/image" Target="../media/image167.e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emf"/><Relationship Id="rId3" Type="http://schemas.openxmlformats.org/officeDocument/2006/relationships/image" Target="../media/image167.emf"/><Relationship Id="rId7" Type="http://schemas.openxmlformats.org/officeDocument/2006/relationships/image" Target="../media/image168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0.png"/><Relationship Id="rId5" Type="http://schemas.openxmlformats.org/officeDocument/2006/relationships/image" Target="../media/image1390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emf"/><Relationship Id="rId3" Type="http://schemas.openxmlformats.org/officeDocument/2006/relationships/image" Target="../media/image167.emf"/><Relationship Id="rId7" Type="http://schemas.openxmlformats.org/officeDocument/2006/relationships/image" Target="../media/image168.e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0.png"/><Relationship Id="rId5" Type="http://schemas.openxmlformats.org/officeDocument/2006/relationships/image" Target="../media/image1390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68.emf"/><Relationship Id="rId7" Type="http://schemas.openxmlformats.org/officeDocument/2006/relationships/image" Target="../media/image144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7.emf"/><Relationship Id="rId4" Type="http://schemas.openxmlformats.org/officeDocument/2006/relationships/image" Target="../media/image170.e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0.png"/><Relationship Id="rId3" Type="http://schemas.openxmlformats.org/officeDocument/2006/relationships/image" Target="../media/image171.png"/><Relationship Id="rId7" Type="http://schemas.openxmlformats.org/officeDocument/2006/relationships/image" Target="../media/image14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0.png"/><Relationship Id="rId5" Type="http://schemas.openxmlformats.org/officeDocument/2006/relationships/image" Target="../media/image1410.png"/><Relationship Id="rId10" Type="http://schemas.openxmlformats.org/officeDocument/2006/relationships/image" Target="../media/image1460.png"/><Relationship Id="rId4" Type="http://schemas.openxmlformats.org/officeDocument/2006/relationships/image" Target="../media/image172.emf"/><Relationship Id="rId9" Type="http://schemas.openxmlformats.org/officeDocument/2006/relationships/image" Target="../media/image1450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0.png"/><Relationship Id="rId3" Type="http://schemas.openxmlformats.org/officeDocument/2006/relationships/image" Target="../media/image173.emf"/><Relationship Id="rId7" Type="http://schemas.openxmlformats.org/officeDocument/2006/relationships/image" Target="../media/image172.emf"/><Relationship Id="rId12" Type="http://schemas.openxmlformats.org/officeDocument/2006/relationships/image" Target="../media/image15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6.emf"/><Relationship Id="rId11" Type="http://schemas.openxmlformats.org/officeDocument/2006/relationships/image" Target="../media/image154.png"/><Relationship Id="rId5" Type="http://schemas.openxmlformats.org/officeDocument/2006/relationships/image" Target="../media/image175.emf"/><Relationship Id="rId10" Type="http://schemas.openxmlformats.org/officeDocument/2006/relationships/image" Target="../media/image1530.png"/><Relationship Id="rId4" Type="http://schemas.openxmlformats.org/officeDocument/2006/relationships/image" Target="../media/image174.emf"/><Relationship Id="rId9" Type="http://schemas.openxmlformats.org/officeDocument/2006/relationships/image" Target="../media/image1520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3" Type="http://schemas.openxmlformats.org/officeDocument/2006/relationships/image" Target="../media/image173.emf"/><Relationship Id="rId7" Type="http://schemas.openxmlformats.org/officeDocument/2006/relationships/image" Target="../media/image172.emf"/><Relationship Id="rId12" Type="http://schemas.openxmlformats.org/officeDocument/2006/relationships/image" Target="../media/image15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6.emf"/><Relationship Id="rId11" Type="http://schemas.openxmlformats.org/officeDocument/2006/relationships/image" Target="../media/image156.png"/><Relationship Id="rId5" Type="http://schemas.openxmlformats.org/officeDocument/2006/relationships/image" Target="../media/image175.emf"/><Relationship Id="rId10" Type="http://schemas.openxmlformats.org/officeDocument/2006/relationships/image" Target="../media/image1500.png"/><Relationship Id="rId4" Type="http://schemas.openxmlformats.org/officeDocument/2006/relationships/image" Target="../media/image174.emf"/><Relationship Id="rId9" Type="http://schemas.openxmlformats.org/officeDocument/2006/relationships/image" Target="../media/image149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0.png"/><Relationship Id="rId13" Type="http://schemas.openxmlformats.org/officeDocument/2006/relationships/image" Target="../media/image158.png"/><Relationship Id="rId3" Type="http://schemas.openxmlformats.org/officeDocument/2006/relationships/image" Target="../media/image177.emf"/><Relationship Id="rId7" Type="http://schemas.openxmlformats.org/officeDocument/2006/relationships/image" Target="../media/image164.png"/><Relationship Id="rId12" Type="http://schemas.openxmlformats.org/officeDocument/2006/relationships/image" Target="../media/image16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30.png"/><Relationship Id="rId11" Type="http://schemas.openxmlformats.org/officeDocument/2006/relationships/image" Target="../media/image168.png"/><Relationship Id="rId5" Type="http://schemas.openxmlformats.org/officeDocument/2006/relationships/image" Target="../media/image172.emf"/><Relationship Id="rId15" Type="http://schemas.openxmlformats.org/officeDocument/2006/relationships/image" Target="../media/image154.png"/><Relationship Id="rId10" Type="http://schemas.openxmlformats.org/officeDocument/2006/relationships/image" Target="../media/image1670.png"/><Relationship Id="rId4" Type="http://schemas.openxmlformats.org/officeDocument/2006/relationships/image" Target="../media/image178.emf"/><Relationship Id="rId9" Type="http://schemas.openxmlformats.org/officeDocument/2006/relationships/image" Target="../media/image166.png"/><Relationship Id="rId14" Type="http://schemas.openxmlformats.org/officeDocument/2006/relationships/image" Target="../media/image170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emf"/><Relationship Id="rId13" Type="http://schemas.openxmlformats.org/officeDocument/2006/relationships/image" Target="../media/image160.png"/><Relationship Id="rId18" Type="http://schemas.openxmlformats.org/officeDocument/2006/relationships/image" Target="../media/image180.emf"/><Relationship Id="rId3" Type="http://schemas.openxmlformats.org/officeDocument/2006/relationships/image" Target="../media/image172.emf"/><Relationship Id="rId7" Type="http://schemas.openxmlformats.org/officeDocument/2006/relationships/image" Target="../media/image172.png"/><Relationship Id="rId12" Type="http://schemas.openxmlformats.org/officeDocument/2006/relationships/image" Target="../media/image175.png"/><Relationship Id="rId17" Type="http://schemas.openxmlformats.org/officeDocument/2006/relationships/image" Target="../media/image174.emf"/><Relationship Id="rId2" Type="http://schemas.openxmlformats.org/officeDocument/2006/relationships/notesSlide" Target="../notesSlides/notesSlide43.xml"/><Relationship Id="rId16" Type="http://schemas.openxmlformats.org/officeDocument/2006/relationships/image" Target="../media/image17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6.png"/><Relationship Id="rId11" Type="http://schemas.openxmlformats.org/officeDocument/2006/relationships/image" Target="../media/image177.emf"/><Relationship Id="rId5" Type="http://schemas.openxmlformats.org/officeDocument/2006/relationships/image" Target="../media/image1710.png"/><Relationship Id="rId15" Type="http://schemas.openxmlformats.org/officeDocument/2006/relationships/image" Target="../media/image179.emf"/><Relationship Id="rId10" Type="http://schemas.openxmlformats.org/officeDocument/2006/relationships/image" Target="../media/image174.png"/><Relationship Id="rId4" Type="http://schemas.openxmlformats.org/officeDocument/2006/relationships/image" Target="../media/image1630.png"/><Relationship Id="rId9" Type="http://schemas.openxmlformats.org/officeDocument/2006/relationships/image" Target="../media/image1730.png"/><Relationship Id="rId14" Type="http://schemas.openxmlformats.org/officeDocument/2006/relationships/image" Target="../media/image176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0.png"/><Relationship Id="rId13" Type="http://schemas.openxmlformats.org/officeDocument/2006/relationships/image" Target="../media/image182.png"/><Relationship Id="rId18" Type="http://schemas.openxmlformats.org/officeDocument/2006/relationships/image" Target="../media/image185.png"/><Relationship Id="rId3" Type="http://schemas.openxmlformats.org/officeDocument/2006/relationships/image" Target="../media/image181.emf"/><Relationship Id="rId7" Type="http://schemas.openxmlformats.org/officeDocument/2006/relationships/image" Target="../media/image1630.png"/><Relationship Id="rId12" Type="http://schemas.openxmlformats.org/officeDocument/2006/relationships/image" Target="../media/image181.png"/><Relationship Id="rId17" Type="http://schemas.openxmlformats.org/officeDocument/2006/relationships/image" Target="../media/image184.png"/><Relationship Id="rId2" Type="http://schemas.openxmlformats.org/officeDocument/2006/relationships/notesSlide" Target="../notesSlides/notesSlide44.xml"/><Relationship Id="rId16" Type="http://schemas.openxmlformats.org/officeDocument/2006/relationships/image" Target="../media/image17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2.emf"/><Relationship Id="rId11" Type="http://schemas.openxmlformats.org/officeDocument/2006/relationships/image" Target="../media/image177.emf"/><Relationship Id="rId5" Type="http://schemas.openxmlformats.org/officeDocument/2006/relationships/image" Target="../media/image179.emf"/><Relationship Id="rId15" Type="http://schemas.openxmlformats.org/officeDocument/2006/relationships/image" Target="../media/image173.emf"/><Relationship Id="rId10" Type="http://schemas.openxmlformats.org/officeDocument/2006/relationships/image" Target="../media/image172.png"/><Relationship Id="rId4" Type="http://schemas.openxmlformats.org/officeDocument/2006/relationships/image" Target="../media/image182.emf"/><Relationship Id="rId9" Type="http://schemas.openxmlformats.org/officeDocument/2006/relationships/image" Target="../media/image166.png"/><Relationship Id="rId14" Type="http://schemas.openxmlformats.org/officeDocument/2006/relationships/image" Target="../media/image183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emf"/><Relationship Id="rId13" Type="http://schemas.openxmlformats.org/officeDocument/2006/relationships/image" Target="../media/image178.png"/><Relationship Id="rId3" Type="http://schemas.openxmlformats.org/officeDocument/2006/relationships/image" Target="../media/image183.emf"/><Relationship Id="rId7" Type="http://schemas.openxmlformats.org/officeDocument/2006/relationships/image" Target="../media/image187.emf"/><Relationship Id="rId12" Type="http://schemas.openxmlformats.org/officeDocument/2006/relationships/image" Target="../media/image177.png"/><Relationship Id="rId17" Type="http://schemas.openxmlformats.org/officeDocument/2006/relationships/image" Target="../media/image180.png"/><Relationship Id="rId2" Type="http://schemas.openxmlformats.org/officeDocument/2006/relationships/notesSlide" Target="../notesSlides/notesSlide45.xml"/><Relationship Id="rId16" Type="http://schemas.openxmlformats.org/officeDocument/2006/relationships/image" Target="../media/image1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6.emf"/><Relationship Id="rId11" Type="http://schemas.openxmlformats.org/officeDocument/2006/relationships/image" Target="../media/image1710.png"/><Relationship Id="rId5" Type="http://schemas.openxmlformats.org/officeDocument/2006/relationships/image" Target="../media/image185.emf"/><Relationship Id="rId15" Type="http://schemas.openxmlformats.org/officeDocument/2006/relationships/image" Target="../media/image1780.png"/><Relationship Id="rId10" Type="http://schemas.openxmlformats.org/officeDocument/2006/relationships/image" Target="../media/image1630.png"/><Relationship Id="rId4" Type="http://schemas.openxmlformats.org/officeDocument/2006/relationships/image" Target="../media/image184.emf"/><Relationship Id="rId9" Type="http://schemas.openxmlformats.org/officeDocument/2006/relationships/image" Target="../media/image172.emf"/><Relationship Id="rId14" Type="http://schemas.openxmlformats.org/officeDocument/2006/relationships/image" Target="../media/image1770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emf"/><Relationship Id="rId13" Type="http://schemas.openxmlformats.org/officeDocument/2006/relationships/image" Target="../media/image177.png"/><Relationship Id="rId18" Type="http://schemas.openxmlformats.org/officeDocument/2006/relationships/image" Target="../media/image191.png"/><Relationship Id="rId3" Type="http://schemas.openxmlformats.org/officeDocument/2006/relationships/image" Target="../media/image183.emf"/><Relationship Id="rId7" Type="http://schemas.openxmlformats.org/officeDocument/2006/relationships/image" Target="../media/image187.emf"/><Relationship Id="rId12" Type="http://schemas.openxmlformats.org/officeDocument/2006/relationships/image" Target="../media/image187.png"/><Relationship Id="rId17" Type="http://schemas.openxmlformats.org/officeDocument/2006/relationships/image" Target="../media/image190.png"/><Relationship Id="rId2" Type="http://schemas.openxmlformats.org/officeDocument/2006/relationships/notesSlide" Target="../notesSlides/notesSlide46.xml"/><Relationship Id="rId16" Type="http://schemas.openxmlformats.org/officeDocument/2006/relationships/image" Target="../media/image1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6.emf"/><Relationship Id="rId11" Type="http://schemas.openxmlformats.org/officeDocument/2006/relationships/image" Target="../media/image186.png"/><Relationship Id="rId5" Type="http://schemas.openxmlformats.org/officeDocument/2006/relationships/image" Target="../media/image185.emf"/><Relationship Id="rId15" Type="http://schemas.openxmlformats.org/officeDocument/2006/relationships/image" Target="../media/image188.png"/><Relationship Id="rId19" Type="http://schemas.openxmlformats.org/officeDocument/2006/relationships/image" Target="../media/image192.png"/><Relationship Id="rId4" Type="http://schemas.openxmlformats.org/officeDocument/2006/relationships/image" Target="../media/image184.emf"/><Relationship Id="rId9" Type="http://schemas.openxmlformats.org/officeDocument/2006/relationships/image" Target="../media/image172.emf"/><Relationship Id="rId14" Type="http://schemas.openxmlformats.org/officeDocument/2006/relationships/image" Target="../media/image178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emf"/><Relationship Id="rId13" Type="http://schemas.openxmlformats.org/officeDocument/2006/relationships/image" Target="../media/image196.png"/><Relationship Id="rId18" Type="http://schemas.openxmlformats.org/officeDocument/2006/relationships/image" Target="../media/image201.png"/><Relationship Id="rId3" Type="http://schemas.openxmlformats.org/officeDocument/2006/relationships/image" Target="../media/image183.emf"/><Relationship Id="rId21" Type="http://schemas.openxmlformats.org/officeDocument/2006/relationships/image" Target="../media/image204.png"/><Relationship Id="rId7" Type="http://schemas.openxmlformats.org/officeDocument/2006/relationships/image" Target="../media/image187.emf"/><Relationship Id="rId12" Type="http://schemas.openxmlformats.org/officeDocument/2006/relationships/image" Target="../media/image195.png"/><Relationship Id="rId17" Type="http://schemas.openxmlformats.org/officeDocument/2006/relationships/image" Target="../media/image200.png"/><Relationship Id="rId2" Type="http://schemas.openxmlformats.org/officeDocument/2006/relationships/notesSlide" Target="../notesSlides/notesSlide47.xml"/><Relationship Id="rId16" Type="http://schemas.openxmlformats.org/officeDocument/2006/relationships/image" Target="../media/image199.png"/><Relationship Id="rId20" Type="http://schemas.openxmlformats.org/officeDocument/2006/relationships/image" Target="../media/image2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6.emf"/><Relationship Id="rId11" Type="http://schemas.openxmlformats.org/officeDocument/2006/relationships/image" Target="../media/image194.png"/><Relationship Id="rId5" Type="http://schemas.openxmlformats.org/officeDocument/2006/relationships/image" Target="../media/image185.emf"/><Relationship Id="rId15" Type="http://schemas.openxmlformats.org/officeDocument/2006/relationships/image" Target="../media/image198.png"/><Relationship Id="rId10" Type="http://schemas.openxmlformats.org/officeDocument/2006/relationships/image" Target="../media/image193.png"/><Relationship Id="rId19" Type="http://schemas.openxmlformats.org/officeDocument/2006/relationships/image" Target="../media/image202.png"/><Relationship Id="rId4" Type="http://schemas.openxmlformats.org/officeDocument/2006/relationships/image" Target="../media/image184.emf"/><Relationship Id="rId9" Type="http://schemas.openxmlformats.org/officeDocument/2006/relationships/image" Target="../media/image172.emf"/><Relationship Id="rId14" Type="http://schemas.openxmlformats.org/officeDocument/2006/relationships/image" Target="../media/image197.png"/><Relationship Id="rId22" Type="http://schemas.openxmlformats.org/officeDocument/2006/relationships/image" Target="../media/image205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emf"/><Relationship Id="rId13" Type="http://schemas.openxmlformats.org/officeDocument/2006/relationships/image" Target="../media/image208.png"/><Relationship Id="rId18" Type="http://schemas.openxmlformats.org/officeDocument/2006/relationships/image" Target="../media/image213.png"/><Relationship Id="rId3" Type="http://schemas.openxmlformats.org/officeDocument/2006/relationships/notesSlide" Target="../notesSlides/notesSlide48.xml"/><Relationship Id="rId21" Type="http://schemas.openxmlformats.org/officeDocument/2006/relationships/image" Target="../media/image216.png"/><Relationship Id="rId7" Type="http://schemas.openxmlformats.org/officeDocument/2006/relationships/image" Target="../media/image186.emf"/><Relationship Id="rId12" Type="http://schemas.openxmlformats.org/officeDocument/2006/relationships/image" Target="../media/image207.png"/><Relationship Id="rId17" Type="http://schemas.openxmlformats.org/officeDocument/2006/relationships/image" Target="../media/image21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11.png"/><Relationship Id="rId20" Type="http://schemas.openxmlformats.org/officeDocument/2006/relationships/image" Target="../media/image215.png"/><Relationship Id="rId1" Type="http://schemas.openxmlformats.org/officeDocument/2006/relationships/vmlDrawing" Target="../drawings/vmlDrawing1.vml"/><Relationship Id="rId6" Type="http://schemas.openxmlformats.org/officeDocument/2006/relationships/image" Target="../media/image185.emf"/><Relationship Id="rId11" Type="http://schemas.openxmlformats.org/officeDocument/2006/relationships/image" Target="../media/image206.png"/><Relationship Id="rId5" Type="http://schemas.openxmlformats.org/officeDocument/2006/relationships/image" Target="../media/image183.emf"/><Relationship Id="rId15" Type="http://schemas.openxmlformats.org/officeDocument/2006/relationships/image" Target="../media/image210.png"/><Relationship Id="rId23" Type="http://schemas.openxmlformats.org/officeDocument/2006/relationships/image" Target="../media/image218.png"/><Relationship Id="rId10" Type="http://schemas.openxmlformats.org/officeDocument/2006/relationships/image" Target="../media/image172.emf"/><Relationship Id="rId19" Type="http://schemas.openxmlformats.org/officeDocument/2006/relationships/image" Target="../media/image214.png"/><Relationship Id="rId4" Type="http://schemas.openxmlformats.org/officeDocument/2006/relationships/image" Target="../media/image189.emf"/><Relationship Id="rId9" Type="http://schemas.openxmlformats.org/officeDocument/2006/relationships/image" Target="../media/image188.emf"/><Relationship Id="rId14" Type="http://schemas.openxmlformats.org/officeDocument/2006/relationships/image" Target="../media/image209.png"/><Relationship Id="rId22" Type="http://schemas.openxmlformats.org/officeDocument/2006/relationships/image" Target="../media/image21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1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png"/><Relationship Id="rId13" Type="http://schemas.openxmlformats.org/officeDocument/2006/relationships/image" Target="../media/image233.png"/><Relationship Id="rId3" Type="http://schemas.openxmlformats.org/officeDocument/2006/relationships/image" Target="../media/image222.png"/><Relationship Id="rId7" Type="http://schemas.openxmlformats.org/officeDocument/2006/relationships/image" Target="../media/image226.png"/><Relationship Id="rId12" Type="http://schemas.openxmlformats.org/officeDocument/2006/relationships/image" Target="../media/image23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5.png"/><Relationship Id="rId11" Type="http://schemas.openxmlformats.org/officeDocument/2006/relationships/image" Target="../media/image231.png"/><Relationship Id="rId5" Type="http://schemas.openxmlformats.org/officeDocument/2006/relationships/image" Target="../media/image224.png"/><Relationship Id="rId10" Type="http://schemas.openxmlformats.org/officeDocument/2006/relationships/image" Target="../media/image229.png"/><Relationship Id="rId4" Type="http://schemas.openxmlformats.org/officeDocument/2006/relationships/image" Target="../media/image223.png"/><Relationship Id="rId9" Type="http://schemas.openxmlformats.org/officeDocument/2006/relationships/image" Target="../media/image228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8.png"/><Relationship Id="rId3" Type="http://schemas.openxmlformats.org/officeDocument/2006/relationships/image" Target="../media/image222.png"/><Relationship Id="rId7" Type="http://schemas.openxmlformats.org/officeDocument/2006/relationships/image" Target="../media/image22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4.png"/><Relationship Id="rId5" Type="http://schemas.openxmlformats.org/officeDocument/2006/relationships/image" Target="../media/image224.png"/><Relationship Id="rId10" Type="http://schemas.openxmlformats.org/officeDocument/2006/relationships/image" Target="../media/image233.png"/><Relationship Id="rId4" Type="http://schemas.openxmlformats.org/officeDocument/2006/relationships/image" Target="../media/image223.png"/><Relationship Id="rId9" Type="http://schemas.openxmlformats.org/officeDocument/2006/relationships/image" Target="../media/image23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7.png"/><Relationship Id="rId4" Type="http://schemas.openxmlformats.org/officeDocument/2006/relationships/image" Target="../media/image236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emf"/><Relationship Id="rId3" Type="http://schemas.openxmlformats.org/officeDocument/2006/relationships/image" Target="../media/image177.emf"/><Relationship Id="rId7" Type="http://schemas.openxmlformats.org/officeDocument/2006/relationships/image" Target="../media/image188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70.png"/><Relationship Id="rId5" Type="http://schemas.openxmlformats.org/officeDocument/2006/relationships/image" Target="../media/image1860.png"/><Relationship Id="rId4" Type="http://schemas.openxmlformats.org/officeDocument/2006/relationships/image" Target="../media/image179.emf"/><Relationship Id="rId9" Type="http://schemas.openxmlformats.org/officeDocument/2006/relationships/image" Target="../media/image174.emf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8.emf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8.emf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png"/><Relationship Id="rId2" Type="http://schemas.openxmlformats.org/officeDocument/2006/relationships/image" Target="../media/image238.emf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8.emf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png"/><Relationship Id="rId2" Type="http://schemas.openxmlformats.org/officeDocument/2006/relationships/image" Target="../media/image238.emf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19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F2C44-13C1-10D9-6C19-CA59F4227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21E4AD1A-1995-4A59-40C5-F2E57E5D7562}"/>
              </a:ext>
            </a:extLst>
          </p:cNvPr>
          <p:cNvGrpSpPr/>
          <p:nvPr/>
        </p:nvGrpSpPr>
        <p:grpSpPr>
          <a:xfrm>
            <a:off x="3692210" y="3048248"/>
            <a:ext cx="10140513" cy="5180674"/>
            <a:chOff x="1134326" y="1308152"/>
            <a:chExt cx="6994574" cy="3573449"/>
          </a:xfrm>
        </p:grpSpPr>
        <p:grpSp>
          <p:nvGrpSpPr>
            <p:cNvPr id="148" name="グループ化 147">
              <a:extLst>
                <a:ext uri="{FF2B5EF4-FFF2-40B4-BE49-F238E27FC236}">
                  <a16:creationId xmlns:a16="http://schemas.microsoft.com/office/drawing/2014/main" id="{7C0D4E84-9298-4E56-7B92-5919B6AB5B04}"/>
                </a:ext>
              </a:extLst>
            </p:cNvPr>
            <p:cNvGrpSpPr/>
            <p:nvPr/>
          </p:nvGrpSpPr>
          <p:grpSpPr>
            <a:xfrm>
              <a:off x="1134326" y="1611427"/>
              <a:ext cx="6994574" cy="3270174"/>
              <a:chOff x="1134326" y="1611427"/>
              <a:chExt cx="6994574" cy="3270174"/>
            </a:xfrm>
          </p:grpSpPr>
          <p:grpSp>
            <p:nvGrpSpPr>
              <p:cNvPr id="133" name="グループ化 132">
                <a:extLst>
                  <a:ext uri="{FF2B5EF4-FFF2-40B4-BE49-F238E27FC236}">
                    <a16:creationId xmlns:a16="http://schemas.microsoft.com/office/drawing/2014/main" id="{C8ED24DB-9389-05E6-170C-5AD8240FAA85}"/>
                  </a:ext>
                </a:extLst>
              </p:cNvPr>
              <p:cNvGrpSpPr/>
              <p:nvPr/>
            </p:nvGrpSpPr>
            <p:grpSpPr>
              <a:xfrm>
                <a:off x="1134326" y="1611427"/>
                <a:ext cx="6994574" cy="3270174"/>
                <a:chOff x="1134326" y="1611427"/>
                <a:chExt cx="6994574" cy="3270174"/>
              </a:xfrm>
            </p:grpSpPr>
            <p:cxnSp>
              <p:nvCxnSpPr>
                <p:cNvPr id="44" name="直線コネクタ 43">
                  <a:extLst>
                    <a:ext uri="{FF2B5EF4-FFF2-40B4-BE49-F238E27FC236}">
                      <a16:creationId xmlns:a16="http://schemas.microsoft.com/office/drawing/2014/main" id="{FC151B7B-3811-71AF-6B35-38D3C1F73A3D}"/>
                    </a:ext>
                  </a:extLst>
                </p:cNvPr>
                <p:cNvCxnSpPr/>
                <p:nvPr/>
              </p:nvCxnSpPr>
              <p:spPr>
                <a:xfrm>
                  <a:off x="3979719" y="1611427"/>
                  <a:ext cx="0" cy="327017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0" name="グループ化 129">
                  <a:extLst>
                    <a:ext uri="{FF2B5EF4-FFF2-40B4-BE49-F238E27FC236}">
                      <a16:creationId xmlns:a16="http://schemas.microsoft.com/office/drawing/2014/main" id="{3F1345AC-3B3B-A09B-E4B4-0FD8AF57FB20}"/>
                    </a:ext>
                  </a:extLst>
                </p:cNvPr>
                <p:cNvGrpSpPr/>
                <p:nvPr/>
              </p:nvGrpSpPr>
              <p:grpSpPr>
                <a:xfrm>
                  <a:off x="3963953" y="1800863"/>
                  <a:ext cx="4164947" cy="3052137"/>
                  <a:chOff x="3990457" y="1800863"/>
                  <a:chExt cx="4164947" cy="3052137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6" name="テキスト ボックス 95">
                        <a:extLst>
                          <a:ext uri="{FF2B5EF4-FFF2-40B4-BE49-F238E27FC236}">
                            <a16:creationId xmlns:a16="http://schemas.microsoft.com/office/drawing/2014/main" id="{30366A14-9664-811F-A8C7-AB78AE47759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990457" y="3358392"/>
                        <a:ext cx="1330506" cy="36293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14:m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</m:oMath>
                        </a14:m>
                        <a:r>
                          <a:rPr lang="en-US" altLang="ja-JP" sz="2610" dirty="0">
                            <a:latin typeface="Helvetica" pitchFamily="2" charset="0"/>
                          </a:rPr>
                          <a:t>(in-plane)</a:t>
                        </a:r>
                        <a:endParaRPr lang="ja-JP" altLang="en-US" sz="2610">
                          <a:latin typeface="Helvetica" pitchFamily="2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96" name="テキスト ボックス 95">
                        <a:extLst>
                          <a:ext uri="{FF2B5EF4-FFF2-40B4-BE49-F238E27FC236}">
                            <a16:creationId xmlns:a16="http://schemas.microsoft.com/office/drawing/2014/main" id="{30366A14-9664-811F-A8C7-AB78AE47759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990457" y="3358392"/>
                        <a:ext cx="1330506" cy="362934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 l="-1974" t="-9524" r="-4605" b="-2381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grpSp>
                <p:nvGrpSpPr>
                  <p:cNvPr id="129" name="グループ化 128">
                    <a:extLst>
                      <a:ext uri="{FF2B5EF4-FFF2-40B4-BE49-F238E27FC236}">
                        <a16:creationId xmlns:a16="http://schemas.microsoft.com/office/drawing/2014/main" id="{B0B5FEC3-4DCB-A56A-4521-DFC6B931894A}"/>
                      </a:ext>
                    </a:extLst>
                  </p:cNvPr>
                  <p:cNvGrpSpPr/>
                  <p:nvPr/>
                </p:nvGrpSpPr>
                <p:grpSpPr>
                  <a:xfrm>
                    <a:off x="4168089" y="1800863"/>
                    <a:ext cx="3987315" cy="3052137"/>
                    <a:chOff x="4168089" y="1800863"/>
                    <a:chExt cx="3987315" cy="3052137"/>
                  </a:xfrm>
                </p:grpSpPr>
                <p:sp>
                  <p:nvSpPr>
                    <p:cNvPr id="45" name="直方体 44">
                      <a:extLst>
                        <a:ext uri="{FF2B5EF4-FFF2-40B4-BE49-F238E27FC236}">
                          <a16:creationId xmlns:a16="http://schemas.microsoft.com/office/drawing/2014/main" id="{39AC8115-C79B-1FBB-94E5-690072300C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68089" y="2971573"/>
                      <a:ext cx="278673" cy="278673"/>
                    </a:xfrm>
                    <a:prstGeom prst="cub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46" name="直線矢印コネクタ 45">
                      <a:extLst>
                        <a:ext uri="{FF2B5EF4-FFF2-40B4-BE49-F238E27FC236}">
                          <a16:creationId xmlns:a16="http://schemas.microsoft.com/office/drawing/2014/main" id="{426D63CC-51A1-3C22-1D98-1DE90F95452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406866" y="3135788"/>
                      <a:ext cx="2907290" cy="0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" name="直線コネクタ 47">
                      <a:extLst>
                        <a:ext uri="{FF2B5EF4-FFF2-40B4-BE49-F238E27FC236}">
                          <a16:creationId xmlns:a16="http://schemas.microsoft.com/office/drawing/2014/main" id="{9DD0FCA6-9FDC-0DB6-847E-E68503C9A8E5}"/>
                        </a:ext>
                      </a:extLst>
                    </p:cNvPr>
                    <p:cNvCxnSpPr>
                      <a:cxnSpLocks/>
                      <a:endCxn id="96" idx="0"/>
                    </p:cNvCxnSpPr>
                    <p:nvPr/>
                  </p:nvCxnSpPr>
                  <p:spPr>
                    <a:xfrm flipH="1">
                      <a:off x="4655710" y="3149250"/>
                      <a:ext cx="281256" cy="209142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3" name="テキスト ボックス 52">
                      <a:extLst>
                        <a:ext uri="{FF2B5EF4-FFF2-40B4-BE49-F238E27FC236}">
                          <a16:creationId xmlns:a16="http://schemas.microsoft.com/office/drawing/2014/main" id="{51CB573E-0CAC-58E5-F388-380051ACDB5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72543" y="2550508"/>
                      <a:ext cx="516948" cy="37151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altLang="ja-JP" sz="2900" b="1" dirty="0">
                          <a:latin typeface="Helvetica" pitchFamily="2" charset="0"/>
                        </a:rPr>
                        <a:t> </a:t>
                      </a:r>
                      <a:r>
                        <a:rPr lang="ja-JP" altLang="en-US" sz="2900" b="1">
                          <a:latin typeface="Helvetica" pitchFamily="2" charset="0"/>
                        </a:rPr>
                        <a:t>↑↓</a:t>
                      </a:r>
                    </a:p>
                  </p:txBody>
                </p:sp>
                <p:sp>
                  <p:nvSpPr>
                    <p:cNvPr id="54" name="テキスト ボックス 53">
                      <a:extLst>
                        <a:ext uri="{FF2B5EF4-FFF2-40B4-BE49-F238E27FC236}">
                          <a16:creationId xmlns:a16="http://schemas.microsoft.com/office/drawing/2014/main" id="{760C1CD8-BABA-CAC1-5DF7-49295E9ADD2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29569" y="2262703"/>
                      <a:ext cx="516948" cy="37151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altLang="ja-JP" sz="2900" b="1" dirty="0">
                          <a:latin typeface="Helvetica" pitchFamily="2" charset="0"/>
                        </a:rPr>
                        <a:t> </a:t>
                      </a:r>
                      <a:r>
                        <a:rPr lang="ja-JP" altLang="en-US" sz="2900" b="1">
                          <a:latin typeface="Helvetica" pitchFamily="2" charset="0"/>
                        </a:rPr>
                        <a:t>↑</a:t>
                      </a:r>
                    </a:p>
                  </p:txBody>
                </p:sp>
                <p:sp>
                  <p:nvSpPr>
                    <p:cNvPr id="56" name="テキスト ボックス 55">
                      <a:extLst>
                        <a:ext uri="{FF2B5EF4-FFF2-40B4-BE49-F238E27FC236}">
                          <a16:creationId xmlns:a16="http://schemas.microsoft.com/office/drawing/2014/main" id="{C11D5534-4EA0-F45A-A391-96CFA72166F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34982" y="4512269"/>
                      <a:ext cx="1320422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2D detector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59" name="円柱 58">
                      <a:extLst>
                        <a:ext uri="{FF2B5EF4-FFF2-40B4-BE49-F238E27FC236}">
                          <a16:creationId xmlns:a16="http://schemas.microsoft.com/office/drawing/2014/main" id="{3501534D-EB78-BBAA-8D3B-64D5A8830CCF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5484005" y="2832141"/>
                      <a:ext cx="979476" cy="568705"/>
                    </a:xfrm>
                    <a:prstGeom prst="can">
                      <a:avLst/>
                    </a:prstGeom>
                    <a:noFill/>
                    <a:scene3d>
                      <a:camera prst="orthographicFront">
                        <a:rot lat="0" lon="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71" name="直線矢印コネクタ 70">
                      <a:extLst>
                        <a:ext uri="{FF2B5EF4-FFF2-40B4-BE49-F238E27FC236}">
                          <a16:creationId xmlns:a16="http://schemas.microsoft.com/office/drawing/2014/main" id="{BB43B14D-B248-3B85-0E01-540032E480B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404382" y="3148046"/>
                      <a:ext cx="2948876" cy="503314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" name="直線矢印コネクタ 71">
                      <a:extLst>
                        <a:ext uri="{FF2B5EF4-FFF2-40B4-BE49-F238E27FC236}">
                          <a16:creationId xmlns:a16="http://schemas.microsoft.com/office/drawing/2014/main" id="{2B16C9CE-6521-4D06-90E4-28D61257449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4426086" y="2633915"/>
                      <a:ext cx="2790002" cy="489617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9" name="直方体 78">
                      <a:extLst>
                        <a:ext uri="{FF2B5EF4-FFF2-40B4-BE49-F238E27FC236}">
                          <a16:creationId xmlns:a16="http://schemas.microsoft.com/office/drawing/2014/main" id="{D6BC9BB8-52E3-D882-E708-627967C81EDE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132381" y="2645172"/>
                      <a:ext cx="2603191" cy="914573"/>
                    </a:xfrm>
                    <a:prstGeom prst="cube">
                      <a:avLst>
                        <a:gd name="adj" fmla="val 79178"/>
                      </a:avLst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81" name="円/楕円 80">
                      <a:extLst>
                        <a:ext uri="{FF2B5EF4-FFF2-40B4-BE49-F238E27FC236}">
                          <a16:creationId xmlns:a16="http://schemas.microsoft.com/office/drawing/2014/main" id="{51B41B51-330A-9A2D-09FC-7171B92438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43349" y="2290773"/>
                      <a:ext cx="571839" cy="1582514"/>
                    </a:xfrm>
                    <a:prstGeom prst="ellipse">
                      <a:avLst/>
                    </a:prstGeom>
                    <a:noFill/>
                    <a:ln w="12700">
                      <a:prstDash val="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84" name="直線コネクタ 83">
                      <a:extLst>
                        <a:ext uri="{FF2B5EF4-FFF2-40B4-BE49-F238E27FC236}">
                          <a16:creationId xmlns:a16="http://schemas.microsoft.com/office/drawing/2014/main" id="{3B98CC7D-2AAF-52CF-D7A5-21091014D1BA}"/>
                        </a:ext>
                      </a:extLst>
                    </p:cNvPr>
                    <p:cNvCxnSpPr>
                      <a:cxnSpLocks/>
                      <a:stCxn id="81" idx="0"/>
                    </p:cNvCxnSpPr>
                    <p:nvPr/>
                  </p:nvCxnSpPr>
                  <p:spPr>
                    <a:xfrm flipH="1">
                      <a:off x="4412833" y="2290773"/>
                      <a:ext cx="2916436" cy="823921"/>
                    </a:xfrm>
                    <a:prstGeom prst="line">
                      <a:avLst/>
                    </a:prstGeom>
                    <a:ln w="127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直線コネクタ 86">
                      <a:extLst>
                        <a:ext uri="{FF2B5EF4-FFF2-40B4-BE49-F238E27FC236}">
                          <a16:creationId xmlns:a16="http://schemas.microsoft.com/office/drawing/2014/main" id="{E2E7B0E9-8602-DCDB-9951-1461733C0DEF}"/>
                        </a:ext>
                      </a:extLst>
                    </p:cNvPr>
                    <p:cNvCxnSpPr>
                      <a:cxnSpLocks/>
                      <a:stCxn id="81" idx="4"/>
                    </p:cNvCxnSpPr>
                    <p:nvPr/>
                  </p:nvCxnSpPr>
                  <p:spPr>
                    <a:xfrm flipH="1" flipV="1">
                      <a:off x="4380393" y="3153774"/>
                      <a:ext cx="2948876" cy="719513"/>
                    </a:xfrm>
                    <a:prstGeom prst="line">
                      <a:avLst/>
                    </a:prstGeom>
                    <a:ln w="127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5" name="直線コネクタ 94">
                      <a:extLst>
                        <a:ext uri="{FF2B5EF4-FFF2-40B4-BE49-F238E27FC236}">
                          <a16:creationId xmlns:a16="http://schemas.microsoft.com/office/drawing/2014/main" id="{F471FF23-5BE7-6838-4CB7-A2C9E628B6D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386023" y="4181631"/>
                      <a:ext cx="185106" cy="360638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97" name="テキスト ボックス 96">
                          <a:extLst>
                            <a:ext uri="{FF2B5EF4-FFF2-40B4-BE49-F238E27FC236}">
                              <a16:creationId xmlns:a16="http://schemas.microsoft.com/office/drawing/2014/main" id="{8091CEF0-E2B1-32F6-DCF7-1D9B12B241B9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604353" y="3832849"/>
                          <a:ext cx="1741825" cy="36293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ja-JP" sz="2610" dirty="0">
                              <a:latin typeface="Helvetica" pitchFamily="2" charset="0"/>
                            </a:rPr>
                            <a:t>(out-of-plane)</a:t>
                          </a:r>
                          <a:endParaRPr lang="ja-JP" altLang="en-US" sz="2610">
                            <a:latin typeface="Helvetica" pitchFamily="2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97" name="テキスト ボックス 96">
                          <a:extLst>
                            <a:ext uri="{FF2B5EF4-FFF2-40B4-BE49-F238E27FC236}">
                              <a16:creationId xmlns:a16="http://schemas.microsoft.com/office/drawing/2014/main" id="{8091CEF0-E2B1-32F6-DCF7-1D9B12B241B9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4604353" y="3832849"/>
                          <a:ext cx="1741825" cy="362934"/>
                        </a:xfrm>
                        <a:prstGeom prst="rect">
                          <a:avLst/>
                        </a:prstGeom>
                        <a:blipFill>
                          <a:blip r:embed="rId4"/>
                          <a:stretch>
                            <a:fillRect l="-1508" t="-9524" r="-3518" b="-2381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ja-JP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108" name="直線コネクタ 107">
                      <a:extLst>
                        <a:ext uri="{FF2B5EF4-FFF2-40B4-BE49-F238E27FC236}">
                          <a16:creationId xmlns:a16="http://schemas.microsoft.com/office/drawing/2014/main" id="{33D16B48-9D82-2775-0D8C-F1C5BB552BD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5356824" y="2939866"/>
                      <a:ext cx="199411" cy="912326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" name="直線コネクタ 109">
                      <a:extLst>
                        <a:ext uri="{FF2B5EF4-FFF2-40B4-BE49-F238E27FC236}">
                          <a16:creationId xmlns:a16="http://schemas.microsoft.com/office/drawing/2014/main" id="{A49441B2-1735-4C3B-9F17-79AB0734556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5364826" y="3337012"/>
                      <a:ext cx="244086" cy="53627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6" name="テキスト ボックス 115">
                      <a:extLst>
                        <a:ext uri="{FF2B5EF4-FFF2-40B4-BE49-F238E27FC236}">
                          <a16:creationId xmlns:a16="http://schemas.microsoft.com/office/drawing/2014/main" id="{6623E1F4-AA95-C515-E557-A0DA9BC281D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56782" y="1966011"/>
                      <a:ext cx="1047315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baseline="30000" dirty="0">
                          <a:latin typeface="Helvetica" pitchFamily="2" charset="0"/>
                        </a:rPr>
                        <a:t>3</a:t>
                      </a:r>
                      <a:r>
                        <a:rPr lang="en-US" altLang="ja-JP" sz="2610" dirty="0">
                          <a:latin typeface="Helvetica" pitchFamily="2" charset="0"/>
                        </a:rPr>
                        <a:t>He-NSF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  <p:cxnSp>
                  <p:nvCxnSpPr>
                    <p:cNvPr id="119" name="直線コネクタ 118">
                      <a:extLst>
                        <a:ext uri="{FF2B5EF4-FFF2-40B4-BE49-F238E27FC236}">
                          <a16:creationId xmlns:a16="http://schemas.microsoft.com/office/drawing/2014/main" id="{6009932E-3D3F-361D-FD73-4BC204771E2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713993" y="2276125"/>
                      <a:ext cx="135867" cy="323008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32" name="グループ化 131">
                  <a:extLst>
                    <a:ext uri="{FF2B5EF4-FFF2-40B4-BE49-F238E27FC236}">
                      <a16:creationId xmlns:a16="http://schemas.microsoft.com/office/drawing/2014/main" id="{36DCE813-3D31-F75A-B2EC-5FCF03E703E7}"/>
                    </a:ext>
                  </a:extLst>
                </p:cNvPr>
                <p:cNvGrpSpPr/>
                <p:nvPr/>
              </p:nvGrpSpPr>
              <p:grpSpPr>
                <a:xfrm>
                  <a:off x="1134326" y="1635986"/>
                  <a:ext cx="2780879" cy="3217014"/>
                  <a:chOff x="1041562" y="1635986"/>
                  <a:chExt cx="2780879" cy="3217014"/>
                </a:xfrm>
              </p:grpSpPr>
              <p:sp>
                <p:nvSpPr>
                  <p:cNvPr id="115" name="テキスト ボックス 114">
                    <a:extLst>
                      <a:ext uri="{FF2B5EF4-FFF2-40B4-BE49-F238E27FC236}">
                        <a16:creationId xmlns:a16="http://schemas.microsoft.com/office/drawing/2014/main" id="{900267A2-BCC9-5562-00E8-32E5ED7A41A8}"/>
                      </a:ext>
                    </a:extLst>
                  </p:cNvPr>
                  <p:cNvSpPr txBox="1"/>
                  <p:nvPr/>
                </p:nvSpPr>
                <p:spPr>
                  <a:xfrm>
                    <a:off x="2789500" y="1963337"/>
                    <a:ext cx="1032941" cy="3407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ja-JP" sz="2610" dirty="0">
                        <a:latin typeface="Helvetica" pitchFamily="2" charset="0"/>
                      </a:rPr>
                      <a:t>Cu</a:t>
                    </a:r>
                    <a:r>
                      <a:rPr lang="en-US" altLang="ja-JP" sz="2610" baseline="-25000" dirty="0">
                        <a:latin typeface="Helvetica" pitchFamily="2" charset="0"/>
                      </a:rPr>
                      <a:t>2</a:t>
                    </a:r>
                    <a:r>
                      <a:rPr lang="en-US" altLang="ja-JP" sz="2610" dirty="0">
                        <a:latin typeface="Helvetica" pitchFamily="2" charset="0"/>
                      </a:rPr>
                      <a:t>MnAl</a:t>
                    </a:r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  <p:grpSp>
                <p:nvGrpSpPr>
                  <p:cNvPr id="131" name="グループ化 130">
                    <a:extLst>
                      <a:ext uri="{FF2B5EF4-FFF2-40B4-BE49-F238E27FC236}">
                        <a16:creationId xmlns:a16="http://schemas.microsoft.com/office/drawing/2014/main" id="{BBD1D55E-9EB1-D72D-1EDC-79851DB99A24}"/>
                      </a:ext>
                    </a:extLst>
                  </p:cNvPr>
                  <p:cNvGrpSpPr/>
                  <p:nvPr/>
                </p:nvGrpSpPr>
                <p:grpSpPr>
                  <a:xfrm>
                    <a:off x="1041562" y="1635986"/>
                    <a:ext cx="2646534" cy="3217014"/>
                    <a:chOff x="1041562" y="1635986"/>
                    <a:chExt cx="2646534" cy="3217014"/>
                  </a:xfrm>
                </p:grpSpPr>
                <p:sp>
                  <p:nvSpPr>
                    <p:cNvPr id="23" name="直方体 22">
                      <a:extLst>
                        <a:ext uri="{FF2B5EF4-FFF2-40B4-BE49-F238E27FC236}">
                          <a16:creationId xmlns:a16="http://schemas.microsoft.com/office/drawing/2014/main" id="{64491C1F-ECA3-E12E-9F2A-725BF81170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85848" y="2254971"/>
                      <a:ext cx="278673" cy="278673"/>
                    </a:xfrm>
                    <a:prstGeom prst="cub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13" name="直線矢印コネクタ 12">
                      <a:extLst>
                        <a:ext uri="{FF2B5EF4-FFF2-40B4-BE49-F238E27FC236}">
                          <a16:creationId xmlns:a16="http://schemas.microsoft.com/office/drawing/2014/main" id="{03D3EBA0-51ED-F3AC-ACF2-FE68B6A9FC2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524625" y="2409398"/>
                      <a:ext cx="1555924" cy="536822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" name="直線矢印コネクタ 20">
                      <a:extLst>
                        <a:ext uri="{FF2B5EF4-FFF2-40B4-BE49-F238E27FC236}">
                          <a16:creationId xmlns:a16="http://schemas.microsoft.com/office/drawing/2014/main" id="{20FA1378-9526-721F-E0EB-66A792DA778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4800000">
                      <a:off x="2151478" y="3467025"/>
                      <a:ext cx="1555924" cy="536822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" name="直線コネクタ 23">
                      <a:extLst>
                        <a:ext uri="{FF2B5EF4-FFF2-40B4-BE49-F238E27FC236}">
                          <a16:creationId xmlns:a16="http://schemas.microsoft.com/office/drawing/2014/main" id="{3EC6318B-2D8A-2EC8-1C13-E57FFDBE62F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432072" y="1940242"/>
                      <a:ext cx="185106" cy="360638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6" name="テキスト ボックス 25">
                          <a:extLst>
                            <a:ext uri="{FF2B5EF4-FFF2-40B4-BE49-F238E27FC236}">
                              <a16:creationId xmlns:a16="http://schemas.microsoft.com/office/drawing/2014/main" id="{7AD55481-59DE-0A52-6A80-CBA79CD2221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041562" y="2793611"/>
                          <a:ext cx="1817012" cy="36293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ja-JP" sz="2610" dirty="0">
                              <a:latin typeface="Helvetica" pitchFamily="2" charset="0"/>
                            </a:rPr>
                            <a:t>(only in-plane)</a:t>
                          </a:r>
                          <a:endParaRPr lang="ja-JP" altLang="en-US" sz="2610">
                            <a:latin typeface="Helvetica" pitchFamily="2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26" name="テキスト ボックス 25">
                          <a:extLst>
                            <a:ext uri="{FF2B5EF4-FFF2-40B4-BE49-F238E27FC236}">
                              <a16:creationId xmlns:a16="http://schemas.microsoft.com/office/drawing/2014/main" id="{7AD55481-59DE-0A52-6A80-CBA79CD2221B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041562" y="2793611"/>
                          <a:ext cx="1817012" cy="362934"/>
                        </a:xfrm>
                        <a:prstGeom prst="rect">
                          <a:avLst/>
                        </a:prstGeom>
                        <a:blipFill>
                          <a:blip r:embed="rId5"/>
                          <a:stretch>
                            <a:fillRect l="-1442" t="-6977" r="-2885" b="-2093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ja-JP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27" name="直方体 26">
                      <a:extLst>
                        <a:ext uri="{FF2B5EF4-FFF2-40B4-BE49-F238E27FC236}">
                          <a16:creationId xmlns:a16="http://schemas.microsoft.com/office/drawing/2014/main" id="{8BA649C2-9510-1107-878D-F1F89F66CFB2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626935" y="2735857"/>
                      <a:ext cx="1032765" cy="399425"/>
                    </a:xfrm>
                    <a:prstGeom prst="cube">
                      <a:avLst>
                        <a:gd name="adj" fmla="val 55385"/>
                      </a:avLst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31" name="テキスト ボックス 30">
                      <a:extLst>
                        <a:ext uri="{FF2B5EF4-FFF2-40B4-BE49-F238E27FC236}">
                          <a16:creationId xmlns:a16="http://schemas.microsoft.com/office/drawing/2014/main" id="{67DDF247-CCD8-5974-764F-E976808CF41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61388" y="2194252"/>
                      <a:ext cx="516948" cy="37151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altLang="ja-JP" sz="2900" b="1" dirty="0">
                          <a:latin typeface="Helvetica" pitchFamily="2" charset="0"/>
                        </a:rPr>
                        <a:t> </a:t>
                      </a:r>
                      <a:r>
                        <a:rPr lang="ja-JP" altLang="en-US" sz="2900" b="1">
                          <a:latin typeface="Helvetica" pitchFamily="2" charset="0"/>
                        </a:rPr>
                        <a:t>↑↓</a:t>
                      </a:r>
                    </a:p>
                  </p:txBody>
                </p:sp>
                <p:sp>
                  <p:nvSpPr>
                    <p:cNvPr id="32" name="テキスト ボックス 31">
                      <a:extLst>
                        <a:ext uri="{FF2B5EF4-FFF2-40B4-BE49-F238E27FC236}">
                          <a16:creationId xmlns:a16="http://schemas.microsoft.com/office/drawing/2014/main" id="{6B0DF6D2-1185-A10F-6D9A-31181317DE7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826082" y="3600698"/>
                      <a:ext cx="516948" cy="37151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altLang="ja-JP" sz="2900" b="1" dirty="0">
                          <a:latin typeface="Helvetica" pitchFamily="2" charset="0"/>
                        </a:rPr>
                        <a:t> </a:t>
                      </a:r>
                      <a:r>
                        <a:rPr lang="ja-JP" altLang="en-US" sz="2900" b="1">
                          <a:latin typeface="Helvetica" pitchFamily="2" charset="0"/>
                        </a:rPr>
                        <a:t>↑</a:t>
                      </a:r>
                    </a:p>
                  </p:txBody>
                </p:sp>
                <p:sp>
                  <p:nvSpPr>
                    <p:cNvPr id="35" name="テキスト ボックス 34">
                      <a:extLst>
                        <a:ext uri="{FF2B5EF4-FFF2-40B4-BE49-F238E27FC236}">
                          <a16:creationId xmlns:a16="http://schemas.microsoft.com/office/drawing/2014/main" id="{1BDCBA3B-B472-3FD4-0E8C-2BFDD616010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06599" y="4512269"/>
                      <a:ext cx="1781497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to point detector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36" name="テキスト ボックス 35">
                      <a:extLst>
                        <a:ext uri="{FF2B5EF4-FFF2-40B4-BE49-F238E27FC236}">
                          <a16:creationId xmlns:a16="http://schemas.microsoft.com/office/drawing/2014/main" id="{9DC760FB-E670-95B4-EE2F-3BD1266B950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19264" y="1648003"/>
                      <a:ext cx="909104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Sample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  <p:cxnSp>
                  <p:nvCxnSpPr>
                    <p:cNvPr id="117" name="直線コネクタ 116">
                      <a:extLst>
                        <a:ext uri="{FF2B5EF4-FFF2-40B4-BE49-F238E27FC236}">
                          <a16:creationId xmlns:a16="http://schemas.microsoft.com/office/drawing/2014/main" id="{7AB0AA89-5423-1C7F-EFEB-5A810B82CE9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143317" y="2254971"/>
                      <a:ext cx="242997" cy="278673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" name="直線コネクタ 121">
                      <a:extLst>
                        <a:ext uri="{FF2B5EF4-FFF2-40B4-BE49-F238E27FC236}">
                          <a16:creationId xmlns:a16="http://schemas.microsoft.com/office/drawing/2014/main" id="{32E496A4-5671-D80F-1C7C-29A6EE9FAA9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2263626" y="1969136"/>
                      <a:ext cx="242997" cy="278673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24" name="テキスト ボックス 123">
                      <a:extLst>
                        <a:ext uri="{FF2B5EF4-FFF2-40B4-BE49-F238E27FC236}">
                          <a16:creationId xmlns:a16="http://schemas.microsoft.com/office/drawing/2014/main" id="{756CDB54-4362-6E38-C94F-CA2D5C2FDA8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211464" y="1635986"/>
                      <a:ext cx="1435415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Neutron spin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</p:grpSp>
            </p:grpSp>
          </p:grpSp>
          <p:cxnSp>
            <p:nvCxnSpPr>
              <p:cNvPr id="135" name="直線コネクタ 134">
                <a:extLst>
                  <a:ext uri="{FF2B5EF4-FFF2-40B4-BE49-F238E27FC236}">
                    <a16:creationId xmlns:a16="http://schemas.microsoft.com/office/drawing/2014/main" id="{CFC747E2-99CF-06E5-EB80-609DDFB833E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925089" y="2761710"/>
                <a:ext cx="693649" cy="720288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線コネクタ 137">
                <a:extLst>
                  <a:ext uri="{FF2B5EF4-FFF2-40B4-BE49-F238E27FC236}">
                    <a16:creationId xmlns:a16="http://schemas.microsoft.com/office/drawing/2014/main" id="{DEFB72C5-26BB-EB1A-A36B-034E4BD0FC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87652" y="2194252"/>
                <a:ext cx="0" cy="182139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C151CD3F-8415-E7B4-550C-9E54084458C6}"/>
                </a:ext>
              </a:extLst>
            </p:cNvPr>
            <p:cNvSpPr txBox="1"/>
            <p:nvPr/>
          </p:nvSpPr>
          <p:spPr>
            <a:xfrm>
              <a:off x="1150595" y="1308152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(a)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8924BBFD-4A38-3C80-1753-9AF02D9C5294}"/>
                </a:ext>
              </a:extLst>
            </p:cNvPr>
            <p:cNvSpPr txBox="1"/>
            <p:nvPr/>
          </p:nvSpPr>
          <p:spPr>
            <a:xfrm>
              <a:off x="3979719" y="1308152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(b)</a:t>
              </a:r>
              <a:endParaRPr lang="ja-JP" altLang="en-US" sz="290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3688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5544B-6CFE-5BEA-660D-A4E043BA0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228DE4F5-4DC7-A18F-2751-FED6B3152263}"/>
              </a:ext>
            </a:extLst>
          </p:cNvPr>
          <p:cNvGrpSpPr/>
          <p:nvPr/>
        </p:nvGrpSpPr>
        <p:grpSpPr>
          <a:xfrm>
            <a:off x="3692210" y="3048248"/>
            <a:ext cx="10140513" cy="5180674"/>
            <a:chOff x="1134326" y="1308152"/>
            <a:chExt cx="6994574" cy="3573449"/>
          </a:xfrm>
        </p:grpSpPr>
        <p:grpSp>
          <p:nvGrpSpPr>
            <p:cNvPr id="148" name="グループ化 147">
              <a:extLst>
                <a:ext uri="{FF2B5EF4-FFF2-40B4-BE49-F238E27FC236}">
                  <a16:creationId xmlns:a16="http://schemas.microsoft.com/office/drawing/2014/main" id="{8ED0AE97-1950-A207-85EC-E1F7D7ADD7DE}"/>
                </a:ext>
              </a:extLst>
            </p:cNvPr>
            <p:cNvGrpSpPr/>
            <p:nvPr/>
          </p:nvGrpSpPr>
          <p:grpSpPr>
            <a:xfrm>
              <a:off x="1134326" y="1611427"/>
              <a:ext cx="6994574" cy="3270174"/>
              <a:chOff x="1134326" y="1611427"/>
              <a:chExt cx="6994574" cy="3270174"/>
            </a:xfrm>
          </p:grpSpPr>
          <p:grpSp>
            <p:nvGrpSpPr>
              <p:cNvPr id="133" name="グループ化 132">
                <a:extLst>
                  <a:ext uri="{FF2B5EF4-FFF2-40B4-BE49-F238E27FC236}">
                    <a16:creationId xmlns:a16="http://schemas.microsoft.com/office/drawing/2014/main" id="{5153659D-9429-448C-DD2C-20748D6BE0B9}"/>
                  </a:ext>
                </a:extLst>
              </p:cNvPr>
              <p:cNvGrpSpPr/>
              <p:nvPr/>
            </p:nvGrpSpPr>
            <p:grpSpPr>
              <a:xfrm>
                <a:off x="1134326" y="1611427"/>
                <a:ext cx="6994574" cy="3270174"/>
                <a:chOff x="1134326" y="1611427"/>
                <a:chExt cx="6994574" cy="3270174"/>
              </a:xfrm>
            </p:grpSpPr>
            <p:cxnSp>
              <p:nvCxnSpPr>
                <p:cNvPr id="44" name="直線コネクタ 43">
                  <a:extLst>
                    <a:ext uri="{FF2B5EF4-FFF2-40B4-BE49-F238E27FC236}">
                      <a16:creationId xmlns:a16="http://schemas.microsoft.com/office/drawing/2014/main" id="{06AB17D5-C9AA-68FB-B5B9-21BFE4E70E00}"/>
                    </a:ext>
                  </a:extLst>
                </p:cNvPr>
                <p:cNvCxnSpPr/>
                <p:nvPr/>
              </p:nvCxnSpPr>
              <p:spPr>
                <a:xfrm>
                  <a:off x="3979719" y="1611427"/>
                  <a:ext cx="0" cy="327017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0" name="グループ化 129">
                  <a:extLst>
                    <a:ext uri="{FF2B5EF4-FFF2-40B4-BE49-F238E27FC236}">
                      <a16:creationId xmlns:a16="http://schemas.microsoft.com/office/drawing/2014/main" id="{B593DC89-950B-81AE-5634-65E5DB3AB67F}"/>
                    </a:ext>
                  </a:extLst>
                </p:cNvPr>
                <p:cNvGrpSpPr/>
                <p:nvPr/>
              </p:nvGrpSpPr>
              <p:grpSpPr>
                <a:xfrm>
                  <a:off x="3963953" y="1800863"/>
                  <a:ext cx="4164947" cy="3052137"/>
                  <a:chOff x="3990457" y="1800863"/>
                  <a:chExt cx="4164947" cy="3052137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6" name="テキスト ボックス 95">
                        <a:extLst>
                          <a:ext uri="{FF2B5EF4-FFF2-40B4-BE49-F238E27FC236}">
                            <a16:creationId xmlns:a16="http://schemas.microsoft.com/office/drawing/2014/main" id="{3205FEAA-0E9F-8E94-8721-D6326956873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990457" y="3358392"/>
                        <a:ext cx="1330506" cy="36293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14:m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</m:oMath>
                        </a14:m>
                        <a:r>
                          <a:rPr lang="en-US" altLang="ja-JP" sz="2610" dirty="0">
                            <a:latin typeface="Helvetica" pitchFamily="2" charset="0"/>
                          </a:rPr>
                          <a:t>(in-plane)</a:t>
                        </a:r>
                        <a:endParaRPr lang="ja-JP" altLang="en-US" sz="2610">
                          <a:latin typeface="Helvetica" pitchFamily="2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96" name="テキスト ボックス 95">
                        <a:extLst>
                          <a:ext uri="{FF2B5EF4-FFF2-40B4-BE49-F238E27FC236}">
                            <a16:creationId xmlns:a16="http://schemas.microsoft.com/office/drawing/2014/main" id="{3205FEAA-0E9F-8E94-8721-D6326956873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990457" y="3358392"/>
                        <a:ext cx="1330506" cy="362934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 l="-1974" t="-9524" r="-4605" b="-2381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grpSp>
                <p:nvGrpSpPr>
                  <p:cNvPr id="129" name="グループ化 128">
                    <a:extLst>
                      <a:ext uri="{FF2B5EF4-FFF2-40B4-BE49-F238E27FC236}">
                        <a16:creationId xmlns:a16="http://schemas.microsoft.com/office/drawing/2014/main" id="{12137C77-FA2D-6CC8-F9B2-48E5E67C0BB8}"/>
                      </a:ext>
                    </a:extLst>
                  </p:cNvPr>
                  <p:cNvGrpSpPr/>
                  <p:nvPr/>
                </p:nvGrpSpPr>
                <p:grpSpPr>
                  <a:xfrm>
                    <a:off x="4168089" y="1800863"/>
                    <a:ext cx="3987315" cy="3052137"/>
                    <a:chOff x="4168089" y="1800863"/>
                    <a:chExt cx="3987315" cy="3052137"/>
                  </a:xfrm>
                </p:grpSpPr>
                <p:sp>
                  <p:nvSpPr>
                    <p:cNvPr id="45" name="直方体 44">
                      <a:extLst>
                        <a:ext uri="{FF2B5EF4-FFF2-40B4-BE49-F238E27FC236}">
                          <a16:creationId xmlns:a16="http://schemas.microsoft.com/office/drawing/2014/main" id="{EAA9B05D-ECC4-0F5E-7FB2-EDFF0CF28B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68089" y="2971573"/>
                      <a:ext cx="278673" cy="278673"/>
                    </a:xfrm>
                    <a:prstGeom prst="cub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46" name="直線矢印コネクタ 45">
                      <a:extLst>
                        <a:ext uri="{FF2B5EF4-FFF2-40B4-BE49-F238E27FC236}">
                          <a16:creationId xmlns:a16="http://schemas.microsoft.com/office/drawing/2014/main" id="{7C036C1D-DB93-0B57-89F9-18C6852EE98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406866" y="3135788"/>
                      <a:ext cx="2907290" cy="0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" name="直線コネクタ 47">
                      <a:extLst>
                        <a:ext uri="{FF2B5EF4-FFF2-40B4-BE49-F238E27FC236}">
                          <a16:creationId xmlns:a16="http://schemas.microsoft.com/office/drawing/2014/main" id="{4E300581-1AE9-3A97-DDBC-864749887CD2}"/>
                        </a:ext>
                      </a:extLst>
                    </p:cNvPr>
                    <p:cNvCxnSpPr>
                      <a:cxnSpLocks/>
                      <a:endCxn id="96" idx="0"/>
                    </p:cNvCxnSpPr>
                    <p:nvPr/>
                  </p:nvCxnSpPr>
                  <p:spPr>
                    <a:xfrm flipH="1">
                      <a:off x="4655710" y="3149250"/>
                      <a:ext cx="281256" cy="209142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3" name="テキスト ボックス 52">
                      <a:extLst>
                        <a:ext uri="{FF2B5EF4-FFF2-40B4-BE49-F238E27FC236}">
                          <a16:creationId xmlns:a16="http://schemas.microsoft.com/office/drawing/2014/main" id="{31642EC8-6D10-720C-4C98-94C91BD0835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72543" y="2550508"/>
                      <a:ext cx="516948" cy="37151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altLang="ja-JP" sz="2900" b="1" dirty="0">
                          <a:latin typeface="Helvetica" pitchFamily="2" charset="0"/>
                        </a:rPr>
                        <a:t> </a:t>
                      </a:r>
                      <a:r>
                        <a:rPr lang="ja-JP" altLang="en-US" sz="2900" b="1">
                          <a:latin typeface="Helvetica" pitchFamily="2" charset="0"/>
                        </a:rPr>
                        <a:t>↑↓</a:t>
                      </a:r>
                    </a:p>
                  </p:txBody>
                </p:sp>
                <p:sp>
                  <p:nvSpPr>
                    <p:cNvPr id="54" name="テキスト ボックス 53">
                      <a:extLst>
                        <a:ext uri="{FF2B5EF4-FFF2-40B4-BE49-F238E27FC236}">
                          <a16:creationId xmlns:a16="http://schemas.microsoft.com/office/drawing/2014/main" id="{3F34F4EC-86BF-572A-2FBE-40CEB7388CF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29569" y="2262703"/>
                      <a:ext cx="516948" cy="37151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altLang="ja-JP" sz="2900" b="1" dirty="0">
                          <a:latin typeface="Helvetica" pitchFamily="2" charset="0"/>
                        </a:rPr>
                        <a:t> </a:t>
                      </a:r>
                      <a:r>
                        <a:rPr lang="ja-JP" altLang="en-US" sz="2900" b="1">
                          <a:latin typeface="Helvetica" pitchFamily="2" charset="0"/>
                        </a:rPr>
                        <a:t>↑</a:t>
                      </a:r>
                    </a:p>
                  </p:txBody>
                </p:sp>
                <p:sp>
                  <p:nvSpPr>
                    <p:cNvPr id="56" name="テキスト ボックス 55">
                      <a:extLst>
                        <a:ext uri="{FF2B5EF4-FFF2-40B4-BE49-F238E27FC236}">
                          <a16:creationId xmlns:a16="http://schemas.microsoft.com/office/drawing/2014/main" id="{76B666B4-C6EC-E04A-09FC-9C8E9E7A1C3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34982" y="4512269"/>
                      <a:ext cx="1320422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2D detector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59" name="円柱 58">
                      <a:extLst>
                        <a:ext uri="{FF2B5EF4-FFF2-40B4-BE49-F238E27FC236}">
                          <a16:creationId xmlns:a16="http://schemas.microsoft.com/office/drawing/2014/main" id="{76A520C1-0199-C4DF-BE18-C0A339BE7382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5484005" y="2832141"/>
                      <a:ext cx="979476" cy="568705"/>
                    </a:xfrm>
                    <a:prstGeom prst="can">
                      <a:avLst/>
                    </a:prstGeom>
                    <a:noFill/>
                    <a:scene3d>
                      <a:camera prst="orthographicFront">
                        <a:rot lat="0" lon="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71" name="直線矢印コネクタ 70">
                      <a:extLst>
                        <a:ext uri="{FF2B5EF4-FFF2-40B4-BE49-F238E27FC236}">
                          <a16:creationId xmlns:a16="http://schemas.microsoft.com/office/drawing/2014/main" id="{1BB28452-D7E2-2DFA-0186-3B3CA739D8C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404382" y="3148046"/>
                      <a:ext cx="2948876" cy="503314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" name="直線矢印コネクタ 71">
                      <a:extLst>
                        <a:ext uri="{FF2B5EF4-FFF2-40B4-BE49-F238E27FC236}">
                          <a16:creationId xmlns:a16="http://schemas.microsoft.com/office/drawing/2014/main" id="{B0231C23-CDD7-21A1-E751-580104C1984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4426086" y="2633915"/>
                      <a:ext cx="2790002" cy="489617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9" name="直方体 78">
                      <a:extLst>
                        <a:ext uri="{FF2B5EF4-FFF2-40B4-BE49-F238E27FC236}">
                          <a16:creationId xmlns:a16="http://schemas.microsoft.com/office/drawing/2014/main" id="{A483448E-4466-5607-D5B0-482BBCB52E3B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132381" y="2645172"/>
                      <a:ext cx="2603191" cy="914573"/>
                    </a:xfrm>
                    <a:prstGeom prst="cube">
                      <a:avLst>
                        <a:gd name="adj" fmla="val 79178"/>
                      </a:avLst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81" name="円/楕円 80">
                      <a:extLst>
                        <a:ext uri="{FF2B5EF4-FFF2-40B4-BE49-F238E27FC236}">
                          <a16:creationId xmlns:a16="http://schemas.microsoft.com/office/drawing/2014/main" id="{153AEBEF-1ECB-588F-8504-EAF014445B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43349" y="2290773"/>
                      <a:ext cx="571839" cy="1582514"/>
                    </a:xfrm>
                    <a:prstGeom prst="ellipse">
                      <a:avLst/>
                    </a:prstGeom>
                    <a:noFill/>
                    <a:ln w="12700">
                      <a:prstDash val="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84" name="直線コネクタ 83">
                      <a:extLst>
                        <a:ext uri="{FF2B5EF4-FFF2-40B4-BE49-F238E27FC236}">
                          <a16:creationId xmlns:a16="http://schemas.microsoft.com/office/drawing/2014/main" id="{90B2A5E1-A855-76B8-0FC2-C09B024DA93D}"/>
                        </a:ext>
                      </a:extLst>
                    </p:cNvPr>
                    <p:cNvCxnSpPr>
                      <a:cxnSpLocks/>
                      <a:stCxn id="81" idx="0"/>
                    </p:cNvCxnSpPr>
                    <p:nvPr/>
                  </p:nvCxnSpPr>
                  <p:spPr>
                    <a:xfrm flipH="1">
                      <a:off x="4412833" y="2290773"/>
                      <a:ext cx="2916436" cy="823921"/>
                    </a:xfrm>
                    <a:prstGeom prst="line">
                      <a:avLst/>
                    </a:prstGeom>
                    <a:ln w="127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直線コネクタ 86">
                      <a:extLst>
                        <a:ext uri="{FF2B5EF4-FFF2-40B4-BE49-F238E27FC236}">
                          <a16:creationId xmlns:a16="http://schemas.microsoft.com/office/drawing/2014/main" id="{E11BDE4C-B864-6E30-D726-0CCEE73832BA}"/>
                        </a:ext>
                      </a:extLst>
                    </p:cNvPr>
                    <p:cNvCxnSpPr>
                      <a:cxnSpLocks/>
                      <a:stCxn id="81" idx="4"/>
                    </p:cNvCxnSpPr>
                    <p:nvPr/>
                  </p:nvCxnSpPr>
                  <p:spPr>
                    <a:xfrm flipH="1" flipV="1">
                      <a:off x="4380393" y="3153774"/>
                      <a:ext cx="2948876" cy="719513"/>
                    </a:xfrm>
                    <a:prstGeom prst="line">
                      <a:avLst/>
                    </a:prstGeom>
                    <a:ln w="127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5" name="直線コネクタ 94">
                      <a:extLst>
                        <a:ext uri="{FF2B5EF4-FFF2-40B4-BE49-F238E27FC236}">
                          <a16:creationId xmlns:a16="http://schemas.microsoft.com/office/drawing/2014/main" id="{52F09510-E198-8CBB-5F2E-D37BED44A43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386023" y="4181631"/>
                      <a:ext cx="185106" cy="360638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97" name="テキスト ボックス 96">
                          <a:extLst>
                            <a:ext uri="{FF2B5EF4-FFF2-40B4-BE49-F238E27FC236}">
                              <a16:creationId xmlns:a16="http://schemas.microsoft.com/office/drawing/2014/main" id="{20ED8B90-C342-6E45-39B2-FB958AF6C6D7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604353" y="3832849"/>
                          <a:ext cx="1741825" cy="36293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ja-JP" sz="2610" dirty="0">
                              <a:latin typeface="Helvetica" pitchFamily="2" charset="0"/>
                            </a:rPr>
                            <a:t>(out-of-plane)</a:t>
                          </a:r>
                          <a:endParaRPr lang="ja-JP" altLang="en-US" sz="2610">
                            <a:latin typeface="Helvetica" pitchFamily="2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97" name="テキスト ボックス 96">
                          <a:extLst>
                            <a:ext uri="{FF2B5EF4-FFF2-40B4-BE49-F238E27FC236}">
                              <a16:creationId xmlns:a16="http://schemas.microsoft.com/office/drawing/2014/main" id="{20ED8B90-C342-6E45-39B2-FB958AF6C6D7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4604353" y="3832849"/>
                          <a:ext cx="1741825" cy="362934"/>
                        </a:xfrm>
                        <a:prstGeom prst="rect">
                          <a:avLst/>
                        </a:prstGeom>
                        <a:blipFill>
                          <a:blip r:embed="rId4"/>
                          <a:stretch>
                            <a:fillRect l="-1508" t="-9524" r="-3518" b="-2381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ja-JP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108" name="直線コネクタ 107">
                      <a:extLst>
                        <a:ext uri="{FF2B5EF4-FFF2-40B4-BE49-F238E27FC236}">
                          <a16:creationId xmlns:a16="http://schemas.microsoft.com/office/drawing/2014/main" id="{DD914798-643E-D214-78A8-A43D89F5972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5356824" y="2939866"/>
                      <a:ext cx="199411" cy="912326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" name="直線コネクタ 109">
                      <a:extLst>
                        <a:ext uri="{FF2B5EF4-FFF2-40B4-BE49-F238E27FC236}">
                          <a16:creationId xmlns:a16="http://schemas.microsoft.com/office/drawing/2014/main" id="{7AA7001D-70BC-7E92-6E04-F7DDBACADCD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5364826" y="3337012"/>
                      <a:ext cx="244086" cy="53627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6" name="テキスト ボックス 115">
                      <a:extLst>
                        <a:ext uri="{FF2B5EF4-FFF2-40B4-BE49-F238E27FC236}">
                          <a16:creationId xmlns:a16="http://schemas.microsoft.com/office/drawing/2014/main" id="{9D485951-CDF8-6037-F50A-A8FE6BFE790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56782" y="1966011"/>
                      <a:ext cx="1047315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baseline="30000" dirty="0">
                          <a:latin typeface="Helvetica" pitchFamily="2" charset="0"/>
                        </a:rPr>
                        <a:t>3</a:t>
                      </a:r>
                      <a:r>
                        <a:rPr lang="en-US" altLang="ja-JP" sz="2610" dirty="0">
                          <a:latin typeface="Helvetica" pitchFamily="2" charset="0"/>
                        </a:rPr>
                        <a:t>He-NSF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  <p:cxnSp>
                  <p:nvCxnSpPr>
                    <p:cNvPr id="119" name="直線コネクタ 118">
                      <a:extLst>
                        <a:ext uri="{FF2B5EF4-FFF2-40B4-BE49-F238E27FC236}">
                          <a16:creationId xmlns:a16="http://schemas.microsoft.com/office/drawing/2014/main" id="{9404722B-3E1F-7C46-7CB2-CAA021BFB4B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713993" y="2276125"/>
                      <a:ext cx="135867" cy="323008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32" name="グループ化 131">
                  <a:extLst>
                    <a:ext uri="{FF2B5EF4-FFF2-40B4-BE49-F238E27FC236}">
                      <a16:creationId xmlns:a16="http://schemas.microsoft.com/office/drawing/2014/main" id="{23CE3D8D-E4CE-8CB0-2137-48E9709EFCC5}"/>
                    </a:ext>
                  </a:extLst>
                </p:cNvPr>
                <p:cNvGrpSpPr/>
                <p:nvPr/>
              </p:nvGrpSpPr>
              <p:grpSpPr>
                <a:xfrm>
                  <a:off x="1134326" y="1635986"/>
                  <a:ext cx="2780879" cy="3217014"/>
                  <a:chOff x="1041562" y="1635986"/>
                  <a:chExt cx="2780879" cy="3217014"/>
                </a:xfrm>
              </p:grpSpPr>
              <p:sp>
                <p:nvSpPr>
                  <p:cNvPr id="115" name="テキスト ボックス 114">
                    <a:extLst>
                      <a:ext uri="{FF2B5EF4-FFF2-40B4-BE49-F238E27FC236}">
                        <a16:creationId xmlns:a16="http://schemas.microsoft.com/office/drawing/2014/main" id="{77BC7612-EF0B-EDA4-8EF7-EE9C1B117B11}"/>
                      </a:ext>
                    </a:extLst>
                  </p:cNvPr>
                  <p:cNvSpPr txBox="1"/>
                  <p:nvPr/>
                </p:nvSpPr>
                <p:spPr>
                  <a:xfrm>
                    <a:off x="2789500" y="1963337"/>
                    <a:ext cx="1032941" cy="3407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ja-JP" sz="2610" dirty="0">
                        <a:latin typeface="Helvetica" pitchFamily="2" charset="0"/>
                      </a:rPr>
                      <a:t>Cu</a:t>
                    </a:r>
                    <a:r>
                      <a:rPr lang="en-US" altLang="ja-JP" sz="2610" baseline="-25000" dirty="0">
                        <a:latin typeface="Helvetica" pitchFamily="2" charset="0"/>
                      </a:rPr>
                      <a:t>2</a:t>
                    </a:r>
                    <a:r>
                      <a:rPr lang="en-US" altLang="ja-JP" sz="2610" dirty="0">
                        <a:latin typeface="Helvetica" pitchFamily="2" charset="0"/>
                      </a:rPr>
                      <a:t>MnAl</a:t>
                    </a:r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  <p:grpSp>
                <p:nvGrpSpPr>
                  <p:cNvPr id="131" name="グループ化 130">
                    <a:extLst>
                      <a:ext uri="{FF2B5EF4-FFF2-40B4-BE49-F238E27FC236}">
                        <a16:creationId xmlns:a16="http://schemas.microsoft.com/office/drawing/2014/main" id="{51FF4316-C9F4-8731-FA0F-442586AFC4E1}"/>
                      </a:ext>
                    </a:extLst>
                  </p:cNvPr>
                  <p:cNvGrpSpPr/>
                  <p:nvPr/>
                </p:nvGrpSpPr>
                <p:grpSpPr>
                  <a:xfrm>
                    <a:off x="1041562" y="1635986"/>
                    <a:ext cx="2646534" cy="3217014"/>
                    <a:chOff x="1041562" y="1635986"/>
                    <a:chExt cx="2646534" cy="3217014"/>
                  </a:xfrm>
                </p:grpSpPr>
                <p:sp>
                  <p:nvSpPr>
                    <p:cNvPr id="23" name="直方体 22">
                      <a:extLst>
                        <a:ext uri="{FF2B5EF4-FFF2-40B4-BE49-F238E27FC236}">
                          <a16:creationId xmlns:a16="http://schemas.microsoft.com/office/drawing/2014/main" id="{B8B8FC46-8B28-94CB-983A-75C411ABC2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85848" y="2254971"/>
                      <a:ext cx="278673" cy="278673"/>
                    </a:xfrm>
                    <a:prstGeom prst="cub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13" name="直線矢印コネクタ 12">
                      <a:extLst>
                        <a:ext uri="{FF2B5EF4-FFF2-40B4-BE49-F238E27FC236}">
                          <a16:creationId xmlns:a16="http://schemas.microsoft.com/office/drawing/2014/main" id="{CFFEC5D6-DE2A-132C-009D-5826942C751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524625" y="2409398"/>
                      <a:ext cx="1555924" cy="536822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" name="直線矢印コネクタ 20">
                      <a:extLst>
                        <a:ext uri="{FF2B5EF4-FFF2-40B4-BE49-F238E27FC236}">
                          <a16:creationId xmlns:a16="http://schemas.microsoft.com/office/drawing/2014/main" id="{40CE6ECF-429F-6206-CD5E-1FD16C8502F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4800000">
                      <a:off x="2151478" y="3467025"/>
                      <a:ext cx="1555924" cy="536822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" name="直線コネクタ 23">
                      <a:extLst>
                        <a:ext uri="{FF2B5EF4-FFF2-40B4-BE49-F238E27FC236}">
                          <a16:creationId xmlns:a16="http://schemas.microsoft.com/office/drawing/2014/main" id="{821CF92B-BF40-A182-6208-4302F1E4A9A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432072" y="1940242"/>
                      <a:ext cx="185106" cy="360638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6" name="テキスト ボックス 25">
                          <a:extLst>
                            <a:ext uri="{FF2B5EF4-FFF2-40B4-BE49-F238E27FC236}">
                              <a16:creationId xmlns:a16="http://schemas.microsoft.com/office/drawing/2014/main" id="{B1AF0F95-5F78-8135-A765-0B9491F4D534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041562" y="2793611"/>
                          <a:ext cx="1817012" cy="36293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ja-JP" sz="2610" dirty="0">
                              <a:latin typeface="Helvetica" pitchFamily="2" charset="0"/>
                            </a:rPr>
                            <a:t>(only in-plane)</a:t>
                          </a:r>
                          <a:endParaRPr lang="ja-JP" altLang="en-US" sz="2610">
                            <a:latin typeface="Helvetica" pitchFamily="2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26" name="テキスト ボックス 25">
                          <a:extLst>
                            <a:ext uri="{FF2B5EF4-FFF2-40B4-BE49-F238E27FC236}">
                              <a16:creationId xmlns:a16="http://schemas.microsoft.com/office/drawing/2014/main" id="{B1AF0F95-5F78-8135-A765-0B9491F4D534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041562" y="2793611"/>
                          <a:ext cx="1817012" cy="362934"/>
                        </a:xfrm>
                        <a:prstGeom prst="rect">
                          <a:avLst/>
                        </a:prstGeom>
                        <a:blipFill>
                          <a:blip r:embed="rId5"/>
                          <a:stretch>
                            <a:fillRect l="-1442" t="-6977" r="-2885" b="-2093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ja-JP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27" name="直方体 26">
                      <a:extLst>
                        <a:ext uri="{FF2B5EF4-FFF2-40B4-BE49-F238E27FC236}">
                          <a16:creationId xmlns:a16="http://schemas.microsoft.com/office/drawing/2014/main" id="{0EB8A873-E745-5FF0-5DD6-7A28100B6E4D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626935" y="2735857"/>
                      <a:ext cx="1032765" cy="399425"/>
                    </a:xfrm>
                    <a:prstGeom prst="cube">
                      <a:avLst>
                        <a:gd name="adj" fmla="val 55385"/>
                      </a:avLst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31" name="テキスト ボックス 30">
                      <a:extLst>
                        <a:ext uri="{FF2B5EF4-FFF2-40B4-BE49-F238E27FC236}">
                          <a16:creationId xmlns:a16="http://schemas.microsoft.com/office/drawing/2014/main" id="{B8630ABA-F5D4-8914-863E-639031A3D45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61388" y="2194252"/>
                      <a:ext cx="516948" cy="37151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altLang="ja-JP" sz="2900" b="1" dirty="0">
                          <a:latin typeface="Helvetica" pitchFamily="2" charset="0"/>
                        </a:rPr>
                        <a:t> </a:t>
                      </a:r>
                      <a:r>
                        <a:rPr lang="ja-JP" altLang="en-US" sz="2900" b="1">
                          <a:latin typeface="Helvetica" pitchFamily="2" charset="0"/>
                        </a:rPr>
                        <a:t>↑↓</a:t>
                      </a:r>
                    </a:p>
                  </p:txBody>
                </p:sp>
                <p:sp>
                  <p:nvSpPr>
                    <p:cNvPr id="32" name="テキスト ボックス 31">
                      <a:extLst>
                        <a:ext uri="{FF2B5EF4-FFF2-40B4-BE49-F238E27FC236}">
                          <a16:creationId xmlns:a16="http://schemas.microsoft.com/office/drawing/2014/main" id="{FA1F6B40-2573-5D75-C893-84B5111ABA7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826082" y="3600698"/>
                      <a:ext cx="516948" cy="37151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altLang="ja-JP" sz="2900" b="1" dirty="0">
                          <a:latin typeface="Helvetica" pitchFamily="2" charset="0"/>
                        </a:rPr>
                        <a:t> </a:t>
                      </a:r>
                      <a:r>
                        <a:rPr lang="ja-JP" altLang="en-US" sz="2900" b="1">
                          <a:latin typeface="Helvetica" pitchFamily="2" charset="0"/>
                        </a:rPr>
                        <a:t>↑</a:t>
                      </a:r>
                    </a:p>
                  </p:txBody>
                </p:sp>
                <p:sp>
                  <p:nvSpPr>
                    <p:cNvPr id="35" name="テキスト ボックス 34">
                      <a:extLst>
                        <a:ext uri="{FF2B5EF4-FFF2-40B4-BE49-F238E27FC236}">
                          <a16:creationId xmlns:a16="http://schemas.microsoft.com/office/drawing/2014/main" id="{734EC983-B569-88B6-8833-AE099C608E6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06599" y="4512269"/>
                      <a:ext cx="1781497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to point detector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36" name="テキスト ボックス 35">
                      <a:extLst>
                        <a:ext uri="{FF2B5EF4-FFF2-40B4-BE49-F238E27FC236}">
                          <a16:creationId xmlns:a16="http://schemas.microsoft.com/office/drawing/2014/main" id="{99DB5EF6-BBD4-B971-1820-6C15FF7841F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19264" y="1648003"/>
                      <a:ext cx="909104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Sample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  <p:cxnSp>
                  <p:nvCxnSpPr>
                    <p:cNvPr id="117" name="直線コネクタ 116">
                      <a:extLst>
                        <a:ext uri="{FF2B5EF4-FFF2-40B4-BE49-F238E27FC236}">
                          <a16:creationId xmlns:a16="http://schemas.microsoft.com/office/drawing/2014/main" id="{0D6818C6-C04F-152A-3121-A2B3B53259C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143317" y="2254971"/>
                      <a:ext cx="242997" cy="278673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" name="直線コネクタ 121">
                      <a:extLst>
                        <a:ext uri="{FF2B5EF4-FFF2-40B4-BE49-F238E27FC236}">
                          <a16:creationId xmlns:a16="http://schemas.microsoft.com/office/drawing/2014/main" id="{98A3D1E1-206D-5E42-1A52-22E581E55B1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2263626" y="1969136"/>
                      <a:ext cx="242997" cy="278673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24" name="テキスト ボックス 123">
                      <a:extLst>
                        <a:ext uri="{FF2B5EF4-FFF2-40B4-BE49-F238E27FC236}">
                          <a16:creationId xmlns:a16="http://schemas.microsoft.com/office/drawing/2014/main" id="{67D1E94B-EC2C-EB21-4FA9-176AE27693B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211464" y="1635986"/>
                      <a:ext cx="1435415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Neutron spin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</p:grpSp>
            </p:grpSp>
          </p:grpSp>
          <p:cxnSp>
            <p:nvCxnSpPr>
              <p:cNvPr id="135" name="直線コネクタ 134">
                <a:extLst>
                  <a:ext uri="{FF2B5EF4-FFF2-40B4-BE49-F238E27FC236}">
                    <a16:creationId xmlns:a16="http://schemas.microsoft.com/office/drawing/2014/main" id="{80B1DE96-9750-30C9-0268-816F48361A3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925089" y="2761710"/>
                <a:ext cx="693649" cy="720288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線コネクタ 137">
                <a:extLst>
                  <a:ext uri="{FF2B5EF4-FFF2-40B4-BE49-F238E27FC236}">
                    <a16:creationId xmlns:a16="http://schemas.microsoft.com/office/drawing/2014/main" id="{AC99C71C-7FF1-F31E-D3FC-B9347FE6638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87652" y="2194252"/>
                <a:ext cx="0" cy="182139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A442973D-F108-7009-1492-6A455ADA9336}"/>
                </a:ext>
              </a:extLst>
            </p:cNvPr>
            <p:cNvSpPr txBox="1"/>
            <p:nvPr/>
          </p:nvSpPr>
          <p:spPr>
            <a:xfrm>
              <a:off x="1150595" y="1308152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(a)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40B52D53-DBE0-EF8F-E51B-AF3C7F6CC94F}"/>
                </a:ext>
              </a:extLst>
            </p:cNvPr>
            <p:cNvSpPr txBox="1"/>
            <p:nvPr/>
          </p:nvSpPr>
          <p:spPr>
            <a:xfrm>
              <a:off x="3979719" y="1308152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(b)</a:t>
              </a:r>
              <a:endParaRPr lang="ja-JP" altLang="en-US" sz="290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1684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D38FF-AAE9-A2A2-DB17-50BA2725C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グループ化 100">
            <a:extLst>
              <a:ext uri="{FF2B5EF4-FFF2-40B4-BE49-F238E27FC236}">
                <a16:creationId xmlns:a16="http://schemas.microsoft.com/office/drawing/2014/main" id="{01E67D3A-54C7-F6FF-FED8-FF90DA6D6932}"/>
              </a:ext>
            </a:extLst>
          </p:cNvPr>
          <p:cNvGrpSpPr/>
          <p:nvPr/>
        </p:nvGrpSpPr>
        <p:grpSpPr>
          <a:xfrm>
            <a:off x="4268899" y="1829683"/>
            <a:ext cx="11105941" cy="7693566"/>
            <a:chOff x="1543395" y="140250"/>
            <a:chExt cx="7660493" cy="5306755"/>
          </a:xfrm>
        </p:grpSpPr>
        <p:sp>
          <p:nvSpPr>
            <p:cNvPr id="23" name="直方体 22">
              <a:extLst>
                <a:ext uri="{FF2B5EF4-FFF2-40B4-BE49-F238E27FC236}">
                  <a16:creationId xmlns:a16="http://schemas.microsoft.com/office/drawing/2014/main" id="{AE8A0ADC-D661-957E-BB54-74F877498A4F}"/>
                </a:ext>
              </a:extLst>
            </p:cNvPr>
            <p:cNvSpPr/>
            <p:nvPr/>
          </p:nvSpPr>
          <p:spPr>
            <a:xfrm>
              <a:off x="5490439" y="1414131"/>
              <a:ext cx="278673" cy="278673"/>
            </a:xfrm>
            <a:prstGeom prst="cub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C6CB7776-C563-B7F0-AAB5-F80CB30A65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95334" y="1554078"/>
              <a:ext cx="1800000" cy="37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矢印コネクタ 20">
              <a:extLst>
                <a:ext uri="{FF2B5EF4-FFF2-40B4-BE49-F238E27FC236}">
                  <a16:creationId xmlns:a16="http://schemas.microsoft.com/office/drawing/2014/main" id="{B31FBCCD-5321-4977-477A-2065824521E7}"/>
                </a:ext>
              </a:extLst>
            </p:cNvPr>
            <p:cNvCxnSpPr>
              <a:cxnSpLocks/>
            </p:cNvCxnSpPr>
            <p:nvPr/>
          </p:nvCxnSpPr>
          <p:spPr>
            <a:xfrm>
              <a:off x="7390145" y="1551222"/>
              <a:ext cx="1565565" cy="77923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28184570-7EF5-B5B5-4C17-826746BE42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04940" y="1193099"/>
              <a:ext cx="336639" cy="2669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61A2FA2A-0EB6-FB85-D31C-11A28D89BD4C}"/>
                    </a:ext>
                  </a:extLst>
                </p:cNvPr>
                <p:cNvSpPr txBox="1"/>
                <p:nvPr/>
              </p:nvSpPr>
              <p:spPr>
                <a:xfrm>
                  <a:off x="5817071" y="1905082"/>
                  <a:ext cx="1629044" cy="3296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232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32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ja-JP" sz="232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a14:m>
                  <a:r>
                    <a:rPr lang="en-US" altLang="ja-JP" sz="2320" dirty="0">
                      <a:latin typeface="Helvetica" pitchFamily="2" charset="0"/>
                    </a:rPr>
                    <a:t>(only in-plane)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61A2FA2A-0EB6-FB85-D31C-11A28D89BD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17071" y="1905082"/>
                  <a:ext cx="1629044" cy="329674"/>
                </a:xfrm>
                <a:prstGeom prst="rect">
                  <a:avLst/>
                </a:prstGeom>
                <a:blipFill>
                  <a:blip r:embed="rId3"/>
                  <a:stretch>
                    <a:fillRect l="-1070" t="-7692" r="-2674" b="-2051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1BD63115-74D3-931D-77C8-8B1AD1845F6B}"/>
                </a:ext>
              </a:extLst>
            </p:cNvPr>
            <p:cNvSpPr txBox="1"/>
            <p:nvPr/>
          </p:nvSpPr>
          <p:spPr>
            <a:xfrm>
              <a:off x="6134256" y="1353412"/>
              <a:ext cx="516948" cy="371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900" b="1" dirty="0">
                  <a:latin typeface="Helvetica" pitchFamily="2" charset="0"/>
                </a:rPr>
                <a:t> </a:t>
              </a:r>
              <a:r>
                <a:rPr lang="ja-JP" altLang="en-US" sz="2900" b="1">
                  <a:latin typeface="Helvetica" pitchFamily="2" charset="0"/>
                </a:rPr>
                <a:t>↑↓</a:t>
              </a:r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5938A2C2-A318-45EB-F2D8-474142E5CCC0}"/>
                </a:ext>
              </a:extLst>
            </p:cNvPr>
            <p:cNvSpPr txBox="1"/>
            <p:nvPr/>
          </p:nvSpPr>
          <p:spPr>
            <a:xfrm>
              <a:off x="4291615" y="1029815"/>
              <a:ext cx="516948" cy="371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900" b="1" dirty="0">
                  <a:latin typeface="Helvetica" pitchFamily="2" charset="0"/>
                </a:rPr>
                <a:t> </a:t>
              </a:r>
              <a:r>
                <a:rPr lang="ja-JP" altLang="en-US" sz="29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D608CE90-CCCF-8228-1ECC-B5A3355B3313}"/>
                </a:ext>
              </a:extLst>
            </p:cNvPr>
            <p:cNvSpPr txBox="1"/>
            <p:nvPr/>
          </p:nvSpPr>
          <p:spPr>
            <a:xfrm>
              <a:off x="7383604" y="2296752"/>
              <a:ext cx="1371284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point detector</a:t>
              </a:r>
              <a:endParaRPr lang="ja-JP" altLang="en-US" sz="2320">
                <a:latin typeface="Helvetica" pitchFamily="2" charset="0"/>
              </a:endParaRPr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C06956A0-D6BF-73F7-FDB3-676A70AF7F5A}"/>
                </a:ext>
              </a:extLst>
            </p:cNvPr>
            <p:cNvSpPr txBox="1"/>
            <p:nvPr/>
          </p:nvSpPr>
          <p:spPr>
            <a:xfrm>
              <a:off x="5728967" y="895103"/>
              <a:ext cx="822859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Sample</a:t>
              </a:r>
              <a:endParaRPr lang="ja-JP" altLang="en-US" sz="2320">
                <a:latin typeface="Helvetica" pitchFamily="2" charset="0"/>
              </a:endParaRPr>
            </a:p>
          </p:txBody>
        </p:sp>
        <p:cxnSp>
          <p:nvCxnSpPr>
            <p:cNvPr id="117" name="直線コネクタ 116">
              <a:extLst>
                <a:ext uri="{FF2B5EF4-FFF2-40B4-BE49-F238E27FC236}">
                  <a16:creationId xmlns:a16="http://schemas.microsoft.com/office/drawing/2014/main" id="{6349C6B3-B5BA-3A9C-7A3D-C5C5A419B99C}"/>
                </a:ext>
              </a:extLst>
            </p:cNvPr>
            <p:cNvCxnSpPr>
              <a:cxnSpLocks/>
              <a:stCxn id="22" idx="2"/>
            </p:cNvCxnSpPr>
            <p:nvPr/>
          </p:nvCxnSpPr>
          <p:spPr>
            <a:xfrm>
              <a:off x="3709024" y="519803"/>
              <a:ext cx="136277" cy="2922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コネクタ 121">
              <a:extLst>
                <a:ext uri="{FF2B5EF4-FFF2-40B4-BE49-F238E27FC236}">
                  <a16:creationId xmlns:a16="http://schemas.microsoft.com/office/drawing/2014/main" id="{C5CCE9C0-238E-2041-C42C-3EC20110D2C8}"/>
                </a:ext>
              </a:extLst>
            </p:cNvPr>
            <p:cNvCxnSpPr>
              <a:cxnSpLocks/>
            </p:cNvCxnSpPr>
            <p:nvPr/>
          </p:nvCxnSpPr>
          <p:spPr>
            <a:xfrm rot="-3180000" flipH="1">
              <a:off x="5955040" y="1629709"/>
              <a:ext cx="242997" cy="2786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テキスト ボックス 123">
              <a:extLst>
                <a:ext uri="{FF2B5EF4-FFF2-40B4-BE49-F238E27FC236}">
                  <a16:creationId xmlns:a16="http://schemas.microsoft.com/office/drawing/2014/main" id="{DB174324-F86F-6364-07CF-F1E7B81B1854}"/>
                </a:ext>
              </a:extLst>
            </p:cNvPr>
            <p:cNvSpPr txBox="1"/>
            <p:nvPr/>
          </p:nvSpPr>
          <p:spPr>
            <a:xfrm>
              <a:off x="2297799" y="1590967"/>
              <a:ext cx="1290568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Neutron spin</a:t>
              </a:r>
              <a:endParaRPr lang="ja-JP" altLang="en-US" sz="2320">
                <a:latin typeface="Helvetica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テキスト ボックス 95">
                  <a:extLst>
                    <a:ext uri="{FF2B5EF4-FFF2-40B4-BE49-F238E27FC236}">
                      <a16:creationId xmlns:a16="http://schemas.microsoft.com/office/drawing/2014/main" id="{EC12DE84-D9D6-FB77-9490-77CD58E0369B}"/>
                    </a:ext>
                  </a:extLst>
                </p:cNvPr>
                <p:cNvSpPr txBox="1"/>
                <p:nvPr/>
              </p:nvSpPr>
              <p:spPr>
                <a:xfrm>
                  <a:off x="5573753" y="4396586"/>
                  <a:ext cx="1195612" cy="3296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232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32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ja-JP" sz="232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a14:m>
                  <a:r>
                    <a:rPr lang="en-US" altLang="ja-JP" sz="2320" dirty="0">
                      <a:latin typeface="Helvetica" pitchFamily="2" charset="0"/>
                    </a:rPr>
                    <a:t>(in-plane)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96" name="テキスト ボックス 95">
                  <a:extLst>
                    <a:ext uri="{FF2B5EF4-FFF2-40B4-BE49-F238E27FC236}">
                      <a16:creationId xmlns:a16="http://schemas.microsoft.com/office/drawing/2014/main" id="{EC12DE84-D9D6-FB77-9490-77CD58E036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3753" y="4396586"/>
                  <a:ext cx="1195612" cy="329674"/>
                </a:xfrm>
                <a:prstGeom prst="rect">
                  <a:avLst/>
                </a:prstGeom>
                <a:blipFill>
                  <a:blip r:embed="rId4"/>
                  <a:stretch>
                    <a:fillRect l="-730" t="-5128" r="-4380" b="-2051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直方体 44">
              <a:extLst>
                <a:ext uri="{FF2B5EF4-FFF2-40B4-BE49-F238E27FC236}">
                  <a16:creationId xmlns:a16="http://schemas.microsoft.com/office/drawing/2014/main" id="{95FDC475-732C-6B4B-AEAD-CA5785CF766C}"/>
                </a:ext>
              </a:extLst>
            </p:cNvPr>
            <p:cNvSpPr/>
            <p:nvPr/>
          </p:nvSpPr>
          <p:spPr>
            <a:xfrm>
              <a:off x="5490439" y="4014524"/>
              <a:ext cx="278673" cy="278673"/>
            </a:xfrm>
            <a:prstGeom prst="cub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46" name="直線矢印コネクタ 45">
              <a:extLst>
                <a:ext uri="{FF2B5EF4-FFF2-40B4-BE49-F238E27FC236}">
                  <a16:creationId xmlns:a16="http://schemas.microsoft.com/office/drawing/2014/main" id="{F6ABCA1D-D470-F25E-7807-9A54E2BC618C}"/>
                </a:ext>
              </a:extLst>
            </p:cNvPr>
            <p:cNvCxnSpPr>
              <a:cxnSpLocks/>
            </p:cNvCxnSpPr>
            <p:nvPr/>
          </p:nvCxnSpPr>
          <p:spPr>
            <a:xfrm>
              <a:off x="5642066" y="4178739"/>
              <a:ext cx="290729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コネクタ 47">
              <a:extLst>
                <a:ext uri="{FF2B5EF4-FFF2-40B4-BE49-F238E27FC236}">
                  <a16:creationId xmlns:a16="http://schemas.microsoft.com/office/drawing/2014/main" id="{62F47D06-E8AD-16CC-A84E-D876162D13B1}"/>
                </a:ext>
              </a:extLst>
            </p:cNvPr>
            <p:cNvCxnSpPr>
              <a:cxnSpLocks/>
              <a:endCxn id="96" idx="0"/>
            </p:cNvCxnSpPr>
            <p:nvPr/>
          </p:nvCxnSpPr>
          <p:spPr>
            <a:xfrm flipH="1">
              <a:off x="6171560" y="4187444"/>
              <a:ext cx="348703" cy="2091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4A73494F-619F-4F12-A6D1-5A6BA008012D}"/>
                </a:ext>
              </a:extLst>
            </p:cNvPr>
            <p:cNvSpPr txBox="1"/>
            <p:nvPr/>
          </p:nvSpPr>
          <p:spPr>
            <a:xfrm>
              <a:off x="6163386" y="3574003"/>
              <a:ext cx="516948" cy="371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900" b="1" dirty="0">
                  <a:latin typeface="Helvetica" pitchFamily="2" charset="0"/>
                </a:rPr>
                <a:t> </a:t>
              </a:r>
              <a:r>
                <a:rPr lang="ja-JP" altLang="en-US" sz="2900" b="1">
                  <a:latin typeface="Helvetica" pitchFamily="2" charset="0"/>
                </a:rPr>
                <a:t>↑↓</a:t>
              </a:r>
            </a:p>
          </p:txBody>
        </p:sp>
        <p:sp>
          <p:nvSpPr>
            <p:cNvPr id="54" name="テキスト ボックス 53">
              <a:extLst>
                <a:ext uri="{FF2B5EF4-FFF2-40B4-BE49-F238E27FC236}">
                  <a16:creationId xmlns:a16="http://schemas.microsoft.com/office/drawing/2014/main" id="{1E422D4F-AD04-2023-672B-9053C14B50D9}"/>
                </a:ext>
              </a:extLst>
            </p:cNvPr>
            <p:cNvSpPr txBox="1"/>
            <p:nvPr/>
          </p:nvSpPr>
          <p:spPr>
            <a:xfrm>
              <a:off x="7664769" y="3305654"/>
              <a:ext cx="516948" cy="371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900" b="1" dirty="0">
                  <a:latin typeface="Helvetica" pitchFamily="2" charset="0"/>
                </a:rPr>
                <a:t> </a:t>
              </a:r>
              <a:r>
                <a:rPr lang="ja-JP" altLang="en-US" sz="29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E8ACBF03-23A0-0448-B64F-F9DE3919AC95}"/>
                </a:ext>
              </a:extLst>
            </p:cNvPr>
            <p:cNvSpPr txBox="1"/>
            <p:nvPr/>
          </p:nvSpPr>
          <p:spPr>
            <a:xfrm>
              <a:off x="7386955" y="5075306"/>
              <a:ext cx="1188844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2D detector</a:t>
              </a:r>
              <a:endParaRPr lang="ja-JP" altLang="en-US" sz="2320">
                <a:latin typeface="Helvetica" pitchFamily="2" charset="0"/>
              </a:endParaRPr>
            </a:p>
          </p:txBody>
        </p:sp>
        <p:sp>
          <p:nvSpPr>
            <p:cNvPr id="59" name="円柱 58">
              <a:extLst>
                <a:ext uri="{FF2B5EF4-FFF2-40B4-BE49-F238E27FC236}">
                  <a16:creationId xmlns:a16="http://schemas.microsoft.com/office/drawing/2014/main" id="{559DE66E-6B54-206A-A032-CFA80BBA5A1B}"/>
                </a:ext>
              </a:extLst>
            </p:cNvPr>
            <p:cNvSpPr/>
            <p:nvPr/>
          </p:nvSpPr>
          <p:spPr>
            <a:xfrm rot="16200000">
              <a:off x="6719205" y="3875092"/>
              <a:ext cx="979476" cy="568705"/>
            </a:xfrm>
            <a:prstGeom prst="can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71" name="直線矢印コネクタ 70">
              <a:extLst>
                <a:ext uri="{FF2B5EF4-FFF2-40B4-BE49-F238E27FC236}">
                  <a16:creationId xmlns:a16="http://schemas.microsoft.com/office/drawing/2014/main" id="{34BA7734-8D9D-FBEF-207D-FF85CB660D9B}"/>
                </a:ext>
              </a:extLst>
            </p:cNvPr>
            <p:cNvCxnSpPr>
              <a:cxnSpLocks/>
            </p:cNvCxnSpPr>
            <p:nvPr/>
          </p:nvCxnSpPr>
          <p:spPr>
            <a:xfrm>
              <a:off x="5639582" y="4190997"/>
              <a:ext cx="3010784" cy="5657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矢印コネクタ 71">
              <a:extLst>
                <a:ext uri="{FF2B5EF4-FFF2-40B4-BE49-F238E27FC236}">
                  <a16:creationId xmlns:a16="http://schemas.microsoft.com/office/drawing/2014/main" id="{5069EE30-97F5-56E7-B7A5-EBD9764AF4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61286" y="3541616"/>
              <a:ext cx="2872331" cy="62486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直方体 78">
              <a:extLst>
                <a:ext uri="{FF2B5EF4-FFF2-40B4-BE49-F238E27FC236}">
                  <a16:creationId xmlns:a16="http://schemas.microsoft.com/office/drawing/2014/main" id="{FC8A5B18-3616-FFD1-E5CD-4AA3A331691F}"/>
                </a:ext>
              </a:extLst>
            </p:cNvPr>
            <p:cNvSpPr/>
            <p:nvPr/>
          </p:nvSpPr>
          <p:spPr>
            <a:xfrm rot="16200000">
              <a:off x="7367581" y="3688123"/>
              <a:ext cx="2603191" cy="914573"/>
            </a:xfrm>
            <a:prstGeom prst="cube">
              <a:avLst>
                <a:gd name="adj" fmla="val 79178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81" name="円/楕円 80">
              <a:extLst>
                <a:ext uri="{FF2B5EF4-FFF2-40B4-BE49-F238E27FC236}">
                  <a16:creationId xmlns:a16="http://schemas.microsoft.com/office/drawing/2014/main" id="{2C3DD82C-1865-BDBD-8080-77C8A6217BC5}"/>
                </a:ext>
              </a:extLst>
            </p:cNvPr>
            <p:cNvSpPr/>
            <p:nvPr/>
          </p:nvSpPr>
          <p:spPr>
            <a:xfrm>
              <a:off x="8268821" y="3355901"/>
              <a:ext cx="571839" cy="1589521"/>
            </a:xfrm>
            <a:prstGeom prst="ellipse">
              <a:avLst/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84" name="直線コネクタ 83">
              <a:extLst>
                <a:ext uri="{FF2B5EF4-FFF2-40B4-BE49-F238E27FC236}">
                  <a16:creationId xmlns:a16="http://schemas.microsoft.com/office/drawing/2014/main" id="{919E1B0A-2CFF-80BF-5352-319EC4A248AC}"/>
                </a:ext>
              </a:extLst>
            </p:cNvPr>
            <p:cNvCxnSpPr>
              <a:cxnSpLocks/>
              <a:stCxn id="81" idx="0"/>
            </p:cNvCxnSpPr>
            <p:nvPr/>
          </p:nvCxnSpPr>
          <p:spPr>
            <a:xfrm flipH="1">
              <a:off x="5638305" y="3355901"/>
              <a:ext cx="2916436" cy="830928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コネクタ 86">
              <a:extLst>
                <a:ext uri="{FF2B5EF4-FFF2-40B4-BE49-F238E27FC236}">
                  <a16:creationId xmlns:a16="http://schemas.microsoft.com/office/drawing/2014/main" id="{0B39659E-E002-E463-1275-2BE763392887}"/>
                </a:ext>
              </a:extLst>
            </p:cNvPr>
            <p:cNvCxnSpPr>
              <a:cxnSpLocks/>
              <a:stCxn id="81" idx="4"/>
            </p:cNvCxnSpPr>
            <p:nvPr/>
          </p:nvCxnSpPr>
          <p:spPr>
            <a:xfrm flipH="1" flipV="1">
              <a:off x="5605865" y="4225909"/>
              <a:ext cx="2948876" cy="719513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コネクタ 94">
              <a:extLst>
                <a:ext uri="{FF2B5EF4-FFF2-40B4-BE49-F238E27FC236}">
                  <a16:creationId xmlns:a16="http://schemas.microsoft.com/office/drawing/2014/main" id="{8E4F08C2-7FB6-1FC1-4B56-ABABE433A3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9356" y="5191047"/>
              <a:ext cx="342168" cy="4305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テキスト ボックス 96">
                  <a:extLst>
                    <a:ext uri="{FF2B5EF4-FFF2-40B4-BE49-F238E27FC236}">
                      <a16:creationId xmlns:a16="http://schemas.microsoft.com/office/drawing/2014/main" id="{BB50A426-18ED-626F-B41C-7550F896DCB3}"/>
                    </a:ext>
                  </a:extLst>
                </p:cNvPr>
                <p:cNvSpPr txBox="1"/>
                <p:nvPr/>
              </p:nvSpPr>
              <p:spPr>
                <a:xfrm>
                  <a:off x="5939445" y="4875800"/>
                  <a:ext cx="1561596" cy="3296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232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32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ja-JP" sz="232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a14:m>
                  <a:r>
                    <a:rPr lang="en-US" altLang="ja-JP" sz="2320" dirty="0">
                      <a:latin typeface="Helvetica" pitchFamily="2" charset="0"/>
                    </a:rPr>
                    <a:t>(out-of-plane)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97" name="テキスト ボックス 96">
                  <a:extLst>
                    <a:ext uri="{FF2B5EF4-FFF2-40B4-BE49-F238E27FC236}">
                      <a16:creationId xmlns:a16="http://schemas.microsoft.com/office/drawing/2014/main" id="{BB50A426-18ED-626F-B41C-7550F896DC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9445" y="4875800"/>
                  <a:ext cx="1561596" cy="329674"/>
                </a:xfrm>
                <a:prstGeom prst="rect">
                  <a:avLst/>
                </a:prstGeom>
                <a:blipFill>
                  <a:blip r:embed="rId5"/>
                  <a:stretch>
                    <a:fillRect l="-1117" t="-5128" r="-2793" b="-2051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8" name="直線コネクタ 107">
              <a:extLst>
                <a:ext uri="{FF2B5EF4-FFF2-40B4-BE49-F238E27FC236}">
                  <a16:creationId xmlns:a16="http://schemas.microsoft.com/office/drawing/2014/main" id="{696078BC-C551-E0A3-FC29-F7276CE16F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1916" y="3982817"/>
              <a:ext cx="199411" cy="91232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コネクタ 109">
              <a:extLst>
                <a:ext uri="{FF2B5EF4-FFF2-40B4-BE49-F238E27FC236}">
                  <a16:creationId xmlns:a16="http://schemas.microsoft.com/office/drawing/2014/main" id="{605B44DF-225C-1BFE-38CE-FEAA6F9F1F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9918" y="4379963"/>
              <a:ext cx="244086" cy="5362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テキスト ボックス 115">
              <a:extLst>
                <a:ext uri="{FF2B5EF4-FFF2-40B4-BE49-F238E27FC236}">
                  <a16:creationId xmlns:a16="http://schemas.microsoft.com/office/drawing/2014/main" id="{16FA1854-212E-31E9-ED8D-121B69E2E2B3}"/>
                </a:ext>
              </a:extLst>
            </p:cNvPr>
            <p:cNvSpPr txBox="1"/>
            <p:nvPr/>
          </p:nvSpPr>
          <p:spPr>
            <a:xfrm>
              <a:off x="5262814" y="2782248"/>
              <a:ext cx="2656103" cy="556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baseline="30000" dirty="0">
                  <a:latin typeface="Helvetica" pitchFamily="2" charset="0"/>
                </a:rPr>
                <a:t>3</a:t>
              </a:r>
              <a:r>
                <a:rPr lang="en-US" altLang="ja-JP" sz="2320" dirty="0">
                  <a:latin typeface="Helvetica" pitchFamily="2" charset="0"/>
                </a:rPr>
                <a:t>He-NSF </a:t>
              </a:r>
              <a:br>
                <a:rPr lang="en-US" altLang="ja-JP" sz="2320" dirty="0">
                  <a:latin typeface="Helvetica" pitchFamily="2" charset="0"/>
                </a:rPr>
              </a:br>
              <a:r>
                <a:rPr lang="en-US" altLang="ja-JP" sz="2320" dirty="0">
                  <a:latin typeface="Helvetica" pitchFamily="2" charset="0"/>
                </a:rPr>
                <a:t>(</a:t>
              </a:r>
              <a:r>
                <a:rPr lang="en-US" altLang="ja-JP" sz="2320" baseline="30000" dirty="0">
                  <a:latin typeface="Helvetica" pitchFamily="2" charset="0"/>
                </a:rPr>
                <a:t>3</a:t>
              </a:r>
              <a:r>
                <a:rPr lang="en-US" altLang="ja-JP" sz="2320" dirty="0">
                  <a:latin typeface="Helvetica" pitchFamily="2" charset="0"/>
                </a:rPr>
                <a:t>He polarity can be flipped)</a:t>
              </a:r>
              <a:endParaRPr lang="ja-JP" altLang="en-US" sz="2320">
                <a:latin typeface="Helvetica" pitchFamily="2" charset="0"/>
              </a:endParaRPr>
            </a:p>
          </p:txBody>
        </p:sp>
        <p:cxnSp>
          <p:nvCxnSpPr>
            <p:cNvPr id="119" name="直線コネクタ 118">
              <a:extLst>
                <a:ext uri="{FF2B5EF4-FFF2-40B4-BE49-F238E27FC236}">
                  <a16:creationId xmlns:a16="http://schemas.microsoft.com/office/drawing/2014/main" id="{E25F54F7-8892-12F2-546D-552740683493}"/>
                </a:ext>
              </a:extLst>
            </p:cNvPr>
            <p:cNvCxnSpPr>
              <a:cxnSpLocks/>
            </p:cNvCxnSpPr>
            <p:nvPr/>
          </p:nvCxnSpPr>
          <p:spPr>
            <a:xfrm>
              <a:off x="6949193" y="3319076"/>
              <a:ext cx="135867" cy="32300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線コネクタ 134">
              <a:extLst>
                <a:ext uri="{FF2B5EF4-FFF2-40B4-BE49-F238E27FC236}">
                  <a16:creationId xmlns:a16="http://schemas.microsoft.com/office/drawing/2014/main" id="{991E56B2-4065-2F36-1118-3451991DB6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86793" y="3804661"/>
              <a:ext cx="693649" cy="720288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線コネクタ 137">
              <a:extLst>
                <a:ext uri="{FF2B5EF4-FFF2-40B4-BE49-F238E27FC236}">
                  <a16:creationId xmlns:a16="http://schemas.microsoft.com/office/drawing/2014/main" id="{7074D62A-9EAF-54CA-C77C-C8488E3097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9356" y="3237203"/>
              <a:ext cx="0" cy="1821391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9AC55D98-4802-E013-EE3B-133AB7395FB8}"/>
                </a:ext>
              </a:extLst>
            </p:cNvPr>
            <p:cNvSpPr txBox="1"/>
            <p:nvPr/>
          </p:nvSpPr>
          <p:spPr>
            <a:xfrm>
              <a:off x="1981609" y="140250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(a)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533397A5-C072-E512-2B27-0835240FA29D}"/>
                </a:ext>
              </a:extLst>
            </p:cNvPr>
            <p:cNvSpPr txBox="1"/>
            <p:nvPr/>
          </p:nvSpPr>
          <p:spPr>
            <a:xfrm>
              <a:off x="1981609" y="2774530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(b)</a:t>
              </a:r>
              <a:endParaRPr lang="ja-JP" altLang="en-US" sz="2900">
                <a:latin typeface="Helvetica" pitchFamily="2" charset="0"/>
              </a:endParaRPr>
            </a:p>
          </p:txBody>
        </p: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D946D801-39A0-7C40-9EAB-3E08335F7E5D}"/>
                </a:ext>
              </a:extLst>
            </p:cNvPr>
            <p:cNvCxnSpPr>
              <a:cxnSpLocks/>
            </p:cNvCxnSpPr>
            <p:nvPr/>
          </p:nvCxnSpPr>
          <p:spPr>
            <a:xfrm>
              <a:off x="1643888" y="2734866"/>
              <a:ext cx="7560000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台形 13">
              <a:extLst>
                <a:ext uri="{FF2B5EF4-FFF2-40B4-BE49-F238E27FC236}">
                  <a16:creationId xmlns:a16="http://schemas.microsoft.com/office/drawing/2014/main" id="{B767447C-D2BB-79A8-61B3-76FE382B1E38}"/>
                </a:ext>
              </a:extLst>
            </p:cNvPr>
            <p:cNvSpPr/>
            <p:nvPr/>
          </p:nvSpPr>
          <p:spPr>
            <a:xfrm rot="17563388">
              <a:off x="8737380" y="2235501"/>
              <a:ext cx="432000" cy="187450"/>
            </a:xfrm>
            <a:prstGeom prst="trapezoid">
              <a:avLst>
                <a:gd name="adj" fmla="val 52881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09D41A67-AD04-0311-4245-C0FBB9AE9DA0}"/>
                </a:ext>
              </a:extLst>
            </p:cNvPr>
            <p:cNvCxnSpPr>
              <a:cxnSpLocks/>
            </p:cNvCxnSpPr>
            <p:nvPr/>
          </p:nvCxnSpPr>
          <p:spPr>
            <a:xfrm rot="900000" flipV="1">
              <a:off x="3862946" y="1339847"/>
              <a:ext cx="1800000" cy="37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6560FFCD-91D9-4814-5D1E-5A388B5389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8303" y="1106916"/>
              <a:ext cx="1800000" cy="37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A566EBDB-6BF2-0FC6-3C6C-9496AFE13AAE}"/>
                </a:ext>
              </a:extLst>
            </p:cNvPr>
            <p:cNvSpPr txBox="1"/>
            <p:nvPr/>
          </p:nvSpPr>
          <p:spPr>
            <a:xfrm>
              <a:off x="2740324" y="209854"/>
              <a:ext cx="1937400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Cu</a:t>
              </a:r>
              <a:r>
                <a:rPr lang="en-US" altLang="ja-JP" sz="2320" baseline="-25000" dirty="0">
                  <a:latin typeface="Helvetica" pitchFamily="2" charset="0"/>
                </a:rPr>
                <a:t>2</a:t>
              </a:r>
              <a:r>
                <a:rPr lang="en-US" altLang="ja-JP" sz="2320" dirty="0">
                  <a:latin typeface="Helvetica" pitchFamily="2" charset="0"/>
                </a:rPr>
                <a:t>MnAl (Polarizer)</a:t>
              </a:r>
              <a:endParaRPr lang="ja-JP" altLang="en-US" sz="2320">
                <a:latin typeface="Helvetica" pitchFamily="2" charset="0"/>
              </a:endParaRPr>
            </a:p>
          </p:txBody>
        </p:sp>
        <p:sp>
          <p:nvSpPr>
            <p:cNvPr id="25" name="直方体 24">
              <a:extLst>
                <a:ext uri="{FF2B5EF4-FFF2-40B4-BE49-F238E27FC236}">
                  <a16:creationId xmlns:a16="http://schemas.microsoft.com/office/drawing/2014/main" id="{1CFD567E-85DC-A1D2-6643-B258038645D5}"/>
                </a:ext>
              </a:extLst>
            </p:cNvPr>
            <p:cNvSpPr/>
            <p:nvPr/>
          </p:nvSpPr>
          <p:spPr>
            <a:xfrm>
              <a:off x="3574276" y="777223"/>
              <a:ext cx="582151" cy="565250"/>
            </a:xfrm>
            <a:prstGeom prst="cube">
              <a:avLst>
                <a:gd name="adj" fmla="val 14033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8" name="直方体 27">
              <a:extLst>
                <a:ext uri="{FF2B5EF4-FFF2-40B4-BE49-F238E27FC236}">
                  <a16:creationId xmlns:a16="http://schemas.microsoft.com/office/drawing/2014/main" id="{C74DCFF0-A71C-5FC1-7EB0-281370FE0F6F}"/>
                </a:ext>
              </a:extLst>
            </p:cNvPr>
            <p:cNvSpPr/>
            <p:nvPr/>
          </p:nvSpPr>
          <p:spPr>
            <a:xfrm>
              <a:off x="7106208" y="1234061"/>
              <a:ext cx="582151" cy="565250"/>
            </a:xfrm>
            <a:prstGeom prst="cube">
              <a:avLst>
                <a:gd name="adj" fmla="val 14033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5AB1D36D-7932-D260-7080-C2CBA0273A8F}"/>
                </a:ext>
              </a:extLst>
            </p:cNvPr>
            <p:cNvSpPr txBox="1"/>
            <p:nvPr/>
          </p:nvSpPr>
          <p:spPr>
            <a:xfrm>
              <a:off x="2478861" y="903471"/>
              <a:ext cx="516948" cy="371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900" b="1" dirty="0">
                  <a:latin typeface="Helvetica" pitchFamily="2" charset="0"/>
                </a:rPr>
                <a:t> </a:t>
              </a:r>
              <a:r>
                <a:rPr lang="ja-JP" altLang="en-US" sz="2900" b="1">
                  <a:latin typeface="Helvetica" pitchFamily="2" charset="0"/>
                </a:rPr>
                <a:t>↑↓</a:t>
              </a: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FA5814E3-47B2-1D30-9AA3-77868EEA646F}"/>
                </a:ext>
              </a:extLst>
            </p:cNvPr>
            <p:cNvSpPr/>
            <p:nvPr/>
          </p:nvSpPr>
          <p:spPr>
            <a:xfrm rot="1357681">
              <a:off x="9037412" y="2171810"/>
              <a:ext cx="113676" cy="43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34" name="直線矢印コネクタ 33">
              <a:extLst>
                <a:ext uri="{FF2B5EF4-FFF2-40B4-BE49-F238E27FC236}">
                  <a16:creationId xmlns:a16="http://schemas.microsoft.com/office/drawing/2014/main" id="{ABFC1EF6-E580-64E1-6D37-5752EFF769D1}"/>
                </a:ext>
              </a:extLst>
            </p:cNvPr>
            <p:cNvCxnSpPr>
              <a:cxnSpLocks/>
            </p:cNvCxnSpPr>
            <p:nvPr/>
          </p:nvCxnSpPr>
          <p:spPr>
            <a:xfrm rot="900000" flipV="1">
              <a:off x="3862946" y="3949705"/>
              <a:ext cx="1800000" cy="37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矢印コネクタ 36">
              <a:extLst>
                <a:ext uri="{FF2B5EF4-FFF2-40B4-BE49-F238E27FC236}">
                  <a16:creationId xmlns:a16="http://schemas.microsoft.com/office/drawing/2014/main" id="{3DC48D56-0791-20FB-F805-9525CA78BA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8303" y="3716774"/>
              <a:ext cx="1800000" cy="37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直方体 37">
              <a:extLst>
                <a:ext uri="{FF2B5EF4-FFF2-40B4-BE49-F238E27FC236}">
                  <a16:creationId xmlns:a16="http://schemas.microsoft.com/office/drawing/2014/main" id="{29F78BC7-015B-979A-F96A-3292C4C307E8}"/>
                </a:ext>
              </a:extLst>
            </p:cNvPr>
            <p:cNvSpPr/>
            <p:nvPr/>
          </p:nvSpPr>
          <p:spPr>
            <a:xfrm>
              <a:off x="3648441" y="3387081"/>
              <a:ext cx="582151" cy="565250"/>
            </a:xfrm>
            <a:prstGeom prst="cube">
              <a:avLst>
                <a:gd name="adj" fmla="val 14033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745CC3FA-CEBB-AA3C-0343-36ABA4519333}"/>
                </a:ext>
              </a:extLst>
            </p:cNvPr>
            <p:cNvSpPr txBox="1"/>
            <p:nvPr/>
          </p:nvSpPr>
          <p:spPr>
            <a:xfrm>
              <a:off x="2553026" y="3513329"/>
              <a:ext cx="516948" cy="371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900" b="1" dirty="0">
                  <a:latin typeface="Helvetica" pitchFamily="2" charset="0"/>
                </a:rPr>
                <a:t> </a:t>
              </a:r>
              <a:r>
                <a:rPr lang="ja-JP" altLang="en-US" sz="2900" b="1">
                  <a:latin typeface="Helvetica" pitchFamily="2" charset="0"/>
                </a:rPr>
                <a:t>↑↓</a:t>
              </a:r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AD3A55E4-DEAF-1D24-EC28-4F5F5872815B}"/>
                </a:ext>
              </a:extLst>
            </p:cNvPr>
            <p:cNvSpPr txBox="1"/>
            <p:nvPr/>
          </p:nvSpPr>
          <p:spPr>
            <a:xfrm>
              <a:off x="4291615" y="3642084"/>
              <a:ext cx="516948" cy="371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900" b="1" dirty="0">
                  <a:latin typeface="Helvetica" pitchFamily="2" charset="0"/>
                </a:rPr>
                <a:t> </a:t>
              </a:r>
              <a:r>
                <a:rPr lang="ja-JP" altLang="en-US" sz="29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5043BA2F-1B19-E3F6-38BE-B45E40BDF28A}"/>
                </a:ext>
              </a:extLst>
            </p:cNvPr>
            <p:cNvSpPr txBox="1"/>
            <p:nvPr/>
          </p:nvSpPr>
          <p:spPr>
            <a:xfrm>
              <a:off x="7998362" y="1716882"/>
              <a:ext cx="516948" cy="371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900" b="1" dirty="0">
                  <a:latin typeface="Helvetica" pitchFamily="2" charset="0"/>
                </a:rPr>
                <a:t> </a:t>
              </a:r>
              <a:r>
                <a:rPr lang="ja-JP" altLang="en-US" sz="29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DD227887-A898-1C9B-DB3E-B6A46255F2D8}"/>
                </a:ext>
              </a:extLst>
            </p:cNvPr>
            <p:cNvSpPr txBox="1"/>
            <p:nvPr/>
          </p:nvSpPr>
          <p:spPr>
            <a:xfrm>
              <a:off x="7143786" y="737468"/>
              <a:ext cx="1926343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Cu</a:t>
              </a:r>
              <a:r>
                <a:rPr lang="en-US" altLang="ja-JP" sz="2320" baseline="-25000" dirty="0">
                  <a:latin typeface="Helvetica" pitchFamily="2" charset="0"/>
                </a:rPr>
                <a:t>2</a:t>
              </a:r>
              <a:r>
                <a:rPr lang="en-US" altLang="ja-JP" sz="2320" dirty="0">
                  <a:latin typeface="Helvetica" pitchFamily="2" charset="0"/>
                </a:rPr>
                <a:t>MnAl (Analyzer)</a:t>
              </a:r>
              <a:endParaRPr lang="ja-JP" altLang="en-US" sz="2320">
                <a:latin typeface="Helvetica" pitchFamily="2" charset="0"/>
              </a:endParaRPr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31EA54B0-C3DB-CBD1-44C0-C965278D4152}"/>
                </a:ext>
              </a:extLst>
            </p:cNvPr>
            <p:cNvSpPr txBox="1"/>
            <p:nvPr/>
          </p:nvSpPr>
          <p:spPr>
            <a:xfrm>
              <a:off x="1543395" y="607250"/>
              <a:ext cx="1701887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Incident neutrons</a:t>
              </a:r>
              <a:endParaRPr lang="ja-JP" altLang="en-US" sz="2320">
                <a:latin typeface="Helvetica" pitchFamily="2" charset="0"/>
              </a:endParaRPr>
            </a:p>
          </p:txBody>
        </p: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FBD906B9-41CD-6F66-ED0D-92DBF94CEF49}"/>
                </a:ext>
              </a:extLst>
            </p:cNvPr>
            <p:cNvCxnSpPr>
              <a:cxnSpLocks/>
            </p:cNvCxnSpPr>
            <p:nvPr/>
          </p:nvCxnSpPr>
          <p:spPr>
            <a:xfrm rot="-3300000" flipH="1">
              <a:off x="2665895" y="1337524"/>
              <a:ext cx="242997" cy="2786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下矢印 51">
              <a:extLst>
                <a:ext uri="{FF2B5EF4-FFF2-40B4-BE49-F238E27FC236}">
                  <a16:creationId xmlns:a16="http://schemas.microsoft.com/office/drawing/2014/main" id="{46906B1F-D515-AC69-40CD-3B1CBE5E62F3}"/>
                </a:ext>
              </a:extLst>
            </p:cNvPr>
            <p:cNvSpPr/>
            <p:nvPr/>
          </p:nvSpPr>
          <p:spPr>
            <a:xfrm rot="10800000">
              <a:off x="7092029" y="3798450"/>
              <a:ext cx="353054" cy="731694"/>
            </a:xfrm>
            <a:prstGeom prst="down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55" name="フレーム 54">
              <a:extLst>
                <a:ext uri="{FF2B5EF4-FFF2-40B4-BE49-F238E27FC236}">
                  <a16:creationId xmlns:a16="http://schemas.microsoft.com/office/drawing/2014/main" id="{3B5F2F71-4453-5D0E-55F2-64041C6A0697}"/>
                </a:ext>
              </a:extLst>
            </p:cNvPr>
            <p:cNvSpPr/>
            <p:nvPr/>
          </p:nvSpPr>
          <p:spPr>
            <a:xfrm rot="900000">
              <a:off x="4739905" y="1153707"/>
              <a:ext cx="249382" cy="454873"/>
            </a:xfrm>
            <a:prstGeom prst="fram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>
                <a:solidFill>
                  <a:schemeClr val="tx1"/>
                </a:solidFill>
              </a:endParaRPr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16693A08-F6A8-A4A5-2303-28FB4719DB0A}"/>
                </a:ext>
              </a:extLst>
            </p:cNvPr>
            <p:cNvSpPr txBox="1"/>
            <p:nvPr/>
          </p:nvSpPr>
          <p:spPr>
            <a:xfrm>
              <a:off x="4750344" y="228353"/>
              <a:ext cx="1153462" cy="80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Spin flipper</a:t>
              </a:r>
              <a:br>
                <a:rPr lang="en-US" altLang="ja-JP" sz="2320" dirty="0">
                  <a:latin typeface="Helvetica" pitchFamily="2" charset="0"/>
                </a:rPr>
              </a:br>
              <a:r>
                <a:rPr lang="en-US" altLang="ja-JP" sz="2320" dirty="0">
                  <a:latin typeface="Helvetica" pitchFamily="2" charset="0"/>
                </a:rPr>
                <a:t>off : </a:t>
              </a:r>
              <a:r>
                <a:rPr lang="ja-JP" altLang="en-US" sz="2320">
                  <a:latin typeface="Helvetica" pitchFamily="2" charset="0"/>
                </a:rPr>
                <a:t>↑</a:t>
              </a:r>
              <a:br>
                <a:rPr lang="en-US" altLang="ja-JP" sz="2320" dirty="0">
                  <a:latin typeface="Helvetica" pitchFamily="2" charset="0"/>
                </a:rPr>
              </a:br>
              <a:r>
                <a:rPr lang="en-US" altLang="ja-JP" sz="2320" dirty="0">
                  <a:latin typeface="Helvetica" pitchFamily="2" charset="0"/>
                </a:rPr>
                <a:t>on : </a:t>
              </a:r>
              <a:r>
                <a:rPr lang="ja-JP" altLang="en-US" sz="2320">
                  <a:latin typeface="Helvetica" pitchFamily="2" charset="0"/>
                </a:rPr>
                <a:t>↓</a:t>
              </a:r>
            </a:p>
          </p:txBody>
        </p:sp>
        <p:cxnSp>
          <p:nvCxnSpPr>
            <p:cNvPr id="58" name="直線コネクタ 57">
              <a:extLst>
                <a:ext uri="{FF2B5EF4-FFF2-40B4-BE49-F238E27FC236}">
                  <a16:creationId xmlns:a16="http://schemas.microsoft.com/office/drawing/2014/main" id="{FDF52C82-61AE-0F07-269F-D6F45A8916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67219" y="1022656"/>
              <a:ext cx="242997" cy="2786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コネクタ 59">
              <a:extLst>
                <a:ext uri="{FF2B5EF4-FFF2-40B4-BE49-F238E27FC236}">
                  <a16:creationId xmlns:a16="http://schemas.microsoft.com/office/drawing/2014/main" id="{C81DE672-29E8-B1D2-226D-8AB0B70DF2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9421" y="1046963"/>
              <a:ext cx="141412" cy="20619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テキスト ボックス 63">
                  <a:extLst>
                    <a:ext uri="{FF2B5EF4-FFF2-40B4-BE49-F238E27FC236}">
                      <a16:creationId xmlns:a16="http://schemas.microsoft.com/office/drawing/2014/main" id="{61155BA7-693B-49B0-6D0B-6D2D264C0420}"/>
                    </a:ext>
                  </a:extLst>
                </p:cNvPr>
                <p:cNvSpPr txBox="1"/>
                <p:nvPr/>
              </p:nvSpPr>
              <p:spPr>
                <a:xfrm>
                  <a:off x="4685288" y="1743351"/>
                  <a:ext cx="363288" cy="3099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32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32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ja-JP" sz="232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ja-JP" altLang="en-US" sz="232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4" name="テキスト ボックス 63">
                  <a:extLst>
                    <a:ext uri="{FF2B5EF4-FFF2-40B4-BE49-F238E27FC236}">
                      <a16:creationId xmlns:a16="http://schemas.microsoft.com/office/drawing/2014/main" id="{61155BA7-693B-49B0-6D0B-6D2D264C04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5288" y="1743351"/>
                  <a:ext cx="363288" cy="309949"/>
                </a:xfrm>
                <a:prstGeom prst="rect">
                  <a:avLst/>
                </a:prstGeom>
                <a:blipFill>
                  <a:blip r:embed="rId6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直線コネクタ 64">
              <a:extLst>
                <a:ext uri="{FF2B5EF4-FFF2-40B4-BE49-F238E27FC236}">
                  <a16:creationId xmlns:a16="http://schemas.microsoft.com/office/drawing/2014/main" id="{826E104B-DBC0-446E-C76D-8F637B71B2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5911" y="1499042"/>
              <a:ext cx="149606" cy="3628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コネクタ 66">
              <a:extLst>
                <a:ext uri="{FF2B5EF4-FFF2-40B4-BE49-F238E27FC236}">
                  <a16:creationId xmlns:a16="http://schemas.microsoft.com/office/drawing/2014/main" id="{259E00C6-7AA0-5E91-B47F-66100B407F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15729" y="2446351"/>
              <a:ext cx="252947" cy="423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矢印コネクタ 74">
              <a:extLst>
                <a:ext uri="{FF2B5EF4-FFF2-40B4-BE49-F238E27FC236}">
                  <a16:creationId xmlns:a16="http://schemas.microsoft.com/office/drawing/2014/main" id="{E32490FA-D4F9-F967-1C9E-8A13AE5B8A34}"/>
                </a:ext>
              </a:extLst>
            </p:cNvPr>
            <p:cNvCxnSpPr>
              <a:cxnSpLocks/>
            </p:cNvCxnSpPr>
            <p:nvPr/>
          </p:nvCxnSpPr>
          <p:spPr>
            <a:xfrm rot="6180000" flipV="1">
              <a:off x="5279366" y="1823864"/>
              <a:ext cx="540000" cy="372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テキスト ボックス 75">
                  <a:extLst>
                    <a:ext uri="{FF2B5EF4-FFF2-40B4-BE49-F238E27FC236}">
                      <a16:creationId xmlns:a16="http://schemas.microsoft.com/office/drawing/2014/main" id="{1BBF2C0C-76BA-D364-1653-4EA4B8A7595A}"/>
                    </a:ext>
                  </a:extLst>
                </p:cNvPr>
                <p:cNvSpPr txBox="1"/>
                <p:nvPr/>
              </p:nvSpPr>
              <p:spPr>
                <a:xfrm>
                  <a:off x="5337995" y="1966701"/>
                  <a:ext cx="422743" cy="3099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ja-JP" sz="2320" b="1" i="1">
                            <a:latin typeface="Cambria Math" panose="02040503050406030204" pitchFamily="18" charset="0"/>
                          </a:rPr>
                          <m:t>𝑸</m:t>
                        </m:r>
                      </m:oMath>
                    </m:oMathPara>
                  </a14:m>
                  <a:endParaRPr lang="ja-JP" altLang="en-US" sz="232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76" name="テキスト ボックス 75">
                  <a:extLst>
                    <a:ext uri="{FF2B5EF4-FFF2-40B4-BE49-F238E27FC236}">
                      <a16:creationId xmlns:a16="http://schemas.microsoft.com/office/drawing/2014/main" id="{1BBF2C0C-76BA-D364-1653-4EA4B8A759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7995" y="1966701"/>
                  <a:ext cx="422743" cy="309949"/>
                </a:xfrm>
                <a:prstGeom prst="rect">
                  <a:avLst/>
                </a:prstGeom>
                <a:blipFill>
                  <a:blip r:embed="rId7"/>
                  <a:stretch>
                    <a:fillRect b="-1388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直線矢印コネクタ 79">
              <a:extLst>
                <a:ext uri="{FF2B5EF4-FFF2-40B4-BE49-F238E27FC236}">
                  <a16:creationId xmlns:a16="http://schemas.microsoft.com/office/drawing/2014/main" id="{FE165166-D098-D323-B07B-55C8FDA4441D}"/>
                </a:ext>
              </a:extLst>
            </p:cNvPr>
            <p:cNvCxnSpPr>
              <a:cxnSpLocks/>
            </p:cNvCxnSpPr>
            <p:nvPr/>
          </p:nvCxnSpPr>
          <p:spPr>
            <a:xfrm rot="6180000" flipV="1">
              <a:off x="5279366" y="4438146"/>
              <a:ext cx="540000" cy="372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テキスト ボックス 81">
                  <a:extLst>
                    <a:ext uri="{FF2B5EF4-FFF2-40B4-BE49-F238E27FC236}">
                      <a16:creationId xmlns:a16="http://schemas.microsoft.com/office/drawing/2014/main" id="{35578B0D-F017-6EA8-21AF-A010CB044E71}"/>
                    </a:ext>
                  </a:extLst>
                </p:cNvPr>
                <p:cNvSpPr txBox="1"/>
                <p:nvPr/>
              </p:nvSpPr>
              <p:spPr>
                <a:xfrm>
                  <a:off x="5087497" y="4644865"/>
                  <a:ext cx="422743" cy="3099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ja-JP" sz="2320" b="1" i="1">
                            <a:latin typeface="Cambria Math" panose="02040503050406030204" pitchFamily="18" charset="0"/>
                          </a:rPr>
                          <m:t>𝑸</m:t>
                        </m:r>
                      </m:oMath>
                    </m:oMathPara>
                  </a14:m>
                  <a:endParaRPr lang="ja-JP" altLang="en-US" sz="232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82" name="テキスト ボックス 81">
                  <a:extLst>
                    <a:ext uri="{FF2B5EF4-FFF2-40B4-BE49-F238E27FC236}">
                      <a16:creationId xmlns:a16="http://schemas.microsoft.com/office/drawing/2014/main" id="{35578B0D-F017-6EA8-21AF-A010CB044E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7497" y="4644865"/>
                  <a:ext cx="422743" cy="309949"/>
                </a:xfrm>
                <a:prstGeom prst="rect">
                  <a:avLst/>
                </a:prstGeom>
                <a:blipFill>
                  <a:blip r:embed="rId8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8" name="直線矢印コネクタ 87">
              <a:extLst>
                <a:ext uri="{FF2B5EF4-FFF2-40B4-BE49-F238E27FC236}">
                  <a16:creationId xmlns:a16="http://schemas.microsoft.com/office/drawing/2014/main" id="{E35B1CB9-DC34-D118-3F92-01D84A5AFF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81042" y="4183008"/>
              <a:ext cx="43893" cy="647501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線矢印コネクタ 91">
              <a:extLst>
                <a:ext uri="{FF2B5EF4-FFF2-40B4-BE49-F238E27FC236}">
                  <a16:creationId xmlns:a16="http://schemas.microsoft.com/office/drawing/2014/main" id="{424082AC-B4EE-1B0B-FABD-A4BE8DAC1F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39607" y="4176333"/>
              <a:ext cx="258934" cy="336368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1674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AC516-EBD6-B660-55BF-665B64586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1BC5F511-EC16-EF95-11DD-FAEB68EB2280}"/>
              </a:ext>
            </a:extLst>
          </p:cNvPr>
          <p:cNvGrpSpPr/>
          <p:nvPr/>
        </p:nvGrpSpPr>
        <p:grpSpPr>
          <a:xfrm>
            <a:off x="5595087" y="1829684"/>
            <a:ext cx="10843965" cy="7789419"/>
            <a:chOff x="833380" y="1829683"/>
            <a:chExt cx="10843965" cy="7789419"/>
          </a:xfrm>
        </p:grpSpPr>
        <p:sp>
          <p:nvSpPr>
            <p:cNvPr id="23" name="直方体 22">
              <a:extLst>
                <a:ext uri="{FF2B5EF4-FFF2-40B4-BE49-F238E27FC236}">
                  <a16:creationId xmlns:a16="http://schemas.microsoft.com/office/drawing/2014/main" id="{B5FCBC4C-75A7-F0F0-1239-5E8D60143903}"/>
                </a:ext>
              </a:extLst>
            </p:cNvPr>
            <p:cNvSpPr/>
            <p:nvPr/>
          </p:nvSpPr>
          <p:spPr>
            <a:xfrm>
              <a:off x="6230157" y="3676515"/>
              <a:ext cx="404011" cy="404011"/>
            </a:xfrm>
            <a:prstGeom prst="cub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E1B904BF-D701-7AD6-87BE-292A4536C8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2230" y="3879406"/>
              <a:ext cx="2609583" cy="5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矢印コネクタ 20">
              <a:extLst>
                <a:ext uri="{FF2B5EF4-FFF2-40B4-BE49-F238E27FC236}">
                  <a16:creationId xmlns:a16="http://schemas.microsoft.com/office/drawing/2014/main" id="{09B92EC3-ECE2-7025-6BCF-470DB45DEE55}"/>
                </a:ext>
              </a:extLst>
            </p:cNvPr>
            <p:cNvCxnSpPr>
              <a:cxnSpLocks/>
            </p:cNvCxnSpPr>
            <p:nvPr/>
          </p:nvCxnSpPr>
          <p:spPr>
            <a:xfrm>
              <a:off x="8984291" y="3875266"/>
              <a:ext cx="2269707" cy="112970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18BC51A4-4A5A-08C9-08A0-F2CCF4CCFA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96157" y="3404003"/>
              <a:ext cx="193535" cy="33907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9280B15B-3EF8-93DD-C914-0482748531BB}"/>
                </a:ext>
              </a:extLst>
            </p:cNvPr>
            <p:cNvSpPr txBox="1"/>
            <p:nvPr/>
          </p:nvSpPr>
          <p:spPr>
            <a:xfrm>
              <a:off x="7163542" y="3588487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↑↓</a:t>
              </a:r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5AC235C9-3300-5B53-3C3C-8D6E1CFB06A8}"/>
                </a:ext>
              </a:extLst>
            </p:cNvPr>
            <p:cNvSpPr txBox="1"/>
            <p:nvPr/>
          </p:nvSpPr>
          <p:spPr>
            <a:xfrm>
              <a:off x="4492140" y="3119346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71542A7B-C7E8-4FC9-FA70-04B1A96CC7C0}"/>
                </a:ext>
              </a:extLst>
            </p:cNvPr>
            <p:cNvSpPr txBox="1"/>
            <p:nvPr/>
          </p:nvSpPr>
          <p:spPr>
            <a:xfrm>
              <a:off x="8659065" y="4999732"/>
              <a:ext cx="236475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point detector</a:t>
              </a:r>
              <a:endParaRPr lang="ja-JP" altLang="en-US" sz="2800">
                <a:latin typeface="Helvetica" pitchFamily="2" charset="0"/>
              </a:endParaRPr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C58F1852-1083-8CFE-1927-9A4EC44CB945}"/>
                </a:ext>
              </a:extLst>
            </p:cNvPr>
            <p:cNvSpPr txBox="1"/>
            <p:nvPr/>
          </p:nvSpPr>
          <p:spPr>
            <a:xfrm>
              <a:off x="6038267" y="2876643"/>
              <a:ext cx="14045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Sample</a:t>
              </a:r>
              <a:endParaRPr lang="ja-JP" altLang="en-US" sz="2800">
                <a:latin typeface="Helvetica" pitchFamily="2" charset="0"/>
              </a:endParaRPr>
            </a:p>
          </p:txBody>
        </p:sp>
        <p:cxnSp>
          <p:nvCxnSpPr>
            <p:cNvPr id="117" name="直線コネクタ 116">
              <a:extLst>
                <a:ext uri="{FF2B5EF4-FFF2-40B4-BE49-F238E27FC236}">
                  <a16:creationId xmlns:a16="http://schemas.microsoft.com/office/drawing/2014/main" id="{EB96B2DB-A4FE-D39E-23B1-BDFB36F474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71695" y="2410421"/>
              <a:ext cx="764581" cy="3876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テキスト ボックス 123">
              <a:extLst>
                <a:ext uri="{FF2B5EF4-FFF2-40B4-BE49-F238E27FC236}">
                  <a16:creationId xmlns:a16="http://schemas.microsoft.com/office/drawing/2014/main" id="{2444B46B-BE05-92A9-542C-6D8FF788D62E}"/>
                </a:ext>
              </a:extLst>
            </p:cNvPr>
            <p:cNvSpPr txBox="1"/>
            <p:nvPr/>
          </p:nvSpPr>
          <p:spPr>
            <a:xfrm>
              <a:off x="1601568" y="3932887"/>
              <a:ext cx="222528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Neutron spin</a:t>
              </a:r>
              <a:endParaRPr lang="ja-JP" altLang="en-US" sz="2800">
                <a:latin typeface="Helvetica" pitchFamily="2" charset="0"/>
              </a:endParaRPr>
            </a:p>
          </p:txBody>
        </p:sp>
        <p:sp>
          <p:nvSpPr>
            <p:cNvPr id="45" name="直方体 44">
              <a:extLst>
                <a:ext uri="{FF2B5EF4-FFF2-40B4-BE49-F238E27FC236}">
                  <a16:creationId xmlns:a16="http://schemas.microsoft.com/office/drawing/2014/main" id="{AF44D1EF-D6F8-17BB-7968-3E0E2F69351C}"/>
                </a:ext>
              </a:extLst>
            </p:cNvPr>
            <p:cNvSpPr/>
            <p:nvPr/>
          </p:nvSpPr>
          <p:spPr>
            <a:xfrm>
              <a:off x="6230157" y="7446483"/>
              <a:ext cx="404011" cy="404011"/>
            </a:xfrm>
            <a:prstGeom prst="cub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46" name="直線矢印コネクタ 45">
              <a:extLst>
                <a:ext uri="{FF2B5EF4-FFF2-40B4-BE49-F238E27FC236}">
                  <a16:creationId xmlns:a16="http://schemas.microsoft.com/office/drawing/2014/main" id="{30590015-BBB8-3ECD-5A0F-15A96910D343}"/>
                </a:ext>
              </a:extLst>
            </p:cNvPr>
            <p:cNvCxnSpPr>
              <a:cxnSpLocks/>
            </p:cNvCxnSpPr>
            <p:nvPr/>
          </p:nvCxnSpPr>
          <p:spPr>
            <a:xfrm>
              <a:off x="6449981" y="7684557"/>
              <a:ext cx="421489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091B34AD-9552-E1A8-A3A5-8FF735C389D8}"/>
                </a:ext>
              </a:extLst>
            </p:cNvPr>
            <p:cNvSpPr txBox="1"/>
            <p:nvPr/>
          </p:nvSpPr>
          <p:spPr>
            <a:xfrm>
              <a:off x="7205774" y="6807830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↑↓</a:t>
              </a:r>
            </a:p>
          </p:txBody>
        </p:sp>
        <p:sp>
          <p:nvSpPr>
            <p:cNvPr id="54" name="テキスト ボックス 53">
              <a:extLst>
                <a:ext uri="{FF2B5EF4-FFF2-40B4-BE49-F238E27FC236}">
                  <a16:creationId xmlns:a16="http://schemas.microsoft.com/office/drawing/2014/main" id="{8835146C-368D-1270-2FEB-28E94B741558}"/>
                </a:ext>
              </a:extLst>
            </p:cNvPr>
            <p:cNvSpPr txBox="1"/>
            <p:nvPr/>
          </p:nvSpPr>
          <p:spPr>
            <a:xfrm>
              <a:off x="9382432" y="6418786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4AF9A557-E0B1-DA9A-F0F1-F1613AAC3725}"/>
                </a:ext>
              </a:extLst>
            </p:cNvPr>
            <p:cNvSpPr txBox="1"/>
            <p:nvPr/>
          </p:nvSpPr>
          <p:spPr>
            <a:xfrm>
              <a:off x="8957364" y="9095882"/>
              <a:ext cx="20441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2D detector</a:t>
              </a:r>
              <a:endParaRPr lang="ja-JP" altLang="en-US" sz="2800">
                <a:latin typeface="Helvetica" pitchFamily="2" charset="0"/>
              </a:endParaRPr>
            </a:p>
          </p:txBody>
        </p:sp>
        <p:sp>
          <p:nvSpPr>
            <p:cNvPr id="59" name="円柱 58">
              <a:extLst>
                <a:ext uri="{FF2B5EF4-FFF2-40B4-BE49-F238E27FC236}">
                  <a16:creationId xmlns:a16="http://schemas.microsoft.com/office/drawing/2014/main" id="{1196F6AC-5866-3BA5-1466-805325C132E2}"/>
                </a:ext>
              </a:extLst>
            </p:cNvPr>
            <p:cNvSpPr/>
            <p:nvPr/>
          </p:nvSpPr>
          <p:spPr>
            <a:xfrm rot="16200000">
              <a:off x="8011583" y="7244339"/>
              <a:ext cx="1420013" cy="824491"/>
            </a:xfrm>
            <a:prstGeom prst="can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71" name="直線矢印コネクタ 70">
              <a:extLst>
                <a:ext uri="{FF2B5EF4-FFF2-40B4-BE49-F238E27FC236}">
                  <a16:creationId xmlns:a16="http://schemas.microsoft.com/office/drawing/2014/main" id="{A7FF46B8-E584-BF51-D620-2E5C226E62C4}"/>
                </a:ext>
              </a:extLst>
            </p:cNvPr>
            <p:cNvCxnSpPr>
              <a:cxnSpLocks/>
            </p:cNvCxnSpPr>
            <p:nvPr/>
          </p:nvCxnSpPr>
          <p:spPr>
            <a:xfrm>
              <a:off x="6446380" y="7702328"/>
              <a:ext cx="4364940" cy="82022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矢印コネクタ 71">
              <a:extLst>
                <a:ext uri="{FF2B5EF4-FFF2-40B4-BE49-F238E27FC236}">
                  <a16:creationId xmlns:a16="http://schemas.microsoft.com/office/drawing/2014/main" id="{038BDCB3-14A5-BB3F-124C-5D96E98582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77845" y="6760876"/>
              <a:ext cx="4164215" cy="90591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直方体 78">
              <a:extLst>
                <a:ext uri="{FF2B5EF4-FFF2-40B4-BE49-F238E27FC236}">
                  <a16:creationId xmlns:a16="http://schemas.microsoft.com/office/drawing/2014/main" id="{4F8AB0A9-B389-3C35-B55D-540D1349D956}"/>
                </a:ext>
              </a:extLst>
            </p:cNvPr>
            <p:cNvSpPr/>
            <p:nvPr/>
          </p:nvSpPr>
          <p:spPr>
            <a:xfrm rot="16200000">
              <a:off x="8951578" y="6973277"/>
              <a:ext cx="3774024" cy="1325919"/>
            </a:xfrm>
            <a:prstGeom prst="cube">
              <a:avLst>
                <a:gd name="adj" fmla="val 79178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81" name="円/楕円 80">
              <a:extLst>
                <a:ext uri="{FF2B5EF4-FFF2-40B4-BE49-F238E27FC236}">
                  <a16:creationId xmlns:a16="http://schemas.microsoft.com/office/drawing/2014/main" id="{38876274-ECDD-A4B1-454A-452BB11623C5}"/>
                </a:ext>
              </a:extLst>
            </p:cNvPr>
            <p:cNvSpPr/>
            <p:nvPr/>
          </p:nvSpPr>
          <p:spPr>
            <a:xfrm>
              <a:off x="10258167" y="6491632"/>
              <a:ext cx="829034" cy="2304437"/>
            </a:xfrm>
            <a:prstGeom prst="ellipse">
              <a:avLst/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84" name="直線コネクタ 83">
              <a:extLst>
                <a:ext uri="{FF2B5EF4-FFF2-40B4-BE49-F238E27FC236}">
                  <a16:creationId xmlns:a16="http://schemas.microsoft.com/office/drawing/2014/main" id="{C6684748-346F-E275-508D-ACFDB5071F0E}"/>
                </a:ext>
              </a:extLst>
            </p:cNvPr>
            <p:cNvCxnSpPr>
              <a:cxnSpLocks/>
              <a:stCxn id="81" idx="0"/>
            </p:cNvCxnSpPr>
            <p:nvPr/>
          </p:nvCxnSpPr>
          <p:spPr>
            <a:xfrm flipH="1">
              <a:off x="6444528" y="6491632"/>
              <a:ext cx="4228157" cy="1204653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コネクタ 86">
              <a:extLst>
                <a:ext uri="{FF2B5EF4-FFF2-40B4-BE49-F238E27FC236}">
                  <a16:creationId xmlns:a16="http://schemas.microsoft.com/office/drawing/2014/main" id="{A9DE12F4-752E-206B-3304-2D1FC770C425}"/>
                </a:ext>
              </a:extLst>
            </p:cNvPr>
            <p:cNvCxnSpPr>
              <a:cxnSpLocks/>
              <a:stCxn id="81" idx="4"/>
            </p:cNvCxnSpPr>
            <p:nvPr/>
          </p:nvCxnSpPr>
          <p:spPr>
            <a:xfrm flipH="1" flipV="1">
              <a:off x="6397498" y="7752943"/>
              <a:ext cx="4275187" cy="1043127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コネクタ 94">
              <a:extLst>
                <a:ext uri="{FF2B5EF4-FFF2-40B4-BE49-F238E27FC236}">
                  <a16:creationId xmlns:a16="http://schemas.microsoft.com/office/drawing/2014/main" id="{148D65F1-F185-87A1-C7A6-62937524AF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64878" y="9152169"/>
              <a:ext cx="496064" cy="624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テキスト ボックス 115">
              <a:extLst>
                <a:ext uri="{FF2B5EF4-FFF2-40B4-BE49-F238E27FC236}">
                  <a16:creationId xmlns:a16="http://schemas.microsoft.com/office/drawing/2014/main" id="{73CD4ECD-B96E-98CD-26D3-2BD22D086FAB}"/>
                </a:ext>
              </a:extLst>
            </p:cNvPr>
            <p:cNvSpPr txBox="1"/>
            <p:nvPr/>
          </p:nvSpPr>
          <p:spPr>
            <a:xfrm>
              <a:off x="6889125" y="5909673"/>
              <a:ext cx="34547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baseline="30000" dirty="0">
                  <a:latin typeface="Helvetica" pitchFamily="2" charset="0"/>
                </a:rPr>
                <a:t>3</a:t>
              </a:r>
              <a:r>
                <a:rPr lang="en-US" altLang="ja-JP" sz="2800" dirty="0">
                  <a:latin typeface="Helvetica" pitchFamily="2" charset="0"/>
                </a:rPr>
                <a:t>He-NSF (Analyzer) </a:t>
              </a:r>
              <a:endParaRPr lang="ja-JP" altLang="en-US" sz="2800">
                <a:latin typeface="Helvetica" pitchFamily="2" charset="0"/>
              </a:endParaRPr>
            </a:p>
          </p:txBody>
        </p:sp>
        <p:cxnSp>
          <p:nvCxnSpPr>
            <p:cNvPr id="119" name="直線コネクタ 118">
              <a:extLst>
                <a:ext uri="{FF2B5EF4-FFF2-40B4-BE49-F238E27FC236}">
                  <a16:creationId xmlns:a16="http://schemas.microsoft.com/office/drawing/2014/main" id="{917FAE8A-E2F1-57E9-1D9F-986F45983FD7}"/>
                </a:ext>
              </a:extLst>
            </p:cNvPr>
            <p:cNvCxnSpPr>
              <a:cxnSpLocks/>
            </p:cNvCxnSpPr>
            <p:nvPr/>
          </p:nvCxnSpPr>
          <p:spPr>
            <a:xfrm>
              <a:off x="8345012" y="6438245"/>
              <a:ext cx="196976" cy="4682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線コネクタ 134">
              <a:extLst>
                <a:ext uri="{FF2B5EF4-FFF2-40B4-BE49-F238E27FC236}">
                  <a16:creationId xmlns:a16="http://schemas.microsoft.com/office/drawing/2014/main" id="{705A1BB7-79FA-3C71-1526-D9FD9E9F5A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39246" y="7142230"/>
              <a:ext cx="1005630" cy="1044251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線コネクタ 137">
              <a:extLst>
                <a:ext uri="{FF2B5EF4-FFF2-40B4-BE49-F238E27FC236}">
                  <a16:creationId xmlns:a16="http://schemas.microsoft.com/office/drawing/2014/main" id="{2F846B3B-43FE-0A20-6705-1C137C29FA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64878" y="6319548"/>
              <a:ext cx="0" cy="2640595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0344DA59-0DC9-B1B7-82F1-3BF2B3B29D71}"/>
                </a:ext>
              </a:extLst>
            </p:cNvPr>
            <p:cNvSpPr txBox="1"/>
            <p:nvPr/>
          </p:nvSpPr>
          <p:spPr>
            <a:xfrm>
              <a:off x="977930" y="1829683"/>
              <a:ext cx="74892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3600" dirty="0">
                  <a:latin typeface="Helvetica" pitchFamily="2" charset="0"/>
                </a:rPr>
                <a:t>(a)</a:t>
              </a:r>
              <a:endParaRPr lang="ja-JP" altLang="en-US" sz="3600">
                <a:latin typeface="Helvetica" pitchFamily="2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EE013EA6-089B-AA70-55E8-2A2006899CBF}"/>
                </a:ext>
              </a:extLst>
            </p:cNvPr>
            <p:cNvSpPr txBox="1"/>
            <p:nvPr/>
          </p:nvSpPr>
          <p:spPr>
            <a:xfrm>
              <a:off x="977930" y="5648779"/>
              <a:ext cx="74892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3600" dirty="0">
                  <a:latin typeface="Helvetica" pitchFamily="2" charset="0"/>
                </a:rPr>
                <a:t>(b)</a:t>
              </a:r>
              <a:endParaRPr lang="ja-JP" altLang="en-US" sz="3600">
                <a:latin typeface="Helvetica" pitchFamily="2" charset="0"/>
              </a:endParaRPr>
            </a:p>
          </p:txBody>
        </p: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45199650-173C-A76F-A0D4-0C2A87D3B210}"/>
                </a:ext>
              </a:extLst>
            </p:cNvPr>
            <p:cNvCxnSpPr>
              <a:cxnSpLocks/>
            </p:cNvCxnSpPr>
            <p:nvPr/>
          </p:nvCxnSpPr>
          <p:spPr>
            <a:xfrm>
              <a:off x="877345" y="5591275"/>
              <a:ext cx="10800000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台形 13">
              <a:extLst>
                <a:ext uri="{FF2B5EF4-FFF2-40B4-BE49-F238E27FC236}">
                  <a16:creationId xmlns:a16="http://schemas.microsoft.com/office/drawing/2014/main" id="{57969306-8A40-D786-3BA7-89B0859F8B6E}"/>
                </a:ext>
              </a:extLst>
            </p:cNvPr>
            <p:cNvSpPr/>
            <p:nvPr/>
          </p:nvSpPr>
          <p:spPr>
            <a:xfrm rot="17563388">
              <a:off x="10937469" y="4867312"/>
              <a:ext cx="626300" cy="271759"/>
            </a:xfrm>
            <a:prstGeom prst="trapezoid">
              <a:avLst>
                <a:gd name="adj" fmla="val 52881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DA048235-CCF4-8C06-F78B-DFDC40E08AAD}"/>
                </a:ext>
              </a:extLst>
            </p:cNvPr>
            <p:cNvCxnSpPr>
              <a:cxnSpLocks/>
            </p:cNvCxnSpPr>
            <p:nvPr/>
          </p:nvCxnSpPr>
          <p:spPr>
            <a:xfrm rot="900000" flipV="1">
              <a:off x="3870669" y="3568821"/>
              <a:ext cx="2609583" cy="5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A3E1F698-3952-F27F-3F06-70ED5F168048}"/>
                </a:ext>
              </a:extLst>
            </p:cNvPr>
            <p:cNvSpPr txBox="1"/>
            <p:nvPr/>
          </p:nvSpPr>
          <p:spPr>
            <a:xfrm>
              <a:off x="2893085" y="1866630"/>
              <a:ext cx="335700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Cu</a:t>
              </a:r>
              <a:r>
                <a:rPr lang="en-US" altLang="ja-JP" sz="2800" baseline="-25000" dirty="0">
                  <a:latin typeface="Helvetica" pitchFamily="2" charset="0"/>
                </a:rPr>
                <a:t>2</a:t>
              </a:r>
              <a:r>
                <a:rPr lang="en-US" altLang="ja-JP" sz="2800" dirty="0">
                  <a:latin typeface="Helvetica" pitchFamily="2" charset="0"/>
                </a:rPr>
                <a:t>MnAl (Polarizer)</a:t>
              </a:r>
              <a:endParaRPr lang="ja-JP" altLang="en-US" sz="2800">
                <a:latin typeface="Helvetica" pitchFamily="2" charset="0"/>
              </a:endParaRPr>
            </a:p>
          </p:txBody>
        </p:sp>
        <p:sp>
          <p:nvSpPr>
            <p:cNvPr id="25" name="直方体 24">
              <a:extLst>
                <a:ext uri="{FF2B5EF4-FFF2-40B4-BE49-F238E27FC236}">
                  <a16:creationId xmlns:a16="http://schemas.microsoft.com/office/drawing/2014/main" id="{6BA14B17-49B3-C6D3-0B14-5A9FF72ACFB9}"/>
                </a:ext>
              </a:extLst>
            </p:cNvPr>
            <p:cNvSpPr/>
            <p:nvPr/>
          </p:nvSpPr>
          <p:spPr>
            <a:xfrm>
              <a:off x="3452164" y="2753146"/>
              <a:ext cx="843984" cy="819482"/>
            </a:xfrm>
            <a:prstGeom prst="cube">
              <a:avLst>
                <a:gd name="adj" fmla="val 14033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8" name="直方体 27">
              <a:extLst>
                <a:ext uri="{FF2B5EF4-FFF2-40B4-BE49-F238E27FC236}">
                  <a16:creationId xmlns:a16="http://schemas.microsoft.com/office/drawing/2014/main" id="{569FADFF-FE5B-9E39-65CB-C955565BB448}"/>
                </a:ext>
              </a:extLst>
            </p:cNvPr>
            <p:cNvSpPr/>
            <p:nvPr/>
          </p:nvSpPr>
          <p:spPr>
            <a:xfrm>
              <a:off x="8572648" y="3415456"/>
              <a:ext cx="843984" cy="819482"/>
            </a:xfrm>
            <a:prstGeom prst="cube">
              <a:avLst>
                <a:gd name="adj" fmla="val 14033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634BCE19-CBDF-C2A9-69DF-D096685775A7}"/>
                </a:ext>
              </a:extLst>
            </p:cNvPr>
            <p:cNvSpPr/>
            <p:nvPr/>
          </p:nvSpPr>
          <p:spPr>
            <a:xfrm rot="1357681">
              <a:off x="11372446" y="4774975"/>
              <a:ext cx="164804" cy="6263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34" name="直線矢印コネクタ 33">
              <a:extLst>
                <a:ext uri="{FF2B5EF4-FFF2-40B4-BE49-F238E27FC236}">
                  <a16:creationId xmlns:a16="http://schemas.microsoft.com/office/drawing/2014/main" id="{1FD249A9-B9B1-E660-80DE-08D6C9E50924}"/>
                </a:ext>
              </a:extLst>
            </p:cNvPr>
            <p:cNvCxnSpPr>
              <a:cxnSpLocks/>
            </p:cNvCxnSpPr>
            <p:nvPr/>
          </p:nvCxnSpPr>
          <p:spPr>
            <a:xfrm rot="900000" flipV="1">
              <a:off x="3870669" y="7352511"/>
              <a:ext cx="2609583" cy="5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矢印コネクタ 36">
              <a:extLst>
                <a:ext uri="{FF2B5EF4-FFF2-40B4-BE49-F238E27FC236}">
                  <a16:creationId xmlns:a16="http://schemas.microsoft.com/office/drawing/2014/main" id="{462494F2-F8DE-622D-08E7-EAAA3B333A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9999" y="7014815"/>
              <a:ext cx="1584000" cy="5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直方体 37">
              <a:extLst>
                <a:ext uri="{FF2B5EF4-FFF2-40B4-BE49-F238E27FC236}">
                  <a16:creationId xmlns:a16="http://schemas.microsoft.com/office/drawing/2014/main" id="{417B0F34-387C-95D2-3818-8BA1BEC305CE}"/>
                </a:ext>
              </a:extLst>
            </p:cNvPr>
            <p:cNvSpPr/>
            <p:nvPr/>
          </p:nvSpPr>
          <p:spPr>
            <a:xfrm>
              <a:off x="3559686" y="6536836"/>
              <a:ext cx="843984" cy="819482"/>
            </a:xfrm>
            <a:prstGeom prst="cube">
              <a:avLst>
                <a:gd name="adj" fmla="val 14033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770F9508-3E39-2CE7-B2AB-466AD484D240}"/>
                </a:ext>
              </a:extLst>
            </p:cNvPr>
            <p:cNvSpPr txBox="1"/>
            <p:nvPr/>
          </p:nvSpPr>
          <p:spPr>
            <a:xfrm>
              <a:off x="2664000" y="6719867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↑↓</a:t>
              </a:r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E615A070-AF72-C4B3-8CBA-CA36D354988F}"/>
                </a:ext>
              </a:extLst>
            </p:cNvPr>
            <p:cNvSpPr txBox="1"/>
            <p:nvPr/>
          </p:nvSpPr>
          <p:spPr>
            <a:xfrm>
              <a:off x="4492140" y="6906531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75591F0B-104E-A469-F34C-403552754912}"/>
                </a:ext>
              </a:extLst>
            </p:cNvPr>
            <p:cNvSpPr txBox="1"/>
            <p:nvPr/>
          </p:nvSpPr>
          <p:spPr>
            <a:xfrm>
              <a:off x="9866064" y="4115434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C832C310-0916-B015-E746-EDF1B1A835FE}"/>
                </a:ext>
              </a:extLst>
            </p:cNvPr>
            <p:cNvSpPr txBox="1"/>
            <p:nvPr/>
          </p:nvSpPr>
          <p:spPr>
            <a:xfrm>
              <a:off x="8089074" y="2650642"/>
              <a:ext cx="33361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Cu</a:t>
              </a:r>
              <a:r>
                <a:rPr lang="en-US" altLang="ja-JP" sz="2800" baseline="-25000" dirty="0">
                  <a:latin typeface="Helvetica" pitchFamily="2" charset="0"/>
                </a:rPr>
                <a:t>2</a:t>
              </a:r>
              <a:r>
                <a:rPr lang="en-US" altLang="ja-JP" sz="2800" dirty="0">
                  <a:latin typeface="Helvetica" pitchFamily="2" charset="0"/>
                </a:rPr>
                <a:t>MnAl (Analyzer)</a:t>
              </a:r>
              <a:endParaRPr lang="ja-JP" altLang="en-US" sz="2800">
                <a:latin typeface="Helvetica" pitchFamily="2" charset="0"/>
              </a:endParaRPr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7BCC0BEA-22B6-8FCF-76CB-2B1C668241CE}"/>
                </a:ext>
              </a:extLst>
            </p:cNvPr>
            <p:cNvSpPr txBox="1"/>
            <p:nvPr/>
          </p:nvSpPr>
          <p:spPr>
            <a:xfrm>
              <a:off x="833380" y="2739790"/>
              <a:ext cx="1585690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Incident </a:t>
              </a:r>
              <a:br>
                <a:rPr lang="en-US" altLang="ja-JP" sz="2800" dirty="0">
                  <a:latin typeface="Helvetica" pitchFamily="2" charset="0"/>
                </a:rPr>
              </a:br>
              <a:r>
                <a:rPr lang="en-US" altLang="ja-JP" sz="2800" dirty="0">
                  <a:latin typeface="Helvetica" pitchFamily="2" charset="0"/>
                </a:rPr>
                <a:t>neutrons</a:t>
              </a:r>
              <a:endParaRPr lang="ja-JP" altLang="en-US" sz="2800">
                <a:latin typeface="Helvetica" pitchFamily="2" charset="0"/>
              </a:endParaRPr>
            </a:p>
          </p:txBody>
        </p: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33CFF4E8-F804-E42F-0B0F-3450ABA205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0757" y="3504386"/>
              <a:ext cx="502507" cy="47825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下矢印 51">
              <a:extLst>
                <a:ext uri="{FF2B5EF4-FFF2-40B4-BE49-F238E27FC236}">
                  <a16:creationId xmlns:a16="http://schemas.microsoft.com/office/drawing/2014/main" id="{8B152262-DC5C-57DD-C7CE-138A057D4D4B}"/>
                </a:ext>
              </a:extLst>
            </p:cNvPr>
            <p:cNvSpPr/>
            <p:nvPr/>
          </p:nvSpPr>
          <p:spPr>
            <a:xfrm rot="10800000">
              <a:off x="8552091" y="7133226"/>
              <a:ext cx="511847" cy="1060787"/>
            </a:xfrm>
            <a:prstGeom prst="down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55" name="フレーム 54">
              <a:extLst>
                <a:ext uri="{FF2B5EF4-FFF2-40B4-BE49-F238E27FC236}">
                  <a16:creationId xmlns:a16="http://schemas.microsoft.com/office/drawing/2014/main" id="{E692AFC0-6088-502C-2FD7-89797249B2F2}"/>
                </a:ext>
              </a:extLst>
            </p:cNvPr>
            <p:cNvSpPr/>
            <p:nvPr/>
          </p:nvSpPr>
          <p:spPr>
            <a:xfrm rot="900000">
              <a:off x="5142056" y="3298961"/>
              <a:ext cx="361546" cy="659461"/>
            </a:xfrm>
            <a:prstGeom prst="fram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>
                <a:solidFill>
                  <a:schemeClr val="tx1"/>
                </a:solidFill>
              </a:endParaRPr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9407D411-E4A0-8FB2-27F7-5A9F8AC6C057}"/>
                </a:ext>
              </a:extLst>
            </p:cNvPr>
            <p:cNvSpPr txBox="1"/>
            <p:nvPr/>
          </p:nvSpPr>
          <p:spPr>
            <a:xfrm>
              <a:off x="3904957" y="4142162"/>
              <a:ext cx="1984839" cy="15081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Spin flipper</a:t>
              </a:r>
              <a:br>
                <a:rPr lang="en-US" altLang="ja-JP" sz="2800" dirty="0">
                  <a:latin typeface="Helvetica" pitchFamily="2" charset="0"/>
                </a:rPr>
              </a:br>
              <a:r>
                <a:rPr lang="en-US" altLang="ja-JP" sz="2800" dirty="0">
                  <a:latin typeface="Helvetica" pitchFamily="2" charset="0"/>
                </a:rPr>
                <a:t>off : </a:t>
              </a:r>
              <a:r>
                <a:rPr lang="ja-JP" altLang="en-US" sz="3200">
                  <a:latin typeface="Helvetica" pitchFamily="2" charset="0"/>
                </a:rPr>
                <a:t>↑</a:t>
              </a:r>
              <a:br>
                <a:rPr lang="en-US" altLang="ja-JP" sz="2800" dirty="0">
                  <a:latin typeface="Helvetica" pitchFamily="2" charset="0"/>
                </a:rPr>
              </a:br>
              <a:r>
                <a:rPr lang="en-US" altLang="ja-JP" sz="2800" dirty="0">
                  <a:latin typeface="Helvetica" pitchFamily="2" charset="0"/>
                </a:rPr>
                <a:t>on :</a:t>
              </a:r>
              <a:r>
                <a:rPr lang="en-US" altLang="ja-JP" sz="3200" dirty="0">
                  <a:latin typeface="Helvetica" pitchFamily="2" charset="0"/>
                </a:rPr>
                <a:t> </a:t>
              </a:r>
              <a:r>
                <a:rPr lang="ja-JP" altLang="en-US" sz="3200">
                  <a:latin typeface="Helvetica" pitchFamily="2" charset="0"/>
                </a:rPr>
                <a:t>↓</a:t>
              </a:r>
            </a:p>
          </p:txBody>
        </p:sp>
        <p:cxnSp>
          <p:nvCxnSpPr>
            <p:cNvPr id="58" name="直線コネクタ 57">
              <a:extLst>
                <a:ext uri="{FF2B5EF4-FFF2-40B4-BE49-F238E27FC236}">
                  <a16:creationId xmlns:a16="http://schemas.microsoft.com/office/drawing/2014/main" id="{B43CD93B-81DD-9B50-09A4-D06739F1B9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96030" y="3108967"/>
              <a:ext cx="352289" cy="40401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コネクタ 59">
              <a:extLst>
                <a:ext uri="{FF2B5EF4-FFF2-40B4-BE49-F238E27FC236}">
                  <a16:creationId xmlns:a16="http://schemas.microsoft.com/office/drawing/2014/main" id="{7E2FC44E-D943-1F63-0052-E0EDD75BAE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58568" y="3860630"/>
              <a:ext cx="205015" cy="29893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コネクタ 66">
              <a:extLst>
                <a:ext uri="{FF2B5EF4-FFF2-40B4-BE49-F238E27FC236}">
                  <a16:creationId xmlns:a16="http://schemas.microsoft.com/office/drawing/2014/main" id="{64D149D4-2E67-81BF-A6E7-840F690CB2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06080" y="5172995"/>
              <a:ext cx="366715" cy="6144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矢印コネクタ 74">
              <a:extLst>
                <a:ext uri="{FF2B5EF4-FFF2-40B4-BE49-F238E27FC236}">
                  <a16:creationId xmlns:a16="http://schemas.microsoft.com/office/drawing/2014/main" id="{5C0E4063-0AC8-09EA-DD38-38AA44662057}"/>
                </a:ext>
              </a:extLst>
            </p:cNvPr>
            <p:cNvCxnSpPr>
              <a:cxnSpLocks/>
            </p:cNvCxnSpPr>
            <p:nvPr/>
          </p:nvCxnSpPr>
          <p:spPr>
            <a:xfrm rot="6180000" flipV="1">
              <a:off x="5924150" y="4270533"/>
              <a:ext cx="782875" cy="539"/>
            </a:xfrm>
            <a:prstGeom prst="straightConnector1">
              <a:avLst/>
            </a:prstGeom>
            <a:ln w="25400" cap="rnd">
              <a:solidFill>
                <a:srgbClr val="7030A0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テキスト ボックス 75">
                  <a:extLst>
                    <a:ext uri="{FF2B5EF4-FFF2-40B4-BE49-F238E27FC236}">
                      <a16:creationId xmlns:a16="http://schemas.microsoft.com/office/drawing/2014/main" id="{25F5A530-8145-F792-626A-906E56084D9C}"/>
                    </a:ext>
                  </a:extLst>
                </p:cNvPr>
                <p:cNvSpPr txBox="1"/>
                <p:nvPr/>
              </p:nvSpPr>
              <p:spPr>
                <a:xfrm>
                  <a:off x="5482700" y="4630432"/>
                  <a:ext cx="2826644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ja-JP" sz="2800" b="1" i="1">
                          <a:latin typeface="Cambria Math" panose="02040503050406030204" pitchFamily="18" charset="0"/>
                        </a:rPr>
                        <m:t>𝑸</m:t>
                      </m:r>
                    </m:oMath>
                  </a14:m>
                  <a:r>
                    <a:rPr lang="en-US" altLang="ja-JP" sz="2800" b="1" dirty="0">
                      <a:latin typeface="Helvetica" pitchFamily="2" charset="0"/>
                    </a:rPr>
                    <a:t> </a:t>
                  </a:r>
                  <a:r>
                    <a:rPr lang="en-US" altLang="ja-JP" sz="2800" dirty="0">
                      <a:latin typeface="Helvetica" pitchFamily="2" charset="0"/>
                    </a:rPr>
                    <a:t>(only </a:t>
                  </a:r>
                  <a:r>
                    <a:rPr lang="en-US" altLang="ja-JP" sz="2800" dirty="0">
                      <a:solidFill>
                        <a:srgbClr val="7030A0"/>
                      </a:solidFill>
                      <a:latin typeface="Helvetica" pitchFamily="2" charset="0"/>
                    </a:rPr>
                    <a:t>in-plane</a:t>
                  </a:r>
                  <a:r>
                    <a:rPr lang="en-US" altLang="ja-JP" sz="2800" dirty="0">
                      <a:latin typeface="Helvetica" pitchFamily="2" charset="0"/>
                    </a:rPr>
                    <a:t>)</a:t>
                  </a:r>
                  <a:endParaRPr lang="ja-JP" altLang="en-US" sz="28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76" name="テキスト ボックス 75">
                  <a:extLst>
                    <a:ext uri="{FF2B5EF4-FFF2-40B4-BE49-F238E27FC236}">
                      <a16:creationId xmlns:a16="http://schemas.microsoft.com/office/drawing/2014/main" id="{25F5A530-8145-F792-626A-906E56084D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2700" y="4630432"/>
                  <a:ext cx="2826644" cy="523220"/>
                </a:xfrm>
                <a:prstGeom prst="rect">
                  <a:avLst/>
                </a:prstGeom>
                <a:blipFill>
                  <a:blip r:embed="rId3"/>
                  <a:stretch>
                    <a:fillRect l="-2232" t="-11905" r="-3571" b="-3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直線矢印コネクタ 79">
              <a:extLst>
                <a:ext uri="{FF2B5EF4-FFF2-40B4-BE49-F238E27FC236}">
                  <a16:creationId xmlns:a16="http://schemas.microsoft.com/office/drawing/2014/main" id="{5031C4D5-D3FB-0D53-B879-A69D25F1AD9B}"/>
                </a:ext>
              </a:extLst>
            </p:cNvPr>
            <p:cNvCxnSpPr>
              <a:cxnSpLocks/>
            </p:cNvCxnSpPr>
            <p:nvPr/>
          </p:nvCxnSpPr>
          <p:spPr>
            <a:xfrm rot="6180000" flipV="1">
              <a:off x="5924150" y="8060637"/>
              <a:ext cx="782875" cy="539"/>
            </a:xfrm>
            <a:prstGeom prst="straightConnector1">
              <a:avLst/>
            </a:prstGeom>
            <a:ln w="25400" cap="rnd">
              <a:solidFill>
                <a:srgbClr val="7030A0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テキスト ボックス 81">
                  <a:extLst>
                    <a:ext uri="{FF2B5EF4-FFF2-40B4-BE49-F238E27FC236}">
                      <a16:creationId xmlns:a16="http://schemas.microsoft.com/office/drawing/2014/main" id="{EA0D5A20-7099-00F1-9E9A-A3E026F5DF82}"/>
                    </a:ext>
                  </a:extLst>
                </p:cNvPr>
                <p:cNvSpPr txBox="1"/>
                <p:nvPr/>
              </p:nvSpPr>
              <p:spPr>
                <a:xfrm>
                  <a:off x="4296148" y="8645597"/>
                  <a:ext cx="4424199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ja-JP" sz="2800" b="1" i="1">
                          <a:latin typeface="Cambria Math" panose="02040503050406030204" pitchFamily="18" charset="0"/>
                        </a:rPr>
                        <m:t>𝑸</m:t>
                      </m:r>
                    </m:oMath>
                  </a14:m>
                  <a:r>
                    <a:rPr lang="en-US" altLang="ja-JP" sz="2800" b="1" dirty="0">
                      <a:latin typeface="Helvetica" pitchFamily="2" charset="0"/>
                    </a:rPr>
                    <a:t> </a:t>
                  </a:r>
                  <a:r>
                    <a:rPr lang="en-US" altLang="ja-JP" sz="2800" dirty="0">
                      <a:latin typeface="Helvetica" pitchFamily="2" charset="0"/>
                    </a:rPr>
                    <a:t>(including </a:t>
                  </a:r>
                  <a:r>
                    <a:rPr lang="en-US" altLang="ja-JP" sz="2800" dirty="0">
                      <a:solidFill>
                        <a:srgbClr val="C00000"/>
                      </a:solidFill>
                      <a:latin typeface="Helvetica" pitchFamily="2" charset="0"/>
                    </a:rPr>
                    <a:t>out-of-plane</a:t>
                  </a:r>
                  <a:r>
                    <a:rPr lang="en-US" altLang="ja-JP" sz="2800" dirty="0">
                      <a:latin typeface="Helvetica" pitchFamily="2" charset="0"/>
                    </a:rPr>
                    <a:t>)</a:t>
                  </a:r>
                  <a:endParaRPr lang="ja-JP" altLang="en-US" sz="28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82" name="テキスト ボックス 81">
                  <a:extLst>
                    <a:ext uri="{FF2B5EF4-FFF2-40B4-BE49-F238E27FC236}">
                      <a16:creationId xmlns:a16="http://schemas.microsoft.com/office/drawing/2014/main" id="{EA0D5A20-7099-00F1-9E9A-A3E026F5DF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6148" y="8645597"/>
                  <a:ext cx="4424199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1433" t="-11905" b="-3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8" name="直線矢印コネクタ 87">
              <a:extLst>
                <a:ext uri="{FF2B5EF4-FFF2-40B4-BE49-F238E27FC236}">
                  <a16:creationId xmlns:a16="http://schemas.microsoft.com/office/drawing/2014/main" id="{24787DC9-B5C5-B2CB-805F-A0B2A413DF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1510" y="7690746"/>
              <a:ext cx="63635" cy="938727"/>
            </a:xfrm>
            <a:prstGeom prst="straightConnector1">
              <a:avLst/>
            </a:prstGeom>
            <a:ln w="25400" cap="rnd">
              <a:solidFill>
                <a:srgbClr val="C00000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線矢印コネクタ 91">
              <a:extLst>
                <a:ext uri="{FF2B5EF4-FFF2-40B4-BE49-F238E27FC236}">
                  <a16:creationId xmlns:a16="http://schemas.microsoft.com/office/drawing/2014/main" id="{F950E8B6-8164-2CC9-F503-07A37E33B6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11485" y="7681069"/>
              <a:ext cx="375394" cy="487656"/>
            </a:xfrm>
            <a:prstGeom prst="straightConnector1">
              <a:avLst/>
            </a:prstGeom>
            <a:ln w="25400" cap="rnd">
              <a:solidFill>
                <a:srgbClr val="C00000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線矢印コネクタ 3">
              <a:extLst>
                <a:ext uri="{FF2B5EF4-FFF2-40B4-BE49-F238E27FC236}">
                  <a16:creationId xmlns:a16="http://schemas.microsoft.com/office/drawing/2014/main" id="{04EE0FF2-7306-8D13-20A8-F0DBA64944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5038" y="3226082"/>
              <a:ext cx="1584000" cy="5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5506A856-77C1-987A-6699-D821DB0419E5}"/>
                </a:ext>
              </a:extLst>
            </p:cNvPr>
            <p:cNvSpPr txBox="1"/>
            <p:nvPr/>
          </p:nvSpPr>
          <p:spPr>
            <a:xfrm>
              <a:off x="2649039" y="2931134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4791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44DA5-08D9-F5F2-8ECF-D6647D146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BD39AA2E-C378-23C0-43F6-21D055638B0A}"/>
              </a:ext>
            </a:extLst>
          </p:cNvPr>
          <p:cNvGrpSpPr/>
          <p:nvPr/>
        </p:nvGrpSpPr>
        <p:grpSpPr>
          <a:xfrm>
            <a:off x="5582139" y="1829684"/>
            <a:ext cx="10856913" cy="7789419"/>
            <a:chOff x="5582139" y="1829684"/>
            <a:chExt cx="10856913" cy="7789419"/>
          </a:xfrm>
        </p:grpSpPr>
        <p:sp>
          <p:nvSpPr>
            <p:cNvPr id="45" name="直方体 44">
              <a:extLst>
                <a:ext uri="{FF2B5EF4-FFF2-40B4-BE49-F238E27FC236}">
                  <a16:creationId xmlns:a16="http://schemas.microsoft.com/office/drawing/2014/main" id="{37C03EE9-5948-6DE8-6C74-1E3F1E08CA5D}"/>
                </a:ext>
              </a:extLst>
            </p:cNvPr>
            <p:cNvSpPr/>
            <p:nvPr/>
          </p:nvSpPr>
          <p:spPr>
            <a:xfrm>
              <a:off x="10991864" y="7446484"/>
              <a:ext cx="404011" cy="404011"/>
            </a:xfrm>
            <a:prstGeom prst="cub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38" name="直方体 37">
              <a:extLst>
                <a:ext uri="{FF2B5EF4-FFF2-40B4-BE49-F238E27FC236}">
                  <a16:creationId xmlns:a16="http://schemas.microsoft.com/office/drawing/2014/main" id="{B9A48DB5-B01E-E3B1-CD4C-40800373B39A}"/>
                </a:ext>
              </a:extLst>
            </p:cNvPr>
            <p:cNvSpPr/>
            <p:nvPr/>
          </p:nvSpPr>
          <p:spPr>
            <a:xfrm>
              <a:off x="8321393" y="6536837"/>
              <a:ext cx="843984" cy="819482"/>
            </a:xfrm>
            <a:prstGeom prst="cube">
              <a:avLst>
                <a:gd name="adj" fmla="val 14033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3" name="直方体 22">
              <a:extLst>
                <a:ext uri="{FF2B5EF4-FFF2-40B4-BE49-F238E27FC236}">
                  <a16:creationId xmlns:a16="http://schemas.microsoft.com/office/drawing/2014/main" id="{C1D0B0E1-7492-8EEB-2950-D115B2A1303B}"/>
                </a:ext>
              </a:extLst>
            </p:cNvPr>
            <p:cNvSpPr/>
            <p:nvPr/>
          </p:nvSpPr>
          <p:spPr>
            <a:xfrm>
              <a:off x="10965738" y="3702642"/>
              <a:ext cx="404011" cy="404011"/>
            </a:xfrm>
            <a:prstGeom prst="cub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5" name="直方体 24">
              <a:extLst>
                <a:ext uri="{FF2B5EF4-FFF2-40B4-BE49-F238E27FC236}">
                  <a16:creationId xmlns:a16="http://schemas.microsoft.com/office/drawing/2014/main" id="{93282025-ABB8-0CF1-EA19-B59D0A934CE2}"/>
                </a:ext>
              </a:extLst>
            </p:cNvPr>
            <p:cNvSpPr/>
            <p:nvPr/>
          </p:nvSpPr>
          <p:spPr>
            <a:xfrm>
              <a:off x="8213871" y="2753147"/>
              <a:ext cx="843984" cy="819482"/>
            </a:xfrm>
            <a:prstGeom prst="cube">
              <a:avLst>
                <a:gd name="adj" fmla="val 14033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A716EEC9-10F6-1FF8-0C61-FA52ED232A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57864" y="3404004"/>
              <a:ext cx="193535" cy="33907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1E3CA081-DCCE-6FF5-9AB8-0C3793EF73D4}"/>
                </a:ext>
              </a:extLst>
            </p:cNvPr>
            <p:cNvSpPr txBox="1"/>
            <p:nvPr/>
          </p:nvSpPr>
          <p:spPr>
            <a:xfrm>
              <a:off x="11925249" y="3172850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↑↓</a:t>
              </a:r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8CAE8AFB-7CDB-4908-FB9D-F81D4111600D}"/>
                </a:ext>
              </a:extLst>
            </p:cNvPr>
            <p:cNvSpPr txBox="1"/>
            <p:nvPr/>
          </p:nvSpPr>
          <p:spPr>
            <a:xfrm>
              <a:off x="9253847" y="3119347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1A2617FE-E400-D289-E7DD-CD4F59502DD6}"/>
                </a:ext>
              </a:extLst>
            </p:cNvPr>
            <p:cNvSpPr txBox="1"/>
            <p:nvPr/>
          </p:nvSpPr>
          <p:spPr>
            <a:xfrm>
              <a:off x="10799974" y="2876644"/>
              <a:ext cx="14045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Sample</a:t>
              </a:r>
              <a:endParaRPr lang="ja-JP" altLang="en-US" sz="2800">
                <a:latin typeface="Helvetica" pitchFamily="2" charset="0"/>
              </a:endParaRPr>
            </a:p>
          </p:txBody>
        </p:sp>
        <p:cxnSp>
          <p:nvCxnSpPr>
            <p:cNvPr id="117" name="直線コネクタ 116">
              <a:extLst>
                <a:ext uri="{FF2B5EF4-FFF2-40B4-BE49-F238E27FC236}">
                  <a16:creationId xmlns:a16="http://schemas.microsoft.com/office/drawing/2014/main" id="{01484A18-5AFE-AE7D-9F1B-E0D8071003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33402" y="2410422"/>
              <a:ext cx="764581" cy="3876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テキスト ボックス 123">
              <a:extLst>
                <a:ext uri="{FF2B5EF4-FFF2-40B4-BE49-F238E27FC236}">
                  <a16:creationId xmlns:a16="http://schemas.microsoft.com/office/drawing/2014/main" id="{51D40F68-6179-6ED8-6054-54C0A336C2B9}"/>
                </a:ext>
              </a:extLst>
            </p:cNvPr>
            <p:cNvSpPr txBox="1"/>
            <p:nvPr/>
          </p:nvSpPr>
          <p:spPr>
            <a:xfrm>
              <a:off x="6113679" y="4303781"/>
              <a:ext cx="222528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Neutron spin</a:t>
              </a:r>
              <a:endParaRPr lang="ja-JP" altLang="en-US" sz="2800">
                <a:latin typeface="Helvetica" pitchFamily="2" charset="0"/>
              </a:endParaRPr>
            </a:p>
          </p:txBody>
        </p:sp>
        <p:cxnSp>
          <p:nvCxnSpPr>
            <p:cNvPr id="46" name="直線矢印コネクタ 45">
              <a:extLst>
                <a:ext uri="{FF2B5EF4-FFF2-40B4-BE49-F238E27FC236}">
                  <a16:creationId xmlns:a16="http://schemas.microsoft.com/office/drawing/2014/main" id="{F6ED9C77-8D7A-C1F6-3F8B-6465E9CC4209}"/>
                </a:ext>
              </a:extLst>
            </p:cNvPr>
            <p:cNvCxnSpPr>
              <a:cxnSpLocks/>
            </p:cNvCxnSpPr>
            <p:nvPr/>
          </p:nvCxnSpPr>
          <p:spPr>
            <a:xfrm>
              <a:off x="11211688" y="7684558"/>
              <a:ext cx="421489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ACAC0EEA-9E3A-DB03-1C33-E51D9A4FA39C}"/>
                </a:ext>
              </a:extLst>
            </p:cNvPr>
            <p:cNvSpPr txBox="1"/>
            <p:nvPr/>
          </p:nvSpPr>
          <p:spPr>
            <a:xfrm>
              <a:off x="11967481" y="6807831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↑↓</a:t>
              </a:r>
            </a:p>
          </p:txBody>
        </p:sp>
        <p:sp>
          <p:nvSpPr>
            <p:cNvPr id="54" name="テキスト ボックス 53">
              <a:extLst>
                <a:ext uri="{FF2B5EF4-FFF2-40B4-BE49-F238E27FC236}">
                  <a16:creationId xmlns:a16="http://schemas.microsoft.com/office/drawing/2014/main" id="{4EB54C0A-8578-2C8F-000E-C2CEB53E4560}"/>
                </a:ext>
              </a:extLst>
            </p:cNvPr>
            <p:cNvSpPr txBox="1"/>
            <p:nvPr/>
          </p:nvSpPr>
          <p:spPr>
            <a:xfrm>
              <a:off x="14144139" y="6418787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64D8BD4B-70AD-76FF-9D2E-6593C90312ED}"/>
                </a:ext>
              </a:extLst>
            </p:cNvPr>
            <p:cNvSpPr txBox="1"/>
            <p:nvPr/>
          </p:nvSpPr>
          <p:spPr>
            <a:xfrm>
              <a:off x="13719071" y="9095883"/>
              <a:ext cx="20441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2D detector</a:t>
              </a:r>
              <a:endParaRPr lang="ja-JP" altLang="en-US" sz="2800">
                <a:latin typeface="Helvetica" pitchFamily="2" charset="0"/>
              </a:endParaRPr>
            </a:p>
          </p:txBody>
        </p:sp>
        <p:sp>
          <p:nvSpPr>
            <p:cNvPr id="59" name="円柱 58">
              <a:extLst>
                <a:ext uri="{FF2B5EF4-FFF2-40B4-BE49-F238E27FC236}">
                  <a16:creationId xmlns:a16="http://schemas.microsoft.com/office/drawing/2014/main" id="{EBFE64B6-7FF6-4E2C-81C5-4430FD674026}"/>
                </a:ext>
              </a:extLst>
            </p:cNvPr>
            <p:cNvSpPr/>
            <p:nvPr/>
          </p:nvSpPr>
          <p:spPr>
            <a:xfrm rot="16200000">
              <a:off x="12773290" y="7244340"/>
              <a:ext cx="1420013" cy="824491"/>
            </a:xfrm>
            <a:prstGeom prst="can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71" name="直線矢印コネクタ 70">
              <a:extLst>
                <a:ext uri="{FF2B5EF4-FFF2-40B4-BE49-F238E27FC236}">
                  <a16:creationId xmlns:a16="http://schemas.microsoft.com/office/drawing/2014/main" id="{2DF13D54-4487-ED02-2E55-B00037FCC72F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087" y="7702329"/>
              <a:ext cx="4364940" cy="82022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矢印コネクタ 71">
              <a:extLst>
                <a:ext uri="{FF2B5EF4-FFF2-40B4-BE49-F238E27FC236}">
                  <a16:creationId xmlns:a16="http://schemas.microsoft.com/office/drawing/2014/main" id="{7FF7C10C-DD16-7633-43D3-B08BFC68E9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39552" y="6760877"/>
              <a:ext cx="4164215" cy="90591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直方体 78">
              <a:extLst>
                <a:ext uri="{FF2B5EF4-FFF2-40B4-BE49-F238E27FC236}">
                  <a16:creationId xmlns:a16="http://schemas.microsoft.com/office/drawing/2014/main" id="{C50F7179-ABDB-4CC5-A268-22E40ED878D6}"/>
                </a:ext>
              </a:extLst>
            </p:cNvPr>
            <p:cNvSpPr/>
            <p:nvPr/>
          </p:nvSpPr>
          <p:spPr>
            <a:xfrm rot="16200000">
              <a:off x="13713285" y="6973278"/>
              <a:ext cx="3774024" cy="1325919"/>
            </a:xfrm>
            <a:prstGeom prst="cube">
              <a:avLst>
                <a:gd name="adj" fmla="val 79178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81" name="円/楕円 80">
              <a:extLst>
                <a:ext uri="{FF2B5EF4-FFF2-40B4-BE49-F238E27FC236}">
                  <a16:creationId xmlns:a16="http://schemas.microsoft.com/office/drawing/2014/main" id="{9D95940F-6051-907C-A92E-950691B4DDA9}"/>
                </a:ext>
              </a:extLst>
            </p:cNvPr>
            <p:cNvSpPr/>
            <p:nvPr/>
          </p:nvSpPr>
          <p:spPr>
            <a:xfrm>
              <a:off x="15019874" y="6491633"/>
              <a:ext cx="829034" cy="2304437"/>
            </a:xfrm>
            <a:prstGeom prst="ellipse">
              <a:avLst/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84" name="直線コネクタ 83">
              <a:extLst>
                <a:ext uri="{FF2B5EF4-FFF2-40B4-BE49-F238E27FC236}">
                  <a16:creationId xmlns:a16="http://schemas.microsoft.com/office/drawing/2014/main" id="{89E0D2D1-CC99-B26A-475A-1437086D779A}"/>
                </a:ext>
              </a:extLst>
            </p:cNvPr>
            <p:cNvCxnSpPr>
              <a:cxnSpLocks/>
              <a:stCxn id="81" idx="0"/>
            </p:cNvCxnSpPr>
            <p:nvPr/>
          </p:nvCxnSpPr>
          <p:spPr>
            <a:xfrm flipH="1">
              <a:off x="11206235" y="6491633"/>
              <a:ext cx="4228157" cy="1204653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コネクタ 86">
              <a:extLst>
                <a:ext uri="{FF2B5EF4-FFF2-40B4-BE49-F238E27FC236}">
                  <a16:creationId xmlns:a16="http://schemas.microsoft.com/office/drawing/2014/main" id="{CBFC27F9-F2BE-9728-C256-78DEF4C70395}"/>
                </a:ext>
              </a:extLst>
            </p:cNvPr>
            <p:cNvCxnSpPr>
              <a:cxnSpLocks/>
              <a:stCxn id="81" idx="4"/>
            </p:cNvCxnSpPr>
            <p:nvPr/>
          </p:nvCxnSpPr>
          <p:spPr>
            <a:xfrm flipH="1" flipV="1">
              <a:off x="11159205" y="7752944"/>
              <a:ext cx="4275187" cy="1043127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コネクタ 94">
              <a:extLst>
                <a:ext uri="{FF2B5EF4-FFF2-40B4-BE49-F238E27FC236}">
                  <a16:creationId xmlns:a16="http://schemas.microsoft.com/office/drawing/2014/main" id="{62FD9FFC-49A7-10F4-D4E6-9CD70245FD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426585" y="9152170"/>
              <a:ext cx="496064" cy="624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テキスト ボックス 115">
              <a:extLst>
                <a:ext uri="{FF2B5EF4-FFF2-40B4-BE49-F238E27FC236}">
                  <a16:creationId xmlns:a16="http://schemas.microsoft.com/office/drawing/2014/main" id="{F0682F20-EDB0-A3DC-E991-AD0186B73529}"/>
                </a:ext>
              </a:extLst>
            </p:cNvPr>
            <p:cNvSpPr txBox="1"/>
            <p:nvPr/>
          </p:nvSpPr>
          <p:spPr>
            <a:xfrm>
              <a:off x="11650832" y="5909674"/>
              <a:ext cx="34547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baseline="30000" dirty="0">
                  <a:latin typeface="Helvetica" pitchFamily="2" charset="0"/>
                </a:rPr>
                <a:t>3</a:t>
              </a:r>
              <a:r>
                <a:rPr lang="en-US" altLang="ja-JP" sz="2800" dirty="0">
                  <a:latin typeface="Helvetica" pitchFamily="2" charset="0"/>
                </a:rPr>
                <a:t>He-NSF (Analyzer) </a:t>
              </a:r>
              <a:endParaRPr lang="ja-JP" altLang="en-US" sz="2800">
                <a:latin typeface="Helvetica" pitchFamily="2" charset="0"/>
              </a:endParaRPr>
            </a:p>
          </p:txBody>
        </p:sp>
        <p:cxnSp>
          <p:nvCxnSpPr>
            <p:cNvPr id="119" name="直線コネクタ 118">
              <a:extLst>
                <a:ext uri="{FF2B5EF4-FFF2-40B4-BE49-F238E27FC236}">
                  <a16:creationId xmlns:a16="http://schemas.microsoft.com/office/drawing/2014/main" id="{EFBE738F-3A1E-1F0B-267F-841F602611E6}"/>
                </a:ext>
              </a:extLst>
            </p:cNvPr>
            <p:cNvCxnSpPr>
              <a:cxnSpLocks/>
            </p:cNvCxnSpPr>
            <p:nvPr/>
          </p:nvCxnSpPr>
          <p:spPr>
            <a:xfrm>
              <a:off x="13106719" y="6438246"/>
              <a:ext cx="196976" cy="4682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線コネクタ 134">
              <a:extLst>
                <a:ext uri="{FF2B5EF4-FFF2-40B4-BE49-F238E27FC236}">
                  <a16:creationId xmlns:a16="http://schemas.microsoft.com/office/drawing/2014/main" id="{DF720712-A848-9E5D-6ADA-A8698EFD2A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00953" y="7142231"/>
              <a:ext cx="1005630" cy="1044251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線コネクタ 137">
              <a:extLst>
                <a:ext uri="{FF2B5EF4-FFF2-40B4-BE49-F238E27FC236}">
                  <a16:creationId xmlns:a16="http://schemas.microsoft.com/office/drawing/2014/main" id="{257CE4EA-6FB5-8BDB-149C-377568AC0D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426585" y="6319549"/>
              <a:ext cx="0" cy="2640595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97EB2C86-17FA-09EF-7FDE-48EE2AA6AF90}"/>
                </a:ext>
              </a:extLst>
            </p:cNvPr>
            <p:cNvSpPr txBox="1"/>
            <p:nvPr/>
          </p:nvSpPr>
          <p:spPr>
            <a:xfrm>
              <a:off x="5739637" y="1829684"/>
              <a:ext cx="74892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3600" dirty="0">
                  <a:latin typeface="Helvetica" pitchFamily="2" charset="0"/>
                </a:rPr>
                <a:t>(a)</a:t>
              </a:r>
              <a:endParaRPr lang="ja-JP" altLang="en-US" sz="3600">
                <a:latin typeface="Helvetica" pitchFamily="2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1149C5C8-63EB-F344-1471-9D373B28C265}"/>
                </a:ext>
              </a:extLst>
            </p:cNvPr>
            <p:cNvSpPr txBox="1"/>
            <p:nvPr/>
          </p:nvSpPr>
          <p:spPr>
            <a:xfrm>
              <a:off x="5739637" y="5648780"/>
              <a:ext cx="74892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3600" dirty="0">
                  <a:latin typeface="Helvetica" pitchFamily="2" charset="0"/>
                </a:rPr>
                <a:t>(b)</a:t>
              </a:r>
              <a:endParaRPr lang="ja-JP" altLang="en-US" sz="3600">
                <a:latin typeface="Helvetica" pitchFamily="2" charset="0"/>
              </a:endParaRPr>
            </a:p>
          </p:txBody>
        </p: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2C63A0C7-12D5-27EC-2659-8AD820F49CD0}"/>
                </a:ext>
              </a:extLst>
            </p:cNvPr>
            <p:cNvCxnSpPr>
              <a:cxnSpLocks/>
            </p:cNvCxnSpPr>
            <p:nvPr/>
          </p:nvCxnSpPr>
          <p:spPr>
            <a:xfrm>
              <a:off x="5639052" y="5591276"/>
              <a:ext cx="10800000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B0EFBF89-2592-35AC-5A3B-1533F9CAAD04}"/>
                </a:ext>
              </a:extLst>
            </p:cNvPr>
            <p:cNvCxnSpPr>
              <a:cxnSpLocks/>
            </p:cNvCxnSpPr>
            <p:nvPr/>
          </p:nvCxnSpPr>
          <p:spPr>
            <a:xfrm rot="900000" flipV="1">
              <a:off x="8632376" y="3568822"/>
              <a:ext cx="2609583" cy="5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9F90264E-ED4F-700D-FEFC-6403819B9D78}"/>
                </a:ext>
              </a:extLst>
            </p:cNvPr>
            <p:cNvSpPr txBox="1"/>
            <p:nvPr/>
          </p:nvSpPr>
          <p:spPr>
            <a:xfrm>
              <a:off x="7654792" y="1866631"/>
              <a:ext cx="335700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Cu</a:t>
              </a:r>
              <a:r>
                <a:rPr lang="en-US" altLang="ja-JP" sz="2800" baseline="-25000" dirty="0">
                  <a:latin typeface="Helvetica" pitchFamily="2" charset="0"/>
                </a:rPr>
                <a:t>2</a:t>
              </a:r>
              <a:r>
                <a:rPr lang="en-US" altLang="ja-JP" sz="2800" dirty="0">
                  <a:latin typeface="Helvetica" pitchFamily="2" charset="0"/>
                </a:rPr>
                <a:t>MnAl (Polarizer)</a:t>
              </a:r>
              <a:endParaRPr lang="ja-JP" altLang="en-US" sz="2800">
                <a:latin typeface="Helvetica" pitchFamily="2" charset="0"/>
              </a:endParaRPr>
            </a:p>
          </p:txBody>
        </p:sp>
        <p:cxnSp>
          <p:nvCxnSpPr>
            <p:cNvPr id="34" name="直線矢印コネクタ 33">
              <a:extLst>
                <a:ext uri="{FF2B5EF4-FFF2-40B4-BE49-F238E27FC236}">
                  <a16:creationId xmlns:a16="http://schemas.microsoft.com/office/drawing/2014/main" id="{24506363-19A0-4594-FA52-41510D6B4717}"/>
                </a:ext>
              </a:extLst>
            </p:cNvPr>
            <p:cNvCxnSpPr>
              <a:cxnSpLocks/>
            </p:cNvCxnSpPr>
            <p:nvPr/>
          </p:nvCxnSpPr>
          <p:spPr>
            <a:xfrm rot="900000" flipV="1">
              <a:off x="8632376" y="7352512"/>
              <a:ext cx="2609583" cy="5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CE841F53-51E2-8D24-045D-D5EA7D70D300}"/>
                </a:ext>
              </a:extLst>
            </p:cNvPr>
            <p:cNvSpPr txBox="1"/>
            <p:nvPr/>
          </p:nvSpPr>
          <p:spPr>
            <a:xfrm>
              <a:off x="9253847" y="6906532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85D04362-05BB-2502-3C75-D24AA2E25146}"/>
                </a:ext>
              </a:extLst>
            </p:cNvPr>
            <p:cNvSpPr txBox="1"/>
            <p:nvPr/>
          </p:nvSpPr>
          <p:spPr>
            <a:xfrm>
              <a:off x="5582139" y="3129128"/>
              <a:ext cx="1585690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Incident </a:t>
              </a:r>
              <a:br>
                <a:rPr lang="en-US" altLang="ja-JP" sz="2800" dirty="0">
                  <a:latin typeface="Helvetica" pitchFamily="2" charset="0"/>
                </a:rPr>
              </a:br>
              <a:r>
                <a:rPr lang="en-US" altLang="ja-JP" sz="2800" dirty="0">
                  <a:latin typeface="Helvetica" pitchFamily="2" charset="0"/>
                </a:rPr>
                <a:t>neutrons</a:t>
              </a:r>
              <a:endParaRPr lang="ja-JP" altLang="en-US" sz="2800">
                <a:latin typeface="Helvetica" pitchFamily="2" charset="0"/>
              </a:endParaRPr>
            </a:p>
          </p:txBody>
        </p: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80296AB5-1E51-27B3-C4AD-0FC5F1565F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25719" y="3695765"/>
              <a:ext cx="244340" cy="5717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67A21D21-927A-A8AE-EEFA-10BEA48C2137}"/>
                </a:ext>
              </a:extLst>
            </p:cNvPr>
            <p:cNvSpPr txBox="1"/>
            <p:nvPr/>
          </p:nvSpPr>
          <p:spPr>
            <a:xfrm>
              <a:off x="8666664" y="4142163"/>
              <a:ext cx="1984839" cy="15081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Spin flipper</a:t>
              </a:r>
              <a:br>
                <a:rPr lang="en-US" altLang="ja-JP" sz="2800" dirty="0">
                  <a:latin typeface="Helvetica" pitchFamily="2" charset="0"/>
                </a:rPr>
              </a:br>
              <a:r>
                <a:rPr lang="en-US" altLang="ja-JP" sz="2800" dirty="0">
                  <a:latin typeface="Helvetica" pitchFamily="2" charset="0"/>
                </a:rPr>
                <a:t>off : </a:t>
              </a:r>
              <a:r>
                <a:rPr lang="ja-JP" altLang="en-US" sz="3200">
                  <a:latin typeface="Helvetica" pitchFamily="2" charset="0"/>
                </a:rPr>
                <a:t>↑</a:t>
              </a:r>
              <a:br>
                <a:rPr lang="en-US" altLang="ja-JP" sz="2800" dirty="0">
                  <a:latin typeface="Helvetica" pitchFamily="2" charset="0"/>
                </a:rPr>
              </a:br>
              <a:r>
                <a:rPr lang="en-US" altLang="ja-JP" sz="2800" dirty="0">
                  <a:latin typeface="Helvetica" pitchFamily="2" charset="0"/>
                </a:rPr>
                <a:t>on :</a:t>
              </a:r>
              <a:r>
                <a:rPr lang="en-US" altLang="ja-JP" sz="3200" dirty="0">
                  <a:latin typeface="Helvetica" pitchFamily="2" charset="0"/>
                </a:rPr>
                <a:t> </a:t>
              </a:r>
              <a:r>
                <a:rPr lang="ja-JP" altLang="en-US" sz="3200">
                  <a:latin typeface="Helvetica" pitchFamily="2" charset="0"/>
                </a:rPr>
                <a:t>↓</a:t>
              </a:r>
            </a:p>
          </p:txBody>
        </p:sp>
        <p:cxnSp>
          <p:nvCxnSpPr>
            <p:cNvPr id="60" name="直線コネクタ 59">
              <a:extLst>
                <a:ext uri="{FF2B5EF4-FFF2-40B4-BE49-F238E27FC236}">
                  <a16:creationId xmlns:a16="http://schemas.microsoft.com/office/drawing/2014/main" id="{984C2C0D-3064-504F-8999-022065DD0F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20275" y="3860631"/>
              <a:ext cx="205015" cy="29893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33A5D8B8-206F-6D90-660D-AB1EE918E242}"/>
                </a:ext>
              </a:extLst>
            </p:cNvPr>
            <p:cNvGrpSpPr/>
            <p:nvPr/>
          </p:nvGrpSpPr>
          <p:grpSpPr>
            <a:xfrm>
              <a:off x="12798529" y="1984434"/>
              <a:ext cx="3336170" cy="2872310"/>
              <a:chOff x="12850781" y="2650643"/>
              <a:chExt cx="3336170" cy="2872310"/>
            </a:xfrm>
          </p:grpSpPr>
          <p:sp>
            <p:nvSpPr>
              <p:cNvPr id="28" name="直方体 27">
                <a:extLst>
                  <a:ext uri="{FF2B5EF4-FFF2-40B4-BE49-F238E27FC236}">
                    <a16:creationId xmlns:a16="http://schemas.microsoft.com/office/drawing/2014/main" id="{07C507A8-F560-5D50-70C8-F3AF691D1595}"/>
                  </a:ext>
                </a:extLst>
              </p:cNvPr>
              <p:cNvSpPr/>
              <p:nvPr/>
            </p:nvSpPr>
            <p:spPr>
              <a:xfrm>
                <a:off x="13334355" y="3415457"/>
                <a:ext cx="843984" cy="819482"/>
              </a:xfrm>
              <a:prstGeom prst="cube">
                <a:avLst>
                  <a:gd name="adj" fmla="val 14033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21" name="直線矢印コネクタ 20">
                <a:extLst>
                  <a:ext uri="{FF2B5EF4-FFF2-40B4-BE49-F238E27FC236}">
                    <a16:creationId xmlns:a16="http://schemas.microsoft.com/office/drawing/2014/main" id="{58DCC79F-1C28-169C-A217-D2765DEDAD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45998" y="3875267"/>
                <a:ext cx="2269707" cy="112970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6BB3AB76-421D-F768-1A44-69C0B1B5BC04}"/>
                  </a:ext>
                </a:extLst>
              </p:cNvPr>
              <p:cNvSpPr txBox="1"/>
              <p:nvPr/>
            </p:nvSpPr>
            <p:spPr>
              <a:xfrm>
                <a:off x="13420772" y="4999733"/>
                <a:ext cx="236475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800" dirty="0">
                    <a:latin typeface="Helvetica" pitchFamily="2" charset="0"/>
                  </a:rPr>
                  <a:t>point detector</a:t>
                </a:r>
                <a:endParaRPr lang="ja-JP" altLang="en-US" sz="2800">
                  <a:latin typeface="Helvetica" pitchFamily="2" charset="0"/>
                </a:endParaRPr>
              </a:p>
            </p:txBody>
          </p:sp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053AA2C9-8C96-A6D2-9C0D-95037A7DFEE0}"/>
                  </a:ext>
                </a:extLst>
              </p:cNvPr>
              <p:cNvSpPr txBox="1"/>
              <p:nvPr/>
            </p:nvSpPr>
            <p:spPr>
              <a:xfrm>
                <a:off x="14627771" y="4115435"/>
                <a:ext cx="106771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ja-JP" sz="3600" b="1" dirty="0">
                    <a:latin typeface="Helvetica" pitchFamily="2" charset="0"/>
                  </a:rPr>
                  <a:t> </a:t>
                </a:r>
                <a:r>
                  <a:rPr lang="ja-JP" altLang="en-US" sz="3600" b="1">
                    <a:latin typeface="Helvetica" pitchFamily="2" charset="0"/>
                  </a:rPr>
                  <a:t>↑</a:t>
                </a:r>
              </a:p>
            </p:txBody>
          </p:sp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429CB282-0A2F-F620-F1D1-095B13A77E33}"/>
                  </a:ext>
                </a:extLst>
              </p:cNvPr>
              <p:cNvSpPr txBox="1"/>
              <p:nvPr/>
            </p:nvSpPr>
            <p:spPr>
              <a:xfrm>
                <a:off x="12850781" y="2650643"/>
                <a:ext cx="333617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800" dirty="0">
                    <a:latin typeface="Helvetica" pitchFamily="2" charset="0"/>
                  </a:rPr>
                  <a:t>Cu</a:t>
                </a:r>
                <a:r>
                  <a:rPr lang="en-US" altLang="ja-JP" sz="2800" baseline="-25000" dirty="0">
                    <a:latin typeface="Helvetica" pitchFamily="2" charset="0"/>
                  </a:rPr>
                  <a:t>2</a:t>
                </a:r>
                <a:r>
                  <a:rPr lang="en-US" altLang="ja-JP" sz="2800" dirty="0">
                    <a:latin typeface="Helvetica" pitchFamily="2" charset="0"/>
                  </a:rPr>
                  <a:t>MnAl (Analyzer)</a:t>
                </a:r>
                <a:endParaRPr lang="ja-JP" altLang="en-US" sz="2800">
                  <a:latin typeface="Helvetica" pitchFamily="2" charset="0"/>
                </a:endParaRPr>
              </a:p>
            </p:txBody>
          </p:sp>
          <p:cxnSp>
            <p:nvCxnSpPr>
              <p:cNvPr id="58" name="直線コネクタ 57">
                <a:extLst>
                  <a:ext uri="{FF2B5EF4-FFF2-40B4-BE49-F238E27FC236}">
                    <a16:creationId xmlns:a16="http://schemas.microsoft.com/office/drawing/2014/main" id="{0F6C997A-A929-07B4-CA2B-CD41D1947D7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3857737" y="3108968"/>
                <a:ext cx="352289" cy="40401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線コネクタ 66">
                <a:extLst>
                  <a:ext uri="{FF2B5EF4-FFF2-40B4-BE49-F238E27FC236}">
                    <a16:creationId xmlns:a16="http://schemas.microsoft.com/office/drawing/2014/main" id="{376A7616-1D21-4369-BBD3-408A34AF1F6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667787" y="5172996"/>
                <a:ext cx="366715" cy="6144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5" name="直線矢印コネクタ 74">
              <a:extLst>
                <a:ext uri="{FF2B5EF4-FFF2-40B4-BE49-F238E27FC236}">
                  <a16:creationId xmlns:a16="http://schemas.microsoft.com/office/drawing/2014/main" id="{C3F3A306-BC49-1A64-C7F5-1FD565B0B077}"/>
                </a:ext>
              </a:extLst>
            </p:cNvPr>
            <p:cNvCxnSpPr>
              <a:cxnSpLocks/>
            </p:cNvCxnSpPr>
            <p:nvPr/>
          </p:nvCxnSpPr>
          <p:spPr>
            <a:xfrm rot="6180000" flipV="1">
              <a:off x="10685857" y="4270534"/>
              <a:ext cx="782875" cy="539"/>
            </a:xfrm>
            <a:prstGeom prst="straightConnector1">
              <a:avLst/>
            </a:prstGeom>
            <a:ln w="25400" cap="rnd">
              <a:solidFill>
                <a:srgbClr val="7030A0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テキスト ボックス 75">
                  <a:extLst>
                    <a:ext uri="{FF2B5EF4-FFF2-40B4-BE49-F238E27FC236}">
                      <a16:creationId xmlns:a16="http://schemas.microsoft.com/office/drawing/2014/main" id="{400B9FA7-B11A-6497-4D4A-E159160BEC2C}"/>
                    </a:ext>
                  </a:extLst>
                </p:cNvPr>
                <p:cNvSpPr txBox="1"/>
                <p:nvPr/>
              </p:nvSpPr>
              <p:spPr>
                <a:xfrm>
                  <a:off x="10244407" y="4630433"/>
                  <a:ext cx="2826644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ja-JP" sz="2800" b="1" i="1">
                          <a:latin typeface="Cambria Math" panose="02040503050406030204" pitchFamily="18" charset="0"/>
                        </a:rPr>
                        <m:t>𝑸</m:t>
                      </m:r>
                    </m:oMath>
                  </a14:m>
                  <a:r>
                    <a:rPr lang="en-US" altLang="ja-JP" sz="2800" b="1" dirty="0">
                      <a:latin typeface="Helvetica" pitchFamily="2" charset="0"/>
                    </a:rPr>
                    <a:t> </a:t>
                  </a:r>
                  <a:r>
                    <a:rPr lang="en-US" altLang="ja-JP" sz="2800" dirty="0">
                      <a:latin typeface="Helvetica" pitchFamily="2" charset="0"/>
                    </a:rPr>
                    <a:t>(only </a:t>
                  </a:r>
                  <a:r>
                    <a:rPr lang="en-US" altLang="ja-JP" sz="2800" dirty="0">
                      <a:solidFill>
                        <a:srgbClr val="7030A0"/>
                      </a:solidFill>
                      <a:latin typeface="Helvetica" pitchFamily="2" charset="0"/>
                    </a:rPr>
                    <a:t>in-plane</a:t>
                  </a:r>
                  <a:r>
                    <a:rPr lang="en-US" altLang="ja-JP" sz="2800" dirty="0">
                      <a:latin typeface="Helvetica" pitchFamily="2" charset="0"/>
                    </a:rPr>
                    <a:t>)</a:t>
                  </a:r>
                  <a:endParaRPr lang="ja-JP" altLang="en-US" sz="28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76" name="テキスト ボックス 75">
                  <a:extLst>
                    <a:ext uri="{FF2B5EF4-FFF2-40B4-BE49-F238E27FC236}">
                      <a16:creationId xmlns:a16="http://schemas.microsoft.com/office/drawing/2014/main" id="{400B9FA7-B11A-6497-4D4A-E159160BEC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4407" y="4630433"/>
                  <a:ext cx="2826644" cy="523220"/>
                </a:xfrm>
                <a:prstGeom prst="rect">
                  <a:avLst/>
                </a:prstGeom>
                <a:blipFill>
                  <a:blip r:embed="rId3"/>
                  <a:stretch>
                    <a:fillRect l="-2232" t="-11905" r="-3571" b="-3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直線矢印コネクタ 79">
              <a:extLst>
                <a:ext uri="{FF2B5EF4-FFF2-40B4-BE49-F238E27FC236}">
                  <a16:creationId xmlns:a16="http://schemas.microsoft.com/office/drawing/2014/main" id="{4B4F7895-4ABE-1EF7-A716-BEB21613F46C}"/>
                </a:ext>
              </a:extLst>
            </p:cNvPr>
            <p:cNvCxnSpPr>
              <a:cxnSpLocks/>
            </p:cNvCxnSpPr>
            <p:nvPr/>
          </p:nvCxnSpPr>
          <p:spPr>
            <a:xfrm rot="6180000" flipV="1">
              <a:off x="10685857" y="8060638"/>
              <a:ext cx="782875" cy="539"/>
            </a:xfrm>
            <a:prstGeom prst="straightConnector1">
              <a:avLst/>
            </a:prstGeom>
            <a:ln w="25400" cap="rnd">
              <a:solidFill>
                <a:srgbClr val="7030A0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テキスト ボックス 81">
                  <a:extLst>
                    <a:ext uri="{FF2B5EF4-FFF2-40B4-BE49-F238E27FC236}">
                      <a16:creationId xmlns:a16="http://schemas.microsoft.com/office/drawing/2014/main" id="{B208EB6F-457E-C647-E023-62B280341FCB}"/>
                    </a:ext>
                  </a:extLst>
                </p:cNvPr>
                <p:cNvSpPr txBox="1"/>
                <p:nvPr/>
              </p:nvSpPr>
              <p:spPr>
                <a:xfrm>
                  <a:off x="9057855" y="8645598"/>
                  <a:ext cx="4424199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ja-JP" sz="2800" b="1" i="1">
                          <a:latin typeface="Cambria Math" panose="02040503050406030204" pitchFamily="18" charset="0"/>
                        </a:rPr>
                        <m:t>𝑸</m:t>
                      </m:r>
                    </m:oMath>
                  </a14:m>
                  <a:r>
                    <a:rPr lang="en-US" altLang="ja-JP" sz="2800" b="1" dirty="0">
                      <a:latin typeface="Helvetica" pitchFamily="2" charset="0"/>
                    </a:rPr>
                    <a:t> </a:t>
                  </a:r>
                  <a:r>
                    <a:rPr lang="en-US" altLang="ja-JP" sz="2800" dirty="0">
                      <a:latin typeface="Helvetica" pitchFamily="2" charset="0"/>
                    </a:rPr>
                    <a:t>(including </a:t>
                  </a:r>
                  <a:r>
                    <a:rPr lang="en-US" altLang="ja-JP" sz="2800" dirty="0">
                      <a:solidFill>
                        <a:srgbClr val="C00000"/>
                      </a:solidFill>
                      <a:latin typeface="Helvetica" pitchFamily="2" charset="0"/>
                    </a:rPr>
                    <a:t>out-of-plane</a:t>
                  </a:r>
                  <a:r>
                    <a:rPr lang="en-US" altLang="ja-JP" sz="2800" dirty="0">
                      <a:latin typeface="Helvetica" pitchFamily="2" charset="0"/>
                    </a:rPr>
                    <a:t>)</a:t>
                  </a:r>
                  <a:endParaRPr lang="ja-JP" altLang="en-US" sz="28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82" name="テキスト ボックス 81">
                  <a:extLst>
                    <a:ext uri="{FF2B5EF4-FFF2-40B4-BE49-F238E27FC236}">
                      <a16:creationId xmlns:a16="http://schemas.microsoft.com/office/drawing/2014/main" id="{B208EB6F-457E-C647-E023-62B280341F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57855" y="8645598"/>
                  <a:ext cx="4424199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1433" t="-11905" b="-3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8" name="直線矢印コネクタ 87">
              <a:extLst>
                <a:ext uri="{FF2B5EF4-FFF2-40B4-BE49-F238E27FC236}">
                  <a16:creationId xmlns:a16="http://schemas.microsoft.com/office/drawing/2014/main" id="{FF2940BC-1B66-21AD-E4AF-788D1D9FDF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23217" y="7690747"/>
              <a:ext cx="63635" cy="938727"/>
            </a:xfrm>
            <a:prstGeom prst="straightConnector1">
              <a:avLst/>
            </a:prstGeom>
            <a:ln w="25400" cap="rnd">
              <a:solidFill>
                <a:srgbClr val="C00000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線矢印コネクタ 91">
              <a:extLst>
                <a:ext uri="{FF2B5EF4-FFF2-40B4-BE49-F238E27FC236}">
                  <a16:creationId xmlns:a16="http://schemas.microsoft.com/office/drawing/2014/main" id="{5D5EA5A2-68FB-9941-FFA5-E0D61F9B54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73192" y="7681070"/>
              <a:ext cx="375394" cy="487656"/>
            </a:xfrm>
            <a:prstGeom prst="straightConnector1">
              <a:avLst/>
            </a:prstGeom>
            <a:ln w="25400" cap="rnd">
              <a:solidFill>
                <a:srgbClr val="C00000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45D6A781-E576-CBC8-6C12-4CAB99B78982}"/>
                </a:ext>
              </a:extLst>
            </p:cNvPr>
            <p:cNvGrpSpPr/>
            <p:nvPr/>
          </p:nvGrpSpPr>
          <p:grpSpPr>
            <a:xfrm>
              <a:off x="7078983" y="3049434"/>
              <a:ext cx="1584000" cy="646331"/>
              <a:chOff x="7070781" y="3049434"/>
              <a:chExt cx="1584000" cy="646331"/>
            </a:xfrm>
          </p:grpSpPr>
          <p:cxnSp>
            <p:nvCxnSpPr>
              <p:cNvPr id="4" name="直線矢印コネクタ 3">
                <a:extLst>
                  <a:ext uri="{FF2B5EF4-FFF2-40B4-BE49-F238E27FC236}">
                    <a16:creationId xmlns:a16="http://schemas.microsoft.com/office/drawing/2014/main" id="{73562BE5-0F52-0209-1976-30DF871B74B8}"/>
                  </a:ext>
                </a:extLst>
              </p:cNvPr>
              <p:cNvCxnSpPr>
                <a:cxnSpLocks/>
              </p:cNvCxnSpPr>
              <p:nvPr/>
            </p:nvCxnSpPr>
            <p:spPr>
              <a:xfrm rot="20700000">
                <a:off x="7070781" y="3446703"/>
                <a:ext cx="1584000" cy="53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D91E45B3-48F4-06D9-4ABE-642B0CD1FFCD}"/>
                  </a:ext>
                </a:extLst>
              </p:cNvPr>
              <p:cNvSpPr txBox="1"/>
              <p:nvPr/>
            </p:nvSpPr>
            <p:spPr>
              <a:xfrm>
                <a:off x="7410746" y="3049434"/>
                <a:ext cx="106771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ja-JP" sz="3600" b="1" dirty="0">
                    <a:latin typeface="Helvetica" pitchFamily="2" charset="0"/>
                  </a:rPr>
                  <a:t> </a:t>
                </a:r>
                <a:r>
                  <a:rPr lang="ja-JP" altLang="en-US" sz="3600" b="1">
                    <a:latin typeface="Helvetica" pitchFamily="2" charset="0"/>
                  </a:rPr>
                  <a:t>↑↓</a:t>
                </a:r>
              </a:p>
            </p:txBody>
          </p:sp>
        </p:grp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8C8DE6EB-A6C6-F22A-F328-4043C7AD8C47}"/>
                </a:ext>
              </a:extLst>
            </p:cNvPr>
            <p:cNvCxnSpPr>
              <a:cxnSpLocks/>
            </p:cNvCxnSpPr>
            <p:nvPr/>
          </p:nvCxnSpPr>
          <p:spPr>
            <a:xfrm rot="20700000">
              <a:off x="11109968" y="3551403"/>
              <a:ext cx="2609583" cy="5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4869D76D-C86C-FD8B-29FF-5818B8B07909}"/>
                </a:ext>
              </a:extLst>
            </p:cNvPr>
            <p:cNvGrpSpPr/>
            <p:nvPr/>
          </p:nvGrpSpPr>
          <p:grpSpPr>
            <a:xfrm>
              <a:off x="7078983" y="6836975"/>
              <a:ext cx="1584000" cy="646331"/>
              <a:chOff x="6488494" y="8645598"/>
              <a:chExt cx="1584000" cy="646331"/>
            </a:xfrm>
          </p:grpSpPr>
          <p:cxnSp>
            <p:nvCxnSpPr>
              <p:cNvPr id="10" name="直線矢印コネクタ 9">
                <a:extLst>
                  <a:ext uri="{FF2B5EF4-FFF2-40B4-BE49-F238E27FC236}">
                    <a16:creationId xmlns:a16="http://schemas.microsoft.com/office/drawing/2014/main" id="{FF68CCD5-8F94-A7AB-0DE4-21325FF4EF9A}"/>
                  </a:ext>
                </a:extLst>
              </p:cNvPr>
              <p:cNvCxnSpPr>
                <a:cxnSpLocks/>
              </p:cNvCxnSpPr>
              <p:nvPr/>
            </p:nvCxnSpPr>
            <p:spPr>
              <a:xfrm rot="20700000">
                <a:off x="6488494" y="9042867"/>
                <a:ext cx="1584000" cy="53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B3118DC0-E93F-D18D-60A6-55B28FC33BD6}"/>
                  </a:ext>
                </a:extLst>
              </p:cNvPr>
              <p:cNvSpPr txBox="1"/>
              <p:nvPr/>
            </p:nvSpPr>
            <p:spPr>
              <a:xfrm>
                <a:off x="6828459" y="8645598"/>
                <a:ext cx="106771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ja-JP" sz="3600" b="1" dirty="0">
                    <a:latin typeface="Helvetica" pitchFamily="2" charset="0"/>
                  </a:rPr>
                  <a:t> </a:t>
                </a:r>
                <a:r>
                  <a:rPr lang="ja-JP" altLang="en-US" sz="3600" b="1">
                    <a:latin typeface="Helvetica" pitchFamily="2" charset="0"/>
                  </a:rPr>
                  <a:t>↑↓</a:t>
                </a:r>
              </a:p>
            </p:txBody>
          </p:sp>
        </p:grpSp>
      </p:grpSp>
      <p:sp>
        <p:nvSpPr>
          <p:cNvPr id="6" name="円柱 5">
            <a:extLst>
              <a:ext uri="{FF2B5EF4-FFF2-40B4-BE49-F238E27FC236}">
                <a16:creationId xmlns:a16="http://schemas.microsoft.com/office/drawing/2014/main" id="{BBB6DA47-A351-F2BB-F446-F94EC23EE47E}"/>
              </a:ext>
            </a:extLst>
          </p:cNvPr>
          <p:cNvSpPr/>
          <p:nvPr/>
        </p:nvSpPr>
        <p:spPr>
          <a:xfrm>
            <a:off x="15963453" y="4180666"/>
            <a:ext cx="304353" cy="384725"/>
          </a:xfrm>
          <a:prstGeom prst="ca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9" name="グループ化 48">
            <a:extLst>
              <a:ext uri="{FF2B5EF4-FFF2-40B4-BE49-F238E27FC236}">
                <a16:creationId xmlns:a16="http://schemas.microsoft.com/office/drawing/2014/main" id="{8781A65B-5641-56D9-3D93-C52ACDB2BA0E}"/>
              </a:ext>
            </a:extLst>
          </p:cNvPr>
          <p:cNvGrpSpPr/>
          <p:nvPr/>
        </p:nvGrpSpPr>
        <p:grpSpPr>
          <a:xfrm>
            <a:off x="9865312" y="3297433"/>
            <a:ext cx="484959" cy="531871"/>
            <a:chOff x="2202209" y="3057747"/>
            <a:chExt cx="891540" cy="977783"/>
          </a:xfrm>
        </p:grpSpPr>
        <p:sp>
          <p:nvSpPr>
            <p:cNvPr id="50" name="直方体 49">
              <a:extLst>
                <a:ext uri="{FF2B5EF4-FFF2-40B4-BE49-F238E27FC236}">
                  <a16:creationId xmlns:a16="http://schemas.microsoft.com/office/drawing/2014/main" id="{A79E0561-D7DF-4FB2-6075-906D6D7D4066}"/>
                </a:ext>
              </a:extLst>
            </p:cNvPr>
            <p:cNvSpPr/>
            <p:nvPr/>
          </p:nvSpPr>
          <p:spPr>
            <a:xfrm>
              <a:off x="2202209" y="3685100"/>
              <a:ext cx="891540" cy="350430"/>
            </a:xfrm>
            <a:prstGeom prst="cube">
              <a:avLst>
                <a:gd name="adj" fmla="val 48722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" name="直方体 50">
              <a:extLst>
                <a:ext uri="{FF2B5EF4-FFF2-40B4-BE49-F238E27FC236}">
                  <a16:creationId xmlns:a16="http://schemas.microsoft.com/office/drawing/2014/main" id="{3FB533BE-72DF-DD8F-DB95-5CEEF27031DA}"/>
                </a:ext>
              </a:extLst>
            </p:cNvPr>
            <p:cNvSpPr/>
            <p:nvPr/>
          </p:nvSpPr>
          <p:spPr>
            <a:xfrm>
              <a:off x="2542317" y="3146739"/>
              <a:ext cx="184047" cy="696249"/>
            </a:xfrm>
            <a:prstGeom prst="cube">
              <a:avLst>
                <a:gd name="adj" fmla="val 48722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" name="円柱 51">
              <a:extLst>
                <a:ext uri="{FF2B5EF4-FFF2-40B4-BE49-F238E27FC236}">
                  <a16:creationId xmlns:a16="http://schemas.microsoft.com/office/drawing/2014/main" id="{6500CD3B-4101-8C06-3869-88460B1DDF75}"/>
                </a:ext>
              </a:extLst>
            </p:cNvPr>
            <p:cNvSpPr/>
            <p:nvPr/>
          </p:nvSpPr>
          <p:spPr>
            <a:xfrm>
              <a:off x="2876658" y="3236935"/>
              <a:ext cx="159451" cy="497364"/>
            </a:xfrm>
            <a:prstGeom prst="can">
              <a:avLst>
                <a:gd name="adj" fmla="val 36244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円柱 60">
              <a:extLst>
                <a:ext uri="{FF2B5EF4-FFF2-40B4-BE49-F238E27FC236}">
                  <a16:creationId xmlns:a16="http://schemas.microsoft.com/office/drawing/2014/main" id="{728B7830-217F-9133-DF91-5089C9FC24D8}"/>
                </a:ext>
              </a:extLst>
            </p:cNvPr>
            <p:cNvSpPr/>
            <p:nvPr/>
          </p:nvSpPr>
          <p:spPr>
            <a:xfrm>
              <a:off x="2765245" y="3344335"/>
              <a:ext cx="159451" cy="497364"/>
            </a:xfrm>
            <a:prstGeom prst="can">
              <a:avLst>
                <a:gd name="adj" fmla="val 36244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" name="円柱 61">
              <a:extLst>
                <a:ext uri="{FF2B5EF4-FFF2-40B4-BE49-F238E27FC236}">
                  <a16:creationId xmlns:a16="http://schemas.microsoft.com/office/drawing/2014/main" id="{D391F5AC-6F94-644C-3CA3-E53ED7520F77}"/>
                </a:ext>
              </a:extLst>
            </p:cNvPr>
            <p:cNvSpPr/>
            <p:nvPr/>
          </p:nvSpPr>
          <p:spPr>
            <a:xfrm>
              <a:off x="2353367" y="3236935"/>
              <a:ext cx="159451" cy="497364"/>
            </a:xfrm>
            <a:prstGeom prst="can">
              <a:avLst>
                <a:gd name="adj" fmla="val 36244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" name="円柱 62">
              <a:extLst>
                <a:ext uri="{FF2B5EF4-FFF2-40B4-BE49-F238E27FC236}">
                  <a16:creationId xmlns:a16="http://schemas.microsoft.com/office/drawing/2014/main" id="{11DAEDD2-DBD4-E476-F715-E6C4B1B732ED}"/>
                </a:ext>
              </a:extLst>
            </p:cNvPr>
            <p:cNvSpPr/>
            <p:nvPr/>
          </p:nvSpPr>
          <p:spPr>
            <a:xfrm>
              <a:off x="2265666" y="3344335"/>
              <a:ext cx="159451" cy="497364"/>
            </a:xfrm>
            <a:prstGeom prst="can">
              <a:avLst>
                <a:gd name="adj" fmla="val 36244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" name="直方体 63">
              <a:extLst>
                <a:ext uri="{FF2B5EF4-FFF2-40B4-BE49-F238E27FC236}">
                  <a16:creationId xmlns:a16="http://schemas.microsoft.com/office/drawing/2014/main" id="{E11E25CA-9204-DD5D-28E7-34ECD90E8132}"/>
                </a:ext>
              </a:extLst>
            </p:cNvPr>
            <p:cNvSpPr/>
            <p:nvPr/>
          </p:nvSpPr>
          <p:spPr>
            <a:xfrm>
              <a:off x="2202209" y="3057747"/>
              <a:ext cx="891540" cy="350430"/>
            </a:xfrm>
            <a:prstGeom prst="cube">
              <a:avLst>
                <a:gd name="adj" fmla="val 48722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69897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C9F5362-D112-3805-A90A-1983C4F7D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391" y="1740713"/>
            <a:ext cx="11268181" cy="5019015"/>
          </a:xfrm>
          <a:prstGeom prst="rect">
            <a:avLst/>
          </a:prstGeom>
        </p:spPr>
      </p:pic>
      <p:sp>
        <p:nvSpPr>
          <p:cNvPr id="6" name="円柱 5">
            <a:extLst>
              <a:ext uri="{FF2B5EF4-FFF2-40B4-BE49-F238E27FC236}">
                <a16:creationId xmlns:a16="http://schemas.microsoft.com/office/drawing/2014/main" id="{984405EE-F880-D7C9-CE53-9FA18DB42D6F}"/>
              </a:ext>
            </a:extLst>
          </p:cNvPr>
          <p:cNvSpPr/>
          <p:nvPr/>
        </p:nvSpPr>
        <p:spPr>
          <a:xfrm rot="10800000">
            <a:off x="4743224" y="7868450"/>
            <a:ext cx="2931200" cy="265134"/>
          </a:xfrm>
          <a:prstGeom prst="can">
            <a:avLst/>
          </a:prstGeom>
          <a:noFill/>
          <a:ln>
            <a:solidFill>
              <a:srgbClr val="B51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7" name="円柱 6">
            <a:extLst>
              <a:ext uri="{FF2B5EF4-FFF2-40B4-BE49-F238E27FC236}">
                <a16:creationId xmlns:a16="http://schemas.microsoft.com/office/drawing/2014/main" id="{7CD57551-6520-7B3D-8CEF-20CE5382B630}"/>
              </a:ext>
            </a:extLst>
          </p:cNvPr>
          <p:cNvSpPr/>
          <p:nvPr/>
        </p:nvSpPr>
        <p:spPr>
          <a:xfrm rot="10800000">
            <a:off x="4743222" y="10136816"/>
            <a:ext cx="2931200" cy="265134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</p:spTree>
    <p:extLst>
      <p:ext uri="{BB962C8B-B14F-4D97-AF65-F5344CB8AC3E}">
        <p14:creationId xmlns:p14="http://schemas.microsoft.com/office/powerpoint/2010/main" val="525404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グループ化 164">
            <a:extLst>
              <a:ext uri="{FF2B5EF4-FFF2-40B4-BE49-F238E27FC236}">
                <a16:creationId xmlns:a16="http://schemas.microsoft.com/office/drawing/2014/main" id="{F7A6CD4D-AB6B-5C5A-1E56-BB067CB52E46}"/>
              </a:ext>
            </a:extLst>
          </p:cNvPr>
          <p:cNvGrpSpPr/>
          <p:nvPr/>
        </p:nvGrpSpPr>
        <p:grpSpPr>
          <a:xfrm>
            <a:off x="3882529" y="3949991"/>
            <a:ext cx="14005918" cy="6181532"/>
            <a:chOff x="1265602" y="904906"/>
            <a:chExt cx="9660796" cy="4263806"/>
          </a:xfrm>
        </p:grpSpPr>
        <p:sp>
          <p:nvSpPr>
            <p:cNvPr id="162" name="環状矢印 161">
              <a:extLst>
                <a:ext uri="{FF2B5EF4-FFF2-40B4-BE49-F238E27FC236}">
                  <a16:creationId xmlns:a16="http://schemas.microsoft.com/office/drawing/2014/main" id="{1C564E99-47BF-B1BD-3419-778B68FF6CDE}"/>
                </a:ext>
              </a:extLst>
            </p:cNvPr>
            <p:cNvSpPr/>
            <p:nvPr/>
          </p:nvSpPr>
          <p:spPr>
            <a:xfrm rot="5400000">
              <a:off x="3831440" y="679866"/>
              <a:ext cx="359684" cy="910953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529627"/>
                <a:gd name="adj5" fmla="val 19306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>
                <a:solidFill>
                  <a:schemeClr val="tx1"/>
                </a:solidFill>
              </a:endParaRPr>
            </a:p>
          </p:txBody>
        </p:sp>
        <p:grpSp>
          <p:nvGrpSpPr>
            <p:cNvPr id="149" name="グループ化 148">
              <a:extLst>
                <a:ext uri="{FF2B5EF4-FFF2-40B4-BE49-F238E27FC236}">
                  <a16:creationId xmlns:a16="http://schemas.microsoft.com/office/drawing/2014/main" id="{0DD4D157-E966-89C6-36B7-D8A720B55AA2}"/>
                </a:ext>
              </a:extLst>
            </p:cNvPr>
            <p:cNvGrpSpPr/>
            <p:nvPr/>
          </p:nvGrpSpPr>
          <p:grpSpPr>
            <a:xfrm>
              <a:off x="1265602" y="1316504"/>
              <a:ext cx="9660796" cy="3852208"/>
              <a:chOff x="144102" y="839426"/>
              <a:chExt cx="9660796" cy="3852208"/>
            </a:xfrm>
          </p:grpSpPr>
          <p:grpSp>
            <p:nvGrpSpPr>
              <p:cNvPr id="11" name="グループ化 10">
                <a:extLst>
                  <a:ext uri="{FF2B5EF4-FFF2-40B4-BE49-F238E27FC236}">
                    <a16:creationId xmlns:a16="http://schemas.microsoft.com/office/drawing/2014/main" id="{92CA7AAB-05E4-5A35-697D-5147785FFB1B}"/>
                  </a:ext>
                </a:extLst>
              </p:cNvPr>
              <p:cNvGrpSpPr/>
              <p:nvPr/>
            </p:nvGrpSpPr>
            <p:grpSpPr>
              <a:xfrm>
                <a:off x="7777986" y="1479601"/>
                <a:ext cx="1932495" cy="3077028"/>
                <a:chOff x="7673548" y="1407885"/>
                <a:chExt cx="1932495" cy="3077028"/>
              </a:xfrm>
              <a:solidFill>
                <a:schemeClr val="bg2"/>
              </a:solidFill>
            </p:grpSpPr>
            <p:sp>
              <p:nvSpPr>
                <p:cNvPr id="7" name="台形 6">
                  <a:extLst>
                    <a:ext uri="{FF2B5EF4-FFF2-40B4-BE49-F238E27FC236}">
                      <a16:creationId xmlns:a16="http://schemas.microsoft.com/office/drawing/2014/main" id="{F16F9AAF-88EE-CB40-EC67-803F8C6EA340}"/>
                    </a:ext>
                  </a:extLst>
                </p:cNvPr>
                <p:cNvSpPr/>
                <p:nvPr/>
              </p:nvSpPr>
              <p:spPr>
                <a:xfrm rot="16200000">
                  <a:off x="6587233" y="2494200"/>
                  <a:ext cx="3077027" cy="904397"/>
                </a:xfrm>
                <a:prstGeom prst="trapezoid">
                  <a:avLst/>
                </a:prstGeom>
                <a:grp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8" name="正方形/長方形 7">
                  <a:extLst>
                    <a:ext uri="{FF2B5EF4-FFF2-40B4-BE49-F238E27FC236}">
                      <a16:creationId xmlns:a16="http://schemas.microsoft.com/office/drawing/2014/main" id="{F928DAA7-3F9B-309E-0FFB-BBCB8276C247}"/>
                    </a:ext>
                  </a:extLst>
                </p:cNvPr>
                <p:cNvSpPr/>
                <p:nvPr/>
              </p:nvSpPr>
              <p:spPr>
                <a:xfrm>
                  <a:off x="8577946" y="1407885"/>
                  <a:ext cx="1028097" cy="3077028"/>
                </a:xfrm>
                <a:prstGeom prst="rect">
                  <a:avLst/>
                </a:prstGeom>
                <a:grp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</p:grpSp>
          <p:sp>
            <p:nvSpPr>
              <p:cNvPr id="9" name="円/楕円 8">
                <a:extLst>
                  <a:ext uri="{FF2B5EF4-FFF2-40B4-BE49-F238E27FC236}">
                    <a16:creationId xmlns:a16="http://schemas.microsoft.com/office/drawing/2014/main" id="{05003477-DD85-B7AA-C078-BA7D6CE0E652}"/>
                  </a:ext>
                </a:extLst>
              </p:cNvPr>
              <p:cNvSpPr/>
              <p:nvPr/>
            </p:nvSpPr>
            <p:spPr>
              <a:xfrm>
                <a:off x="7946708" y="1984791"/>
                <a:ext cx="554712" cy="2101434"/>
              </a:xfrm>
              <a:prstGeom prst="ellipse">
                <a:avLst/>
              </a:prstGeom>
              <a:noFill/>
              <a:ln w="12700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0" name="円柱 9">
                <a:extLst>
                  <a:ext uri="{FF2B5EF4-FFF2-40B4-BE49-F238E27FC236}">
                    <a16:creationId xmlns:a16="http://schemas.microsoft.com/office/drawing/2014/main" id="{157A28FC-B530-5145-2596-8D027E16949C}"/>
                  </a:ext>
                </a:extLst>
              </p:cNvPr>
              <p:cNvSpPr/>
              <p:nvPr/>
            </p:nvSpPr>
            <p:spPr>
              <a:xfrm rot="16200000">
                <a:off x="6378296" y="1959996"/>
                <a:ext cx="2101433" cy="2116238"/>
              </a:xfrm>
              <a:prstGeom prst="can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4" name="円柱 3">
                <a:extLst>
                  <a:ext uri="{FF2B5EF4-FFF2-40B4-BE49-F238E27FC236}">
                    <a16:creationId xmlns:a16="http://schemas.microsoft.com/office/drawing/2014/main" id="{E6632747-DC88-34D5-32B6-D55CF9B2FE76}"/>
                  </a:ext>
                </a:extLst>
              </p:cNvPr>
              <p:cNvSpPr/>
              <p:nvPr/>
            </p:nvSpPr>
            <p:spPr>
              <a:xfrm rot="16200000">
                <a:off x="5135963" y="2592937"/>
                <a:ext cx="967489" cy="812798"/>
              </a:xfrm>
              <a:prstGeom prst="can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4" name="円柱 23">
                <a:extLst>
                  <a:ext uri="{FF2B5EF4-FFF2-40B4-BE49-F238E27FC236}">
                    <a16:creationId xmlns:a16="http://schemas.microsoft.com/office/drawing/2014/main" id="{CE252C3C-4757-381D-3337-C3F4338D66F1}"/>
                  </a:ext>
                </a:extLst>
              </p:cNvPr>
              <p:cNvSpPr/>
              <p:nvPr/>
            </p:nvSpPr>
            <p:spPr>
              <a:xfrm rot="16200000">
                <a:off x="4812998" y="2260957"/>
                <a:ext cx="1600986" cy="1514805"/>
              </a:xfrm>
              <a:prstGeom prst="can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5" name="円柱 4">
                <a:extLst>
                  <a:ext uri="{FF2B5EF4-FFF2-40B4-BE49-F238E27FC236}">
                    <a16:creationId xmlns:a16="http://schemas.microsoft.com/office/drawing/2014/main" id="{E67CCA46-7176-C6E1-EA5C-FA9F72FAEBD0}"/>
                  </a:ext>
                </a:extLst>
              </p:cNvPr>
              <p:cNvSpPr/>
              <p:nvPr/>
            </p:nvSpPr>
            <p:spPr>
              <a:xfrm rot="16200000">
                <a:off x="4536504" y="1715460"/>
                <a:ext cx="2101433" cy="2605312"/>
              </a:xfrm>
              <a:prstGeom prst="can">
                <a:avLst/>
              </a:prstGeom>
              <a:noFill/>
              <a:ln w="349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2" name="円/楕円 11">
                <a:extLst>
                  <a:ext uri="{FF2B5EF4-FFF2-40B4-BE49-F238E27FC236}">
                    <a16:creationId xmlns:a16="http://schemas.microsoft.com/office/drawing/2014/main" id="{B523E821-5DBB-3EE1-9F23-2D5DB988C2E8}"/>
                  </a:ext>
                </a:extLst>
              </p:cNvPr>
              <p:cNvSpPr/>
              <p:nvPr/>
            </p:nvSpPr>
            <p:spPr>
              <a:xfrm>
                <a:off x="4426209" y="2508300"/>
                <a:ext cx="203113" cy="101962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56" name="円柱 55">
                <a:extLst>
                  <a:ext uri="{FF2B5EF4-FFF2-40B4-BE49-F238E27FC236}">
                    <a16:creationId xmlns:a16="http://schemas.microsoft.com/office/drawing/2014/main" id="{941BE1EE-9397-91EF-9C7E-A2738FDF3869}"/>
                  </a:ext>
                </a:extLst>
              </p:cNvPr>
              <p:cNvSpPr/>
              <p:nvPr/>
            </p:nvSpPr>
            <p:spPr>
              <a:xfrm>
                <a:off x="5459153" y="3551975"/>
                <a:ext cx="308675" cy="82494"/>
              </a:xfrm>
              <a:prstGeom prst="can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1" name="正方形/長方形 20">
                <a:extLst>
                  <a:ext uri="{FF2B5EF4-FFF2-40B4-BE49-F238E27FC236}">
                    <a16:creationId xmlns:a16="http://schemas.microsoft.com/office/drawing/2014/main" id="{C6983668-CECB-52D1-E795-C91A2C2F4CB1}"/>
                  </a:ext>
                </a:extLst>
              </p:cNvPr>
              <p:cNvSpPr/>
              <p:nvPr/>
            </p:nvSpPr>
            <p:spPr>
              <a:xfrm>
                <a:off x="2698195" y="862149"/>
                <a:ext cx="383177" cy="983867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3" name="円柱 12">
                <a:extLst>
                  <a:ext uri="{FF2B5EF4-FFF2-40B4-BE49-F238E27FC236}">
                    <a16:creationId xmlns:a16="http://schemas.microsoft.com/office/drawing/2014/main" id="{1F0CC500-C76E-6F81-AB7F-0CE2874748C1}"/>
                  </a:ext>
                </a:extLst>
              </p:cNvPr>
              <p:cNvSpPr/>
              <p:nvPr/>
            </p:nvSpPr>
            <p:spPr>
              <a:xfrm rot="10800000">
                <a:off x="1150247" y="1274636"/>
                <a:ext cx="3479075" cy="306382"/>
              </a:xfrm>
              <a:prstGeom prst="can">
                <a:avLst>
                  <a:gd name="adj" fmla="val 3637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6" name="円柱 15">
                <a:extLst>
                  <a:ext uri="{FF2B5EF4-FFF2-40B4-BE49-F238E27FC236}">
                    <a16:creationId xmlns:a16="http://schemas.microsoft.com/office/drawing/2014/main" id="{5C7D3D89-659C-8C77-5D5E-49EDA9B976FA}"/>
                  </a:ext>
                </a:extLst>
              </p:cNvPr>
              <p:cNvSpPr/>
              <p:nvPr/>
            </p:nvSpPr>
            <p:spPr>
              <a:xfrm rot="10800000">
                <a:off x="1481120" y="1503874"/>
                <a:ext cx="2803444" cy="306382"/>
              </a:xfrm>
              <a:prstGeom prst="can">
                <a:avLst>
                  <a:gd name="adj" fmla="val 5103"/>
                </a:avLst>
              </a:prstGeom>
              <a:solidFill>
                <a:srgbClr val="B518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8" name="円柱 17">
                <a:extLst>
                  <a:ext uri="{FF2B5EF4-FFF2-40B4-BE49-F238E27FC236}">
                    <a16:creationId xmlns:a16="http://schemas.microsoft.com/office/drawing/2014/main" id="{7C117C8B-C53A-CFC1-5CE4-CBCB5CB975A7}"/>
                  </a:ext>
                </a:extLst>
              </p:cNvPr>
              <p:cNvSpPr/>
              <p:nvPr/>
            </p:nvSpPr>
            <p:spPr>
              <a:xfrm>
                <a:off x="1143304" y="4385252"/>
                <a:ext cx="3479075" cy="306382"/>
              </a:xfrm>
              <a:prstGeom prst="can">
                <a:avLst>
                  <a:gd name="adj" fmla="val 3637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3" name="円柱 22">
                <a:extLst>
                  <a:ext uri="{FF2B5EF4-FFF2-40B4-BE49-F238E27FC236}">
                    <a16:creationId xmlns:a16="http://schemas.microsoft.com/office/drawing/2014/main" id="{2D90ADEE-8B1E-B969-12D0-98E2C15096AF}"/>
                  </a:ext>
                </a:extLst>
              </p:cNvPr>
              <p:cNvSpPr/>
              <p:nvPr/>
            </p:nvSpPr>
            <p:spPr>
              <a:xfrm>
                <a:off x="3545807" y="1666025"/>
                <a:ext cx="426720" cy="2562710"/>
              </a:xfrm>
              <a:prstGeom prst="can">
                <a:avLst>
                  <a:gd name="adj" fmla="val 0"/>
                </a:avLst>
              </a:prstGeom>
              <a:solidFill>
                <a:srgbClr val="B518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2" name="円柱 21">
                <a:extLst>
                  <a:ext uri="{FF2B5EF4-FFF2-40B4-BE49-F238E27FC236}">
                    <a16:creationId xmlns:a16="http://schemas.microsoft.com/office/drawing/2014/main" id="{98E2252E-794F-23FF-C70F-8439B5A6BD7C}"/>
                  </a:ext>
                </a:extLst>
              </p:cNvPr>
              <p:cNvSpPr/>
              <p:nvPr/>
            </p:nvSpPr>
            <p:spPr>
              <a:xfrm>
                <a:off x="1793927" y="1776579"/>
                <a:ext cx="426720" cy="2562710"/>
              </a:xfrm>
              <a:prstGeom prst="can">
                <a:avLst>
                  <a:gd name="adj" fmla="val 0"/>
                </a:avLst>
              </a:prstGeom>
              <a:solidFill>
                <a:srgbClr val="B518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7" name="円柱 16">
                <a:extLst>
                  <a:ext uri="{FF2B5EF4-FFF2-40B4-BE49-F238E27FC236}">
                    <a16:creationId xmlns:a16="http://schemas.microsoft.com/office/drawing/2014/main" id="{CDBF76BC-563C-2A91-9618-DB1B94F56F78}"/>
                  </a:ext>
                </a:extLst>
              </p:cNvPr>
              <p:cNvSpPr/>
              <p:nvPr/>
            </p:nvSpPr>
            <p:spPr>
              <a:xfrm>
                <a:off x="1488062" y="4150562"/>
                <a:ext cx="2803444" cy="306382"/>
              </a:xfrm>
              <a:prstGeom prst="can">
                <a:avLst/>
              </a:prstGeom>
              <a:solidFill>
                <a:srgbClr val="B518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0" name="円柱 19">
                <a:extLst>
                  <a:ext uri="{FF2B5EF4-FFF2-40B4-BE49-F238E27FC236}">
                    <a16:creationId xmlns:a16="http://schemas.microsoft.com/office/drawing/2014/main" id="{867A595D-F511-6A02-1458-AEE684AC89C2}"/>
                  </a:ext>
                </a:extLst>
              </p:cNvPr>
              <p:cNvSpPr/>
              <p:nvPr/>
            </p:nvSpPr>
            <p:spPr>
              <a:xfrm>
                <a:off x="2112132" y="1846016"/>
                <a:ext cx="1541417" cy="2386350"/>
              </a:xfrm>
              <a:prstGeom prst="can">
                <a:avLst>
                  <a:gd name="adj" fmla="val 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63" name="直線コネクタ 62">
                <a:extLst>
                  <a:ext uri="{FF2B5EF4-FFF2-40B4-BE49-F238E27FC236}">
                    <a16:creationId xmlns:a16="http://schemas.microsoft.com/office/drawing/2014/main" id="{AAB19653-59B7-6142-882C-F06CD41FA4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00" y="1470951"/>
                <a:ext cx="0" cy="32922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線コネクタ 65">
                <a:extLst>
                  <a:ext uri="{FF2B5EF4-FFF2-40B4-BE49-F238E27FC236}">
                    <a16:creationId xmlns:a16="http://schemas.microsoft.com/office/drawing/2014/main" id="{96C0A1DD-3F87-B729-1E6C-7000094B77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6673" y="1476870"/>
                <a:ext cx="0" cy="32922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線コネクタ 72">
                <a:extLst>
                  <a:ext uri="{FF2B5EF4-FFF2-40B4-BE49-F238E27FC236}">
                    <a16:creationId xmlns:a16="http://schemas.microsoft.com/office/drawing/2014/main" id="{91B4B6E3-49C0-8150-055D-8AC50CD3FD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20547" y="2217865"/>
                <a:ext cx="5292040" cy="736649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円/楕円 75">
                <a:extLst>
                  <a:ext uri="{FF2B5EF4-FFF2-40B4-BE49-F238E27FC236}">
                    <a16:creationId xmlns:a16="http://schemas.microsoft.com/office/drawing/2014/main" id="{4301CB9E-B920-12F0-7392-D06D47A687DD}"/>
                  </a:ext>
                </a:extLst>
              </p:cNvPr>
              <p:cNvSpPr/>
              <p:nvPr/>
            </p:nvSpPr>
            <p:spPr>
              <a:xfrm>
                <a:off x="8018575" y="2217865"/>
                <a:ext cx="388024" cy="1600988"/>
              </a:xfrm>
              <a:prstGeom prst="ellipse">
                <a:avLst/>
              </a:prstGeom>
              <a:noFill/>
              <a:ln w="12700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78" name="直線コネクタ 77">
                <a:extLst>
                  <a:ext uri="{FF2B5EF4-FFF2-40B4-BE49-F238E27FC236}">
                    <a16:creationId xmlns:a16="http://schemas.microsoft.com/office/drawing/2014/main" id="{AC217FB8-FF15-BBFF-0C09-36D0426F87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30599" y="3041692"/>
                <a:ext cx="5293465" cy="759016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線コネクタ 83">
                <a:extLst>
                  <a:ext uri="{FF2B5EF4-FFF2-40B4-BE49-F238E27FC236}">
                    <a16:creationId xmlns:a16="http://schemas.microsoft.com/office/drawing/2014/main" id="{AD5737F8-F164-22FA-C2C5-A30DC115E9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88062" y="1044772"/>
                <a:ext cx="155803" cy="53624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テキスト ボックス 86">
                <a:extLst>
                  <a:ext uri="{FF2B5EF4-FFF2-40B4-BE49-F238E27FC236}">
                    <a16:creationId xmlns:a16="http://schemas.microsoft.com/office/drawing/2014/main" id="{96C695B7-5691-9B2B-6DDA-15524B3AC999}"/>
                  </a:ext>
                </a:extLst>
              </p:cNvPr>
              <p:cNvSpPr txBox="1"/>
              <p:nvPr/>
            </p:nvSpPr>
            <p:spPr>
              <a:xfrm>
                <a:off x="996736" y="839426"/>
                <a:ext cx="1086015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Helmholtz coil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88" name="テキスト ボックス 87">
                <a:extLst>
                  <a:ext uri="{FF2B5EF4-FFF2-40B4-BE49-F238E27FC236}">
                    <a16:creationId xmlns:a16="http://schemas.microsoft.com/office/drawing/2014/main" id="{20DABD53-0FA8-1F70-239C-B86970BB2EDA}"/>
                  </a:ext>
                </a:extLst>
              </p:cNvPr>
              <p:cNvSpPr txBox="1"/>
              <p:nvPr/>
            </p:nvSpPr>
            <p:spPr>
              <a:xfrm>
                <a:off x="3154805" y="867026"/>
                <a:ext cx="701233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Cryostat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89" name="直線コネクタ 88">
                <a:extLst>
                  <a:ext uri="{FF2B5EF4-FFF2-40B4-BE49-F238E27FC236}">
                    <a16:creationId xmlns:a16="http://schemas.microsoft.com/office/drawing/2014/main" id="{B789FAA8-0761-86AB-7D21-94CC4E5536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78000" y="1112301"/>
                <a:ext cx="358981" cy="83743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テキスト ボックス 91">
                <a:extLst>
                  <a:ext uri="{FF2B5EF4-FFF2-40B4-BE49-F238E27FC236}">
                    <a16:creationId xmlns:a16="http://schemas.microsoft.com/office/drawing/2014/main" id="{5D0FFB25-E4BC-982A-9ABA-07956D5BDAF6}"/>
                  </a:ext>
                </a:extLst>
              </p:cNvPr>
              <p:cNvSpPr txBox="1"/>
              <p:nvPr/>
            </p:nvSpPr>
            <p:spPr>
              <a:xfrm>
                <a:off x="2201126" y="3487311"/>
                <a:ext cx="648159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Sample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93" name="直線コネクタ 92">
                <a:extLst>
                  <a:ext uri="{FF2B5EF4-FFF2-40B4-BE49-F238E27FC236}">
                    <a16:creationId xmlns:a16="http://schemas.microsoft.com/office/drawing/2014/main" id="{9EA2B3E8-4B7D-6B52-E391-8E45B07E21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88454" y="3057934"/>
                <a:ext cx="350604" cy="50589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テキスト ボックス 94">
                <a:extLst>
                  <a:ext uri="{FF2B5EF4-FFF2-40B4-BE49-F238E27FC236}">
                    <a16:creationId xmlns:a16="http://schemas.microsoft.com/office/drawing/2014/main" id="{14A488D1-ACE7-3B8C-9AAA-09A04982191D}"/>
                  </a:ext>
                </a:extLst>
              </p:cNvPr>
              <p:cNvSpPr txBox="1"/>
              <p:nvPr/>
            </p:nvSpPr>
            <p:spPr>
              <a:xfrm>
                <a:off x="5160219" y="3593222"/>
                <a:ext cx="863770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Pickup coil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96" name="テキスト ボックス 95">
                <a:extLst>
                  <a:ext uri="{FF2B5EF4-FFF2-40B4-BE49-F238E27FC236}">
                    <a16:creationId xmlns:a16="http://schemas.microsoft.com/office/drawing/2014/main" id="{BB0EA51E-5AEA-2AA3-AC22-5DFB687C0F33}"/>
                  </a:ext>
                </a:extLst>
              </p:cNvPr>
              <p:cNvSpPr txBox="1"/>
              <p:nvPr/>
            </p:nvSpPr>
            <p:spPr>
              <a:xfrm>
                <a:off x="5258177" y="2241517"/>
                <a:ext cx="655898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baseline="30000" dirty="0">
                    <a:latin typeface="Helvetica" pitchFamily="2" charset="0"/>
                  </a:rPr>
                  <a:t>3</a:t>
                </a:r>
                <a:r>
                  <a:rPr lang="en-US" altLang="ja-JP" sz="1740" dirty="0">
                    <a:latin typeface="Helvetica" pitchFamily="2" charset="0"/>
                  </a:rPr>
                  <a:t>He cell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97" name="テキスト ボックス 96">
                <a:extLst>
                  <a:ext uri="{FF2B5EF4-FFF2-40B4-BE49-F238E27FC236}">
                    <a16:creationId xmlns:a16="http://schemas.microsoft.com/office/drawing/2014/main" id="{0CB63B2C-5E5E-91D8-7157-DB5BA97181C5}"/>
                  </a:ext>
                </a:extLst>
              </p:cNvPr>
              <p:cNvSpPr txBox="1"/>
              <p:nvPr/>
            </p:nvSpPr>
            <p:spPr>
              <a:xfrm>
                <a:off x="5282222" y="1991537"/>
                <a:ext cx="607248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RF coil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98" name="テキスト ボックス 97">
                <a:extLst>
                  <a:ext uri="{FF2B5EF4-FFF2-40B4-BE49-F238E27FC236}">
                    <a16:creationId xmlns:a16="http://schemas.microsoft.com/office/drawing/2014/main" id="{FE4FA560-5953-2877-9B30-AE42ACD750AF}"/>
                  </a:ext>
                </a:extLst>
              </p:cNvPr>
              <p:cNvSpPr txBox="1"/>
              <p:nvPr/>
            </p:nvSpPr>
            <p:spPr>
              <a:xfrm>
                <a:off x="5069022" y="1702469"/>
                <a:ext cx="1007510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baseline="30000" dirty="0">
                    <a:latin typeface="Helvetica" pitchFamily="2" charset="0"/>
                  </a:rPr>
                  <a:t>3</a:t>
                </a:r>
                <a:r>
                  <a:rPr lang="en-US" altLang="ja-JP" sz="1740" dirty="0">
                    <a:latin typeface="Helvetica" pitchFamily="2" charset="0"/>
                  </a:rPr>
                  <a:t>He NSF coil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99" name="テキスト ボックス 98">
                <a:extLst>
                  <a:ext uri="{FF2B5EF4-FFF2-40B4-BE49-F238E27FC236}">
                    <a16:creationId xmlns:a16="http://schemas.microsoft.com/office/drawing/2014/main" id="{24705C5B-3559-2E1A-1242-6FD348B0E0A9}"/>
                  </a:ext>
                </a:extLst>
              </p:cNvPr>
              <p:cNvSpPr txBox="1"/>
              <p:nvPr/>
            </p:nvSpPr>
            <p:spPr>
              <a:xfrm>
                <a:off x="6698495" y="1707516"/>
                <a:ext cx="1433203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Neutron guide tube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100" name="テキスト ボックス 99">
                <a:extLst>
                  <a:ext uri="{FF2B5EF4-FFF2-40B4-BE49-F238E27FC236}">
                    <a16:creationId xmlns:a16="http://schemas.microsoft.com/office/drawing/2014/main" id="{26E7D839-7C7B-4D12-5E6E-699E7F4E373A}"/>
                  </a:ext>
                </a:extLst>
              </p:cNvPr>
              <p:cNvSpPr txBox="1"/>
              <p:nvPr/>
            </p:nvSpPr>
            <p:spPr>
              <a:xfrm>
                <a:off x="8024186" y="1184457"/>
                <a:ext cx="1630460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Neutron Area detector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101" name="直線コネクタ 100">
                <a:extLst>
                  <a:ext uri="{FF2B5EF4-FFF2-40B4-BE49-F238E27FC236}">
                    <a16:creationId xmlns:a16="http://schemas.microsoft.com/office/drawing/2014/main" id="{F9B89CA2-903F-77BC-DC90-0DC50FC9A6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73560" y="1427826"/>
                <a:ext cx="227144" cy="24101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テキスト ボックス 104">
                <a:extLst>
                  <a:ext uri="{FF2B5EF4-FFF2-40B4-BE49-F238E27FC236}">
                    <a16:creationId xmlns:a16="http://schemas.microsoft.com/office/drawing/2014/main" id="{F236AD42-BEC8-D3DD-045B-49D8CBBF84C6}"/>
                  </a:ext>
                </a:extLst>
              </p:cNvPr>
              <p:cNvSpPr txBox="1"/>
              <p:nvPr/>
            </p:nvSpPr>
            <p:spPr>
              <a:xfrm>
                <a:off x="8603378" y="1815102"/>
                <a:ext cx="1201520" cy="433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Polarization analysis region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106" name="直線コネクタ 105">
                <a:extLst>
                  <a:ext uri="{FF2B5EF4-FFF2-40B4-BE49-F238E27FC236}">
                    <a16:creationId xmlns:a16="http://schemas.microsoft.com/office/drawing/2014/main" id="{093B6E2F-B62F-C094-85BC-9946FF6D344F}"/>
                  </a:ext>
                </a:extLst>
              </p:cNvPr>
              <p:cNvCxnSpPr>
                <a:cxnSpLocks/>
                <a:stCxn id="105" idx="1"/>
              </p:cNvCxnSpPr>
              <p:nvPr/>
            </p:nvCxnSpPr>
            <p:spPr>
              <a:xfrm flipH="1">
                <a:off x="8270078" y="2031641"/>
                <a:ext cx="333300" cy="35725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線コネクタ 110">
                <a:extLst>
                  <a:ext uri="{FF2B5EF4-FFF2-40B4-BE49-F238E27FC236}">
                    <a16:creationId xmlns:a16="http://schemas.microsoft.com/office/drawing/2014/main" id="{BBFAC900-9A47-C8FA-A3F2-E1E3132932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59153" y="2469717"/>
                <a:ext cx="151841" cy="9004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線コネクタ 120">
                <a:extLst>
                  <a:ext uri="{FF2B5EF4-FFF2-40B4-BE49-F238E27FC236}">
                    <a16:creationId xmlns:a16="http://schemas.microsoft.com/office/drawing/2014/main" id="{6B881E15-30CA-CBA6-64DA-BA513DAFAE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311" y="2196493"/>
                <a:ext cx="111047" cy="527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線コネクタ 122">
                <a:extLst>
                  <a:ext uri="{FF2B5EF4-FFF2-40B4-BE49-F238E27FC236}">
                    <a16:creationId xmlns:a16="http://schemas.microsoft.com/office/drawing/2014/main" id="{B6B74019-D525-73CE-88C9-05ECA6F85A5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32837" y="1926096"/>
                <a:ext cx="122714" cy="9315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線コネクタ 124">
                <a:extLst>
                  <a:ext uri="{FF2B5EF4-FFF2-40B4-BE49-F238E27FC236}">
                    <a16:creationId xmlns:a16="http://schemas.microsoft.com/office/drawing/2014/main" id="{56BD81EF-E76F-CF9F-0F15-F01633284E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625270" y="3604650"/>
                <a:ext cx="81202" cy="6636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線コネクタ 126">
                <a:extLst>
                  <a:ext uri="{FF2B5EF4-FFF2-40B4-BE49-F238E27FC236}">
                    <a16:creationId xmlns:a16="http://schemas.microsoft.com/office/drawing/2014/main" id="{2F2F349E-4D3B-2252-65CD-DD235466381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01914" y="1926096"/>
                <a:ext cx="149762" cy="11112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線矢印コネクタ 129">
                <a:extLst>
                  <a:ext uri="{FF2B5EF4-FFF2-40B4-BE49-F238E27FC236}">
                    <a16:creationId xmlns:a16="http://schemas.microsoft.com/office/drawing/2014/main" id="{7F72C6A3-7C7E-9AB3-F786-9EB40EECC2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37163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線矢印コネクタ 131">
                <a:extLst>
                  <a:ext uri="{FF2B5EF4-FFF2-40B4-BE49-F238E27FC236}">
                    <a16:creationId xmlns:a16="http://schemas.microsoft.com/office/drawing/2014/main" id="{6A3C6A2A-CE25-96E7-BD60-3F92335F80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3705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線矢印コネクタ 134">
                <a:extLst>
                  <a:ext uri="{FF2B5EF4-FFF2-40B4-BE49-F238E27FC236}">
                    <a16:creationId xmlns:a16="http://schemas.microsoft.com/office/drawing/2014/main" id="{0EEE19C1-E8FC-0573-AD48-CCBF91568B86}"/>
                  </a:ext>
                </a:extLst>
              </p:cNvPr>
              <p:cNvCxnSpPr>
                <a:cxnSpLocks/>
              </p:cNvCxnSpPr>
              <p:nvPr/>
            </p:nvCxnSpPr>
            <p:spPr>
              <a:xfrm rot="1200000">
                <a:off x="4124079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線矢印コネクタ 135">
                <a:extLst>
                  <a:ext uri="{FF2B5EF4-FFF2-40B4-BE49-F238E27FC236}">
                    <a16:creationId xmlns:a16="http://schemas.microsoft.com/office/drawing/2014/main" id="{BA57638D-7D36-35AA-FF65-1E248D0794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80621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線矢印コネクタ 136">
                <a:extLst>
                  <a:ext uri="{FF2B5EF4-FFF2-40B4-BE49-F238E27FC236}">
                    <a16:creationId xmlns:a16="http://schemas.microsoft.com/office/drawing/2014/main" id="{49A1AABA-84CB-3440-1151-A2357CE4BB0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610994" y="27080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線矢印コネクタ 137">
                <a:extLst>
                  <a:ext uri="{FF2B5EF4-FFF2-40B4-BE49-F238E27FC236}">
                    <a16:creationId xmlns:a16="http://schemas.microsoft.com/office/drawing/2014/main" id="{5A501EC4-AAEB-26C3-0AAD-4E228EAF5B69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4867537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線矢印コネクタ 138">
                <a:extLst>
                  <a:ext uri="{FF2B5EF4-FFF2-40B4-BE49-F238E27FC236}">
                    <a16:creationId xmlns:a16="http://schemas.microsoft.com/office/drawing/2014/main" id="{29BD2212-BA91-0432-6345-551BC28D31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0247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線コネクタ 139">
                <a:extLst>
                  <a:ext uri="{FF2B5EF4-FFF2-40B4-BE49-F238E27FC236}">
                    <a16:creationId xmlns:a16="http://schemas.microsoft.com/office/drawing/2014/main" id="{CC2B99A9-9F3A-8040-03FE-D882A2A25A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38821" y="2985918"/>
                <a:ext cx="7473766" cy="9811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正方形/長方形 71">
                <a:extLst>
                  <a:ext uri="{FF2B5EF4-FFF2-40B4-BE49-F238E27FC236}">
                    <a16:creationId xmlns:a16="http://schemas.microsoft.com/office/drawing/2014/main" id="{EA797F58-2EB8-7EBE-71E9-67101A27304D}"/>
                  </a:ext>
                </a:extLst>
              </p:cNvPr>
              <p:cNvSpPr/>
              <p:nvPr/>
            </p:nvSpPr>
            <p:spPr>
              <a:xfrm>
                <a:off x="2847436" y="2946470"/>
                <a:ext cx="84694" cy="8890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42" name="テキスト ボックス 141">
                <a:extLst>
                  <a:ext uri="{FF2B5EF4-FFF2-40B4-BE49-F238E27FC236}">
                    <a16:creationId xmlns:a16="http://schemas.microsoft.com/office/drawing/2014/main" id="{511D629A-7806-E358-1780-793B75ACBB6A}"/>
                  </a:ext>
                </a:extLst>
              </p:cNvPr>
              <p:cNvSpPr txBox="1"/>
              <p:nvPr/>
            </p:nvSpPr>
            <p:spPr>
              <a:xfrm>
                <a:off x="144102" y="2759990"/>
                <a:ext cx="1071710" cy="433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Neutron beam path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143" name="テキスト ボックス 142">
                <a:extLst>
                  <a:ext uri="{FF2B5EF4-FFF2-40B4-BE49-F238E27FC236}">
                    <a16:creationId xmlns:a16="http://schemas.microsoft.com/office/drawing/2014/main" id="{F5193AF4-D737-C616-DAA1-3FDA162893BA}"/>
                  </a:ext>
                </a:extLst>
              </p:cNvPr>
              <p:cNvSpPr txBox="1"/>
              <p:nvPr/>
            </p:nvSpPr>
            <p:spPr>
              <a:xfrm>
                <a:off x="658445" y="2149183"/>
                <a:ext cx="1155006" cy="433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Magnetic field direction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144" name="直線コネクタ 143">
                <a:extLst>
                  <a:ext uri="{FF2B5EF4-FFF2-40B4-BE49-F238E27FC236}">
                    <a16:creationId xmlns:a16="http://schemas.microsoft.com/office/drawing/2014/main" id="{3CBEB329-57CA-2D6E-81E9-24357DCE6C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8033" y="2531220"/>
                <a:ext cx="94224" cy="23614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9" name="直線コネクタ 158">
              <a:extLst>
                <a:ext uri="{FF2B5EF4-FFF2-40B4-BE49-F238E27FC236}">
                  <a16:creationId xmlns:a16="http://schemas.microsoft.com/office/drawing/2014/main" id="{B5E2C366-D167-F337-1479-31299A0B3B74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022861" y="2880000"/>
              <a:ext cx="3960000" cy="9811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テキスト ボックス 163">
              <a:extLst>
                <a:ext uri="{FF2B5EF4-FFF2-40B4-BE49-F238E27FC236}">
                  <a16:creationId xmlns:a16="http://schemas.microsoft.com/office/drawing/2014/main" id="{62AE40F6-47D2-735B-1942-2E7CE2D67C92}"/>
                </a:ext>
              </a:extLst>
            </p:cNvPr>
            <p:cNvSpPr txBox="1"/>
            <p:nvPr/>
          </p:nvSpPr>
          <p:spPr>
            <a:xfrm>
              <a:off x="4352259" y="940260"/>
              <a:ext cx="798534" cy="2483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740" dirty="0" err="1">
                  <a:latin typeface="Helvetica" pitchFamily="2" charset="0"/>
                </a:rPr>
                <a:t>ω</a:t>
              </a:r>
              <a:r>
                <a:rPr lang="en-US" altLang="ja-JP" sz="1740" dirty="0">
                  <a:latin typeface="Helvetica" pitchFamily="2" charset="0"/>
                </a:rPr>
                <a:t> rotation</a:t>
              </a:r>
              <a:endParaRPr lang="ja-JP" altLang="en-US" sz="174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3355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DAD27-27B8-6915-4311-18A6982C9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グループ化 164">
            <a:extLst>
              <a:ext uri="{FF2B5EF4-FFF2-40B4-BE49-F238E27FC236}">
                <a16:creationId xmlns:a16="http://schemas.microsoft.com/office/drawing/2014/main" id="{85D68D65-0E0F-8FE8-44D5-81F772F4F993}"/>
              </a:ext>
            </a:extLst>
          </p:cNvPr>
          <p:cNvGrpSpPr/>
          <p:nvPr/>
        </p:nvGrpSpPr>
        <p:grpSpPr>
          <a:xfrm>
            <a:off x="3882529" y="2308686"/>
            <a:ext cx="14005918" cy="6181532"/>
            <a:chOff x="1265602" y="904906"/>
            <a:chExt cx="9660796" cy="4263806"/>
          </a:xfrm>
        </p:grpSpPr>
        <p:sp>
          <p:nvSpPr>
            <p:cNvPr id="162" name="環状矢印 161">
              <a:extLst>
                <a:ext uri="{FF2B5EF4-FFF2-40B4-BE49-F238E27FC236}">
                  <a16:creationId xmlns:a16="http://schemas.microsoft.com/office/drawing/2014/main" id="{8BEA00CE-AE8D-D77C-C351-4B6822213CDD}"/>
                </a:ext>
              </a:extLst>
            </p:cNvPr>
            <p:cNvSpPr/>
            <p:nvPr/>
          </p:nvSpPr>
          <p:spPr>
            <a:xfrm rot="5400000">
              <a:off x="3831440" y="679866"/>
              <a:ext cx="359684" cy="910953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529627"/>
                <a:gd name="adj5" fmla="val 19306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>
                <a:solidFill>
                  <a:schemeClr val="tx1"/>
                </a:solidFill>
              </a:endParaRPr>
            </a:p>
          </p:txBody>
        </p:sp>
        <p:grpSp>
          <p:nvGrpSpPr>
            <p:cNvPr id="149" name="グループ化 148">
              <a:extLst>
                <a:ext uri="{FF2B5EF4-FFF2-40B4-BE49-F238E27FC236}">
                  <a16:creationId xmlns:a16="http://schemas.microsoft.com/office/drawing/2014/main" id="{F8278C4C-2283-E008-ACA2-871D1A60D757}"/>
                </a:ext>
              </a:extLst>
            </p:cNvPr>
            <p:cNvGrpSpPr/>
            <p:nvPr/>
          </p:nvGrpSpPr>
          <p:grpSpPr>
            <a:xfrm>
              <a:off x="1265602" y="1316504"/>
              <a:ext cx="9660796" cy="3852208"/>
              <a:chOff x="144102" y="839426"/>
              <a:chExt cx="9660796" cy="3852208"/>
            </a:xfrm>
          </p:grpSpPr>
          <p:grpSp>
            <p:nvGrpSpPr>
              <p:cNvPr id="11" name="グループ化 10">
                <a:extLst>
                  <a:ext uri="{FF2B5EF4-FFF2-40B4-BE49-F238E27FC236}">
                    <a16:creationId xmlns:a16="http://schemas.microsoft.com/office/drawing/2014/main" id="{C58FB6CF-996A-3078-DE28-CF0770DB1273}"/>
                  </a:ext>
                </a:extLst>
              </p:cNvPr>
              <p:cNvGrpSpPr/>
              <p:nvPr/>
            </p:nvGrpSpPr>
            <p:grpSpPr>
              <a:xfrm>
                <a:off x="7777986" y="1479601"/>
                <a:ext cx="1932495" cy="3077028"/>
                <a:chOff x="7673548" y="1407885"/>
                <a:chExt cx="1932495" cy="3077028"/>
              </a:xfrm>
              <a:solidFill>
                <a:schemeClr val="bg2"/>
              </a:solidFill>
            </p:grpSpPr>
            <p:sp>
              <p:nvSpPr>
                <p:cNvPr id="7" name="台形 6">
                  <a:extLst>
                    <a:ext uri="{FF2B5EF4-FFF2-40B4-BE49-F238E27FC236}">
                      <a16:creationId xmlns:a16="http://schemas.microsoft.com/office/drawing/2014/main" id="{5FEB478D-C1C8-6FC0-6B5A-A4B72F3D7A79}"/>
                    </a:ext>
                  </a:extLst>
                </p:cNvPr>
                <p:cNvSpPr/>
                <p:nvPr/>
              </p:nvSpPr>
              <p:spPr>
                <a:xfrm rot="16200000">
                  <a:off x="6587233" y="2494200"/>
                  <a:ext cx="3077027" cy="904397"/>
                </a:xfrm>
                <a:prstGeom prst="trapezoid">
                  <a:avLst/>
                </a:prstGeom>
                <a:grp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8" name="正方形/長方形 7">
                  <a:extLst>
                    <a:ext uri="{FF2B5EF4-FFF2-40B4-BE49-F238E27FC236}">
                      <a16:creationId xmlns:a16="http://schemas.microsoft.com/office/drawing/2014/main" id="{196FC690-3ECA-D5CB-A36C-E048E827BE75}"/>
                    </a:ext>
                  </a:extLst>
                </p:cNvPr>
                <p:cNvSpPr/>
                <p:nvPr/>
              </p:nvSpPr>
              <p:spPr>
                <a:xfrm>
                  <a:off x="8577946" y="1407885"/>
                  <a:ext cx="1028097" cy="3077028"/>
                </a:xfrm>
                <a:prstGeom prst="rect">
                  <a:avLst/>
                </a:prstGeom>
                <a:grp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</p:grpSp>
          <p:sp>
            <p:nvSpPr>
              <p:cNvPr id="9" name="円/楕円 8">
                <a:extLst>
                  <a:ext uri="{FF2B5EF4-FFF2-40B4-BE49-F238E27FC236}">
                    <a16:creationId xmlns:a16="http://schemas.microsoft.com/office/drawing/2014/main" id="{C489DDFE-F575-5A81-35E1-F186B189D44E}"/>
                  </a:ext>
                </a:extLst>
              </p:cNvPr>
              <p:cNvSpPr/>
              <p:nvPr/>
            </p:nvSpPr>
            <p:spPr>
              <a:xfrm>
                <a:off x="7946708" y="1984791"/>
                <a:ext cx="554712" cy="2101434"/>
              </a:xfrm>
              <a:prstGeom prst="ellipse">
                <a:avLst/>
              </a:prstGeom>
              <a:noFill/>
              <a:ln w="12700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0" name="円柱 9">
                <a:extLst>
                  <a:ext uri="{FF2B5EF4-FFF2-40B4-BE49-F238E27FC236}">
                    <a16:creationId xmlns:a16="http://schemas.microsoft.com/office/drawing/2014/main" id="{4D7FC5C0-1331-3B54-F089-BFAC93942DF6}"/>
                  </a:ext>
                </a:extLst>
              </p:cNvPr>
              <p:cNvSpPr/>
              <p:nvPr/>
            </p:nvSpPr>
            <p:spPr>
              <a:xfrm rot="16200000">
                <a:off x="6378296" y="1959996"/>
                <a:ext cx="2101433" cy="2116238"/>
              </a:xfrm>
              <a:prstGeom prst="can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4" name="円柱 3">
                <a:extLst>
                  <a:ext uri="{FF2B5EF4-FFF2-40B4-BE49-F238E27FC236}">
                    <a16:creationId xmlns:a16="http://schemas.microsoft.com/office/drawing/2014/main" id="{F642354F-9CB9-D6A3-85DC-3B43EBD863AA}"/>
                  </a:ext>
                </a:extLst>
              </p:cNvPr>
              <p:cNvSpPr/>
              <p:nvPr/>
            </p:nvSpPr>
            <p:spPr>
              <a:xfrm rot="16200000">
                <a:off x="5135963" y="2592937"/>
                <a:ext cx="967489" cy="812798"/>
              </a:xfrm>
              <a:prstGeom prst="can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4" name="円柱 23">
                <a:extLst>
                  <a:ext uri="{FF2B5EF4-FFF2-40B4-BE49-F238E27FC236}">
                    <a16:creationId xmlns:a16="http://schemas.microsoft.com/office/drawing/2014/main" id="{DE3D0CC8-30D7-5A9B-4414-157F024FABE2}"/>
                  </a:ext>
                </a:extLst>
              </p:cNvPr>
              <p:cNvSpPr/>
              <p:nvPr/>
            </p:nvSpPr>
            <p:spPr>
              <a:xfrm rot="16200000">
                <a:off x="4812998" y="2260957"/>
                <a:ext cx="1600986" cy="1514805"/>
              </a:xfrm>
              <a:prstGeom prst="can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5" name="円柱 4">
                <a:extLst>
                  <a:ext uri="{FF2B5EF4-FFF2-40B4-BE49-F238E27FC236}">
                    <a16:creationId xmlns:a16="http://schemas.microsoft.com/office/drawing/2014/main" id="{0A889B7D-F000-4506-7BE0-0430831F8532}"/>
                  </a:ext>
                </a:extLst>
              </p:cNvPr>
              <p:cNvSpPr/>
              <p:nvPr/>
            </p:nvSpPr>
            <p:spPr>
              <a:xfrm rot="16200000">
                <a:off x="4536504" y="1715460"/>
                <a:ext cx="2101433" cy="2605312"/>
              </a:xfrm>
              <a:prstGeom prst="can">
                <a:avLst/>
              </a:prstGeom>
              <a:noFill/>
              <a:ln w="349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2" name="円/楕円 11">
                <a:extLst>
                  <a:ext uri="{FF2B5EF4-FFF2-40B4-BE49-F238E27FC236}">
                    <a16:creationId xmlns:a16="http://schemas.microsoft.com/office/drawing/2014/main" id="{7AF4DF76-139E-2576-59A1-85DC693BCAB0}"/>
                  </a:ext>
                </a:extLst>
              </p:cNvPr>
              <p:cNvSpPr/>
              <p:nvPr/>
            </p:nvSpPr>
            <p:spPr>
              <a:xfrm>
                <a:off x="4426209" y="2508300"/>
                <a:ext cx="203113" cy="101962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56" name="円柱 55">
                <a:extLst>
                  <a:ext uri="{FF2B5EF4-FFF2-40B4-BE49-F238E27FC236}">
                    <a16:creationId xmlns:a16="http://schemas.microsoft.com/office/drawing/2014/main" id="{93557D9F-F996-87D8-E636-CE0EA1AB91A9}"/>
                  </a:ext>
                </a:extLst>
              </p:cNvPr>
              <p:cNvSpPr/>
              <p:nvPr/>
            </p:nvSpPr>
            <p:spPr>
              <a:xfrm>
                <a:off x="5459153" y="3551975"/>
                <a:ext cx="308675" cy="82494"/>
              </a:xfrm>
              <a:prstGeom prst="can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1" name="正方形/長方形 20">
                <a:extLst>
                  <a:ext uri="{FF2B5EF4-FFF2-40B4-BE49-F238E27FC236}">
                    <a16:creationId xmlns:a16="http://schemas.microsoft.com/office/drawing/2014/main" id="{25D55AA0-F945-E36E-83B5-918125D600BF}"/>
                  </a:ext>
                </a:extLst>
              </p:cNvPr>
              <p:cNvSpPr/>
              <p:nvPr/>
            </p:nvSpPr>
            <p:spPr>
              <a:xfrm>
                <a:off x="2698195" y="862149"/>
                <a:ext cx="383177" cy="983867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3" name="円柱 12">
                <a:extLst>
                  <a:ext uri="{FF2B5EF4-FFF2-40B4-BE49-F238E27FC236}">
                    <a16:creationId xmlns:a16="http://schemas.microsoft.com/office/drawing/2014/main" id="{A0435D30-AEC5-EA1B-5FE9-F4B47DB0B3C7}"/>
                  </a:ext>
                </a:extLst>
              </p:cNvPr>
              <p:cNvSpPr/>
              <p:nvPr/>
            </p:nvSpPr>
            <p:spPr>
              <a:xfrm rot="10800000">
                <a:off x="1150247" y="1274636"/>
                <a:ext cx="3479075" cy="306382"/>
              </a:xfrm>
              <a:prstGeom prst="can">
                <a:avLst>
                  <a:gd name="adj" fmla="val 3637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6" name="円柱 15">
                <a:extLst>
                  <a:ext uri="{FF2B5EF4-FFF2-40B4-BE49-F238E27FC236}">
                    <a16:creationId xmlns:a16="http://schemas.microsoft.com/office/drawing/2014/main" id="{A9E47CD0-4331-E573-75B0-6F62C48D95DC}"/>
                  </a:ext>
                </a:extLst>
              </p:cNvPr>
              <p:cNvSpPr/>
              <p:nvPr/>
            </p:nvSpPr>
            <p:spPr>
              <a:xfrm rot="10800000">
                <a:off x="1481120" y="1503874"/>
                <a:ext cx="2803444" cy="306382"/>
              </a:xfrm>
              <a:prstGeom prst="can">
                <a:avLst>
                  <a:gd name="adj" fmla="val 5103"/>
                </a:avLst>
              </a:prstGeom>
              <a:solidFill>
                <a:srgbClr val="B518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8" name="円柱 17">
                <a:extLst>
                  <a:ext uri="{FF2B5EF4-FFF2-40B4-BE49-F238E27FC236}">
                    <a16:creationId xmlns:a16="http://schemas.microsoft.com/office/drawing/2014/main" id="{A08D5AC5-A748-0765-11F0-66C6B2877D23}"/>
                  </a:ext>
                </a:extLst>
              </p:cNvPr>
              <p:cNvSpPr/>
              <p:nvPr/>
            </p:nvSpPr>
            <p:spPr>
              <a:xfrm>
                <a:off x="1143304" y="4385252"/>
                <a:ext cx="3479075" cy="306382"/>
              </a:xfrm>
              <a:prstGeom prst="can">
                <a:avLst>
                  <a:gd name="adj" fmla="val 3637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3" name="円柱 22">
                <a:extLst>
                  <a:ext uri="{FF2B5EF4-FFF2-40B4-BE49-F238E27FC236}">
                    <a16:creationId xmlns:a16="http://schemas.microsoft.com/office/drawing/2014/main" id="{9BAD4B3E-F8D6-4BF5-6F56-20EAFA65D37F}"/>
                  </a:ext>
                </a:extLst>
              </p:cNvPr>
              <p:cNvSpPr/>
              <p:nvPr/>
            </p:nvSpPr>
            <p:spPr>
              <a:xfrm>
                <a:off x="3545807" y="1666025"/>
                <a:ext cx="426720" cy="2562710"/>
              </a:xfrm>
              <a:prstGeom prst="can">
                <a:avLst>
                  <a:gd name="adj" fmla="val 0"/>
                </a:avLst>
              </a:prstGeom>
              <a:solidFill>
                <a:srgbClr val="B518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2" name="円柱 21">
                <a:extLst>
                  <a:ext uri="{FF2B5EF4-FFF2-40B4-BE49-F238E27FC236}">
                    <a16:creationId xmlns:a16="http://schemas.microsoft.com/office/drawing/2014/main" id="{165A0675-2CC8-0B4C-A562-C3B1E9BA082B}"/>
                  </a:ext>
                </a:extLst>
              </p:cNvPr>
              <p:cNvSpPr/>
              <p:nvPr/>
            </p:nvSpPr>
            <p:spPr>
              <a:xfrm>
                <a:off x="1793927" y="1776579"/>
                <a:ext cx="426720" cy="2562710"/>
              </a:xfrm>
              <a:prstGeom prst="can">
                <a:avLst>
                  <a:gd name="adj" fmla="val 0"/>
                </a:avLst>
              </a:prstGeom>
              <a:solidFill>
                <a:srgbClr val="B518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7" name="円柱 16">
                <a:extLst>
                  <a:ext uri="{FF2B5EF4-FFF2-40B4-BE49-F238E27FC236}">
                    <a16:creationId xmlns:a16="http://schemas.microsoft.com/office/drawing/2014/main" id="{B8C94D9D-02D3-9086-DB3C-C9644E430F9E}"/>
                  </a:ext>
                </a:extLst>
              </p:cNvPr>
              <p:cNvSpPr/>
              <p:nvPr/>
            </p:nvSpPr>
            <p:spPr>
              <a:xfrm>
                <a:off x="1488062" y="4150562"/>
                <a:ext cx="2803444" cy="306382"/>
              </a:xfrm>
              <a:prstGeom prst="can">
                <a:avLst/>
              </a:prstGeom>
              <a:solidFill>
                <a:srgbClr val="B518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0" name="円柱 19">
                <a:extLst>
                  <a:ext uri="{FF2B5EF4-FFF2-40B4-BE49-F238E27FC236}">
                    <a16:creationId xmlns:a16="http://schemas.microsoft.com/office/drawing/2014/main" id="{F5825D9E-674B-F31F-1B91-280CF18850CA}"/>
                  </a:ext>
                </a:extLst>
              </p:cNvPr>
              <p:cNvSpPr/>
              <p:nvPr/>
            </p:nvSpPr>
            <p:spPr>
              <a:xfrm>
                <a:off x="2112132" y="1846016"/>
                <a:ext cx="1541417" cy="2386350"/>
              </a:xfrm>
              <a:prstGeom prst="can">
                <a:avLst>
                  <a:gd name="adj" fmla="val 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63" name="直線コネクタ 62">
                <a:extLst>
                  <a:ext uri="{FF2B5EF4-FFF2-40B4-BE49-F238E27FC236}">
                    <a16:creationId xmlns:a16="http://schemas.microsoft.com/office/drawing/2014/main" id="{D5CC801C-A5AA-03B2-55C9-8D54A6FBAF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00" y="1470951"/>
                <a:ext cx="0" cy="32922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線コネクタ 65">
                <a:extLst>
                  <a:ext uri="{FF2B5EF4-FFF2-40B4-BE49-F238E27FC236}">
                    <a16:creationId xmlns:a16="http://schemas.microsoft.com/office/drawing/2014/main" id="{31EF9B32-D749-B12B-C680-1CB0D12929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6673" y="1476870"/>
                <a:ext cx="0" cy="32922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線コネクタ 72">
                <a:extLst>
                  <a:ext uri="{FF2B5EF4-FFF2-40B4-BE49-F238E27FC236}">
                    <a16:creationId xmlns:a16="http://schemas.microsoft.com/office/drawing/2014/main" id="{8AB923B5-47F9-5984-6218-CABC2D69C4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20547" y="2217865"/>
                <a:ext cx="5292040" cy="736649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円/楕円 75">
                <a:extLst>
                  <a:ext uri="{FF2B5EF4-FFF2-40B4-BE49-F238E27FC236}">
                    <a16:creationId xmlns:a16="http://schemas.microsoft.com/office/drawing/2014/main" id="{BA16E80E-7D2C-61C5-677D-B12DE85B8914}"/>
                  </a:ext>
                </a:extLst>
              </p:cNvPr>
              <p:cNvSpPr/>
              <p:nvPr/>
            </p:nvSpPr>
            <p:spPr>
              <a:xfrm>
                <a:off x="8018575" y="2217865"/>
                <a:ext cx="388024" cy="1600988"/>
              </a:xfrm>
              <a:prstGeom prst="ellipse">
                <a:avLst/>
              </a:prstGeom>
              <a:noFill/>
              <a:ln w="12700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78" name="直線コネクタ 77">
                <a:extLst>
                  <a:ext uri="{FF2B5EF4-FFF2-40B4-BE49-F238E27FC236}">
                    <a16:creationId xmlns:a16="http://schemas.microsoft.com/office/drawing/2014/main" id="{066957B1-CBA3-CDE0-AC38-71D95CB5252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30599" y="3041692"/>
                <a:ext cx="5293465" cy="759016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線コネクタ 83">
                <a:extLst>
                  <a:ext uri="{FF2B5EF4-FFF2-40B4-BE49-F238E27FC236}">
                    <a16:creationId xmlns:a16="http://schemas.microsoft.com/office/drawing/2014/main" id="{3F5F782F-CA69-C775-F6DD-DC16F2D0A6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88062" y="1044772"/>
                <a:ext cx="155803" cy="53624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テキスト ボックス 86">
                <a:extLst>
                  <a:ext uri="{FF2B5EF4-FFF2-40B4-BE49-F238E27FC236}">
                    <a16:creationId xmlns:a16="http://schemas.microsoft.com/office/drawing/2014/main" id="{EA3F463D-E7A1-355B-40F2-C6DECED8719F}"/>
                  </a:ext>
                </a:extLst>
              </p:cNvPr>
              <p:cNvSpPr txBox="1"/>
              <p:nvPr/>
            </p:nvSpPr>
            <p:spPr>
              <a:xfrm>
                <a:off x="996736" y="839426"/>
                <a:ext cx="1086015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Helmholtz coil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88" name="テキスト ボックス 87">
                <a:extLst>
                  <a:ext uri="{FF2B5EF4-FFF2-40B4-BE49-F238E27FC236}">
                    <a16:creationId xmlns:a16="http://schemas.microsoft.com/office/drawing/2014/main" id="{4B31AE5D-438F-BED0-417A-409EF0B5BF79}"/>
                  </a:ext>
                </a:extLst>
              </p:cNvPr>
              <p:cNvSpPr txBox="1"/>
              <p:nvPr/>
            </p:nvSpPr>
            <p:spPr>
              <a:xfrm>
                <a:off x="3154805" y="867026"/>
                <a:ext cx="701233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Cryostat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89" name="直線コネクタ 88">
                <a:extLst>
                  <a:ext uri="{FF2B5EF4-FFF2-40B4-BE49-F238E27FC236}">
                    <a16:creationId xmlns:a16="http://schemas.microsoft.com/office/drawing/2014/main" id="{64E0DB65-AA42-0BB2-4A5D-FBA86A9A6FD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78000" y="1112301"/>
                <a:ext cx="358981" cy="83743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テキスト ボックス 91">
                <a:extLst>
                  <a:ext uri="{FF2B5EF4-FFF2-40B4-BE49-F238E27FC236}">
                    <a16:creationId xmlns:a16="http://schemas.microsoft.com/office/drawing/2014/main" id="{D7021EF9-8974-A911-1681-295C1F236F3C}"/>
                  </a:ext>
                </a:extLst>
              </p:cNvPr>
              <p:cNvSpPr txBox="1"/>
              <p:nvPr/>
            </p:nvSpPr>
            <p:spPr>
              <a:xfrm>
                <a:off x="2201126" y="3487311"/>
                <a:ext cx="648159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Sample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93" name="直線コネクタ 92">
                <a:extLst>
                  <a:ext uri="{FF2B5EF4-FFF2-40B4-BE49-F238E27FC236}">
                    <a16:creationId xmlns:a16="http://schemas.microsoft.com/office/drawing/2014/main" id="{CE85C9EA-84C9-6475-21C1-1A7B3CD7B6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88454" y="3057934"/>
                <a:ext cx="350604" cy="50589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テキスト ボックス 94">
                <a:extLst>
                  <a:ext uri="{FF2B5EF4-FFF2-40B4-BE49-F238E27FC236}">
                    <a16:creationId xmlns:a16="http://schemas.microsoft.com/office/drawing/2014/main" id="{38D78327-5E3B-557C-BAC3-2CCD1AADA928}"/>
                  </a:ext>
                </a:extLst>
              </p:cNvPr>
              <p:cNvSpPr txBox="1"/>
              <p:nvPr/>
            </p:nvSpPr>
            <p:spPr>
              <a:xfrm>
                <a:off x="5160219" y="3593222"/>
                <a:ext cx="863770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Pickup coil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96" name="テキスト ボックス 95">
                <a:extLst>
                  <a:ext uri="{FF2B5EF4-FFF2-40B4-BE49-F238E27FC236}">
                    <a16:creationId xmlns:a16="http://schemas.microsoft.com/office/drawing/2014/main" id="{1C5090F4-B658-7F93-2BCF-5AFB49801175}"/>
                  </a:ext>
                </a:extLst>
              </p:cNvPr>
              <p:cNvSpPr txBox="1"/>
              <p:nvPr/>
            </p:nvSpPr>
            <p:spPr>
              <a:xfrm>
                <a:off x="5258177" y="2241517"/>
                <a:ext cx="655898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baseline="30000" dirty="0">
                    <a:latin typeface="Helvetica" pitchFamily="2" charset="0"/>
                  </a:rPr>
                  <a:t>3</a:t>
                </a:r>
                <a:r>
                  <a:rPr lang="en-US" altLang="ja-JP" sz="1740" dirty="0">
                    <a:latin typeface="Helvetica" pitchFamily="2" charset="0"/>
                  </a:rPr>
                  <a:t>He cell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97" name="テキスト ボックス 96">
                <a:extLst>
                  <a:ext uri="{FF2B5EF4-FFF2-40B4-BE49-F238E27FC236}">
                    <a16:creationId xmlns:a16="http://schemas.microsoft.com/office/drawing/2014/main" id="{E4D82E73-FCF5-7D2A-98FF-FC16E98F96EB}"/>
                  </a:ext>
                </a:extLst>
              </p:cNvPr>
              <p:cNvSpPr txBox="1"/>
              <p:nvPr/>
            </p:nvSpPr>
            <p:spPr>
              <a:xfrm>
                <a:off x="5282222" y="1991537"/>
                <a:ext cx="607248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RF coil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98" name="テキスト ボックス 97">
                <a:extLst>
                  <a:ext uri="{FF2B5EF4-FFF2-40B4-BE49-F238E27FC236}">
                    <a16:creationId xmlns:a16="http://schemas.microsoft.com/office/drawing/2014/main" id="{0DA292B5-64B6-0654-D699-345EC15D516E}"/>
                  </a:ext>
                </a:extLst>
              </p:cNvPr>
              <p:cNvSpPr txBox="1"/>
              <p:nvPr/>
            </p:nvSpPr>
            <p:spPr>
              <a:xfrm>
                <a:off x="5069022" y="1702469"/>
                <a:ext cx="1007510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baseline="30000" dirty="0">
                    <a:latin typeface="Helvetica" pitchFamily="2" charset="0"/>
                  </a:rPr>
                  <a:t>3</a:t>
                </a:r>
                <a:r>
                  <a:rPr lang="en-US" altLang="ja-JP" sz="1740" dirty="0">
                    <a:latin typeface="Helvetica" pitchFamily="2" charset="0"/>
                  </a:rPr>
                  <a:t>He NSF coil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99" name="テキスト ボックス 98">
                <a:extLst>
                  <a:ext uri="{FF2B5EF4-FFF2-40B4-BE49-F238E27FC236}">
                    <a16:creationId xmlns:a16="http://schemas.microsoft.com/office/drawing/2014/main" id="{5FE685A7-7478-0A33-E4E9-2870C1D15EBB}"/>
                  </a:ext>
                </a:extLst>
              </p:cNvPr>
              <p:cNvSpPr txBox="1"/>
              <p:nvPr/>
            </p:nvSpPr>
            <p:spPr>
              <a:xfrm>
                <a:off x="6698495" y="1707516"/>
                <a:ext cx="1433203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Neutron guide tube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100" name="テキスト ボックス 99">
                <a:extLst>
                  <a:ext uri="{FF2B5EF4-FFF2-40B4-BE49-F238E27FC236}">
                    <a16:creationId xmlns:a16="http://schemas.microsoft.com/office/drawing/2014/main" id="{950BF32F-CBA7-BA7F-0360-CD9B8BB2A2A8}"/>
                  </a:ext>
                </a:extLst>
              </p:cNvPr>
              <p:cNvSpPr txBox="1"/>
              <p:nvPr/>
            </p:nvSpPr>
            <p:spPr>
              <a:xfrm>
                <a:off x="8024186" y="1184457"/>
                <a:ext cx="1630460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Neutron Area detector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101" name="直線コネクタ 100">
                <a:extLst>
                  <a:ext uri="{FF2B5EF4-FFF2-40B4-BE49-F238E27FC236}">
                    <a16:creationId xmlns:a16="http://schemas.microsoft.com/office/drawing/2014/main" id="{EB22324D-BCAF-8918-3349-AE4531AA62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73560" y="1427826"/>
                <a:ext cx="227144" cy="24101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テキスト ボックス 104">
                <a:extLst>
                  <a:ext uri="{FF2B5EF4-FFF2-40B4-BE49-F238E27FC236}">
                    <a16:creationId xmlns:a16="http://schemas.microsoft.com/office/drawing/2014/main" id="{383C8CBC-2577-6AC0-E70F-C9F00B0E7B01}"/>
                  </a:ext>
                </a:extLst>
              </p:cNvPr>
              <p:cNvSpPr txBox="1"/>
              <p:nvPr/>
            </p:nvSpPr>
            <p:spPr>
              <a:xfrm>
                <a:off x="8603378" y="1815102"/>
                <a:ext cx="1201520" cy="433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Polarization analysis region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106" name="直線コネクタ 105">
                <a:extLst>
                  <a:ext uri="{FF2B5EF4-FFF2-40B4-BE49-F238E27FC236}">
                    <a16:creationId xmlns:a16="http://schemas.microsoft.com/office/drawing/2014/main" id="{08D4E7DE-1277-5119-BA5B-E25CC3E95E5F}"/>
                  </a:ext>
                </a:extLst>
              </p:cNvPr>
              <p:cNvCxnSpPr>
                <a:cxnSpLocks/>
                <a:stCxn id="105" idx="1"/>
              </p:cNvCxnSpPr>
              <p:nvPr/>
            </p:nvCxnSpPr>
            <p:spPr>
              <a:xfrm flipH="1">
                <a:off x="8270078" y="2031641"/>
                <a:ext cx="333300" cy="35725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線コネクタ 110">
                <a:extLst>
                  <a:ext uri="{FF2B5EF4-FFF2-40B4-BE49-F238E27FC236}">
                    <a16:creationId xmlns:a16="http://schemas.microsoft.com/office/drawing/2014/main" id="{DBAE7AAD-1936-25F2-0AE6-B7E8494CA0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59153" y="2469717"/>
                <a:ext cx="151841" cy="9004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線コネクタ 120">
                <a:extLst>
                  <a:ext uri="{FF2B5EF4-FFF2-40B4-BE49-F238E27FC236}">
                    <a16:creationId xmlns:a16="http://schemas.microsoft.com/office/drawing/2014/main" id="{3E3A1273-7BCB-7FF2-6D3D-3110D14163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311" y="2196493"/>
                <a:ext cx="111047" cy="527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線コネクタ 122">
                <a:extLst>
                  <a:ext uri="{FF2B5EF4-FFF2-40B4-BE49-F238E27FC236}">
                    <a16:creationId xmlns:a16="http://schemas.microsoft.com/office/drawing/2014/main" id="{70651A2E-3BA0-09B8-5F32-614A0983F8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32837" y="1926096"/>
                <a:ext cx="122714" cy="9315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線コネクタ 124">
                <a:extLst>
                  <a:ext uri="{FF2B5EF4-FFF2-40B4-BE49-F238E27FC236}">
                    <a16:creationId xmlns:a16="http://schemas.microsoft.com/office/drawing/2014/main" id="{08238BC8-54ED-9E8F-046B-D2836672F0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625270" y="3604650"/>
                <a:ext cx="81202" cy="6636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線コネクタ 126">
                <a:extLst>
                  <a:ext uri="{FF2B5EF4-FFF2-40B4-BE49-F238E27FC236}">
                    <a16:creationId xmlns:a16="http://schemas.microsoft.com/office/drawing/2014/main" id="{42AE9917-F1CC-7065-82B2-11213F5406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01914" y="1926096"/>
                <a:ext cx="149762" cy="11112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線矢印コネクタ 129">
                <a:extLst>
                  <a:ext uri="{FF2B5EF4-FFF2-40B4-BE49-F238E27FC236}">
                    <a16:creationId xmlns:a16="http://schemas.microsoft.com/office/drawing/2014/main" id="{EFA86554-5367-F3E4-2057-E800F36AC2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37163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線矢印コネクタ 131">
                <a:extLst>
                  <a:ext uri="{FF2B5EF4-FFF2-40B4-BE49-F238E27FC236}">
                    <a16:creationId xmlns:a16="http://schemas.microsoft.com/office/drawing/2014/main" id="{1D5E2810-93F7-47E7-917E-FB3EC9B171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3705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線矢印コネクタ 134">
                <a:extLst>
                  <a:ext uri="{FF2B5EF4-FFF2-40B4-BE49-F238E27FC236}">
                    <a16:creationId xmlns:a16="http://schemas.microsoft.com/office/drawing/2014/main" id="{B8E55602-BA19-A00E-8F33-40899B685DDC}"/>
                  </a:ext>
                </a:extLst>
              </p:cNvPr>
              <p:cNvCxnSpPr>
                <a:cxnSpLocks/>
              </p:cNvCxnSpPr>
              <p:nvPr/>
            </p:nvCxnSpPr>
            <p:spPr>
              <a:xfrm rot="1200000">
                <a:off x="4124079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線矢印コネクタ 135">
                <a:extLst>
                  <a:ext uri="{FF2B5EF4-FFF2-40B4-BE49-F238E27FC236}">
                    <a16:creationId xmlns:a16="http://schemas.microsoft.com/office/drawing/2014/main" id="{A42D04BC-D8E5-0B50-060A-D75B021F3D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80621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線矢印コネクタ 136">
                <a:extLst>
                  <a:ext uri="{FF2B5EF4-FFF2-40B4-BE49-F238E27FC236}">
                    <a16:creationId xmlns:a16="http://schemas.microsoft.com/office/drawing/2014/main" id="{06246C06-C820-8745-D700-93C24545E10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610994" y="27080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線矢印コネクタ 137">
                <a:extLst>
                  <a:ext uri="{FF2B5EF4-FFF2-40B4-BE49-F238E27FC236}">
                    <a16:creationId xmlns:a16="http://schemas.microsoft.com/office/drawing/2014/main" id="{B82CFE07-6820-1766-341D-9D7BF6AA2E3D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4867537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線矢印コネクタ 138">
                <a:extLst>
                  <a:ext uri="{FF2B5EF4-FFF2-40B4-BE49-F238E27FC236}">
                    <a16:creationId xmlns:a16="http://schemas.microsoft.com/office/drawing/2014/main" id="{5857BCD4-9E44-DDA6-8249-0BB796128D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0247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線コネクタ 139">
                <a:extLst>
                  <a:ext uri="{FF2B5EF4-FFF2-40B4-BE49-F238E27FC236}">
                    <a16:creationId xmlns:a16="http://schemas.microsoft.com/office/drawing/2014/main" id="{CD1D8427-D540-56B4-C323-27456022E0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38821" y="2985918"/>
                <a:ext cx="7473766" cy="9811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正方形/長方形 71">
                <a:extLst>
                  <a:ext uri="{FF2B5EF4-FFF2-40B4-BE49-F238E27FC236}">
                    <a16:creationId xmlns:a16="http://schemas.microsoft.com/office/drawing/2014/main" id="{8831C093-6012-C795-7A2C-962F64C42C0F}"/>
                  </a:ext>
                </a:extLst>
              </p:cNvPr>
              <p:cNvSpPr/>
              <p:nvPr/>
            </p:nvSpPr>
            <p:spPr>
              <a:xfrm>
                <a:off x="2847436" y="2946470"/>
                <a:ext cx="84694" cy="8890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42" name="テキスト ボックス 141">
                <a:extLst>
                  <a:ext uri="{FF2B5EF4-FFF2-40B4-BE49-F238E27FC236}">
                    <a16:creationId xmlns:a16="http://schemas.microsoft.com/office/drawing/2014/main" id="{ADDCDBD6-A42C-62A8-4A2C-DEFABC62DF3C}"/>
                  </a:ext>
                </a:extLst>
              </p:cNvPr>
              <p:cNvSpPr txBox="1"/>
              <p:nvPr/>
            </p:nvSpPr>
            <p:spPr>
              <a:xfrm>
                <a:off x="144102" y="2759990"/>
                <a:ext cx="1071710" cy="433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Neutron beam path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143" name="テキスト ボックス 142">
                <a:extLst>
                  <a:ext uri="{FF2B5EF4-FFF2-40B4-BE49-F238E27FC236}">
                    <a16:creationId xmlns:a16="http://schemas.microsoft.com/office/drawing/2014/main" id="{22094CBD-6947-C2D1-33FB-6F0B56EB9860}"/>
                  </a:ext>
                </a:extLst>
              </p:cNvPr>
              <p:cNvSpPr txBox="1"/>
              <p:nvPr/>
            </p:nvSpPr>
            <p:spPr>
              <a:xfrm>
                <a:off x="658445" y="2149183"/>
                <a:ext cx="1155006" cy="433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Magnetic field direction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144" name="直線コネクタ 143">
                <a:extLst>
                  <a:ext uri="{FF2B5EF4-FFF2-40B4-BE49-F238E27FC236}">
                    <a16:creationId xmlns:a16="http://schemas.microsoft.com/office/drawing/2014/main" id="{CB36B824-DB32-77EB-8759-CEBACCD7A1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8033" y="2531220"/>
                <a:ext cx="94224" cy="23614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9" name="直線コネクタ 158">
              <a:extLst>
                <a:ext uri="{FF2B5EF4-FFF2-40B4-BE49-F238E27FC236}">
                  <a16:creationId xmlns:a16="http://schemas.microsoft.com/office/drawing/2014/main" id="{F1577166-591F-3473-7382-9A7869B8778A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022861" y="2880000"/>
              <a:ext cx="3960000" cy="9811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テキスト ボックス 163">
              <a:extLst>
                <a:ext uri="{FF2B5EF4-FFF2-40B4-BE49-F238E27FC236}">
                  <a16:creationId xmlns:a16="http://schemas.microsoft.com/office/drawing/2014/main" id="{2D90FE06-9453-FD63-1E89-CFB6F08A2300}"/>
                </a:ext>
              </a:extLst>
            </p:cNvPr>
            <p:cNvSpPr txBox="1"/>
            <p:nvPr/>
          </p:nvSpPr>
          <p:spPr>
            <a:xfrm>
              <a:off x="4352259" y="940260"/>
              <a:ext cx="798534" cy="2483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740" dirty="0" err="1">
                  <a:latin typeface="Helvetica" pitchFamily="2" charset="0"/>
                </a:rPr>
                <a:t>ω</a:t>
              </a:r>
              <a:r>
                <a:rPr lang="en-US" altLang="ja-JP" sz="1740" dirty="0">
                  <a:latin typeface="Helvetica" pitchFamily="2" charset="0"/>
                </a:rPr>
                <a:t> rotation</a:t>
              </a:r>
              <a:endParaRPr lang="ja-JP" altLang="en-US" sz="174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9244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5B0ADA4F-093A-6372-8621-E4BCFF968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5618" y="1143649"/>
            <a:ext cx="8027658" cy="9574271"/>
          </a:xfrm>
          <a:prstGeom prst="rect">
            <a:avLst/>
          </a:prstGeom>
        </p:spPr>
      </p:pic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B75EAEC4-9499-5C70-437D-EDC997261C23}"/>
              </a:ext>
            </a:extLst>
          </p:cNvPr>
          <p:cNvGrpSpPr/>
          <p:nvPr/>
        </p:nvGrpSpPr>
        <p:grpSpPr>
          <a:xfrm rot="16200000">
            <a:off x="4498101" y="3912710"/>
            <a:ext cx="2561273" cy="4205084"/>
            <a:chOff x="1690201" y="1904427"/>
            <a:chExt cx="1766677" cy="2900521"/>
          </a:xfrm>
        </p:grpSpPr>
        <p:sp>
          <p:nvSpPr>
            <p:cNvPr id="5" name="円/楕円 4">
              <a:extLst>
                <a:ext uri="{FF2B5EF4-FFF2-40B4-BE49-F238E27FC236}">
                  <a16:creationId xmlns:a16="http://schemas.microsoft.com/office/drawing/2014/main" id="{379EBC44-4B5D-4A52-C645-28524C2B9F04}"/>
                </a:ext>
              </a:extLst>
            </p:cNvPr>
            <p:cNvSpPr/>
            <p:nvPr/>
          </p:nvSpPr>
          <p:spPr>
            <a:xfrm>
              <a:off x="2040673" y="2588321"/>
              <a:ext cx="1416205" cy="141620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A882771E-6849-AF3B-573D-C36E30E97AF0}"/>
                </a:ext>
              </a:extLst>
            </p:cNvPr>
            <p:cNvGrpSpPr/>
            <p:nvPr/>
          </p:nvGrpSpPr>
          <p:grpSpPr>
            <a:xfrm rot="1920000">
              <a:off x="1690201" y="3598729"/>
              <a:ext cx="975485" cy="1206219"/>
              <a:chOff x="1065188" y="4581148"/>
              <a:chExt cx="975485" cy="1206219"/>
            </a:xfrm>
          </p:grpSpPr>
          <p:grpSp>
            <p:nvGrpSpPr>
              <p:cNvPr id="17" name="グループ化 16">
                <a:extLst>
                  <a:ext uri="{FF2B5EF4-FFF2-40B4-BE49-F238E27FC236}">
                    <a16:creationId xmlns:a16="http://schemas.microsoft.com/office/drawing/2014/main" id="{57A3D423-262D-33B5-DDF5-0A0413C39178}"/>
                  </a:ext>
                </a:extLst>
              </p:cNvPr>
              <p:cNvGrpSpPr/>
              <p:nvPr/>
            </p:nvGrpSpPr>
            <p:grpSpPr>
              <a:xfrm rot="16200000">
                <a:off x="1274265" y="4608909"/>
                <a:ext cx="557328" cy="501805"/>
                <a:chOff x="1611589" y="4646196"/>
                <a:chExt cx="702527" cy="501805"/>
              </a:xfrm>
            </p:grpSpPr>
            <p:sp>
              <p:nvSpPr>
                <p:cNvPr id="14" name="角丸四角形 13">
                  <a:extLst>
                    <a:ext uri="{FF2B5EF4-FFF2-40B4-BE49-F238E27FC236}">
                      <a16:creationId xmlns:a16="http://schemas.microsoft.com/office/drawing/2014/main" id="{58D0274C-C254-0ED8-9832-D5AF0BE26CED}"/>
                    </a:ext>
                  </a:extLst>
                </p:cNvPr>
                <p:cNvSpPr/>
                <p:nvPr/>
              </p:nvSpPr>
              <p:spPr>
                <a:xfrm rot="5400000">
                  <a:off x="1711950" y="4545835"/>
                  <a:ext cx="501805" cy="702527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5" name="角丸四角形 14">
                  <a:extLst>
                    <a:ext uri="{FF2B5EF4-FFF2-40B4-BE49-F238E27FC236}">
                      <a16:creationId xmlns:a16="http://schemas.microsoft.com/office/drawing/2014/main" id="{1F812631-5DBD-5E38-A31A-0A922180C616}"/>
                    </a:ext>
                  </a:extLst>
                </p:cNvPr>
                <p:cNvSpPr/>
                <p:nvPr/>
              </p:nvSpPr>
              <p:spPr>
                <a:xfrm rot="5400000">
                  <a:off x="1751180" y="4688987"/>
                  <a:ext cx="423343" cy="416221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6" name="角丸四角形 15">
                  <a:extLst>
                    <a:ext uri="{FF2B5EF4-FFF2-40B4-BE49-F238E27FC236}">
                      <a16:creationId xmlns:a16="http://schemas.microsoft.com/office/drawing/2014/main" id="{70B62A3F-4BFF-5DE8-3192-39EC91709AE8}"/>
                    </a:ext>
                  </a:extLst>
                </p:cNvPr>
                <p:cNvSpPr/>
                <p:nvPr/>
              </p:nvSpPr>
              <p:spPr>
                <a:xfrm rot="5400000">
                  <a:off x="1807763" y="4765186"/>
                  <a:ext cx="310175" cy="263822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</p:grpSp>
          <p:sp>
            <p:nvSpPr>
              <p:cNvPr id="18" name="角丸四角形 17">
                <a:extLst>
                  <a:ext uri="{FF2B5EF4-FFF2-40B4-BE49-F238E27FC236}">
                    <a16:creationId xmlns:a16="http://schemas.microsoft.com/office/drawing/2014/main" id="{624B06DE-A606-3D76-D973-3503FC26FECD}"/>
                  </a:ext>
                </a:extLst>
              </p:cNvPr>
              <p:cNvSpPr/>
              <p:nvPr/>
            </p:nvSpPr>
            <p:spPr>
              <a:xfrm>
                <a:off x="1302027" y="5157769"/>
                <a:ext cx="501805" cy="443762"/>
              </a:xfrm>
              <a:prstGeom prst="roundRect">
                <a:avLst>
                  <a:gd name="adj" fmla="val 0"/>
                </a:avLst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9" name="角丸四角形 18">
                <a:extLst>
                  <a:ext uri="{FF2B5EF4-FFF2-40B4-BE49-F238E27FC236}">
                    <a16:creationId xmlns:a16="http://schemas.microsoft.com/office/drawing/2014/main" id="{782FB9ED-9430-6806-E730-A607ED3A14F3}"/>
                  </a:ext>
                </a:extLst>
              </p:cNvPr>
              <p:cNvSpPr/>
              <p:nvPr/>
            </p:nvSpPr>
            <p:spPr>
              <a:xfrm>
                <a:off x="1065188" y="5620824"/>
                <a:ext cx="975485" cy="166543"/>
              </a:xfrm>
              <a:prstGeom prst="roundRect">
                <a:avLst>
                  <a:gd name="adj" fmla="val 0"/>
                </a:avLst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</p:grpSp>
        <p:sp>
          <p:nvSpPr>
            <p:cNvPr id="6" name="円/楕円 5">
              <a:extLst>
                <a:ext uri="{FF2B5EF4-FFF2-40B4-BE49-F238E27FC236}">
                  <a16:creationId xmlns:a16="http://schemas.microsoft.com/office/drawing/2014/main" id="{41A0DAE4-8231-27A1-89D0-C46A8CB84D70}"/>
                </a:ext>
              </a:extLst>
            </p:cNvPr>
            <p:cNvSpPr/>
            <p:nvPr/>
          </p:nvSpPr>
          <p:spPr>
            <a:xfrm>
              <a:off x="2250687" y="2798335"/>
              <a:ext cx="996175" cy="996175"/>
            </a:xfrm>
            <a:prstGeom prst="ellipse">
              <a:avLst/>
            </a:prstGeom>
            <a:solidFill>
              <a:srgbClr val="BFBFB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7" name="円/楕円 6">
              <a:extLst>
                <a:ext uri="{FF2B5EF4-FFF2-40B4-BE49-F238E27FC236}">
                  <a16:creationId xmlns:a16="http://schemas.microsoft.com/office/drawing/2014/main" id="{9999CD35-54CB-713A-6ED5-EB4709D9458D}"/>
                </a:ext>
              </a:extLst>
            </p:cNvPr>
            <p:cNvSpPr/>
            <p:nvPr/>
          </p:nvSpPr>
          <p:spPr>
            <a:xfrm>
              <a:off x="2298388" y="2846036"/>
              <a:ext cx="900772" cy="900772"/>
            </a:xfrm>
            <a:prstGeom prst="ellipse">
              <a:avLst/>
            </a:prstGeom>
            <a:solidFill>
              <a:srgbClr val="C1343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8" name="円/楕円 7">
              <a:extLst>
                <a:ext uri="{FF2B5EF4-FFF2-40B4-BE49-F238E27FC236}">
                  <a16:creationId xmlns:a16="http://schemas.microsoft.com/office/drawing/2014/main" id="{1DF5C62F-CADC-DCD3-8082-78BDE8F7B03F}"/>
                </a:ext>
              </a:extLst>
            </p:cNvPr>
            <p:cNvSpPr/>
            <p:nvPr/>
          </p:nvSpPr>
          <p:spPr>
            <a:xfrm>
              <a:off x="2388774" y="2936422"/>
              <a:ext cx="720000" cy="72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9" name="円/楕円 8">
              <a:extLst>
                <a:ext uri="{FF2B5EF4-FFF2-40B4-BE49-F238E27FC236}">
                  <a16:creationId xmlns:a16="http://schemas.microsoft.com/office/drawing/2014/main" id="{8B919886-B978-EB7B-7D30-D99CB451DB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42774" y="2990422"/>
              <a:ext cx="612000" cy="61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0" name="円/楕円 9">
              <a:extLst>
                <a:ext uri="{FF2B5EF4-FFF2-40B4-BE49-F238E27FC236}">
                  <a16:creationId xmlns:a16="http://schemas.microsoft.com/office/drawing/2014/main" id="{1082C011-EC51-4BE6-07DF-3B80DC8343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32774" y="3080422"/>
              <a:ext cx="432000" cy="43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2" name="円/楕円 11">
              <a:extLst>
                <a:ext uri="{FF2B5EF4-FFF2-40B4-BE49-F238E27FC236}">
                  <a16:creationId xmlns:a16="http://schemas.microsoft.com/office/drawing/2014/main" id="{C77140B7-F245-FAC2-1E76-CF623A9180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94774" y="3242422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8DA5A5CD-D01A-1C82-3601-E1356275F1D4}"/>
                </a:ext>
              </a:extLst>
            </p:cNvPr>
            <p:cNvCxnSpPr>
              <a:cxnSpLocks/>
            </p:cNvCxnSpPr>
            <p:nvPr/>
          </p:nvCxnSpPr>
          <p:spPr>
            <a:xfrm>
              <a:off x="2748774" y="1904427"/>
              <a:ext cx="0" cy="219600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46785565-B642-8CB0-58C1-7E2C6101B53F}"/>
                </a:ext>
              </a:extLst>
            </p:cNvPr>
            <p:cNvCxnSpPr>
              <a:cxnSpLocks/>
            </p:cNvCxnSpPr>
            <p:nvPr/>
          </p:nvCxnSpPr>
          <p:spPr>
            <a:xfrm rot="1920000">
              <a:off x="2349792" y="3175126"/>
              <a:ext cx="0" cy="151200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EC0B7E80-CBDA-C1EF-52EC-B2E6039B34DD}"/>
                </a:ext>
              </a:extLst>
            </p:cNvPr>
            <p:cNvSpPr/>
            <p:nvPr/>
          </p:nvSpPr>
          <p:spPr>
            <a:xfrm>
              <a:off x="2574820" y="4102100"/>
              <a:ext cx="347907" cy="146804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</p:grp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2F57C11-19B7-D473-C134-28DFEB8BEA76}"/>
              </a:ext>
            </a:extLst>
          </p:cNvPr>
          <p:cNvSpPr txBox="1"/>
          <p:nvPr/>
        </p:nvSpPr>
        <p:spPr>
          <a:xfrm>
            <a:off x="10391175" y="7134483"/>
            <a:ext cx="2037737" cy="4493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320" dirty="0">
                <a:latin typeface="Helvetica" pitchFamily="2" charset="0"/>
                <a:cs typeface="Times New Roman" panose="02020603050405020304" pitchFamily="18" charset="0"/>
              </a:rPr>
              <a:t>Beam stopper</a:t>
            </a:r>
            <a:endParaRPr lang="ja-JP" altLang="en-US" sz="2320"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1D92A9EC-438A-8346-38FC-16146A383BAB}"/>
              </a:ext>
            </a:extLst>
          </p:cNvPr>
          <p:cNvSpPr txBox="1"/>
          <p:nvPr/>
        </p:nvSpPr>
        <p:spPr>
          <a:xfrm>
            <a:off x="8646192" y="5607080"/>
            <a:ext cx="2037737" cy="4493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320" dirty="0">
                <a:latin typeface="Helvetica" pitchFamily="2" charset="0"/>
                <a:cs typeface="Times New Roman" panose="02020603050405020304" pitchFamily="18" charset="0"/>
              </a:rPr>
              <a:t>Beam stopper</a:t>
            </a:r>
            <a:endParaRPr lang="ja-JP" altLang="en-US" sz="2320">
              <a:latin typeface="Helvetica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793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928F9-6402-4DC8-0334-3D049EB44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9638153E-FF3A-3AA8-E828-E062A71B7910}"/>
              </a:ext>
            </a:extLst>
          </p:cNvPr>
          <p:cNvSpPr txBox="1"/>
          <p:nvPr/>
        </p:nvSpPr>
        <p:spPr>
          <a:xfrm>
            <a:off x="-5772870" y="-1627911"/>
            <a:ext cx="1341136" cy="4493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320" dirty="0">
                <a:latin typeface="Helvetica" pitchFamily="2" charset="0"/>
                <a:cs typeface="Times New Roman" panose="02020603050405020304" pitchFamily="18" charset="0"/>
              </a:rPr>
              <a:t>Top view</a:t>
            </a:r>
            <a:endParaRPr lang="ja-JP" altLang="en-US" sz="2320"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9F166BF8-6A6B-FB1A-B01A-95102C98CAB0}"/>
              </a:ext>
            </a:extLst>
          </p:cNvPr>
          <p:cNvSpPr txBox="1"/>
          <p:nvPr/>
        </p:nvSpPr>
        <p:spPr>
          <a:xfrm>
            <a:off x="-6035188" y="-2659208"/>
            <a:ext cx="3180679" cy="62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40" dirty="0">
                <a:latin typeface="Helvetica" pitchFamily="2" charset="0"/>
              </a:rPr>
              <a:t>Incident neutron beam</a:t>
            </a:r>
            <a:br>
              <a:rPr lang="en-US" altLang="ja-JP" sz="1740" dirty="0">
                <a:latin typeface="Helvetica" pitchFamily="2" charset="0"/>
              </a:rPr>
            </a:br>
            <a:r>
              <a:rPr lang="en-US" altLang="ja-JP" sz="1740" dirty="0">
                <a:latin typeface="Helvetica" pitchFamily="2" charset="0"/>
              </a:rPr>
              <a:t>(polarized by Cu</a:t>
            </a:r>
            <a:r>
              <a:rPr lang="en-US" altLang="ja-JP" sz="1740" baseline="-25000" dirty="0">
                <a:latin typeface="Helvetica" pitchFamily="2" charset="0"/>
              </a:rPr>
              <a:t>2</a:t>
            </a:r>
            <a:r>
              <a:rPr lang="en-US" altLang="ja-JP" sz="1740" dirty="0">
                <a:latin typeface="Helvetica" pitchFamily="2" charset="0"/>
              </a:rPr>
              <a:t>MnAl crystal)</a:t>
            </a:r>
            <a:endParaRPr lang="ja-JP" altLang="en-US" sz="1740">
              <a:latin typeface="Helvetica" pitchFamily="2" charset="0"/>
            </a:endParaRPr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7CE05B23-53C6-80E2-ABD8-574E36312F21}"/>
              </a:ext>
            </a:extLst>
          </p:cNvPr>
          <p:cNvSpPr txBox="1"/>
          <p:nvPr/>
        </p:nvSpPr>
        <p:spPr>
          <a:xfrm>
            <a:off x="-3190143" y="950941"/>
            <a:ext cx="939681" cy="36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40" dirty="0">
                <a:latin typeface="Helvetica" pitchFamily="2" charset="0"/>
              </a:rPr>
              <a:t>Sample</a:t>
            </a:r>
            <a:endParaRPr lang="ja-JP" altLang="en-US" sz="1740">
              <a:latin typeface="Helvetica" pitchFamily="2" charset="0"/>
            </a:endParaRPr>
          </a:p>
        </p:txBody>
      </p:sp>
      <p:grpSp>
        <p:nvGrpSpPr>
          <p:cNvPr id="198" name="グループ化 197">
            <a:extLst>
              <a:ext uri="{FF2B5EF4-FFF2-40B4-BE49-F238E27FC236}">
                <a16:creationId xmlns:a16="http://schemas.microsoft.com/office/drawing/2014/main" id="{C6922390-AC97-77A8-72E9-A6B9591CFBA1}"/>
              </a:ext>
            </a:extLst>
          </p:cNvPr>
          <p:cNvGrpSpPr/>
          <p:nvPr/>
        </p:nvGrpSpPr>
        <p:grpSpPr>
          <a:xfrm>
            <a:off x="4009144" y="1127584"/>
            <a:ext cx="12743655" cy="9966660"/>
            <a:chOff x="1352936" y="-16656"/>
            <a:chExt cx="8790131" cy="6874656"/>
          </a:xfrm>
        </p:grpSpPr>
        <p:grpSp>
          <p:nvGrpSpPr>
            <p:cNvPr id="188" name="グループ化 187">
              <a:extLst>
                <a:ext uri="{FF2B5EF4-FFF2-40B4-BE49-F238E27FC236}">
                  <a16:creationId xmlns:a16="http://schemas.microsoft.com/office/drawing/2014/main" id="{9ABFCF7F-5659-739D-6B81-3F48A9524BC9}"/>
                </a:ext>
              </a:extLst>
            </p:cNvPr>
            <p:cNvGrpSpPr/>
            <p:nvPr/>
          </p:nvGrpSpPr>
          <p:grpSpPr>
            <a:xfrm>
              <a:off x="1352936" y="-16656"/>
              <a:ext cx="8790131" cy="6874656"/>
              <a:chOff x="1265850" y="-25443"/>
              <a:chExt cx="8790131" cy="6874656"/>
            </a:xfrm>
          </p:grpSpPr>
          <p:grpSp>
            <p:nvGrpSpPr>
              <p:cNvPr id="182" name="グループ化 181">
                <a:extLst>
                  <a:ext uri="{FF2B5EF4-FFF2-40B4-BE49-F238E27FC236}">
                    <a16:creationId xmlns:a16="http://schemas.microsoft.com/office/drawing/2014/main" id="{61E66263-4218-3504-FBD6-04C8D31DE0CA}"/>
                  </a:ext>
                </a:extLst>
              </p:cNvPr>
              <p:cNvGrpSpPr/>
              <p:nvPr/>
            </p:nvGrpSpPr>
            <p:grpSpPr>
              <a:xfrm>
                <a:off x="1265850" y="-25443"/>
                <a:ext cx="8790131" cy="6874656"/>
                <a:chOff x="1265850" y="-25443"/>
                <a:chExt cx="8790131" cy="6874656"/>
              </a:xfrm>
            </p:grpSpPr>
            <p:sp>
              <p:nvSpPr>
                <p:cNvPr id="85" name="テキスト ボックス 84">
                  <a:extLst>
                    <a:ext uri="{FF2B5EF4-FFF2-40B4-BE49-F238E27FC236}">
                      <a16:creationId xmlns:a16="http://schemas.microsoft.com/office/drawing/2014/main" id="{5DE63A2D-483B-3739-D179-3BD8DD67FB1F}"/>
                    </a:ext>
                  </a:extLst>
                </p:cNvPr>
                <p:cNvSpPr txBox="1"/>
                <p:nvPr/>
              </p:nvSpPr>
              <p:spPr>
                <a:xfrm>
                  <a:off x="1288207" y="3307498"/>
                  <a:ext cx="1005298" cy="3099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320" dirty="0">
                      <a:latin typeface="Helvetica" pitchFamily="2" charset="0"/>
                      <a:cs typeface="Times New Roman" panose="02020603050405020304" pitchFamily="18" charset="0"/>
                    </a:rPr>
                    <a:t>Side view</a:t>
                  </a:r>
                  <a:endParaRPr lang="ja-JP" altLang="en-US" sz="2320">
                    <a:latin typeface="Helvetica" pitchFamily="2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55" name="グループ化 154">
                  <a:extLst>
                    <a:ext uri="{FF2B5EF4-FFF2-40B4-BE49-F238E27FC236}">
                      <a16:creationId xmlns:a16="http://schemas.microsoft.com/office/drawing/2014/main" id="{716B64F5-5A21-64F3-7BB5-183B287C06D3}"/>
                    </a:ext>
                  </a:extLst>
                </p:cNvPr>
                <p:cNvGrpSpPr/>
                <p:nvPr/>
              </p:nvGrpSpPr>
              <p:grpSpPr>
                <a:xfrm>
                  <a:off x="1976839" y="3233662"/>
                  <a:ext cx="7811525" cy="3615551"/>
                  <a:chOff x="1947586" y="2840648"/>
                  <a:chExt cx="8695118" cy="4024521"/>
                </a:xfrm>
              </p:grpSpPr>
              <p:sp>
                <p:nvSpPr>
                  <p:cNvPr id="40" name="円柱 39">
                    <a:extLst>
                      <a:ext uri="{FF2B5EF4-FFF2-40B4-BE49-F238E27FC236}">
                        <a16:creationId xmlns:a16="http://schemas.microsoft.com/office/drawing/2014/main" id="{57467AB9-8C98-C39A-A07D-718A2A2BBF55}"/>
                      </a:ext>
                    </a:extLst>
                  </p:cNvPr>
                  <p:cNvSpPr/>
                  <p:nvPr/>
                </p:nvSpPr>
                <p:spPr>
                  <a:xfrm>
                    <a:off x="4751695" y="4016823"/>
                    <a:ext cx="401720" cy="2412567"/>
                  </a:xfrm>
                  <a:prstGeom prst="can">
                    <a:avLst>
                      <a:gd name="adj" fmla="val 0"/>
                    </a:avLst>
                  </a:prstGeom>
                  <a:solidFill>
                    <a:srgbClr val="B518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43" name="円柱 42">
                    <a:extLst>
                      <a:ext uri="{FF2B5EF4-FFF2-40B4-BE49-F238E27FC236}">
                        <a16:creationId xmlns:a16="http://schemas.microsoft.com/office/drawing/2014/main" id="{FEBE68F3-6619-BE32-6D19-0DB74C6B9EF2}"/>
                      </a:ext>
                    </a:extLst>
                  </p:cNvPr>
                  <p:cNvSpPr/>
                  <p:nvPr/>
                </p:nvSpPr>
                <p:spPr>
                  <a:xfrm>
                    <a:off x="3402015" y="4186268"/>
                    <a:ext cx="1451109" cy="2246540"/>
                  </a:xfrm>
                  <a:prstGeom prst="can">
                    <a:avLst>
                      <a:gd name="adj" fmla="val 0"/>
                    </a:avLst>
                  </a:prstGeom>
                  <a:solidFill>
                    <a:schemeClr val="bg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grpSp>
                <p:nvGrpSpPr>
                  <p:cNvPr id="140" name="グループ化 139">
                    <a:extLst>
                      <a:ext uri="{FF2B5EF4-FFF2-40B4-BE49-F238E27FC236}">
                        <a16:creationId xmlns:a16="http://schemas.microsoft.com/office/drawing/2014/main" id="{969FC5A6-63DC-C083-5482-12EB2E8D32C9}"/>
                      </a:ext>
                    </a:extLst>
                  </p:cNvPr>
                  <p:cNvGrpSpPr/>
                  <p:nvPr/>
                </p:nvGrpSpPr>
                <p:grpSpPr>
                  <a:xfrm>
                    <a:off x="2110713" y="4206078"/>
                    <a:ext cx="8531991" cy="2152802"/>
                    <a:chOff x="2109163" y="3841318"/>
                    <a:chExt cx="8446024" cy="2896756"/>
                  </a:xfrm>
                </p:grpSpPr>
                <p:grpSp>
                  <p:nvGrpSpPr>
                    <p:cNvPr id="23" name="グループ化 22">
                      <a:extLst>
                        <a:ext uri="{FF2B5EF4-FFF2-40B4-BE49-F238E27FC236}">
                          <a16:creationId xmlns:a16="http://schemas.microsoft.com/office/drawing/2014/main" id="{3E854746-A9F2-12EE-0609-C8048B4313E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826434" y="3841318"/>
                      <a:ext cx="1728753" cy="2896756"/>
                      <a:chOff x="7769702" y="1407882"/>
                      <a:chExt cx="1836341" cy="3077031"/>
                    </a:xfrm>
                    <a:solidFill>
                      <a:schemeClr val="bg2"/>
                    </a:solidFill>
                  </p:grpSpPr>
                  <p:sp>
                    <p:nvSpPr>
                      <p:cNvPr id="81" name="台形 80">
                        <a:extLst>
                          <a:ext uri="{FF2B5EF4-FFF2-40B4-BE49-F238E27FC236}">
                            <a16:creationId xmlns:a16="http://schemas.microsoft.com/office/drawing/2014/main" id="{7E780E6F-F846-5069-CDF2-4FC9448BB44C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6632451" y="2545133"/>
                        <a:ext cx="3077030" cy="802528"/>
                      </a:xfrm>
                      <a:prstGeom prst="trapezoid">
                        <a:avLst/>
                      </a:prstGeom>
                      <a:grpFill/>
                      <a:ln w="190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ja-JP" altLang="en-US" sz="2610"/>
                      </a:p>
                    </p:txBody>
                  </p:sp>
                  <p:sp>
                    <p:nvSpPr>
                      <p:cNvPr id="82" name="正方形/長方形 81">
                        <a:extLst>
                          <a:ext uri="{FF2B5EF4-FFF2-40B4-BE49-F238E27FC236}">
                            <a16:creationId xmlns:a16="http://schemas.microsoft.com/office/drawing/2014/main" id="{6E0F520F-4AB6-7F06-0207-70DD0F17DD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77946" y="1407885"/>
                        <a:ext cx="1028097" cy="3077028"/>
                      </a:xfrm>
                      <a:prstGeom prst="rect">
                        <a:avLst/>
                      </a:prstGeom>
                      <a:grpFill/>
                      <a:ln w="190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ja-JP" altLang="en-US" sz="2610"/>
                      </a:p>
                    </p:txBody>
                  </p:sp>
                </p:grpSp>
                <p:sp>
                  <p:nvSpPr>
                    <p:cNvPr id="26" name="円柱 25">
                      <a:extLst>
                        <a:ext uri="{FF2B5EF4-FFF2-40B4-BE49-F238E27FC236}">
                          <a16:creationId xmlns:a16="http://schemas.microsoft.com/office/drawing/2014/main" id="{D78C956F-B24D-1E5A-E7CC-BDC808148C75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7418235" y="4293571"/>
                      <a:ext cx="1978315" cy="1992253"/>
                    </a:xfrm>
                    <a:prstGeom prst="can">
                      <a:avLst/>
                    </a:prstGeom>
                    <a:noFill/>
                    <a:ln w="3810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31" name="円柱 30">
                      <a:extLst>
                        <a:ext uri="{FF2B5EF4-FFF2-40B4-BE49-F238E27FC236}">
                          <a16:creationId xmlns:a16="http://schemas.microsoft.com/office/drawing/2014/main" id="{FCC7530F-7093-D4ED-7312-99258A2C0B1B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116026" y="4889429"/>
                      <a:ext cx="910806" cy="765178"/>
                    </a:xfrm>
                    <a:prstGeom prst="can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32" name="円柱 31">
                      <a:extLst>
                        <a:ext uri="{FF2B5EF4-FFF2-40B4-BE49-F238E27FC236}">
                          <a16:creationId xmlns:a16="http://schemas.microsoft.com/office/drawing/2014/main" id="{B4C32D06-23D4-9198-CDCA-A72B1A2ADDAB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5811984" y="4576899"/>
                      <a:ext cx="1507188" cy="1426056"/>
                    </a:xfrm>
                    <a:prstGeom prst="can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33" name="円柱 32">
                      <a:extLst>
                        <a:ext uri="{FF2B5EF4-FFF2-40B4-BE49-F238E27FC236}">
                          <a16:creationId xmlns:a16="http://schemas.microsoft.com/office/drawing/2014/main" id="{5A8F0BBA-B464-5B6B-DF5D-A0656F624860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5551688" y="4063362"/>
                      <a:ext cx="1978315" cy="2452673"/>
                    </a:xfrm>
                    <a:prstGeom prst="can">
                      <a:avLst/>
                    </a:prstGeom>
                    <a:noFill/>
                    <a:ln w="349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34" name="円/楕円 33">
                      <a:extLst>
                        <a:ext uri="{FF2B5EF4-FFF2-40B4-BE49-F238E27FC236}">
                          <a16:creationId xmlns:a16="http://schemas.microsoft.com/office/drawing/2014/main" id="{515D955E-C5AA-B58C-67E6-DC756AB4AD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98304" y="4809751"/>
                      <a:ext cx="191213" cy="959893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35" name="円柱 34">
                      <a:extLst>
                        <a:ext uri="{FF2B5EF4-FFF2-40B4-BE49-F238E27FC236}">
                          <a16:creationId xmlns:a16="http://schemas.microsoft.com/office/drawing/2014/main" id="{C5FE4729-8D53-8102-D3E4-EDE91B62F2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20282" y="5792280"/>
                      <a:ext cx="290590" cy="77661"/>
                    </a:xfrm>
                    <a:prstGeom prst="can">
                      <a:avLst/>
                    </a:prstGeom>
                    <a:noFill/>
                    <a:ln w="1270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46" name="直線コネクタ 45">
                      <a:extLst>
                        <a:ext uri="{FF2B5EF4-FFF2-40B4-BE49-F238E27FC236}">
                          <a16:creationId xmlns:a16="http://schemas.microsoft.com/office/drawing/2014/main" id="{998AC6F0-D880-FB73-936A-A97333D3FCE4}"/>
                        </a:ext>
                      </a:extLst>
                    </p:cNvPr>
                    <p:cNvCxnSpPr>
                      <a:cxnSpLocks/>
                      <a:endCxn id="77" idx="3"/>
                    </p:cNvCxnSpPr>
                    <p:nvPr/>
                  </p:nvCxnSpPr>
                  <p:spPr>
                    <a:xfrm flipH="1">
                      <a:off x="4151632" y="4536332"/>
                      <a:ext cx="4993428" cy="728633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" name="直線コネクタ 47">
                      <a:extLst>
                        <a:ext uri="{FF2B5EF4-FFF2-40B4-BE49-F238E27FC236}">
                          <a16:creationId xmlns:a16="http://schemas.microsoft.com/office/drawing/2014/main" id="{E97D9E1A-660B-7527-E757-6D7283379DA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4018972" y="5264964"/>
                      <a:ext cx="4997894" cy="865611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7" name="直線コネクタ 66">
                      <a:extLst>
                        <a:ext uri="{FF2B5EF4-FFF2-40B4-BE49-F238E27FC236}">
                          <a16:creationId xmlns:a16="http://schemas.microsoft.com/office/drawing/2014/main" id="{395BC87F-E0AC-1C6D-C5D6-B4D3DDB1922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6575683" y="5846336"/>
                      <a:ext cx="102713" cy="586376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6" name="直線コネクタ 75">
                      <a:extLst>
                        <a:ext uri="{FF2B5EF4-FFF2-40B4-BE49-F238E27FC236}">
                          <a16:creationId xmlns:a16="http://schemas.microsoft.com/office/drawing/2014/main" id="{E8A60787-571B-C713-B657-AD7640A2DD8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2109163" y="5259387"/>
                      <a:ext cx="7035897" cy="9236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5" name="円/楕円 24">
                      <a:extLst>
                        <a:ext uri="{FF2B5EF4-FFF2-40B4-BE49-F238E27FC236}">
                          <a16:creationId xmlns:a16="http://schemas.microsoft.com/office/drawing/2014/main" id="{5178C88E-25A3-EC86-F173-D2BDDAAF47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94758" y="4316913"/>
                      <a:ext cx="522213" cy="1978316"/>
                    </a:xfrm>
                    <a:prstGeom prst="ellipse">
                      <a:avLst/>
                    </a:prstGeom>
                    <a:noFill/>
                    <a:ln w="12700">
                      <a:prstDash val="sys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</p:grpSp>
              <p:sp>
                <p:nvSpPr>
                  <p:cNvPr id="138" name="正方形/長方形 137">
                    <a:extLst>
                      <a:ext uri="{FF2B5EF4-FFF2-40B4-BE49-F238E27FC236}">
                        <a16:creationId xmlns:a16="http://schemas.microsoft.com/office/drawing/2014/main" id="{5634F552-46A1-60FD-F73E-36D91D9CDFEC}"/>
                      </a:ext>
                    </a:extLst>
                  </p:cNvPr>
                  <p:cNvSpPr/>
                  <p:nvPr/>
                </p:nvSpPr>
                <p:spPr>
                  <a:xfrm>
                    <a:off x="2603490" y="2840648"/>
                    <a:ext cx="3068147" cy="38251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3" name="環状矢印 2">
                    <a:extLst>
                      <a:ext uri="{FF2B5EF4-FFF2-40B4-BE49-F238E27FC236}">
                        <a16:creationId xmlns:a16="http://schemas.microsoft.com/office/drawing/2014/main" id="{6270FA05-CD74-8C41-00E4-BD173F5BE8F0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64799" y="2639314"/>
                    <a:ext cx="338611" cy="857583"/>
                  </a:xfrm>
                  <a:prstGeom prst="circularArrow">
                    <a:avLst>
                      <a:gd name="adj1" fmla="val 12500"/>
                      <a:gd name="adj2" fmla="val 1142319"/>
                      <a:gd name="adj3" fmla="val 20457681"/>
                      <a:gd name="adj4" fmla="val 529627"/>
                      <a:gd name="adj5" fmla="val 19306"/>
                    </a:avLst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" name="正方形/長方形 35">
                    <a:extLst>
                      <a:ext uri="{FF2B5EF4-FFF2-40B4-BE49-F238E27FC236}">
                        <a16:creationId xmlns:a16="http://schemas.microsoft.com/office/drawing/2014/main" id="{296C9FF5-B55D-F755-AD0A-33E2F557A1AE}"/>
                      </a:ext>
                    </a:extLst>
                  </p:cNvPr>
                  <p:cNvSpPr/>
                  <p:nvPr/>
                </p:nvSpPr>
                <p:spPr>
                  <a:xfrm>
                    <a:off x="3953742" y="3260044"/>
                    <a:ext cx="360728" cy="926225"/>
                  </a:xfrm>
                  <a:prstGeom prst="rect">
                    <a:avLst/>
                  </a:prstGeom>
                  <a:solidFill>
                    <a:schemeClr val="bg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37" name="円柱 36">
                    <a:extLst>
                      <a:ext uri="{FF2B5EF4-FFF2-40B4-BE49-F238E27FC236}">
                        <a16:creationId xmlns:a16="http://schemas.microsoft.com/office/drawing/2014/main" id="{2638917D-A650-1A48-B1A3-95D565700CB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2496484" y="3648364"/>
                    <a:ext cx="3275245" cy="288432"/>
                  </a:xfrm>
                  <a:prstGeom prst="can">
                    <a:avLst>
                      <a:gd name="adj" fmla="val 36370"/>
                    </a:avLst>
                  </a:prstGeom>
                  <a:solidFill>
                    <a:schemeClr val="bg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38" name="円柱 37">
                    <a:extLst>
                      <a:ext uri="{FF2B5EF4-FFF2-40B4-BE49-F238E27FC236}">
                        <a16:creationId xmlns:a16="http://schemas.microsoft.com/office/drawing/2014/main" id="{B599A319-4659-DE2E-DA13-2FE978FD87C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2807972" y="3864172"/>
                    <a:ext cx="2639197" cy="288432"/>
                  </a:xfrm>
                  <a:prstGeom prst="can">
                    <a:avLst>
                      <a:gd name="adj" fmla="val 5103"/>
                    </a:avLst>
                  </a:prstGeom>
                  <a:solidFill>
                    <a:srgbClr val="B518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39" name="円柱 38">
                    <a:extLst>
                      <a:ext uri="{FF2B5EF4-FFF2-40B4-BE49-F238E27FC236}">
                        <a16:creationId xmlns:a16="http://schemas.microsoft.com/office/drawing/2014/main" id="{7E8BC2E4-95AF-C2D9-A533-88FCA9453BCD}"/>
                      </a:ext>
                    </a:extLst>
                  </p:cNvPr>
                  <p:cNvSpPr/>
                  <p:nvPr/>
                </p:nvSpPr>
                <p:spPr>
                  <a:xfrm>
                    <a:off x="2489948" y="6576737"/>
                    <a:ext cx="3275245" cy="288432"/>
                  </a:xfrm>
                  <a:prstGeom prst="can">
                    <a:avLst>
                      <a:gd name="adj" fmla="val 36370"/>
                    </a:avLst>
                  </a:prstGeom>
                  <a:solidFill>
                    <a:schemeClr val="bg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41" name="円柱 40">
                    <a:extLst>
                      <a:ext uri="{FF2B5EF4-FFF2-40B4-BE49-F238E27FC236}">
                        <a16:creationId xmlns:a16="http://schemas.microsoft.com/office/drawing/2014/main" id="{8F3FAA9A-F960-64EC-EC94-EF63957B2763}"/>
                      </a:ext>
                    </a:extLst>
                  </p:cNvPr>
                  <p:cNvSpPr/>
                  <p:nvPr/>
                </p:nvSpPr>
                <p:spPr>
                  <a:xfrm>
                    <a:off x="3102453" y="4120900"/>
                    <a:ext cx="401720" cy="2412567"/>
                  </a:xfrm>
                  <a:prstGeom prst="can">
                    <a:avLst>
                      <a:gd name="adj" fmla="val 0"/>
                    </a:avLst>
                  </a:prstGeom>
                  <a:solidFill>
                    <a:srgbClr val="B518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42" name="円柱 41">
                    <a:extLst>
                      <a:ext uri="{FF2B5EF4-FFF2-40B4-BE49-F238E27FC236}">
                        <a16:creationId xmlns:a16="http://schemas.microsoft.com/office/drawing/2014/main" id="{DD44EE2D-C3C8-7FD5-ACF6-60DA7E8A649F}"/>
                      </a:ext>
                    </a:extLst>
                  </p:cNvPr>
                  <p:cNvSpPr/>
                  <p:nvPr/>
                </p:nvSpPr>
                <p:spPr>
                  <a:xfrm>
                    <a:off x="2814508" y="6355797"/>
                    <a:ext cx="2639197" cy="288432"/>
                  </a:xfrm>
                  <a:prstGeom prst="can">
                    <a:avLst/>
                  </a:prstGeom>
                  <a:solidFill>
                    <a:srgbClr val="B518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cxnSp>
                <p:nvCxnSpPr>
                  <p:cNvPr id="44" name="直線コネクタ 43">
                    <a:extLst>
                      <a:ext uri="{FF2B5EF4-FFF2-40B4-BE49-F238E27FC236}">
                        <a16:creationId xmlns:a16="http://schemas.microsoft.com/office/drawing/2014/main" id="{06C0E7C0-AFF0-D5D5-6BB2-EE92E8D48B6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11295" y="3833178"/>
                    <a:ext cx="0" cy="30993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直線コネクタ 44">
                    <a:extLst>
                      <a:ext uri="{FF2B5EF4-FFF2-40B4-BE49-F238E27FC236}">
                        <a16:creationId xmlns:a16="http://schemas.microsoft.com/office/drawing/2014/main" id="{FE6B80F8-CD6E-731B-8DEB-8E428D544E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952309" y="3838750"/>
                    <a:ext cx="0" cy="30993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7" name="円/楕円 46">
                    <a:extLst>
                      <a:ext uri="{FF2B5EF4-FFF2-40B4-BE49-F238E27FC236}">
                        <a16:creationId xmlns:a16="http://schemas.microsoft.com/office/drawing/2014/main" id="{C9BB445B-B692-622C-7B02-3EF244EB7211}"/>
                      </a:ext>
                    </a:extLst>
                  </p:cNvPr>
                  <p:cNvSpPr/>
                  <p:nvPr/>
                </p:nvSpPr>
                <p:spPr>
                  <a:xfrm>
                    <a:off x="9040090" y="4727824"/>
                    <a:ext cx="365291" cy="1179577"/>
                  </a:xfrm>
                  <a:prstGeom prst="ellipse">
                    <a:avLst/>
                  </a:prstGeom>
                  <a:noFill/>
                  <a:ln w="12700"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55" name="テキスト ボックス 54">
                    <a:extLst>
                      <a:ext uri="{FF2B5EF4-FFF2-40B4-BE49-F238E27FC236}">
                        <a16:creationId xmlns:a16="http://schemas.microsoft.com/office/drawing/2014/main" id="{47CE5A0A-722A-9F8E-1D4A-6636F453418D}"/>
                      </a:ext>
                    </a:extLst>
                  </p:cNvPr>
                  <p:cNvSpPr txBox="1"/>
                  <p:nvPr/>
                </p:nvSpPr>
                <p:spPr>
                  <a:xfrm>
                    <a:off x="6364711" y="6095026"/>
                    <a:ext cx="1079187" cy="55059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ja-JP" sz="2030" dirty="0">
                        <a:latin typeface="Helvetica" pitchFamily="2" charset="0"/>
                      </a:rPr>
                      <a:t>Pickup coil</a:t>
                    </a:r>
                    <a:endParaRPr lang="ja-JP" altLang="en-US" sz="2030">
                      <a:latin typeface="Helvetica" pitchFamily="2" charset="0"/>
                    </a:endParaRPr>
                  </a:p>
                </p:txBody>
              </p:sp>
              <p:cxnSp>
                <p:nvCxnSpPr>
                  <p:cNvPr id="69" name="直線矢印コネクタ 68">
                    <a:extLst>
                      <a:ext uri="{FF2B5EF4-FFF2-40B4-BE49-F238E27FC236}">
                        <a16:creationId xmlns:a16="http://schemas.microsoft.com/office/drawing/2014/main" id="{4E281995-AAF2-5CC7-9E5D-B956BE5876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96286" y="4985809"/>
                    <a:ext cx="0" cy="537489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直線矢印コネクタ 69">
                    <a:extLst>
                      <a:ext uri="{FF2B5EF4-FFF2-40B4-BE49-F238E27FC236}">
                        <a16:creationId xmlns:a16="http://schemas.microsoft.com/office/drawing/2014/main" id="{5D17D69F-7CA6-DBF1-DF1E-5F2BBCE2CD3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96385" y="4985809"/>
                    <a:ext cx="0" cy="537489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直線矢印コネクタ 70">
                    <a:extLst>
                      <a:ext uri="{FF2B5EF4-FFF2-40B4-BE49-F238E27FC236}">
                        <a16:creationId xmlns:a16="http://schemas.microsoft.com/office/drawing/2014/main" id="{B2BCB16F-5CFB-5A51-A5C3-5919A6D1717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200000">
                    <a:off x="5296087" y="4985809"/>
                    <a:ext cx="0" cy="537489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直線矢印コネクタ 71">
                    <a:extLst>
                      <a:ext uri="{FF2B5EF4-FFF2-40B4-BE49-F238E27FC236}">
                        <a16:creationId xmlns:a16="http://schemas.microsoft.com/office/drawing/2014/main" id="{99CAE21B-C366-0EF2-0091-7FF87F334D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96186" y="4985809"/>
                    <a:ext cx="0" cy="537489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直線矢印コネクタ 72">
                    <a:extLst>
                      <a:ext uri="{FF2B5EF4-FFF2-40B4-BE49-F238E27FC236}">
                        <a16:creationId xmlns:a16="http://schemas.microsoft.com/office/drawing/2014/main" id="{96AFC2BD-78C3-86C6-11CB-6B58CB4FCFB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6695887" y="4997765"/>
                    <a:ext cx="0" cy="537489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直線矢印コネクタ 73">
                    <a:extLst>
                      <a:ext uri="{FF2B5EF4-FFF2-40B4-BE49-F238E27FC236}">
                        <a16:creationId xmlns:a16="http://schemas.microsoft.com/office/drawing/2014/main" id="{3BAA5187-FDE9-405E-F0E5-7BCD1ED0C2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600000">
                    <a:off x="5995988" y="4985809"/>
                    <a:ext cx="0" cy="537489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" name="直線矢印コネクタ 74">
                    <a:extLst>
                      <a:ext uri="{FF2B5EF4-FFF2-40B4-BE49-F238E27FC236}">
                        <a16:creationId xmlns:a16="http://schemas.microsoft.com/office/drawing/2014/main" id="{2FB5371E-7AB7-C424-1481-DEE8140014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96484" y="4985809"/>
                    <a:ext cx="0" cy="537489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" name="正方形/長方形 76">
                    <a:extLst>
                      <a:ext uri="{FF2B5EF4-FFF2-40B4-BE49-F238E27FC236}">
                        <a16:creationId xmlns:a16="http://schemas.microsoft.com/office/drawing/2014/main" id="{E2D37731-5981-AEB7-E439-42FA732FD2A1}"/>
                      </a:ext>
                    </a:extLst>
                  </p:cNvPr>
                  <p:cNvSpPr/>
                  <p:nvPr/>
                </p:nvSpPr>
                <p:spPr>
                  <a:xfrm>
                    <a:off x="4094239" y="5222250"/>
                    <a:ext cx="79732" cy="83698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79" name="テキスト ボックス 78">
                    <a:extLst>
                      <a:ext uri="{FF2B5EF4-FFF2-40B4-BE49-F238E27FC236}">
                        <a16:creationId xmlns:a16="http://schemas.microsoft.com/office/drawing/2014/main" id="{44F8FC28-DB4C-86B8-91F7-E2A10CCF5C7E}"/>
                      </a:ext>
                    </a:extLst>
                  </p:cNvPr>
                  <p:cNvSpPr txBox="1"/>
                  <p:nvPr/>
                </p:nvSpPr>
                <p:spPr>
                  <a:xfrm>
                    <a:off x="1947586" y="4379871"/>
                    <a:ext cx="1622630" cy="55059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ja-JP" sz="2030" dirty="0">
                        <a:latin typeface="Helvetica" pitchFamily="2" charset="0"/>
                      </a:rPr>
                      <a:t>Magnetic field direction</a:t>
                    </a:r>
                    <a:endParaRPr lang="ja-JP" altLang="en-US" sz="2030">
                      <a:latin typeface="Helvetica" pitchFamily="2" charset="0"/>
                    </a:endParaRPr>
                  </a:p>
                </p:txBody>
              </p:sp>
              <p:cxnSp>
                <p:nvCxnSpPr>
                  <p:cNvPr id="80" name="直線コネクタ 79">
                    <a:extLst>
                      <a:ext uri="{FF2B5EF4-FFF2-40B4-BE49-F238E27FC236}">
                        <a16:creationId xmlns:a16="http://schemas.microsoft.com/office/drawing/2014/main" id="{E3F5D810-F576-F68C-F0EC-D6B58AC6EAE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72017" y="4831328"/>
                    <a:ext cx="88704" cy="22231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直線コネクタ 12">
                    <a:extLst>
                      <a:ext uri="{FF2B5EF4-FFF2-40B4-BE49-F238E27FC236}">
                        <a16:creationId xmlns:a16="http://schemas.microsoft.com/office/drawing/2014/main" id="{7F0EC552-AEAC-3981-B5BB-3042B12DB9C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262180" y="4710547"/>
                    <a:ext cx="3727993" cy="923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1" name="テキスト ボックス 20">
                    <a:extLst>
                      <a:ext uri="{FF2B5EF4-FFF2-40B4-BE49-F238E27FC236}">
                        <a16:creationId xmlns:a16="http://schemas.microsoft.com/office/drawing/2014/main" id="{CE46ACDE-E1EF-5830-21DE-93CCF7C8BE5F}"/>
                      </a:ext>
                    </a:extLst>
                  </p:cNvPr>
                  <p:cNvSpPr txBox="1"/>
                  <p:nvPr/>
                </p:nvSpPr>
                <p:spPr>
                  <a:xfrm>
                    <a:off x="4455104" y="2884452"/>
                    <a:ext cx="1013166" cy="3107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ja-JP" sz="2030" dirty="0" err="1">
                        <a:latin typeface="Helvetica" pitchFamily="2" charset="0"/>
                      </a:rPr>
                      <a:t>ω</a:t>
                    </a:r>
                    <a:r>
                      <a:rPr lang="en-US" altLang="ja-JP" sz="2030" dirty="0">
                        <a:latin typeface="Helvetica" pitchFamily="2" charset="0"/>
                      </a:rPr>
                      <a:t> rotation</a:t>
                    </a:r>
                    <a:endParaRPr lang="ja-JP" altLang="en-US" sz="2030">
                      <a:latin typeface="Helvetica" pitchFamily="2" charset="0"/>
                    </a:endParaRPr>
                  </a:p>
                </p:txBody>
              </p:sp>
            </p:grpSp>
            <p:grpSp>
              <p:nvGrpSpPr>
                <p:cNvPr id="110" name="グループ化 109">
                  <a:extLst>
                    <a:ext uri="{FF2B5EF4-FFF2-40B4-BE49-F238E27FC236}">
                      <a16:creationId xmlns:a16="http://schemas.microsoft.com/office/drawing/2014/main" id="{F48AD2EC-8E8A-6F0D-439A-6F62DDE752A1}"/>
                    </a:ext>
                  </a:extLst>
                </p:cNvPr>
                <p:cNvGrpSpPr/>
                <p:nvPr/>
              </p:nvGrpSpPr>
              <p:grpSpPr>
                <a:xfrm>
                  <a:off x="2132150" y="-25443"/>
                  <a:ext cx="3707396" cy="3240474"/>
                  <a:chOff x="2509620" y="-109443"/>
                  <a:chExt cx="3316105" cy="2898462"/>
                </a:xfrm>
              </p:grpSpPr>
              <p:sp>
                <p:nvSpPr>
                  <p:cNvPr id="5" name="円/楕円 4">
                    <a:extLst>
                      <a:ext uri="{FF2B5EF4-FFF2-40B4-BE49-F238E27FC236}">
                        <a16:creationId xmlns:a16="http://schemas.microsoft.com/office/drawing/2014/main" id="{FFA2B37F-2452-924D-05C3-260E55E763FE}"/>
                      </a:ext>
                    </a:extLst>
                  </p:cNvPr>
                  <p:cNvSpPr/>
                  <p:nvPr/>
                </p:nvSpPr>
                <p:spPr>
                  <a:xfrm rot="14330460">
                    <a:off x="2686665" y="-109443"/>
                    <a:ext cx="2898462" cy="2898462"/>
                  </a:xfrm>
                  <a:prstGeom prst="ellipse">
                    <a:avLst/>
                  </a:prstGeom>
                  <a:solidFill>
                    <a:srgbClr val="E9E9E9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6" name="円/楕円 5">
                    <a:extLst>
                      <a:ext uri="{FF2B5EF4-FFF2-40B4-BE49-F238E27FC236}">
                        <a16:creationId xmlns:a16="http://schemas.microsoft.com/office/drawing/2014/main" id="{9AE0388B-10B5-402B-AD60-FFB27FCF3004}"/>
                      </a:ext>
                    </a:extLst>
                  </p:cNvPr>
                  <p:cNvSpPr/>
                  <p:nvPr/>
                </p:nvSpPr>
                <p:spPr>
                  <a:xfrm rot="14330460">
                    <a:off x="2972310" y="202064"/>
                    <a:ext cx="2300509" cy="2300510"/>
                  </a:xfrm>
                  <a:prstGeom prst="ellipse">
                    <a:avLst/>
                  </a:prstGeom>
                  <a:solidFill>
                    <a:srgbClr val="E9E9E9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7" name="円/楕円 6">
                    <a:extLst>
                      <a:ext uri="{FF2B5EF4-FFF2-40B4-BE49-F238E27FC236}">
                        <a16:creationId xmlns:a16="http://schemas.microsoft.com/office/drawing/2014/main" id="{6ECE4E2F-8C6F-DCBF-65F0-CE33767F571A}"/>
                      </a:ext>
                    </a:extLst>
                  </p:cNvPr>
                  <p:cNvSpPr/>
                  <p:nvPr/>
                </p:nvSpPr>
                <p:spPr>
                  <a:xfrm rot="14330460">
                    <a:off x="3135070" y="349624"/>
                    <a:ext cx="1990137" cy="1990138"/>
                  </a:xfrm>
                  <a:prstGeom prst="ellipse">
                    <a:avLst/>
                  </a:prstGeom>
                  <a:solidFill>
                    <a:srgbClr val="C1343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8" name="円/楕円 7">
                    <a:extLst>
                      <a:ext uri="{FF2B5EF4-FFF2-40B4-BE49-F238E27FC236}">
                        <a16:creationId xmlns:a16="http://schemas.microsoft.com/office/drawing/2014/main" id="{F1D517C3-2A05-A41F-F8D8-BBE923356818}"/>
                      </a:ext>
                    </a:extLst>
                  </p:cNvPr>
                  <p:cNvSpPr/>
                  <p:nvPr/>
                </p:nvSpPr>
                <p:spPr>
                  <a:xfrm rot="14330460">
                    <a:off x="3399104" y="603002"/>
                    <a:ext cx="1473581" cy="1473581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9" name="円/楕円 8">
                    <a:extLst>
                      <a:ext uri="{FF2B5EF4-FFF2-40B4-BE49-F238E27FC236}">
                        <a16:creationId xmlns:a16="http://schemas.microsoft.com/office/drawing/2014/main" id="{C0BB610C-1CF7-2507-2DEA-BC78A7E0B36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rot="14330460">
                    <a:off x="3509623" y="713521"/>
                    <a:ext cx="1252544" cy="1252544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10" name="円/楕円 9">
                    <a:extLst>
                      <a:ext uri="{FF2B5EF4-FFF2-40B4-BE49-F238E27FC236}">
                        <a16:creationId xmlns:a16="http://schemas.microsoft.com/office/drawing/2014/main" id="{E038DFBC-6C51-D431-4660-CF7D9F4709C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rot="14330460">
                    <a:off x="3693820" y="897718"/>
                    <a:ext cx="884149" cy="884149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cxnSp>
                <p:nvCxnSpPr>
                  <p:cNvPr id="22" name="直線コネクタ 21">
                    <a:extLst>
                      <a:ext uri="{FF2B5EF4-FFF2-40B4-BE49-F238E27FC236}">
                        <a16:creationId xmlns:a16="http://schemas.microsoft.com/office/drawing/2014/main" id="{5CB6F50D-2A24-1A2D-075F-48B383787F0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9730460">
                    <a:off x="2509620" y="1342944"/>
                    <a:ext cx="3284445" cy="2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  <a:prstDash val="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7" name="正方形/長方形 26">
                    <a:extLst>
                      <a:ext uri="{FF2B5EF4-FFF2-40B4-BE49-F238E27FC236}">
                        <a16:creationId xmlns:a16="http://schemas.microsoft.com/office/drawing/2014/main" id="{FF1F3EEC-4B2F-A78B-3AC6-E17E9ECF9851}"/>
                      </a:ext>
                    </a:extLst>
                  </p:cNvPr>
                  <p:cNvSpPr/>
                  <p:nvPr/>
                </p:nvSpPr>
                <p:spPr>
                  <a:xfrm rot="14330460">
                    <a:off x="5319478" y="258654"/>
                    <a:ext cx="712040" cy="300455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103" name="正方形/長方形 102">
                    <a:extLst>
                      <a:ext uri="{FF2B5EF4-FFF2-40B4-BE49-F238E27FC236}">
                        <a16:creationId xmlns:a16="http://schemas.microsoft.com/office/drawing/2014/main" id="{4648A4A1-2285-A968-FF7D-F55B54727F25}"/>
                      </a:ext>
                    </a:extLst>
                  </p:cNvPr>
                  <p:cNvSpPr/>
                  <p:nvPr/>
                </p:nvSpPr>
                <p:spPr>
                  <a:xfrm>
                    <a:off x="4096036" y="1297945"/>
                    <a:ext cx="79720" cy="83686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</p:grpSp>
            <p:grpSp>
              <p:nvGrpSpPr>
                <p:cNvPr id="153" name="グループ化 152">
                  <a:extLst>
                    <a:ext uri="{FF2B5EF4-FFF2-40B4-BE49-F238E27FC236}">
                      <a16:creationId xmlns:a16="http://schemas.microsoft.com/office/drawing/2014/main" id="{6F898AFC-B2AD-CBDF-3AC4-42798A7B07CB}"/>
                    </a:ext>
                  </a:extLst>
                </p:cNvPr>
                <p:cNvGrpSpPr/>
                <p:nvPr/>
              </p:nvGrpSpPr>
              <p:grpSpPr>
                <a:xfrm>
                  <a:off x="3958516" y="325518"/>
                  <a:ext cx="6097465" cy="2498384"/>
                  <a:chOff x="4216724" y="-74099"/>
                  <a:chExt cx="6690742" cy="2741473"/>
                </a:xfrm>
              </p:grpSpPr>
              <p:grpSp>
                <p:nvGrpSpPr>
                  <p:cNvPr id="111" name="グループ化 110">
                    <a:extLst>
                      <a:ext uri="{FF2B5EF4-FFF2-40B4-BE49-F238E27FC236}">
                        <a16:creationId xmlns:a16="http://schemas.microsoft.com/office/drawing/2014/main" id="{7C958B56-346A-D822-8180-25B7F3305653}"/>
                      </a:ext>
                    </a:extLst>
                  </p:cNvPr>
                  <p:cNvGrpSpPr/>
                  <p:nvPr/>
                </p:nvGrpSpPr>
                <p:grpSpPr>
                  <a:xfrm>
                    <a:off x="4216724" y="-74099"/>
                    <a:ext cx="6690742" cy="2741473"/>
                    <a:chOff x="4216436" y="1244784"/>
                    <a:chExt cx="6690742" cy="3995202"/>
                  </a:xfrm>
                </p:grpSpPr>
                <p:grpSp>
                  <p:nvGrpSpPr>
                    <p:cNvPr id="112" name="グループ化 111">
                      <a:extLst>
                        <a:ext uri="{FF2B5EF4-FFF2-40B4-BE49-F238E27FC236}">
                          <a16:creationId xmlns:a16="http://schemas.microsoft.com/office/drawing/2014/main" id="{C9808B9B-9029-1989-7077-7A24559635F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915113" y="1855619"/>
                      <a:ext cx="1730168" cy="2896316"/>
                      <a:chOff x="7767924" y="1407885"/>
                      <a:chExt cx="1838119" cy="3077028"/>
                    </a:xfrm>
                    <a:solidFill>
                      <a:schemeClr val="bg2"/>
                    </a:solidFill>
                  </p:grpSpPr>
                  <p:sp>
                    <p:nvSpPr>
                      <p:cNvPr id="136" name="台形 135">
                        <a:extLst>
                          <a:ext uri="{FF2B5EF4-FFF2-40B4-BE49-F238E27FC236}">
                            <a16:creationId xmlns:a16="http://schemas.microsoft.com/office/drawing/2014/main" id="{BE39907E-299F-FC24-077C-ADF97966A25C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6634421" y="2541388"/>
                        <a:ext cx="3077026" cy="810020"/>
                      </a:xfrm>
                      <a:prstGeom prst="trapezoid">
                        <a:avLst/>
                      </a:prstGeom>
                      <a:grpFill/>
                      <a:ln w="190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ja-JP" altLang="en-US" sz="2610"/>
                      </a:p>
                    </p:txBody>
                  </p:sp>
                  <p:sp>
                    <p:nvSpPr>
                      <p:cNvPr id="137" name="正方形/長方形 136">
                        <a:extLst>
                          <a:ext uri="{FF2B5EF4-FFF2-40B4-BE49-F238E27FC236}">
                            <a16:creationId xmlns:a16="http://schemas.microsoft.com/office/drawing/2014/main" id="{62FA954A-3461-4AEA-F67C-17C507FE61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77946" y="1407885"/>
                        <a:ext cx="1028097" cy="3077028"/>
                      </a:xfrm>
                      <a:prstGeom prst="rect">
                        <a:avLst/>
                      </a:prstGeom>
                      <a:grpFill/>
                      <a:ln w="190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ja-JP" altLang="en-US" sz="2610"/>
                      </a:p>
                    </p:txBody>
                  </p:sp>
                </p:grpSp>
                <p:sp>
                  <p:nvSpPr>
                    <p:cNvPr id="114" name="円柱 113">
                      <a:extLst>
                        <a:ext uri="{FF2B5EF4-FFF2-40B4-BE49-F238E27FC236}">
                          <a16:creationId xmlns:a16="http://schemas.microsoft.com/office/drawing/2014/main" id="{C5DE736F-99EB-6164-B63F-C96B7E946350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7508791" y="2307801"/>
                      <a:ext cx="1978017" cy="1991953"/>
                    </a:xfrm>
                    <a:prstGeom prst="can">
                      <a:avLst/>
                    </a:prstGeom>
                    <a:noFill/>
                    <a:ln w="3810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115" name="円柱 114">
                      <a:extLst>
                        <a:ext uri="{FF2B5EF4-FFF2-40B4-BE49-F238E27FC236}">
                          <a16:creationId xmlns:a16="http://schemas.microsoft.com/office/drawing/2014/main" id="{7C8A973F-6846-7723-5067-9BE565EB7606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205409" y="2903568"/>
                      <a:ext cx="910669" cy="765063"/>
                    </a:xfrm>
                    <a:prstGeom prst="can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116" name="円柱 115">
                      <a:extLst>
                        <a:ext uri="{FF2B5EF4-FFF2-40B4-BE49-F238E27FC236}">
                          <a16:creationId xmlns:a16="http://schemas.microsoft.com/office/drawing/2014/main" id="{4319C8FA-222D-6965-8D92-0FDBCD6C7BD7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5901411" y="2591085"/>
                      <a:ext cx="1506961" cy="1425841"/>
                    </a:xfrm>
                    <a:prstGeom prst="can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117" name="円柱 116">
                      <a:extLst>
                        <a:ext uri="{FF2B5EF4-FFF2-40B4-BE49-F238E27FC236}">
                          <a16:creationId xmlns:a16="http://schemas.microsoft.com/office/drawing/2014/main" id="{DFEEF2E4-A0DC-9B52-7936-112B4E38F0F4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5641156" y="2077626"/>
                      <a:ext cx="1978017" cy="2452304"/>
                    </a:xfrm>
                    <a:prstGeom prst="can">
                      <a:avLst/>
                    </a:prstGeom>
                    <a:noFill/>
                    <a:ln w="349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118" name="円/楕円 117">
                      <a:extLst>
                        <a:ext uri="{FF2B5EF4-FFF2-40B4-BE49-F238E27FC236}">
                          <a16:creationId xmlns:a16="http://schemas.microsoft.com/office/drawing/2014/main" id="{2E013EBC-9ECE-D49C-E0FE-29BEEA9620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83738" y="2823903"/>
                      <a:ext cx="191184" cy="959747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119" name="直線コネクタ 118">
                      <a:extLst>
                        <a:ext uri="{FF2B5EF4-FFF2-40B4-BE49-F238E27FC236}">
                          <a16:creationId xmlns:a16="http://schemas.microsoft.com/office/drawing/2014/main" id="{E16B229D-9789-37BD-C071-CFD521B88581}"/>
                        </a:ext>
                      </a:extLst>
                    </p:cNvPr>
                    <p:cNvCxnSpPr>
                      <a:cxnSpLocks/>
                      <a:stCxn id="141" idx="0"/>
                      <a:endCxn id="103" idx="3"/>
                    </p:cNvCxnSpPr>
                    <p:nvPr/>
                  </p:nvCxnSpPr>
                  <p:spPr>
                    <a:xfrm flipH="1">
                      <a:off x="4256339" y="2449201"/>
                      <a:ext cx="4980496" cy="825303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1" name="直線コネクタ 120">
                      <a:extLst>
                        <a:ext uri="{FF2B5EF4-FFF2-40B4-BE49-F238E27FC236}">
                          <a16:creationId xmlns:a16="http://schemas.microsoft.com/office/drawing/2014/main" id="{DC94D6DB-9CF2-C4FB-C86E-A97D42F455E1}"/>
                        </a:ext>
                      </a:extLst>
                    </p:cNvPr>
                    <p:cNvCxnSpPr>
                      <a:cxnSpLocks/>
                      <a:stCxn id="141" idx="4"/>
                      <a:endCxn id="103" idx="3"/>
                    </p:cNvCxnSpPr>
                    <p:nvPr/>
                  </p:nvCxnSpPr>
                  <p:spPr>
                    <a:xfrm flipH="1" flipV="1">
                      <a:off x="4256339" y="3274504"/>
                      <a:ext cx="4980496" cy="893717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22" name="テキスト ボックス 121">
                      <a:extLst>
                        <a:ext uri="{FF2B5EF4-FFF2-40B4-BE49-F238E27FC236}">
                          <a16:creationId xmlns:a16="http://schemas.microsoft.com/office/drawing/2014/main" id="{EBFE9340-106A-DF70-6EDC-4DB33B36374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357128" y="3073145"/>
                      <a:ext cx="934498" cy="44641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ja-JP" sz="2030" baseline="30000" dirty="0">
                          <a:latin typeface="Helvetica" pitchFamily="2" charset="0"/>
                        </a:rPr>
                        <a:t>3</a:t>
                      </a:r>
                      <a:r>
                        <a:rPr lang="en-US" altLang="ja-JP" sz="2030" dirty="0">
                          <a:latin typeface="Helvetica" pitchFamily="2" charset="0"/>
                        </a:rPr>
                        <a:t>He cell</a:t>
                      </a:r>
                      <a:endParaRPr lang="ja-JP" altLang="en-US" sz="203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123" name="テキスト ボックス 122">
                      <a:extLst>
                        <a:ext uri="{FF2B5EF4-FFF2-40B4-BE49-F238E27FC236}">
                          <a16:creationId xmlns:a16="http://schemas.microsoft.com/office/drawing/2014/main" id="{9750C3E2-CD1C-AED1-FD57-399E81E5B9A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46392" y="1941832"/>
                      <a:ext cx="836337" cy="44641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ja-JP" sz="2030" dirty="0">
                          <a:latin typeface="Helvetica" pitchFamily="2" charset="0"/>
                        </a:rPr>
                        <a:t>RF coil</a:t>
                      </a:r>
                      <a:endParaRPr lang="ja-JP" altLang="en-US" sz="203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124" name="テキスト ボックス 123">
                      <a:extLst>
                        <a:ext uri="{FF2B5EF4-FFF2-40B4-BE49-F238E27FC236}">
                          <a16:creationId xmlns:a16="http://schemas.microsoft.com/office/drawing/2014/main" id="{7CC641CD-C59E-A4DD-A0B9-5AA3DA5DAD2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377033" y="1580448"/>
                      <a:ext cx="1331161" cy="44641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ja-JP" sz="2030" baseline="30000" dirty="0">
                          <a:latin typeface="Helvetica" pitchFamily="2" charset="0"/>
                        </a:rPr>
                        <a:t>3</a:t>
                      </a:r>
                      <a:r>
                        <a:rPr lang="en-US" altLang="ja-JP" sz="2030" dirty="0">
                          <a:latin typeface="Helvetica" pitchFamily="2" charset="0"/>
                        </a:rPr>
                        <a:t>He NSF coil</a:t>
                      </a:r>
                      <a:endParaRPr lang="ja-JP" altLang="en-US" sz="203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125" name="テキスト ボックス 124">
                      <a:extLst>
                        <a:ext uri="{FF2B5EF4-FFF2-40B4-BE49-F238E27FC236}">
                          <a16:creationId xmlns:a16="http://schemas.microsoft.com/office/drawing/2014/main" id="{CCB2E142-C70F-67DA-9967-A7FB83FA84E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09624" y="4448994"/>
                      <a:ext cx="1726015" cy="79099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ja-JP" sz="2030" dirty="0">
                          <a:latin typeface="Helvetica" pitchFamily="2" charset="0"/>
                        </a:rPr>
                        <a:t>Neutron guide tube</a:t>
                      </a:r>
                      <a:endParaRPr lang="ja-JP" altLang="en-US" sz="203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126" name="テキスト ボックス 125">
                      <a:extLst>
                        <a:ext uri="{FF2B5EF4-FFF2-40B4-BE49-F238E27FC236}">
                          <a16:creationId xmlns:a16="http://schemas.microsoft.com/office/drawing/2014/main" id="{1AE09A32-CE06-D120-FACE-DE920724E61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786213" y="1244784"/>
                      <a:ext cx="1910304" cy="79099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ja-JP" sz="2030" dirty="0">
                          <a:latin typeface="Helvetica" pitchFamily="2" charset="0"/>
                        </a:rPr>
                        <a:t>Neutron Area detector</a:t>
                      </a:r>
                      <a:endParaRPr lang="ja-JP" altLang="en-US" sz="2030">
                        <a:latin typeface="Helvetica" pitchFamily="2" charset="0"/>
                      </a:endParaRPr>
                    </a:p>
                  </p:txBody>
                </p:sp>
                <p:cxnSp>
                  <p:nvCxnSpPr>
                    <p:cNvPr id="127" name="直線コネクタ 126">
                      <a:extLst>
                        <a:ext uri="{FF2B5EF4-FFF2-40B4-BE49-F238E27FC236}">
                          <a16:creationId xmlns:a16="http://schemas.microsoft.com/office/drawing/2014/main" id="{2AF7C666-FCB1-604F-BB05-31D37DA39D2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027823" y="1959353"/>
                      <a:ext cx="123413" cy="301352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28" name="テキスト ボックス 127">
                      <a:extLst>
                        <a:ext uri="{FF2B5EF4-FFF2-40B4-BE49-F238E27FC236}">
                          <a16:creationId xmlns:a16="http://schemas.microsoft.com/office/drawing/2014/main" id="{49697904-99F8-707D-07A5-05E79E00B99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61484" y="2227722"/>
                      <a:ext cx="1245694" cy="113556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ja-JP" sz="2030" dirty="0">
                          <a:latin typeface="Helvetica" pitchFamily="2" charset="0"/>
                        </a:rPr>
                        <a:t>Polarization analysis region</a:t>
                      </a:r>
                      <a:endParaRPr lang="ja-JP" altLang="en-US" sz="2030">
                        <a:latin typeface="Helvetica" pitchFamily="2" charset="0"/>
                      </a:endParaRPr>
                    </a:p>
                  </p:txBody>
                </p:sp>
                <p:cxnSp>
                  <p:nvCxnSpPr>
                    <p:cNvPr id="129" name="直線コネクタ 128">
                      <a:extLst>
                        <a:ext uri="{FF2B5EF4-FFF2-40B4-BE49-F238E27FC236}">
                          <a16:creationId xmlns:a16="http://schemas.microsoft.com/office/drawing/2014/main" id="{7899B4AE-D580-237A-7C74-C577A4196EEF}"/>
                        </a:ext>
                      </a:extLst>
                    </p:cNvPr>
                    <p:cNvCxnSpPr>
                      <a:cxnSpLocks/>
                      <a:stCxn id="128" idx="1"/>
                    </p:cNvCxnSpPr>
                    <p:nvPr/>
                  </p:nvCxnSpPr>
                  <p:spPr>
                    <a:xfrm flipH="1" flipV="1">
                      <a:off x="9347757" y="2767824"/>
                      <a:ext cx="313727" cy="27682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2" name="直線コネクタ 131">
                      <a:extLst>
                        <a:ext uri="{FF2B5EF4-FFF2-40B4-BE49-F238E27FC236}">
                          <a16:creationId xmlns:a16="http://schemas.microsoft.com/office/drawing/2014/main" id="{B84E31D4-E26D-0673-9FAB-6274A58579A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6286771" y="1952193"/>
                      <a:ext cx="315829" cy="46235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3" name="直線コネクタ 132">
                      <a:extLst>
                        <a:ext uri="{FF2B5EF4-FFF2-40B4-BE49-F238E27FC236}">
                          <a16:creationId xmlns:a16="http://schemas.microsoft.com/office/drawing/2014/main" id="{AE626F9C-4FA5-85E3-88F2-8AA740B51C1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136216" y="4116935"/>
                      <a:ext cx="0" cy="357148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5" name="直線コネクタ 134">
                      <a:extLst>
                        <a:ext uri="{FF2B5EF4-FFF2-40B4-BE49-F238E27FC236}">
                          <a16:creationId xmlns:a16="http://schemas.microsoft.com/office/drawing/2014/main" id="{88F9F669-4581-8B38-949D-F6FD28512D8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4216436" y="3276280"/>
                      <a:ext cx="5052986" cy="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prstDash val="dash"/>
                      <a:headEnd type="triangle"/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41" name="円/楕円 140">
                    <a:extLst>
                      <a:ext uri="{FF2B5EF4-FFF2-40B4-BE49-F238E27FC236}">
                        <a16:creationId xmlns:a16="http://schemas.microsoft.com/office/drawing/2014/main" id="{D24F0E10-7915-2760-A5C6-89A441FD84DF}"/>
                      </a:ext>
                    </a:extLst>
                  </p:cNvPr>
                  <p:cNvSpPr/>
                  <p:nvPr/>
                </p:nvSpPr>
                <p:spPr>
                  <a:xfrm>
                    <a:off x="9054478" y="752361"/>
                    <a:ext cx="365291" cy="1179577"/>
                  </a:xfrm>
                  <a:prstGeom prst="ellipse">
                    <a:avLst/>
                  </a:prstGeom>
                  <a:noFill/>
                  <a:ln w="12700"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142" name="円/楕円 141">
                    <a:extLst>
                      <a:ext uri="{FF2B5EF4-FFF2-40B4-BE49-F238E27FC236}">
                        <a16:creationId xmlns:a16="http://schemas.microsoft.com/office/drawing/2014/main" id="{18F95554-6A38-E48A-661E-36090BB26320}"/>
                      </a:ext>
                    </a:extLst>
                  </p:cNvPr>
                  <p:cNvSpPr/>
                  <p:nvPr/>
                </p:nvSpPr>
                <p:spPr>
                  <a:xfrm>
                    <a:off x="8988520" y="649115"/>
                    <a:ext cx="521918" cy="1370279"/>
                  </a:xfrm>
                  <a:prstGeom prst="ellipse">
                    <a:avLst/>
                  </a:prstGeom>
                  <a:noFill/>
                  <a:ln w="12700"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</p:grpSp>
            <p:cxnSp>
              <p:nvCxnSpPr>
                <p:cNvPr id="84" name="直線コネクタ 83">
                  <a:extLst>
                    <a:ext uri="{FF2B5EF4-FFF2-40B4-BE49-F238E27FC236}">
                      <a16:creationId xmlns:a16="http://schemas.microsoft.com/office/drawing/2014/main" id="{C5FE7A97-C2B4-EC9D-08B5-A7C327777BCF}"/>
                    </a:ext>
                  </a:extLst>
                </p:cNvPr>
                <p:cNvCxnSpPr/>
                <p:nvPr/>
              </p:nvCxnSpPr>
              <p:spPr>
                <a:xfrm>
                  <a:off x="1296000" y="3247097"/>
                  <a:ext cx="8568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9" name="テキスト ボックス 168">
                  <a:extLst>
                    <a:ext uri="{FF2B5EF4-FFF2-40B4-BE49-F238E27FC236}">
                      <a16:creationId xmlns:a16="http://schemas.microsoft.com/office/drawing/2014/main" id="{FA06AE22-DF5B-A3BA-FC73-9340EC3E7CA5}"/>
                    </a:ext>
                  </a:extLst>
                </p:cNvPr>
                <p:cNvSpPr txBox="1"/>
                <p:nvPr/>
              </p:nvSpPr>
              <p:spPr>
                <a:xfrm>
                  <a:off x="1288207" y="86624"/>
                  <a:ext cx="925069" cy="3099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320" dirty="0">
                      <a:latin typeface="Helvetica" pitchFamily="2" charset="0"/>
                      <a:cs typeface="Times New Roman" panose="02020603050405020304" pitchFamily="18" charset="0"/>
                    </a:rPr>
                    <a:t>Top view</a:t>
                  </a:r>
                  <a:endParaRPr lang="ja-JP" altLang="en-US" sz="2320">
                    <a:latin typeface="Helvetica" pitchFamily="2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0" name="テキスト ボックス 169">
                  <a:extLst>
                    <a:ext uri="{FF2B5EF4-FFF2-40B4-BE49-F238E27FC236}">
                      <a16:creationId xmlns:a16="http://schemas.microsoft.com/office/drawing/2014/main" id="{D59C8FB4-4521-041B-6BE3-643636A79552}"/>
                    </a:ext>
                  </a:extLst>
                </p:cNvPr>
                <p:cNvSpPr txBox="1"/>
                <p:nvPr/>
              </p:nvSpPr>
              <p:spPr>
                <a:xfrm>
                  <a:off x="1265850" y="2479077"/>
                  <a:ext cx="1965043" cy="4946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030" dirty="0">
                      <a:latin typeface="Helvetica" pitchFamily="2" charset="0"/>
                      <a:cs typeface="Times New Roman" panose="02020603050405020304" pitchFamily="18" charset="0"/>
                    </a:rPr>
                    <a:t>Incident neutron</a:t>
                  </a:r>
                  <a:br>
                    <a:rPr lang="en-US" altLang="ja-JP" sz="2030" dirty="0">
                      <a:latin typeface="Helvetica" pitchFamily="2" charset="0"/>
                      <a:cs typeface="Times New Roman" panose="02020603050405020304" pitchFamily="18" charset="0"/>
                    </a:rPr>
                  </a:br>
                  <a:r>
                    <a:rPr lang="en-US" altLang="ja-JP" sz="2030" dirty="0">
                      <a:latin typeface="Helvetica" pitchFamily="2" charset="0"/>
                      <a:cs typeface="Times New Roman" panose="02020603050405020304" pitchFamily="18" charset="0"/>
                    </a:rPr>
                    <a:t>(polarized by Cu</a:t>
                  </a:r>
                  <a:r>
                    <a:rPr lang="en-US" altLang="ja-JP" sz="2030" baseline="-25000" dirty="0">
                      <a:latin typeface="Helvetica" pitchFamily="2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altLang="ja-JP" sz="2030" dirty="0">
                      <a:latin typeface="Helvetica" pitchFamily="2" charset="0"/>
                      <a:cs typeface="Times New Roman" panose="02020603050405020304" pitchFamily="18" charset="0"/>
                    </a:rPr>
                    <a:t>MnAl)</a:t>
                  </a:r>
                  <a:endParaRPr lang="ja-JP" altLang="en-US" sz="2030">
                    <a:latin typeface="Helvetica" pitchFamily="2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1" name="テキスト ボックス 170">
                  <a:extLst>
                    <a:ext uri="{FF2B5EF4-FFF2-40B4-BE49-F238E27FC236}">
                      <a16:creationId xmlns:a16="http://schemas.microsoft.com/office/drawing/2014/main" id="{2EA05CFD-9388-622B-8FE9-2F41492FF4B2}"/>
                    </a:ext>
                  </a:extLst>
                </p:cNvPr>
                <p:cNvSpPr txBox="1"/>
                <p:nvPr/>
              </p:nvSpPr>
              <p:spPr>
                <a:xfrm>
                  <a:off x="5742205" y="109910"/>
                  <a:ext cx="1241918" cy="279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030" dirty="0">
                      <a:latin typeface="Helvetica" pitchFamily="2" charset="0"/>
                      <a:cs typeface="Times New Roman" panose="02020603050405020304" pitchFamily="18" charset="0"/>
                    </a:rPr>
                    <a:t>Beam stopper</a:t>
                  </a:r>
                  <a:endParaRPr lang="ja-JP" altLang="en-US" sz="2030">
                    <a:latin typeface="Helvetica" pitchFamily="2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73" name="直線コネクタ 172">
                  <a:extLst>
                    <a:ext uri="{FF2B5EF4-FFF2-40B4-BE49-F238E27FC236}">
                      <a16:creationId xmlns:a16="http://schemas.microsoft.com/office/drawing/2014/main" id="{88D23B77-F0A3-6E35-89E7-7B489F9417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23548" y="327699"/>
                  <a:ext cx="249770" cy="15150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直線コネクタ 179">
                  <a:extLst>
                    <a:ext uri="{FF2B5EF4-FFF2-40B4-BE49-F238E27FC236}">
                      <a16:creationId xmlns:a16="http://schemas.microsoft.com/office/drawing/2014/main" id="{84A3B39A-4CC0-97FB-CCB6-10E315E90D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960136" y="893703"/>
                  <a:ext cx="287824" cy="28913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4" name="直線コネクタ 183">
                <a:extLst>
                  <a:ext uri="{FF2B5EF4-FFF2-40B4-BE49-F238E27FC236}">
                    <a16:creationId xmlns:a16="http://schemas.microsoft.com/office/drawing/2014/main" id="{EDC09446-E3D7-5ACF-48E8-E84A8A7811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3651" y="3826407"/>
                <a:ext cx="155803" cy="53624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5" name="テキスト ボックス 184">
                <a:extLst>
                  <a:ext uri="{FF2B5EF4-FFF2-40B4-BE49-F238E27FC236}">
                    <a16:creationId xmlns:a16="http://schemas.microsoft.com/office/drawing/2014/main" id="{021054BA-81F1-625F-69EE-FB3E8BC2201E}"/>
                  </a:ext>
                </a:extLst>
              </p:cNvPr>
              <p:cNvSpPr txBox="1"/>
              <p:nvPr/>
            </p:nvSpPr>
            <p:spPr>
              <a:xfrm>
                <a:off x="2262325" y="3621061"/>
                <a:ext cx="1241918" cy="2791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030" dirty="0">
                    <a:latin typeface="Helvetica" pitchFamily="2" charset="0"/>
                  </a:rPr>
                  <a:t>Helmholtz coil</a:t>
                </a:r>
                <a:endParaRPr lang="ja-JP" altLang="en-US" sz="2030">
                  <a:latin typeface="Helvetica" pitchFamily="2" charset="0"/>
                </a:endParaRPr>
              </a:p>
            </p:txBody>
          </p:sp>
          <p:sp>
            <p:nvSpPr>
              <p:cNvPr id="186" name="テキスト ボックス 185">
                <a:extLst>
                  <a:ext uri="{FF2B5EF4-FFF2-40B4-BE49-F238E27FC236}">
                    <a16:creationId xmlns:a16="http://schemas.microsoft.com/office/drawing/2014/main" id="{87DCB879-91DF-63F2-582C-8C75D7AD1FF0}"/>
                  </a:ext>
                </a:extLst>
              </p:cNvPr>
              <p:cNvSpPr txBox="1"/>
              <p:nvPr/>
            </p:nvSpPr>
            <p:spPr>
              <a:xfrm>
                <a:off x="4420394" y="3648661"/>
                <a:ext cx="794111" cy="2791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030" dirty="0">
                    <a:latin typeface="Helvetica" pitchFamily="2" charset="0"/>
                  </a:rPr>
                  <a:t>Cryostat</a:t>
                </a:r>
                <a:endParaRPr lang="ja-JP" altLang="en-US" sz="2030">
                  <a:latin typeface="Helvetica" pitchFamily="2" charset="0"/>
                </a:endParaRPr>
              </a:p>
            </p:txBody>
          </p:sp>
          <p:cxnSp>
            <p:nvCxnSpPr>
              <p:cNvPr id="187" name="直線コネクタ 186">
                <a:extLst>
                  <a:ext uri="{FF2B5EF4-FFF2-40B4-BE49-F238E27FC236}">
                    <a16:creationId xmlns:a16="http://schemas.microsoft.com/office/drawing/2014/main" id="{98CDAA5C-C742-0EDC-A014-9C8083C674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43589" y="3893936"/>
                <a:ext cx="358981" cy="83743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9" name="テキスト ボックス 188">
              <a:extLst>
                <a:ext uri="{FF2B5EF4-FFF2-40B4-BE49-F238E27FC236}">
                  <a16:creationId xmlns:a16="http://schemas.microsoft.com/office/drawing/2014/main" id="{351506DF-5847-610B-29EC-7ABCC24EB7F0}"/>
                </a:ext>
              </a:extLst>
            </p:cNvPr>
            <p:cNvSpPr txBox="1"/>
            <p:nvPr/>
          </p:nvSpPr>
          <p:spPr>
            <a:xfrm>
              <a:off x="3430496" y="1134095"/>
              <a:ext cx="886133" cy="279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030" dirty="0">
                  <a:latin typeface="Helvetica" pitchFamily="2" charset="0"/>
                </a:rPr>
                <a:t>Sample</a:t>
              </a:r>
              <a:endParaRPr lang="ja-JP" altLang="en-US" sz="2030">
                <a:latin typeface="Helvetica" pitchFamily="2" charset="0"/>
              </a:endParaRPr>
            </a:p>
          </p:txBody>
        </p:sp>
        <p:cxnSp>
          <p:nvCxnSpPr>
            <p:cNvPr id="190" name="直線コネクタ 189">
              <a:extLst>
                <a:ext uri="{FF2B5EF4-FFF2-40B4-BE49-F238E27FC236}">
                  <a16:creationId xmlns:a16="http://schemas.microsoft.com/office/drawing/2014/main" id="{1F8CB43F-E435-ED59-4472-BEEFC4E650D5}"/>
                </a:ext>
              </a:extLst>
            </p:cNvPr>
            <p:cNvCxnSpPr>
              <a:cxnSpLocks/>
              <a:stCxn id="189" idx="2"/>
            </p:cNvCxnSpPr>
            <p:nvPr/>
          </p:nvCxnSpPr>
          <p:spPr>
            <a:xfrm>
              <a:off x="3873563" y="1413261"/>
              <a:ext cx="118873" cy="13750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19844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28DDC-B694-167D-9C1A-40AC025B9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8D6D08A7-FA32-D0EC-4993-5F17F398E3F4}"/>
              </a:ext>
            </a:extLst>
          </p:cNvPr>
          <p:cNvSpPr txBox="1"/>
          <p:nvPr/>
        </p:nvSpPr>
        <p:spPr>
          <a:xfrm>
            <a:off x="-5772870" y="-1627911"/>
            <a:ext cx="1341136" cy="4493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320" dirty="0">
                <a:latin typeface="Helvetica" pitchFamily="2" charset="0"/>
                <a:cs typeface="Times New Roman" panose="02020603050405020304" pitchFamily="18" charset="0"/>
              </a:rPr>
              <a:t>Top view</a:t>
            </a:r>
            <a:endParaRPr lang="ja-JP" altLang="en-US" sz="2320"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10A0ECE2-44ED-3C26-84FB-B6910E521F62}"/>
              </a:ext>
            </a:extLst>
          </p:cNvPr>
          <p:cNvSpPr txBox="1"/>
          <p:nvPr/>
        </p:nvSpPr>
        <p:spPr>
          <a:xfrm>
            <a:off x="-6035188" y="-2659208"/>
            <a:ext cx="3180679" cy="62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40" dirty="0">
                <a:latin typeface="Helvetica" pitchFamily="2" charset="0"/>
              </a:rPr>
              <a:t>Incident neutron beam</a:t>
            </a:r>
            <a:br>
              <a:rPr lang="en-US" altLang="ja-JP" sz="1740" dirty="0">
                <a:latin typeface="Helvetica" pitchFamily="2" charset="0"/>
              </a:rPr>
            </a:br>
            <a:r>
              <a:rPr lang="en-US" altLang="ja-JP" sz="1740" dirty="0">
                <a:latin typeface="Helvetica" pitchFamily="2" charset="0"/>
              </a:rPr>
              <a:t>(polarized by Cu</a:t>
            </a:r>
            <a:r>
              <a:rPr lang="en-US" altLang="ja-JP" sz="1740" baseline="-25000" dirty="0">
                <a:latin typeface="Helvetica" pitchFamily="2" charset="0"/>
              </a:rPr>
              <a:t>2</a:t>
            </a:r>
            <a:r>
              <a:rPr lang="en-US" altLang="ja-JP" sz="1740" dirty="0">
                <a:latin typeface="Helvetica" pitchFamily="2" charset="0"/>
              </a:rPr>
              <a:t>MnAl crystal)</a:t>
            </a:r>
            <a:endParaRPr lang="ja-JP" altLang="en-US" sz="1740">
              <a:latin typeface="Helvetica" pitchFamily="2" charset="0"/>
            </a:endParaRPr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80A5D4B5-F5B1-7522-2F73-BA8463BF0821}"/>
              </a:ext>
            </a:extLst>
          </p:cNvPr>
          <p:cNvSpPr txBox="1"/>
          <p:nvPr/>
        </p:nvSpPr>
        <p:spPr>
          <a:xfrm>
            <a:off x="-3190143" y="950941"/>
            <a:ext cx="939681" cy="36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40" dirty="0">
                <a:latin typeface="Helvetica" pitchFamily="2" charset="0"/>
              </a:rPr>
              <a:t>Sample</a:t>
            </a:r>
            <a:endParaRPr lang="ja-JP" altLang="en-US" sz="1740">
              <a:latin typeface="Helvetica" pitchFamily="2" charset="0"/>
            </a:endParaRP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837DE8A4-1736-5C01-7246-7CEBE264B561}"/>
              </a:ext>
            </a:extLst>
          </p:cNvPr>
          <p:cNvGrpSpPr/>
          <p:nvPr/>
        </p:nvGrpSpPr>
        <p:grpSpPr>
          <a:xfrm>
            <a:off x="4801464" y="467082"/>
            <a:ext cx="11880000" cy="11639669"/>
            <a:chOff x="4801464" y="467082"/>
            <a:chExt cx="11880000" cy="11639669"/>
          </a:xfrm>
        </p:grpSpPr>
        <p:grpSp>
          <p:nvGrpSpPr>
            <p:cNvPr id="56" name="グループ化 55">
              <a:extLst>
                <a:ext uri="{FF2B5EF4-FFF2-40B4-BE49-F238E27FC236}">
                  <a16:creationId xmlns:a16="http://schemas.microsoft.com/office/drawing/2014/main" id="{4933C8AE-05D2-52A2-A4C5-469FDBA32E4F}"/>
                </a:ext>
              </a:extLst>
            </p:cNvPr>
            <p:cNvGrpSpPr/>
            <p:nvPr/>
          </p:nvGrpSpPr>
          <p:grpSpPr>
            <a:xfrm>
              <a:off x="4801464" y="467082"/>
              <a:ext cx="11880000" cy="11639669"/>
              <a:chOff x="4801464" y="467082"/>
              <a:chExt cx="11880000" cy="11639669"/>
            </a:xfrm>
          </p:grpSpPr>
          <p:grpSp>
            <p:nvGrpSpPr>
              <p:cNvPr id="59" name="グループ化 58">
                <a:extLst>
                  <a:ext uri="{FF2B5EF4-FFF2-40B4-BE49-F238E27FC236}">
                    <a16:creationId xmlns:a16="http://schemas.microsoft.com/office/drawing/2014/main" id="{754F389D-F307-3797-EC1C-554A9FD62487}"/>
                  </a:ext>
                </a:extLst>
              </p:cNvPr>
              <p:cNvGrpSpPr/>
              <p:nvPr/>
            </p:nvGrpSpPr>
            <p:grpSpPr>
              <a:xfrm>
                <a:off x="4801464" y="467082"/>
                <a:ext cx="11880000" cy="11232918"/>
                <a:chOff x="39758" y="467081"/>
                <a:chExt cx="11880000" cy="11232918"/>
              </a:xfrm>
            </p:grpSpPr>
            <p:sp>
              <p:nvSpPr>
                <p:cNvPr id="40" name="円柱 39">
                  <a:extLst>
                    <a:ext uri="{FF2B5EF4-FFF2-40B4-BE49-F238E27FC236}">
                      <a16:creationId xmlns:a16="http://schemas.microsoft.com/office/drawing/2014/main" id="{24837131-853C-4CA1-4D7E-9CA6DE75E626}"/>
                    </a:ext>
                  </a:extLst>
                </p:cNvPr>
                <p:cNvSpPr/>
                <p:nvPr/>
              </p:nvSpPr>
              <p:spPr>
                <a:xfrm>
                  <a:off x="3970157" y="7495944"/>
                  <a:ext cx="523218" cy="3142233"/>
                </a:xfrm>
                <a:prstGeom prst="can">
                  <a:avLst>
                    <a:gd name="adj" fmla="val 0"/>
                  </a:avLst>
                </a:prstGeom>
                <a:solidFill>
                  <a:srgbClr val="EA3E3C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43" name="円柱 42">
                  <a:extLst>
                    <a:ext uri="{FF2B5EF4-FFF2-40B4-BE49-F238E27FC236}">
                      <a16:creationId xmlns:a16="http://schemas.microsoft.com/office/drawing/2014/main" id="{6B778787-F2E4-30E9-28FF-B4D886FD92A2}"/>
                    </a:ext>
                  </a:extLst>
                </p:cNvPr>
                <p:cNvSpPr/>
                <p:nvPr/>
              </p:nvSpPr>
              <p:spPr>
                <a:xfrm>
                  <a:off x="2212274" y="7716636"/>
                  <a:ext cx="1889988" cy="2925992"/>
                </a:xfrm>
                <a:prstGeom prst="can">
                  <a:avLst>
                    <a:gd name="adj" fmla="val 0"/>
                  </a:avLst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grpSp>
              <p:nvGrpSpPr>
                <p:cNvPr id="140" name="グループ化 139">
                  <a:extLst>
                    <a:ext uri="{FF2B5EF4-FFF2-40B4-BE49-F238E27FC236}">
                      <a16:creationId xmlns:a16="http://schemas.microsoft.com/office/drawing/2014/main" id="{006E57C8-1B65-F9EE-1973-F9FD20BD77D1}"/>
                    </a:ext>
                  </a:extLst>
                </p:cNvPr>
                <p:cNvGrpSpPr/>
                <p:nvPr/>
              </p:nvGrpSpPr>
              <p:grpSpPr>
                <a:xfrm>
                  <a:off x="530426" y="7742438"/>
                  <a:ext cx="11112439" cy="2803903"/>
                  <a:chOff x="2109163" y="3841318"/>
                  <a:chExt cx="8446024" cy="2896756"/>
                </a:xfrm>
              </p:grpSpPr>
              <p:grpSp>
                <p:nvGrpSpPr>
                  <p:cNvPr id="23" name="グループ化 22">
                    <a:extLst>
                      <a:ext uri="{FF2B5EF4-FFF2-40B4-BE49-F238E27FC236}">
                        <a16:creationId xmlns:a16="http://schemas.microsoft.com/office/drawing/2014/main" id="{AE3B1E03-EAEC-0FB3-6F86-BFEC542F6F91}"/>
                      </a:ext>
                    </a:extLst>
                  </p:cNvPr>
                  <p:cNvGrpSpPr/>
                  <p:nvPr/>
                </p:nvGrpSpPr>
                <p:grpSpPr>
                  <a:xfrm>
                    <a:off x="8826434" y="3841318"/>
                    <a:ext cx="1728753" cy="2896756"/>
                    <a:chOff x="7769702" y="1407882"/>
                    <a:chExt cx="1836341" cy="3077031"/>
                  </a:xfrm>
                  <a:solidFill>
                    <a:schemeClr val="bg2"/>
                  </a:solidFill>
                </p:grpSpPr>
                <p:sp>
                  <p:nvSpPr>
                    <p:cNvPr id="81" name="台形 80">
                      <a:extLst>
                        <a:ext uri="{FF2B5EF4-FFF2-40B4-BE49-F238E27FC236}">
                          <a16:creationId xmlns:a16="http://schemas.microsoft.com/office/drawing/2014/main" id="{3FB02A44-3F82-4F91-6DEB-4F01FD964195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632451" y="2545133"/>
                      <a:ext cx="3077030" cy="802528"/>
                    </a:xfrm>
                    <a:prstGeom prst="trapezoid">
                      <a:avLst/>
                    </a:prstGeom>
                    <a:grpFill/>
                    <a:ln w="190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82" name="正方形/長方形 81">
                      <a:extLst>
                        <a:ext uri="{FF2B5EF4-FFF2-40B4-BE49-F238E27FC236}">
                          <a16:creationId xmlns:a16="http://schemas.microsoft.com/office/drawing/2014/main" id="{9DF5CB01-EEA7-F644-D1CE-C04EBEADA5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77946" y="1407885"/>
                      <a:ext cx="1028097" cy="3077028"/>
                    </a:xfrm>
                    <a:prstGeom prst="rect">
                      <a:avLst/>
                    </a:prstGeom>
                    <a:grpFill/>
                    <a:ln w="190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</p:grpSp>
              <p:sp>
                <p:nvSpPr>
                  <p:cNvPr id="26" name="円柱 25">
                    <a:extLst>
                      <a:ext uri="{FF2B5EF4-FFF2-40B4-BE49-F238E27FC236}">
                        <a16:creationId xmlns:a16="http://schemas.microsoft.com/office/drawing/2014/main" id="{D8C327F7-9676-08E1-8C13-702968CE7A7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7418235" y="4293571"/>
                    <a:ext cx="1978315" cy="1992253"/>
                  </a:xfrm>
                  <a:prstGeom prst="can">
                    <a:avLst/>
                  </a:prstGeom>
                  <a:noFill/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31" name="円柱 30">
                    <a:extLst>
                      <a:ext uri="{FF2B5EF4-FFF2-40B4-BE49-F238E27FC236}">
                        <a16:creationId xmlns:a16="http://schemas.microsoft.com/office/drawing/2014/main" id="{EC3335F9-9E83-C53D-D8E0-D88B5486A347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116026" y="4889429"/>
                    <a:ext cx="910806" cy="765178"/>
                  </a:xfrm>
                  <a:prstGeom prst="can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32" name="円柱 31">
                    <a:extLst>
                      <a:ext uri="{FF2B5EF4-FFF2-40B4-BE49-F238E27FC236}">
                        <a16:creationId xmlns:a16="http://schemas.microsoft.com/office/drawing/2014/main" id="{C4390195-AB4A-B90D-3334-3667F25349A1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5811984" y="4576899"/>
                    <a:ext cx="1507188" cy="1426056"/>
                  </a:xfrm>
                  <a:prstGeom prst="can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33" name="円柱 32">
                    <a:extLst>
                      <a:ext uri="{FF2B5EF4-FFF2-40B4-BE49-F238E27FC236}">
                        <a16:creationId xmlns:a16="http://schemas.microsoft.com/office/drawing/2014/main" id="{1D8BA6B1-3500-0D3B-4C27-F5523CAB53E1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5551688" y="4063362"/>
                    <a:ext cx="1978315" cy="2452673"/>
                  </a:xfrm>
                  <a:prstGeom prst="can">
                    <a:avLst/>
                  </a:prstGeom>
                  <a:noFill/>
                  <a:ln w="349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34" name="円/楕円 33">
                    <a:extLst>
                      <a:ext uri="{FF2B5EF4-FFF2-40B4-BE49-F238E27FC236}">
                        <a16:creationId xmlns:a16="http://schemas.microsoft.com/office/drawing/2014/main" id="{AB19943A-757A-6AF2-56A5-392F7D1F00C8}"/>
                      </a:ext>
                    </a:extLst>
                  </p:cNvPr>
                  <p:cNvSpPr/>
                  <p:nvPr/>
                </p:nvSpPr>
                <p:spPr>
                  <a:xfrm>
                    <a:off x="5398304" y="4809751"/>
                    <a:ext cx="191213" cy="959893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35" name="円柱 34">
                    <a:extLst>
                      <a:ext uri="{FF2B5EF4-FFF2-40B4-BE49-F238E27FC236}">
                        <a16:creationId xmlns:a16="http://schemas.microsoft.com/office/drawing/2014/main" id="{F808B3E7-2FEE-1D2C-901B-350D3A9C8EFB}"/>
                      </a:ext>
                    </a:extLst>
                  </p:cNvPr>
                  <p:cNvSpPr/>
                  <p:nvPr/>
                </p:nvSpPr>
                <p:spPr>
                  <a:xfrm>
                    <a:off x="6420282" y="5792280"/>
                    <a:ext cx="290590" cy="77661"/>
                  </a:xfrm>
                  <a:prstGeom prst="can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cxnSp>
                <p:nvCxnSpPr>
                  <p:cNvPr id="46" name="直線コネクタ 45">
                    <a:extLst>
                      <a:ext uri="{FF2B5EF4-FFF2-40B4-BE49-F238E27FC236}">
                        <a16:creationId xmlns:a16="http://schemas.microsoft.com/office/drawing/2014/main" id="{545DE442-3CF4-5BF1-E037-DD9750F9E98C}"/>
                      </a:ext>
                    </a:extLst>
                  </p:cNvPr>
                  <p:cNvCxnSpPr>
                    <a:cxnSpLocks/>
                    <a:endCxn id="77" idx="0"/>
                  </p:cNvCxnSpPr>
                  <p:nvPr/>
                </p:nvCxnSpPr>
                <p:spPr>
                  <a:xfrm flipH="1">
                    <a:off x="4112167" y="4536332"/>
                    <a:ext cx="5032893" cy="67232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直線コネクタ 47">
                    <a:extLst>
                      <a:ext uri="{FF2B5EF4-FFF2-40B4-BE49-F238E27FC236}">
                        <a16:creationId xmlns:a16="http://schemas.microsoft.com/office/drawing/2014/main" id="{3E5DE0BB-CA64-92B5-C2BB-17071682FCF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063752" y="5300170"/>
                    <a:ext cx="5075250" cy="78997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直線コネクタ 66">
                    <a:extLst>
                      <a:ext uri="{FF2B5EF4-FFF2-40B4-BE49-F238E27FC236}">
                        <a16:creationId xmlns:a16="http://schemas.microsoft.com/office/drawing/2014/main" id="{A71CB289-5AA9-F4EE-0C20-7BF89D8FA5D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6575683" y="5846336"/>
                    <a:ext cx="102713" cy="58637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" name="直線コネクタ 75">
                    <a:extLst>
                      <a:ext uri="{FF2B5EF4-FFF2-40B4-BE49-F238E27FC236}">
                        <a16:creationId xmlns:a16="http://schemas.microsoft.com/office/drawing/2014/main" id="{7E9E706F-171A-ABE1-E4E7-48319637619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2109163" y="5259387"/>
                    <a:ext cx="7035897" cy="923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38" name="正方形/長方形 137">
                  <a:extLst>
                    <a:ext uri="{FF2B5EF4-FFF2-40B4-BE49-F238E27FC236}">
                      <a16:creationId xmlns:a16="http://schemas.microsoft.com/office/drawing/2014/main" id="{E8C0A285-DBD5-84BB-6E58-846B01CD7D5F}"/>
                    </a:ext>
                  </a:extLst>
                </p:cNvPr>
                <p:cNvSpPr/>
                <p:nvPr/>
              </p:nvSpPr>
              <p:spPr>
                <a:xfrm>
                  <a:off x="1172240" y="5964042"/>
                  <a:ext cx="3996089" cy="4981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3" name="環状矢印 2">
                  <a:extLst>
                    <a:ext uri="{FF2B5EF4-FFF2-40B4-BE49-F238E27FC236}">
                      <a16:creationId xmlns:a16="http://schemas.microsoft.com/office/drawing/2014/main" id="{E2078244-0D94-2765-1788-B4239DCFE463}"/>
                    </a:ext>
                  </a:extLst>
                </p:cNvPr>
                <p:cNvSpPr/>
                <p:nvPr/>
              </p:nvSpPr>
              <p:spPr>
                <a:xfrm rot="5400000">
                  <a:off x="2945269" y="5701816"/>
                  <a:ext cx="441022" cy="1116954"/>
                </a:xfrm>
                <a:prstGeom prst="circularArrow">
                  <a:avLst>
                    <a:gd name="adj1" fmla="val 12500"/>
                    <a:gd name="adj2" fmla="val 1142319"/>
                    <a:gd name="adj3" fmla="val 20457681"/>
                    <a:gd name="adj4" fmla="val 1055929"/>
                    <a:gd name="adj5" fmla="val 19084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" name="正方形/長方形 35">
                  <a:extLst>
                    <a:ext uri="{FF2B5EF4-FFF2-40B4-BE49-F238E27FC236}">
                      <a16:creationId xmlns:a16="http://schemas.microsoft.com/office/drawing/2014/main" id="{2F3D59FF-A673-2597-3FF0-A14F2B8C638C}"/>
                    </a:ext>
                  </a:extLst>
                </p:cNvPr>
                <p:cNvSpPr/>
                <p:nvPr/>
              </p:nvSpPr>
              <p:spPr>
                <a:xfrm>
                  <a:off x="2930868" y="6510282"/>
                  <a:ext cx="469828" cy="1206356"/>
                </a:xfrm>
                <a:prstGeom prst="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37" name="円柱 36">
                  <a:extLst>
                    <a:ext uri="{FF2B5EF4-FFF2-40B4-BE49-F238E27FC236}">
                      <a16:creationId xmlns:a16="http://schemas.microsoft.com/office/drawing/2014/main" id="{93906202-831B-6AAA-B1AB-A0EB00034FEB}"/>
                    </a:ext>
                  </a:extLst>
                </p:cNvPr>
                <p:cNvSpPr/>
                <p:nvPr/>
              </p:nvSpPr>
              <p:spPr>
                <a:xfrm rot="10800000">
                  <a:off x="1032871" y="7016047"/>
                  <a:ext cx="4265823" cy="375666"/>
                </a:xfrm>
                <a:prstGeom prst="can">
                  <a:avLst>
                    <a:gd name="adj" fmla="val 36370"/>
                  </a:avLst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38" name="円柱 37">
                  <a:extLst>
                    <a:ext uri="{FF2B5EF4-FFF2-40B4-BE49-F238E27FC236}">
                      <a16:creationId xmlns:a16="http://schemas.microsoft.com/office/drawing/2014/main" id="{ADE57DC9-8CEB-8E89-3426-3778903BE932}"/>
                    </a:ext>
                  </a:extLst>
                </p:cNvPr>
                <p:cNvSpPr/>
                <p:nvPr/>
              </p:nvSpPr>
              <p:spPr>
                <a:xfrm rot="10800000">
                  <a:off x="1438566" y="7297124"/>
                  <a:ext cx="3437406" cy="375666"/>
                </a:xfrm>
                <a:prstGeom prst="can">
                  <a:avLst>
                    <a:gd name="adj" fmla="val 5103"/>
                  </a:avLst>
                </a:prstGeom>
                <a:solidFill>
                  <a:srgbClr val="EA3E3C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39" name="円柱 38">
                  <a:extLst>
                    <a:ext uri="{FF2B5EF4-FFF2-40B4-BE49-F238E27FC236}">
                      <a16:creationId xmlns:a16="http://schemas.microsoft.com/office/drawing/2014/main" id="{501D26D1-1389-FCD3-D61E-DC7716968061}"/>
                    </a:ext>
                  </a:extLst>
                </p:cNvPr>
                <p:cNvSpPr/>
                <p:nvPr/>
              </p:nvSpPr>
              <p:spPr>
                <a:xfrm>
                  <a:off x="1024358" y="10830088"/>
                  <a:ext cx="4265823" cy="375666"/>
                </a:xfrm>
                <a:prstGeom prst="can">
                  <a:avLst>
                    <a:gd name="adj" fmla="val 36370"/>
                  </a:avLst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41" name="円柱 40">
                  <a:extLst>
                    <a:ext uri="{FF2B5EF4-FFF2-40B4-BE49-F238E27FC236}">
                      <a16:creationId xmlns:a16="http://schemas.microsoft.com/office/drawing/2014/main" id="{6AB07ACB-612A-37F1-3E0C-8EBDC90E98E2}"/>
                    </a:ext>
                  </a:extLst>
                </p:cNvPr>
                <p:cNvSpPr/>
                <p:nvPr/>
              </p:nvSpPr>
              <p:spPr>
                <a:xfrm>
                  <a:off x="1822111" y="7631498"/>
                  <a:ext cx="523218" cy="3142233"/>
                </a:xfrm>
                <a:prstGeom prst="can">
                  <a:avLst>
                    <a:gd name="adj" fmla="val 0"/>
                  </a:avLst>
                </a:prstGeom>
                <a:solidFill>
                  <a:srgbClr val="EA3E3C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42" name="円柱 41">
                  <a:extLst>
                    <a:ext uri="{FF2B5EF4-FFF2-40B4-BE49-F238E27FC236}">
                      <a16:creationId xmlns:a16="http://schemas.microsoft.com/office/drawing/2014/main" id="{B25E6475-189E-C4C3-E4A9-1568066C6D19}"/>
                    </a:ext>
                  </a:extLst>
                </p:cNvPr>
                <p:cNvSpPr/>
                <p:nvPr/>
              </p:nvSpPr>
              <p:spPr>
                <a:xfrm>
                  <a:off x="1447079" y="10542326"/>
                  <a:ext cx="3437406" cy="375666"/>
                </a:xfrm>
                <a:prstGeom prst="can">
                  <a:avLst/>
                </a:prstGeom>
                <a:solidFill>
                  <a:srgbClr val="EA3E3C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cxnSp>
              <p:nvCxnSpPr>
                <p:cNvPr id="44" name="直線コネクタ 43">
                  <a:extLst>
                    <a:ext uri="{FF2B5EF4-FFF2-40B4-BE49-F238E27FC236}">
                      <a16:creationId xmlns:a16="http://schemas.microsoft.com/office/drawing/2014/main" id="{25EC93F9-2A3C-F82D-7ED6-E83E46CDA5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96560" y="7256756"/>
                  <a:ext cx="0" cy="4036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線コネクタ 44">
                  <a:extLst>
                    <a:ext uri="{FF2B5EF4-FFF2-40B4-BE49-F238E27FC236}">
                      <a16:creationId xmlns:a16="http://schemas.microsoft.com/office/drawing/2014/main" id="{C54A20D0-EFFD-9BEB-7C1C-07B35726C5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29001" y="7264014"/>
                  <a:ext cx="0" cy="4036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" name="テキスト ボックス 54">
                  <a:extLst>
                    <a:ext uri="{FF2B5EF4-FFF2-40B4-BE49-F238E27FC236}">
                      <a16:creationId xmlns:a16="http://schemas.microsoft.com/office/drawing/2014/main" id="{72B6EB62-FFF2-9C52-F28E-95FD2FF90141}"/>
                    </a:ext>
                  </a:extLst>
                </p:cNvPr>
                <p:cNvSpPr txBox="1"/>
                <p:nvPr/>
              </p:nvSpPr>
              <p:spPr>
                <a:xfrm>
                  <a:off x="5713768" y="10238274"/>
                  <a:ext cx="2179705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3000" dirty="0">
                      <a:latin typeface="Helvetica" pitchFamily="2" charset="0"/>
                    </a:rPr>
                    <a:t>Pickup coil</a:t>
                  </a:r>
                  <a:endParaRPr lang="ja-JP" altLang="en-US" sz="3000">
                    <a:latin typeface="Helvetica" pitchFamily="2" charset="0"/>
                  </a:endParaRPr>
                </a:p>
              </p:txBody>
            </p:sp>
            <p:cxnSp>
              <p:nvCxnSpPr>
                <p:cNvPr id="69" name="直線矢印コネクタ 68">
                  <a:extLst>
                    <a:ext uri="{FF2B5EF4-FFF2-40B4-BE49-F238E27FC236}">
                      <a16:creationId xmlns:a16="http://schemas.microsoft.com/office/drawing/2014/main" id="{685EA6BF-1883-2386-BF48-DAC5DA0DD1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56034" y="8757993"/>
                  <a:ext cx="0" cy="700049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headEnd type="triangle" w="lg" len="lg"/>
                  <a:tailEnd type="non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線矢印コネクタ 69">
                  <a:extLst>
                    <a:ext uri="{FF2B5EF4-FFF2-40B4-BE49-F238E27FC236}">
                      <a16:creationId xmlns:a16="http://schemas.microsoft.com/office/drawing/2014/main" id="{A98FC1B0-E332-3582-1597-0609EAF31E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44453" y="8757993"/>
                  <a:ext cx="0" cy="700049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headEnd type="triangle" w="lg" len="lg"/>
                  <a:tailEnd type="non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直線矢印コネクタ 70">
                  <a:extLst>
                    <a:ext uri="{FF2B5EF4-FFF2-40B4-BE49-F238E27FC236}">
                      <a16:creationId xmlns:a16="http://schemas.microsoft.com/office/drawing/2014/main" id="{51632965-5AFB-35DA-8018-80355F4ED2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200000">
                  <a:off x="4679197" y="8757993"/>
                  <a:ext cx="0" cy="700049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headEnd type="triangle" w="lg" len="lg"/>
                  <a:tailEnd type="non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直線矢印コネクタ 71">
                  <a:extLst>
                    <a:ext uri="{FF2B5EF4-FFF2-40B4-BE49-F238E27FC236}">
                      <a16:creationId xmlns:a16="http://schemas.microsoft.com/office/drawing/2014/main" id="{65BF43CD-39D4-77AC-4714-4BFCF3511E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95679" y="8757993"/>
                  <a:ext cx="0" cy="700049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headEnd type="triangle" w="lg" len="lg"/>
                  <a:tailEnd type="non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直線矢印コネクタ 72">
                  <a:extLst>
                    <a:ext uri="{FF2B5EF4-FFF2-40B4-BE49-F238E27FC236}">
                      <a16:creationId xmlns:a16="http://schemas.microsoft.com/office/drawing/2014/main" id="{DB19252A-07AA-8A23-7930-2A41E025CC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6502357" y="8773565"/>
                  <a:ext cx="0" cy="700049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headEnd type="triangle" w="lg" len="lg"/>
                  <a:tailEnd type="non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直線矢印コネクタ 73">
                  <a:extLst>
                    <a:ext uri="{FF2B5EF4-FFF2-40B4-BE49-F238E27FC236}">
                      <a16:creationId xmlns:a16="http://schemas.microsoft.com/office/drawing/2014/main" id="{D9B91DEA-80A1-C985-8305-6565DD194F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590778" y="8757993"/>
                  <a:ext cx="0" cy="700049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headEnd type="triangle" w="lg" len="lg"/>
                  <a:tailEnd type="non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直線矢印コネクタ 74">
                  <a:extLst>
                    <a:ext uri="{FF2B5EF4-FFF2-40B4-BE49-F238E27FC236}">
                      <a16:creationId xmlns:a16="http://schemas.microsoft.com/office/drawing/2014/main" id="{D771D55B-ABE4-5927-2579-EEBC4A417F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32871" y="8757993"/>
                  <a:ext cx="0" cy="700049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headEnd type="triangle" w="lg" len="lg"/>
                  <a:tailEnd type="non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7" name="正方形/長方形 76">
                  <a:extLst>
                    <a:ext uri="{FF2B5EF4-FFF2-40B4-BE49-F238E27FC236}">
                      <a16:creationId xmlns:a16="http://schemas.microsoft.com/office/drawing/2014/main" id="{712907B1-A074-7E90-AA1E-9FB43DF4F06E}"/>
                    </a:ext>
                  </a:extLst>
                </p:cNvPr>
                <p:cNvSpPr/>
                <p:nvPr/>
              </p:nvSpPr>
              <p:spPr>
                <a:xfrm>
                  <a:off x="3113857" y="9065945"/>
                  <a:ext cx="103846" cy="10901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79" name="テキスト ボックス 78">
                  <a:extLst>
                    <a:ext uri="{FF2B5EF4-FFF2-40B4-BE49-F238E27FC236}">
                      <a16:creationId xmlns:a16="http://schemas.microsoft.com/office/drawing/2014/main" id="{60D58E32-698B-255F-0AA1-9753A479FC4A}"/>
                    </a:ext>
                  </a:extLst>
                </p:cNvPr>
                <p:cNvSpPr txBox="1"/>
                <p:nvPr/>
              </p:nvSpPr>
              <p:spPr>
                <a:xfrm>
                  <a:off x="827910" y="9711448"/>
                  <a:ext cx="2869972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3000" dirty="0">
                      <a:latin typeface="Helvetica" pitchFamily="2" charset="0"/>
                    </a:rPr>
                    <a:t>Magnetic field direction</a:t>
                  </a:r>
                  <a:endParaRPr lang="ja-JP" altLang="en-US" sz="3000">
                    <a:latin typeface="Helvetica" pitchFamily="2" charset="0"/>
                  </a:endParaRPr>
                </a:p>
              </p:txBody>
            </p:sp>
            <p:cxnSp>
              <p:nvCxnSpPr>
                <p:cNvPr id="80" name="直線コネクタ 79">
                  <a:extLst>
                    <a:ext uri="{FF2B5EF4-FFF2-40B4-BE49-F238E27FC236}">
                      <a16:creationId xmlns:a16="http://schemas.microsoft.com/office/drawing/2014/main" id="{4F678D05-AFAC-BBAB-8946-02CAF35648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057268" y="9478086"/>
                  <a:ext cx="158696" cy="23336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直線コネクタ 12">
                  <a:extLst>
                    <a:ext uri="{FF2B5EF4-FFF2-40B4-BE49-F238E27FC236}">
                      <a16:creationId xmlns:a16="http://schemas.microsoft.com/office/drawing/2014/main" id="{6F4A865B-CABF-473E-EE45-4868724D5D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46940" y="5939999"/>
                  <a:ext cx="0" cy="576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AF3DD08B-D06D-488C-E1A5-7CEB5FD0A7BE}"/>
                    </a:ext>
                  </a:extLst>
                </p:cNvPr>
                <p:cNvSpPr txBox="1"/>
                <p:nvPr/>
              </p:nvSpPr>
              <p:spPr>
                <a:xfrm>
                  <a:off x="3583863" y="6021094"/>
                  <a:ext cx="1864613" cy="5539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3000" dirty="0" err="1">
                      <a:latin typeface="Helvetica" pitchFamily="2" charset="0"/>
                    </a:rPr>
                    <a:t>ω</a:t>
                  </a:r>
                  <a:r>
                    <a:rPr lang="en-US" altLang="ja-JP" sz="3000" dirty="0">
                      <a:latin typeface="Helvetica" pitchFamily="2" charset="0"/>
                    </a:rPr>
                    <a:t> rotation</a:t>
                  </a:r>
                  <a:endParaRPr lang="ja-JP" altLang="en-US" sz="3000">
                    <a:latin typeface="Helvetica" pitchFamily="2" charset="0"/>
                  </a:endParaRPr>
                </a:p>
              </p:txBody>
            </p:sp>
            <p:grpSp>
              <p:nvGrpSpPr>
                <p:cNvPr id="110" name="グループ化 109">
                  <a:extLst>
                    <a:ext uri="{FF2B5EF4-FFF2-40B4-BE49-F238E27FC236}">
                      <a16:creationId xmlns:a16="http://schemas.microsoft.com/office/drawing/2014/main" id="{1BB7C7CC-7D3A-051C-9AF0-A30EE3CBFCA9}"/>
                    </a:ext>
                  </a:extLst>
                </p:cNvPr>
                <p:cNvGrpSpPr/>
                <p:nvPr/>
              </p:nvGrpSpPr>
              <p:grpSpPr>
                <a:xfrm>
                  <a:off x="543127" y="636933"/>
                  <a:ext cx="5374866" cy="4697937"/>
                  <a:chOff x="2509620" y="-109443"/>
                  <a:chExt cx="3316105" cy="2898462"/>
                </a:xfrm>
              </p:grpSpPr>
              <p:sp>
                <p:nvSpPr>
                  <p:cNvPr id="5" name="円/楕円 4">
                    <a:extLst>
                      <a:ext uri="{FF2B5EF4-FFF2-40B4-BE49-F238E27FC236}">
                        <a16:creationId xmlns:a16="http://schemas.microsoft.com/office/drawing/2014/main" id="{E6F85AB3-3E0C-7CA1-D47B-0431B97A8E85}"/>
                      </a:ext>
                    </a:extLst>
                  </p:cNvPr>
                  <p:cNvSpPr/>
                  <p:nvPr/>
                </p:nvSpPr>
                <p:spPr>
                  <a:xfrm rot="14330460">
                    <a:off x="2686665" y="-109443"/>
                    <a:ext cx="2898462" cy="2898462"/>
                  </a:xfrm>
                  <a:prstGeom prst="ellipse">
                    <a:avLst/>
                  </a:prstGeom>
                  <a:solidFill>
                    <a:srgbClr val="E9E9E9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6" name="円/楕円 5">
                    <a:extLst>
                      <a:ext uri="{FF2B5EF4-FFF2-40B4-BE49-F238E27FC236}">
                        <a16:creationId xmlns:a16="http://schemas.microsoft.com/office/drawing/2014/main" id="{348CDBE3-8BA8-F9F5-AAC2-77F8EE47AFF9}"/>
                      </a:ext>
                    </a:extLst>
                  </p:cNvPr>
                  <p:cNvSpPr/>
                  <p:nvPr/>
                </p:nvSpPr>
                <p:spPr>
                  <a:xfrm rot="14330460">
                    <a:off x="2972310" y="202064"/>
                    <a:ext cx="2300509" cy="2300510"/>
                  </a:xfrm>
                  <a:prstGeom prst="ellipse">
                    <a:avLst/>
                  </a:prstGeom>
                  <a:solidFill>
                    <a:srgbClr val="E9E9E9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7" name="円/楕円 6">
                    <a:extLst>
                      <a:ext uri="{FF2B5EF4-FFF2-40B4-BE49-F238E27FC236}">
                        <a16:creationId xmlns:a16="http://schemas.microsoft.com/office/drawing/2014/main" id="{CB181998-A510-452A-D6D1-3410C929E378}"/>
                      </a:ext>
                    </a:extLst>
                  </p:cNvPr>
                  <p:cNvSpPr/>
                  <p:nvPr/>
                </p:nvSpPr>
                <p:spPr>
                  <a:xfrm rot="14330460">
                    <a:off x="3135070" y="349624"/>
                    <a:ext cx="1990137" cy="1990138"/>
                  </a:xfrm>
                  <a:prstGeom prst="ellipse">
                    <a:avLst/>
                  </a:prstGeom>
                  <a:solidFill>
                    <a:srgbClr val="EA3E3C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8" name="円/楕円 7">
                    <a:extLst>
                      <a:ext uri="{FF2B5EF4-FFF2-40B4-BE49-F238E27FC236}">
                        <a16:creationId xmlns:a16="http://schemas.microsoft.com/office/drawing/2014/main" id="{7FCDF27C-BFA3-160B-4E02-37A1A9029E9E}"/>
                      </a:ext>
                    </a:extLst>
                  </p:cNvPr>
                  <p:cNvSpPr/>
                  <p:nvPr/>
                </p:nvSpPr>
                <p:spPr>
                  <a:xfrm rot="14330460">
                    <a:off x="3399104" y="603002"/>
                    <a:ext cx="1473581" cy="1473581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9" name="円/楕円 8">
                    <a:extLst>
                      <a:ext uri="{FF2B5EF4-FFF2-40B4-BE49-F238E27FC236}">
                        <a16:creationId xmlns:a16="http://schemas.microsoft.com/office/drawing/2014/main" id="{E9E4B035-B140-063B-F964-8C5C57B0FBB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rot="14330460">
                    <a:off x="3509623" y="713521"/>
                    <a:ext cx="1252544" cy="1252544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10" name="円/楕円 9">
                    <a:extLst>
                      <a:ext uri="{FF2B5EF4-FFF2-40B4-BE49-F238E27FC236}">
                        <a16:creationId xmlns:a16="http://schemas.microsoft.com/office/drawing/2014/main" id="{0FF5A411-A517-A466-32C2-883F38402E2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rot="14330460">
                    <a:off x="3693820" y="897718"/>
                    <a:ext cx="884149" cy="884149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cxnSp>
                <p:nvCxnSpPr>
                  <p:cNvPr id="22" name="直線コネクタ 21">
                    <a:extLst>
                      <a:ext uri="{FF2B5EF4-FFF2-40B4-BE49-F238E27FC236}">
                        <a16:creationId xmlns:a16="http://schemas.microsoft.com/office/drawing/2014/main" id="{C02FD0BD-4A1F-A886-A8F0-2D938121F94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9730460">
                    <a:off x="2509620" y="1342944"/>
                    <a:ext cx="3284445" cy="2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  <a:prstDash val="dash"/>
                    <a:headEnd w="lg" len="lg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7" name="正方形/長方形 26">
                    <a:extLst>
                      <a:ext uri="{FF2B5EF4-FFF2-40B4-BE49-F238E27FC236}">
                        <a16:creationId xmlns:a16="http://schemas.microsoft.com/office/drawing/2014/main" id="{61CA7AA6-E550-D51A-7690-7933D9E537BE}"/>
                      </a:ext>
                    </a:extLst>
                  </p:cNvPr>
                  <p:cNvSpPr/>
                  <p:nvPr/>
                </p:nvSpPr>
                <p:spPr>
                  <a:xfrm rot="14330460">
                    <a:off x="5319478" y="258654"/>
                    <a:ext cx="712040" cy="300455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103" name="正方形/長方形 102">
                    <a:extLst>
                      <a:ext uri="{FF2B5EF4-FFF2-40B4-BE49-F238E27FC236}">
                        <a16:creationId xmlns:a16="http://schemas.microsoft.com/office/drawing/2014/main" id="{5B84A8D9-90E0-DE68-0A6D-7847B90B995B}"/>
                      </a:ext>
                    </a:extLst>
                  </p:cNvPr>
                  <p:cNvSpPr/>
                  <p:nvPr/>
                </p:nvSpPr>
                <p:spPr>
                  <a:xfrm>
                    <a:off x="4096036" y="1297945"/>
                    <a:ext cx="79720" cy="83686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</p:grpSp>
            <p:grpSp>
              <p:nvGrpSpPr>
                <p:cNvPr id="112" name="グループ化 111">
                  <a:extLst>
                    <a:ext uri="{FF2B5EF4-FFF2-40B4-BE49-F238E27FC236}">
                      <a16:creationId xmlns:a16="http://schemas.microsoft.com/office/drawing/2014/main" id="{A757F393-8FC7-8EEB-A07C-B0F4C2F9BDCD}"/>
                    </a:ext>
                  </a:extLst>
                </p:cNvPr>
                <p:cNvGrpSpPr/>
                <p:nvPr/>
              </p:nvGrpSpPr>
              <p:grpSpPr>
                <a:xfrm>
                  <a:off x="9398901" y="1699532"/>
                  <a:ext cx="2285925" cy="2625821"/>
                  <a:chOff x="7767924" y="1407885"/>
                  <a:chExt cx="1838119" cy="3077028"/>
                </a:xfrm>
                <a:solidFill>
                  <a:schemeClr val="bg2"/>
                </a:solidFill>
              </p:grpSpPr>
              <p:sp>
                <p:nvSpPr>
                  <p:cNvPr id="136" name="台形 135">
                    <a:extLst>
                      <a:ext uri="{FF2B5EF4-FFF2-40B4-BE49-F238E27FC236}">
                        <a16:creationId xmlns:a16="http://schemas.microsoft.com/office/drawing/2014/main" id="{A2D59C7A-C5A6-9215-C1CA-E9BC0B2B663B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634421" y="2541388"/>
                    <a:ext cx="3077026" cy="810020"/>
                  </a:xfrm>
                  <a:prstGeom prst="trapezoid">
                    <a:avLst/>
                  </a:prstGeom>
                  <a:grpFill/>
                  <a:ln w="190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137" name="正方形/長方形 136">
                    <a:extLst>
                      <a:ext uri="{FF2B5EF4-FFF2-40B4-BE49-F238E27FC236}">
                        <a16:creationId xmlns:a16="http://schemas.microsoft.com/office/drawing/2014/main" id="{656A9F98-FA80-673E-1AEB-606B1B395E16}"/>
                      </a:ext>
                    </a:extLst>
                  </p:cNvPr>
                  <p:cNvSpPr/>
                  <p:nvPr/>
                </p:nvSpPr>
                <p:spPr>
                  <a:xfrm>
                    <a:off x="8577946" y="1407885"/>
                    <a:ext cx="1028097" cy="3077028"/>
                  </a:xfrm>
                  <a:prstGeom prst="rect">
                    <a:avLst/>
                  </a:prstGeom>
                  <a:grpFill/>
                  <a:ln w="190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</p:grpSp>
            <p:sp>
              <p:nvSpPr>
                <p:cNvPr id="114" name="円柱 113">
                  <a:extLst>
                    <a:ext uri="{FF2B5EF4-FFF2-40B4-BE49-F238E27FC236}">
                      <a16:creationId xmlns:a16="http://schemas.microsoft.com/office/drawing/2014/main" id="{DC12A054-EC10-4AD3-4C6B-22B7CAE1F1C5}"/>
                    </a:ext>
                  </a:extLst>
                </p:cNvPr>
                <p:cNvSpPr/>
                <p:nvPr/>
              </p:nvSpPr>
              <p:spPr>
                <a:xfrm rot="16200000">
                  <a:off x="7950897" y="1696544"/>
                  <a:ext cx="1793285" cy="2631799"/>
                </a:xfrm>
                <a:prstGeom prst="can">
                  <a:avLst/>
                </a:prstGeom>
                <a:noFill/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15" name="円柱 114">
                  <a:extLst>
                    <a:ext uri="{FF2B5EF4-FFF2-40B4-BE49-F238E27FC236}">
                      <a16:creationId xmlns:a16="http://schemas.microsoft.com/office/drawing/2014/main" id="{D2EF69A6-B672-8F60-5D2E-3B32DFCF6C0A}"/>
                    </a:ext>
                  </a:extLst>
                </p:cNvPr>
                <p:cNvSpPr/>
                <p:nvPr/>
              </p:nvSpPr>
              <p:spPr>
                <a:xfrm rot="16200000">
                  <a:off x="6007583" y="2491010"/>
                  <a:ext cx="825619" cy="1010813"/>
                </a:xfrm>
                <a:prstGeom prst="can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16" name="円柱 115">
                  <a:extLst>
                    <a:ext uri="{FF2B5EF4-FFF2-40B4-BE49-F238E27FC236}">
                      <a16:creationId xmlns:a16="http://schemas.microsoft.com/office/drawing/2014/main" id="{4262A484-13B1-FCCC-55B5-21FE5862E910}"/>
                    </a:ext>
                  </a:extLst>
                </p:cNvPr>
                <p:cNvSpPr/>
                <p:nvPr/>
              </p:nvSpPr>
              <p:spPr>
                <a:xfrm rot="16200000">
                  <a:off x="5729550" y="2070728"/>
                  <a:ext cx="1366222" cy="1883843"/>
                </a:xfrm>
                <a:prstGeom prst="can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17" name="円柱 116">
                  <a:extLst>
                    <a:ext uri="{FF2B5EF4-FFF2-40B4-BE49-F238E27FC236}">
                      <a16:creationId xmlns:a16="http://schemas.microsoft.com/office/drawing/2014/main" id="{D600C3B5-016E-04E0-365A-4EC72BA8FD6B}"/>
                    </a:ext>
                  </a:extLst>
                </p:cNvPr>
                <p:cNvSpPr/>
                <p:nvPr/>
              </p:nvSpPr>
              <p:spPr>
                <a:xfrm rot="16200000">
                  <a:off x="5483349" y="1392433"/>
                  <a:ext cx="1793285" cy="3240022"/>
                </a:xfrm>
                <a:prstGeom prst="can">
                  <a:avLst/>
                </a:prstGeom>
                <a:noFill/>
                <a:ln w="349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18" name="円/楕円 117">
                  <a:extLst>
                    <a:ext uri="{FF2B5EF4-FFF2-40B4-BE49-F238E27FC236}">
                      <a16:creationId xmlns:a16="http://schemas.microsoft.com/office/drawing/2014/main" id="{EF27BF6B-19F7-ED97-B8C7-F3822B6C4698}"/>
                    </a:ext>
                  </a:extLst>
                </p:cNvPr>
                <p:cNvSpPr/>
                <p:nvPr/>
              </p:nvSpPr>
              <p:spPr>
                <a:xfrm>
                  <a:off x="4865314" y="2577386"/>
                  <a:ext cx="252595" cy="87011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cxnSp>
              <p:nvCxnSpPr>
                <p:cNvPr id="119" name="直線コネクタ 118">
                  <a:extLst>
                    <a:ext uri="{FF2B5EF4-FFF2-40B4-BE49-F238E27FC236}">
                      <a16:creationId xmlns:a16="http://schemas.microsoft.com/office/drawing/2014/main" id="{85F50862-13F4-951A-60E3-90A40F205802}"/>
                    </a:ext>
                  </a:extLst>
                </p:cNvPr>
                <p:cNvCxnSpPr>
                  <a:cxnSpLocks/>
                  <a:endCxn id="103" idx="0"/>
                </p:cNvCxnSpPr>
                <p:nvPr/>
              </p:nvCxnSpPr>
              <p:spPr>
                <a:xfrm flipH="1">
                  <a:off x="3179056" y="2278348"/>
                  <a:ext cx="6644909" cy="63973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直線コネクタ 120">
                  <a:extLst>
                    <a:ext uri="{FF2B5EF4-FFF2-40B4-BE49-F238E27FC236}">
                      <a16:creationId xmlns:a16="http://schemas.microsoft.com/office/drawing/2014/main" id="{9843FA66-B226-EA59-59F3-50B5897118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92775" y="3026023"/>
                  <a:ext cx="6747515" cy="70697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2" name="テキスト ボックス 121">
                  <a:extLst>
                    <a:ext uri="{FF2B5EF4-FFF2-40B4-BE49-F238E27FC236}">
                      <a16:creationId xmlns:a16="http://schemas.microsoft.com/office/drawing/2014/main" id="{8B199432-92A9-5417-41CF-71275B9EBAA1}"/>
                    </a:ext>
                  </a:extLst>
                </p:cNvPr>
                <p:cNvSpPr txBox="1"/>
                <p:nvPr/>
              </p:nvSpPr>
              <p:spPr>
                <a:xfrm>
                  <a:off x="5982879" y="3971681"/>
                  <a:ext cx="1910595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3000" baseline="30000" dirty="0">
                      <a:latin typeface="Helvetica" pitchFamily="2" charset="0"/>
                    </a:rPr>
                    <a:t>3</a:t>
                  </a:r>
                  <a:r>
                    <a:rPr lang="en-US" altLang="ja-JP" sz="3000" dirty="0">
                      <a:latin typeface="Helvetica" pitchFamily="2" charset="0"/>
                    </a:rPr>
                    <a:t>He cell</a:t>
                  </a:r>
                  <a:endParaRPr lang="ja-JP" altLang="en-US" sz="3000">
                    <a:latin typeface="Helvetica" pitchFamily="2" charset="0"/>
                  </a:endParaRPr>
                </a:p>
              </p:txBody>
            </p:sp>
            <p:sp>
              <p:nvSpPr>
                <p:cNvPr id="123" name="テキスト ボックス 122">
                  <a:extLst>
                    <a:ext uri="{FF2B5EF4-FFF2-40B4-BE49-F238E27FC236}">
                      <a16:creationId xmlns:a16="http://schemas.microsoft.com/office/drawing/2014/main" id="{92A6C784-6981-9295-8C4C-A68644C26C90}"/>
                    </a:ext>
                  </a:extLst>
                </p:cNvPr>
                <p:cNvSpPr txBox="1"/>
                <p:nvPr/>
              </p:nvSpPr>
              <p:spPr>
                <a:xfrm>
                  <a:off x="5982879" y="4453079"/>
                  <a:ext cx="1910594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3000" dirty="0">
                      <a:latin typeface="Helvetica" pitchFamily="2" charset="0"/>
                    </a:rPr>
                    <a:t>RF coil</a:t>
                  </a:r>
                  <a:endParaRPr lang="ja-JP" altLang="en-US" sz="3000">
                    <a:latin typeface="Helvetica" pitchFamily="2" charset="0"/>
                  </a:endParaRPr>
                </a:p>
              </p:txBody>
            </p:sp>
            <p:sp>
              <p:nvSpPr>
                <p:cNvPr id="124" name="テキスト ボックス 123">
                  <a:extLst>
                    <a:ext uri="{FF2B5EF4-FFF2-40B4-BE49-F238E27FC236}">
                      <a16:creationId xmlns:a16="http://schemas.microsoft.com/office/drawing/2014/main" id="{D0A5B3B3-F9E2-D4DF-8E9C-1561C92364D5}"/>
                    </a:ext>
                  </a:extLst>
                </p:cNvPr>
                <p:cNvSpPr txBox="1"/>
                <p:nvPr/>
              </p:nvSpPr>
              <p:spPr>
                <a:xfrm>
                  <a:off x="5521716" y="4930586"/>
                  <a:ext cx="2530668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3000" baseline="30000" dirty="0">
                      <a:latin typeface="Helvetica" pitchFamily="2" charset="0"/>
                    </a:rPr>
                    <a:t>3</a:t>
                  </a:r>
                  <a:r>
                    <a:rPr lang="en-US" altLang="ja-JP" sz="3000" dirty="0">
                      <a:latin typeface="Helvetica" pitchFamily="2" charset="0"/>
                    </a:rPr>
                    <a:t>He NSF coil</a:t>
                  </a:r>
                  <a:endParaRPr lang="ja-JP" altLang="en-US" sz="3000">
                    <a:latin typeface="Helvetica" pitchFamily="2" charset="0"/>
                  </a:endParaRPr>
                </a:p>
              </p:txBody>
            </p:sp>
            <p:sp>
              <p:nvSpPr>
                <p:cNvPr id="125" name="テキスト ボックス 124">
                  <a:extLst>
                    <a:ext uri="{FF2B5EF4-FFF2-40B4-BE49-F238E27FC236}">
                      <a16:creationId xmlns:a16="http://schemas.microsoft.com/office/drawing/2014/main" id="{8F3E9768-DCDC-7071-2BC1-D54196A5BD03}"/>
                    </a:ext>
                  </a:extLst>
                </p:cNvPr>
                <p:cNvSpPr txBox="1"/>
                <p:nvPr/>
              </p:nvSpPr>
              <p:spPr>
                <a:xfrm>
                  <a:off x="8369808" y="4046231"/>
                  <a:ext cx="2092565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3000" dirty="0">
                      <a:latin typeface="Helvetica" pitchFamily="2" charset="0"/>
                    </a:rPr>
                    <a:t>Neutron guide tube</a:t>
                  </a:r>
                  <a:endParaRPr lang="ja-JP" altLang="en-US" sz="3000">
                    <a:latin typeface="Helvetica" pitchFamily="2" charset="0"/>
                  </a:endParaRPr>
                </a:p>
              </p:txBody>
            </p:sp>
            <p:sp>
              <p:nvSpPr>
                <p:cNvPr id="126" name="テキスト ボックス 125">
                  <a:extLst>
                    <a:ext uri="{FF2B5EF4-FFF2-40B4-BE49-F238E27FC236}">
                      <a16:creationId xmlns:a16="http://schemas.microsoft.com/office/drawing/2014/main" id="{61D22172-726C-49B0-E505-BE3A768BDB22}"/>
                    </a:ext>
                  </a:extLst>
                </p:cNvPr>
                <p:cNvSpPr txBox="1"/>
                <p:nvPr/>
              </p:nvSpPr>
              <p:spPr>
                <a:xfrm>
                  <a:off x="8763003" y="1205629"/>
                  <a:ext cx="2800872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3000" dirty="0">
                      <a:latin typeface="Helvetica" pitchFamily="2" charset="0"/>
                    </a:rPr>
                    <a:t>2D detector</a:t>
                  </a:r>
                  <a:endParaRPr lang="ja-JP" altLang="en-US" sz="3000">
                    <a:latin typeface="Helvetica" pitchFamily="2" charset="0"/>
                  </a:endParaRPr>
                </a:p>
              </p:txBody>
            </p:sp>
            <p:cxnSp>
              <p:nvCxnSpPr>
                <p:cNvPr id="127" name="直線コネクタ 126">
                  <a:extLst>
                    <a:ext uri="{FF2B5EF4-FFF2-40B4-BE49-F238E27FC236}">
                      <a16:creationId xmlns:a16="http://schemas.microsoft.com/office/drawing/2014/main" id="{4FBE6988-CFF9-B5FB-BF53-2AB0ABA6E3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585915" y="1717378"/>
                  <a:ext cx="163055" cy="27320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直線コネクタ 131">
                  <a:extLst>
                    <a:ext uri="{FF2B5EF4-FFF2-40B4-BE49-F238E27FC236}">
                      <a16:creationId xmlns:a16="http://schemas.microsoft.com/office/drawing/2014/main" id="{7C8FE5A2-52FE-70F4-8AB1-CA08D88EE9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802244" y="3630835"/>
                  <a:ext cx="177514" cy="96091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直線コネクタ 132">
                  <a:extLst>
                    <a:ext uri="{FF2B5EF4-FFF2-40B4-BE49-F238E27FC236}">
                      <a16:creationId xmlns:a16="http://schemas.microsoft.com/office/drawing/2014/main" id="{ABEC7B8C-D63D-FFEB-E60A-B0C349DD54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69810" y="3749658"/>
                  <a:ext cx="358554" cy="29657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直線コネクタ 134">
                  <a:extLst>
                    <a:ext uri="{FF2B5EF4-FFF2-40B4-BE49-F238E27FC236}">
                      <a16:creationId xmlns:a16="http://schemas.microsoft.com/office/drawing/2014/main" id="{F81E8EAC-5D01-832F-05CE-F19593C6C0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90935" y="2987514"/>
                  <a:ext cx="667608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dash"/>
                  <a:headEnd type="triangle"/>
                  <a:tailEnd type="non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1" name="円/楕円 140">
                  <a:extLst>
                    <a:ext uri="{FF2B5EF4-FFF2-40B4-BE49-F238E27FC236}">
                      <a16:creationId xmlns:a16="http://schemas.microsoft.com/office/drawing/2014/main" id="{8EC8C62C-03D2-D53E-A0DC-A404593A9536}"/>
                    </a:ext>
                  </a:extLst>
                </p:cNvPr>
                <p:cNvSpPr/>
                <p:nvPr/>
              </p:nvSpPr>
              <p:spPr>
                <a:xfrm>
                  <a:off x="9582651" y="2237677"/>
                  <a:ext cx="482628" cy="1558476"/>
                </a:xfrm>
                <a:prstGeom prst="ellipse">
                  <a:avLst/>
                </a:prstGeom>
                <a:noFill/>
                <a:ln w="12700"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42" name="円/楕円 141">
                  <a:extLst>
                    <a:ext uri="{FF2B5EF4-FFF2-40B4-BE49-F238E27FC236}">
                      <a16:creationId xmlns:a16="http://schemas.microsoft.com/office/drawing/2014/main" id="{9DC269BB-DDF6-9CCF-8F80-D98B794C3537}"/>
                    </a:ext>
                  </a:extLst>
                </p:cNvPr>
                <p:cNvSpPr/>
                <p:nvPr/>
              </p:nvSpPr>
              <p:spPr>
                <a:xfrm>
                  <a:off x="9495507" y="2100236"/>
                  <a:ext cx="689566" cy="1816423"/>
                </a:xfrm>
                <a:custGeom>
                  <a:avLst/>
                  <a:gdLst>
                    <a:gd name="csX0" fmla="*/ 0 w 689566"/>
                    <a:gd name="csY0" fmla="*/ 906250 h 1816423"/>
                    <a:gd name="csX1" fmla="*/ 344783 w 689566"/>
                    <a:gd name="csY1" fmla="*/ 1032 h 1816423"/>
                    <a:gd name="csX2" fmla="*/ 689566 w 689566"/>
                    <a:gd name="csY2" fmla="*/ 906250 h 1816423"/>
                    <a:gd name="csX3" fmla="*/ 344783 w 689566"/>
                    <a:gd name="csY3" fmla="*/ 1811468 h 1816423"/>
                    <a:gd name="csX4" fmla="*/ 0 w 689566"/>
                    <a:gd name="csY4" fmla="*/ 906250 h 181642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689566" h="1816423">
                      <a:moveTo>
                        <a:pt x="0" y="906250"/>
                      </a:moveTo>
                      <a:cubicBezTo>
                        <a:pt x="0" y="406312"/>
                        <a:pt x="121114" y="25970"/>
                        <a:pt x="344783" y="1032"/>
                      </a:cubicBezTo>
                      <a:cubicBezTo>
                        <a:pt x="568452" y="-23906"/>
                        <a:pt x="689566" y="406312"/>
                        <a:pt x="689566" y="906250"/>
                      </a:cubicBezTo>
                      <a:cubicBezTo>
                        <a:pt x="689566" y="1406188"/>
                        <a:pt x="560139" y="1869657"/>
                        <a:pt x="344783" y="1811468"/>
                      </a:cubicBezTo>
                      <a:cubicBezTo>
                        <a:pt x="129427" y="1753279"/>
                        <a:pt x="0" y="1406188"/>
                        <a:pt x="0" y="906250"/>
                      </a:cubicBezTo>
                      <a:close/>
                    </a:path>
                  </a:pathLst>
                </a:custGeom>
                <a:noFill/>
                <a:ln w="12700"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cxnSp>
              <p:nvCxnSpPr>
                <p:cNvPr id="84" name="直線コネクタ 83">
                  <a:extLst>
                    <a:ext uri="{FF2B5EF4-FFF2-40B4-BE49-F238E27FC236}">
                      <a16:creationId xmlns:a16="http://schemas.microsoft.com/office/drawing/2014/main" id="{5DA8A804-39A1-9734-4428-834EEC3460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758" y="5693590"/>
                  <a:ext cx="11880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9" name="テキスト ボックス 168">
                  <a:extLst>
                    <a:ext uri="{FF2B5EF4-FFF2-40B4-BE49-F238E27FC236}">
                      <a16:creationId xmlns:a16="http://schemas.microsoft.com/office/drawing/2014/main" id="{3D4F61A4-6E45-ACE9-5064-8888F5400E78}"/>
                    </a:ext>
                  </a:extLst>
                </p:cNvPr>
                <p:cNvSpPr txBox="1"/>
                <p:nvPr/>
              </p:nvSpPr>
              <p:spPr>
                <a:xfrm>
                  <a:off x="133453" y="467081"/>
                  <a:ext cx="177907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3200" dirty="0">
                      <a:latin typeface="Helvetica" pitchFamily="2" charset="0"/>
                      <a:cs typeface="Times New Roman" panose="02020603050405020304" pitchFamily="18" charset="0"/>
                    </a:rPr>
                    <a:t>Top view</a:t>
                  </a:r>
                  <a:endParaRPr lang="ja-JP" altLang="en-US" sz="3200">
                    <a:latin typeface="Helvetica" pitchFamily="2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0" name="テキスト ボックス 169">
                  <a:extLst>
                    <a:ext uri="{FF2B5EF4-FFF2-40B4-BE49-F238E27FC236}">
                      <a16:creationId xmlns:a16="http://schemas.microsoft.com/office/drawing/2014/main" id="{22197E02-8833-AEB9-2873-456920041358}"/>
                    </a:ext>
                  </a:extLst>
                </p:cNvPr>
                <p:cNvSpPr txBox="1"/>
                <p:nvPr/>
              </p:nvSpPr>
              <p:spPr>
                <a:xfrm>
                  <a:off x="307384" y="4381505"/>
                  <a:ext cx="3261077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3000" dirty="0">
                      <a:latin typeface="Helvetica" pitchFamily="2" charset="0"/>
                      <a:cs typeface="Times New Roman" panose="02020603050405020304" pitchFamily="18" charset="0"/>
                    </a:rPr>
                    <a:t>Incident neutron</a:t>
                  </a:r>
                  <a:endParaRPr lang="ja-JP" altLang="en-US" sz="3000">
                    <a:latin typeface="Helvetica" pitchFamily="2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1" name="テキスト ボックス 170">
                  <a:extLst>
                    <a:ext uri="{FF2B5EF4-FFF2-40B4-BE49-F238E27FC236}">
                      <a16:creationId xmlns:a16="http://schemas.microsoft.com/office/drawing/2014/main" id="{CFA50EB2-C3AA-49D4-FAC4-3CD7B6CB3EF9}"/>
                    </a:ext>
                  </a:extLst>
                </p:cNvPr>
                <p:cNvSpPr txBox="1"/>
                <p:nvPr/>
              </p:nvSpPr>
              <p:spPr>
                <a:xfrm>
                  <a:off x="5713768" y="655246"/>
                  <a:ext cx="2859046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3000" dirty="0">
                      <a:latin typeface="Helvetica" pitchFamily="2" charset="0"/>
                      <a:cs typeface="Times New Roman" panose="02020603050405020304" pitchFamily="18" charset="0"/>
                    </a:rPr>
                    <a:t>Beam stopper</a:t>
                  </a:r>
                  <a:endParaRPr lang="ja-JP" altLang="en-US" sz="3000">
                    <a:latin typeface="Helvetica" pitchFamily="2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73" name="直線コネクタ 172">
                  <a:extLst>
                    <a:ext uri="{FF2B5EF4-FFF2-40B4-BE49-F238E27FC236}">
                      <a16:creationId xmlns:a16="http://schemas.microsoft.com/office/drawing/2014/main" id="{EB1AEA7C-DD6D-6E66-4E44-E31529F879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49823" y="1148907"/>
                  <a:ext cx="362109" cy="21964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直線コネクタ 179">
                  <a:extLst>
                    <a:ext uri="{FF2B5EF4-FFF2-40B4-BE49-F238E27FC236}">
                      <a16:creationId xmlns:a16="http://schemas.microsoft.com/office/drawing/2014/main" id="{8E2629E7-8BEC-8301-2227-BB4633049F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435104" y="3324452"/>
                  <a:ext cx="93873" cy="68028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直線コネクタ 183">
                  <a:extLst>
                    <a:ext uri="{FF2B5EF4-FFF2-40B4-BE49-F238E27FC236}">
                      <a16:creationId xmlns:a16="http://schemas.microsoft.com/office/drawing/2014/main" id="{E2F57637-BA06-AEFE-FD97-3B5660741D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65876" y="6895358"/>
                  <a:ext cx="225878" cy="77743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5" name="テキスト ボックス 184">
                  <a:extLst>
                    <a:ext uri="{FF2B5EF4-FFF2-40B4-BE49-F238E27FC236}">
                      <a16:creationId xmlns:a16="http://schemas.microsoft.com/office/drawing/2014/main" id="{EC8A7CAB-6402-0F4F-73F7-5A55EA404ABA}"/>
                    </a:ext>
                  </a:extLst>
                </p:cNvPr>
                <p:cNvSpPr txBox="1"/>
                <p:nvPr/>
              </p:nvSpPr>
              <p:spPr>
                <a:xfrm>
                  <a:off x="386884" y="6489170"/>
                  <a:ext cx="2574744" cy="5539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3000" dirty="0">
                      <a:latin typeface="Helvetica" pitchFamily="2" charset="0"/>
                    </a:rPr>
                    <a:t>Helmholtz coil</a:t>
                  </a:r>
                  <a:endParaRPr lang="ja-JP" altLang="en-US" sz="3000">
                    <a:latin typeface="Helvetica" pitchFamily="2" charset="0"/>
                  </a:endParaRPr>
                </a:p>
              </p:txBody>
            </p:sp>
            <p:sp>
              <p:nvSpPr>
                <p:cNvPr id="186" name="テキスト ボックス 185">
                  <a:extLst>
                    <a:ext uri="{FF2B5EF4-FFF2-40B4-BE49-F238E27FC236}">
                      <a16:creationId xmlns:a16="http://schemas.microsoft.com/office/drawing/2014/main" id="{F1E68C85-C048-ED59-C44D-5C7B2770B888}"/>
                    </a:ext>
                  </a:extLst>
                </p:cNvPr>
                <p:cNvSpPr txBox="1"/>
                <p:nvPr/>
              </p:nvSpPr>
              <p:spPr>
                <a:xfrm>
                  <a:off x="3970157" y="6528134"/>
                  <a:ext cx="2212465" cy="5539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3000" dirty="0">
                      <a:latin typeface="Helvetica" pitchFamily="2" charset="0"/>
                    </a:rPr>
                    <a:t>Refrigerator</a:t>
                  </a:r>
                  <a:endParaRPr lang="ja-JP" altLang="en-US" sz="3000">
                    <a:latin typeface="Helvetica" pitchFamily="2" charset="0"/>
                  </a:endParaRPr>
                </a:p>
              </p:txBody>
            </p:sp>
            <p:cxnSp>
              <p:nvCxnSpPr>
                <p:cNvPr id="187" name="直線コネクタ 186">
                  <a:extLst>
                    <a:ext uri="{FF2B5EF4-FFF2-40B4-BE49-F238E27FC236}">
                      <a16:creationId xmlns:a16="http://schemas.microsoft.com/office/drawing/2014/main" id="{1E1C5706-6276-D502-57D9-889819F503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00038" y="6806590"/>
                  <a:ext cx="659985" cy="2297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9" name="テキスト ボックス 188">
                  <a:extLst>
                    <a:ext uri="{FF2B5EF4-FFF2-40B4-BE49-F238E27FC236}">
                      <a16:creationId xmlns:a16="http://schemas.microsoft.com/office/drawing/2014/main" id="{FF1CC82D-FFA2-2879-811A-61FCE3041845}"/>
                    </a:ext>
                  </a:extLst>
                </p:cNvPr>
                <p:cNvSpPr txBox="1"/>
                <p:nvPr/>
              </p:nvSpPr>
              <p:spPr>
                <a:xfrm>
                  <a:off x="1943794" y="2152930"/>
                  <a:ext cx="1723769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3000" dirty="0">
                      <a:latin typeface="Helvetica" pitchFamily="2" charset="0"/>
                    </a:rPr>
                    <a:t>Sample</a:t>
                  </a:r>
                  <a:endParaRPr lang="ja-JP" altLang="en-US" sz="3000">
                    <a:latin typeface="Helvetica" pitchFamily="2" charset="0"/>
                  </a:endParaRPr>
                </a:p>
              </p:txBody>
            </p:sp>
            <p:cxnSp>
              <p:nvCxnSpPr>
                <p:cNvPr id="190" name="直線コネクタ 189">
                  <a:extLst>
                    <a:ext uri="{FF2B5EF4-FFF2-40B4-BE49-F238E27FC236}">
                      <a16:creationId xmlns:a16="http://schemas.microsoft.com/office/drawing/2014/main" id="{ABFD6331-89EE-A4AC-383A-FB8AB0F19C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39467" y="2633549"/>
                  <a:ext cx="347016" cy="22908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5" name="テキスト ボックス 84">
                  <a:extLst>
                    <a:ext uri="{FF2B5EF4-FFF2-40B4-BE49-F238E27FC236}">
                      <a16:creationId xmlns:a16="http://schemas.microsoft.com/office/drawing/2014/main" id="{88BE1BCF-22BC-9D10-15DE-C1A89DC066DC}"/>
                    </a:ext>
                  </a:extLst>
                </p:cNvPr>
                <p:cNvSpPr txBox="1"/>
                <p:nvPr/>
              </p:nvSpPr>
              <p:spPr>
                <a:xfrm>
                  <a:off x="112086" y="5739625"/>
                  <a:ext cx="193995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3200" dirty="0">
                      <a:latin typeface="Helvetica" pitchFamily="2" charset="0"/>
                      <a:cs typeface="Times New Roman" panose="02020603050405020304" pitchFamily="18" charset="0"/>
                    </a:rPr>
                    <a:t>Side view</a:t>
                  </a:r>
                  <a:endParaRPr lang="ja-JP" altLang="en-US" sz="3200">
                    <a:latin typeface="Helvetica" pitchFamily="2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7" name="直線コネクタ 16">
                  <a:extLst>
                    <a:ext uri="{FF2B5EF4-FFF2-40B4-BE49-F238E27FC236}">
                      <a16:creationId xmlns:a16="http://schemas.microsoft.com/office/drawing/2014/main" id="{AE0921B8-8CEF-EBA0-02C9-4D0AF8815A7D}"/>
                    </a:ext>
                  </a:extLst>
                </p:cNvPr>
                <p:cNvCxnSpPr>
                  <a:cxnSpLocks/>
                  <a:stCxn id="124" idx="1"/>
                </p:cNvCxnSpPr>
                <p:nvPr/>
              </p:nvCxnSpPr>
              <p:spPr>
                <a:xfrm flipH="1" flipV="1">
                  <a:off x="5258141" y="3794356"/>
                  <a:ext cx="263575" cy="141322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9" name="グループ化 48">
                  <a:extLst>
                    <a:ext uri="{FF2B5EF4-FFF2-40B4-BE49-F238E27FC236}">
                      <a16:creationId xmlns:a16="http://schemas.microsoft.com/office/drawing/2014/main" id="{C959604C-7C03-58E8-D745-119F4E3AAC85}"/>
                    </a:ext>
                  </a:extLst>
                </p:cNvPr>
                <p:cNvGrpSpPr/>
                <p:nvPr/>
              </p:nvGrpSpPr>
              <p:grpSpPr>
                <a:xfrm rot="19567328">
                  <a:off x="3239273" y="1651873"/>
                  <a:ext cx="647054" cy="647054"/>
                  <a:chOff x="3284376" y="1732408"/>
                  <a:chExt cx="1440000" cy="1440000"/>
                </a:xfrm>
              </p:grpSpPr>
              <p:cxnSp>
                <p:nvCxnSpPr>
                  <p:cNvPr id="50" name="直線矢印コネクタ 49">
                    <a:extLst>
                      <a:ext uri="{FF2B5EF4-FFF2-40B4-BE49-F238E27FC236}">
                        <a16:creationId xmlns:a16="http://schemas.microsoft.com/office/drawing/2014/main" id="{F41F8C3E-CCBF-0378-1BD5-6A406AE2F4A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84376" y="3172408"/>
                    <a:ext cx="1440000" cy="0"/>
                  </a:xfrm>
                  <a:prstGeom prst="straightConnector1">
                    <a:avLst/>
                  </a:prstGeom>
                  <a:ln w="31750">
                    <a:solidFill>
                      <a:schemeClr val="tx1"/>
                    </a:solidFill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直線矢印コネクタ 50">
                    <a:extLst>
                      <a:ext uri="{FF2B5EF4-FFF2-40B4-BE49-F238E27FC236}">
                        <a16:creationId xmlns:a16="http://schemas.microsoft.com/office/drawing/2014/main" id="{F7B527B9-072C-9D6B-0689-A72A12C6404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2564376" y="2452408"/>
                    <a:ext cx="1440000" cy="0"/>
                  </a:xfrm>
                  <a:prstGeom prst="straightConnector1">
                    <a:avLst/>
                  </a:prstGeom>
                  <a:ln w="31750">
                    <a:solidFill>
                      <a:schemeClr val="tx1"/>
                    </a:solidFill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2" name="テキスト ボックス 51">
                      <a:extLst>
                        <a:ext uri="{FF2B5EF4-FFF2-40B4-BE49-F238E27FC236}">
                          <a16:creationId xmlns:a16="http://schemas.microsoft.com/office/drawing/2014/main" id="{0FAEEBF2-1903-7B85-CA2F-915B5498285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896990" y="1451019"/>
                      <a:ext cx="490637" cy="55399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p>
                              <m:sSupPr>
                                <m:ctrlPr>
                                  <a:rPr lang="en-US" altLang="ja-JP" sz="3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ja-JP" sz="3000" i="1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sup>
                                <m:r>
                                  <a:rPr lang="en-US" altLang="ja-JP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oMath>
                        </m:oMathPara>
                      </a14:m>
                      <a:endParaRPr lang="ja-JP" altLang="en-US" sz="3000">
                        <a:latin typeface="Helvetica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52" name="テキスト ボックス 51">
                      <a:extLst>
                        <a:ext uri="{FF2B5EF4-FFF2-40B4-BE49-F238E27FC236}">
                          <a16:creationId xmlns:a16="http://schemas.microsoft.com/office/drawing/2014/main" id="{0FAEEBF2-1903-7B85-CA2F-915B5498285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96990" y="1451019"/>
                      <a:ext cx="490637" cy="553998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3" name="テキスト ボックス 52">
                      <a:extLst>
                        <a:ext uri="{FF2B5EF4-FFF2-40B4-BE49-F238E27FC236}">
                          <a16:creationId xmlns:a16="http://schemas.microsoft.com/office/drawing/2014/main" id="{05A78305-A0CA-14C9-FDF1-0C9C94B03BD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63143" y="1681511"/>
                      <a:ext cx="490637" cy="55399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p>
                              <m:sSupPr>
                                <m:ctrlPr>
                                  <a:rPr lang="en-US" altLang="ja-JP" sz="3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ja-JP" sz="3000" i="1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p>
                                <m:r>
                                  <a:rPr lang="en-US" altLang="ja-JP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oMath>
                        </m:oMathPara>
                      </a14:m>
                      <a:endParaRPr lang="ja-JP" altLang="en-US" sz="3000">
                        <a:latin typeface="Helvetica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53" name="テキスト ボックス 52">
                      <a:extLst>
                        <a:ext uri="{FF2B5EF4-FFF2-40B4-BE49-F238E27FC236}">
                          <a16:creationId xmlns:a16="http://schemas.microsoft.com/office/drawing/2014/main" id="{05A78305-A0CA-14C9-FDF1-0C9C94B03BD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63143" y="1681511"/>
                      <a:ext cx="490637" cy="553998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4" name="直線矢印コネクタ 3">
                <a:extLst>
                  <a:ext uri="{FF2B5EF4-FFF2-40B4-BE49-F238E27FC236}">
                    <a16:creationId xmlns:a16="http://schemas.microsoft.com/office/drawing/2014/main" id="{8A4C4AB6-E18E-7635-0244-127CAE9810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91770" y="11594855"/>
                <a:ext cx="6682612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olid"/>
                <a:headEnd type="triangle"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線コネクタ 13">
                <a:extLst>
                  <a:ext uri="{FF2B5EF4-FFF2-40B4-BE49-F238E27FC236}">
                    <a16:creationId xmlns:a16="http://schemas.microsoft.com/office/drawing/2014/main" id="{633F78EF-60AA-F1F1-0C5A-EF16C77B01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541295" y="7920000"/>
                <a:ext cx="0" cy="378000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6359B543-7F0B-D166-999A-97EF1C034BBA}"/>
                  </a:ext>
                </a:extLst>
              </p:cNvPr>
              <p:cNvSpPr txBox="1"/>
              <p:nvPr/>
            </p:nvSpPr>
            <p:spPr>
              <a:xfrm>
                <a:off x="10443205" y="11552753"/>
                <a:ext cx="1579743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3000" dirty="0">
                    <a:latin typeface="Helvetica" pitchFamily="2" charset="0"/>
                  </a:rPr>
                  <a:t>915 mm</a:t>
                </a:r>
                <a:endParaRPr lang="ja-JP" altLang="en-US" sz="3000">
                  <a:latin typeface="Helvetica" pitchFamily="2" charset="0"/>
                </a:endParaRPr>
              </a:p>
            </p:txBody>
          </p:sp>
          <p:sp>
            <p:nvSpPr>
              <p:cNvPr id="28" name="円弧 27">
                <a:extLst>
                  <a:ext uri="{FF2B5EF4-FFF2-40B4-BE49-F238E27FC236}">
                    <a16:creationId xmlns:a16="http://schemas.microsoft.com/office/drawing/2014/main" id="{821AB0EC-B04F-8EBE-BD9D-DACEE4303237}"/>
                  </a:ext>
                </a:extLst>
              </p:cNvPr>
              <p:cNvSpPr/>
              <p:nvPr/>
            </p:nvSpPr>
            <p:spPr>
              <a:xfrm rot="297611">
                <a:off x="8329568" y="2397554"/>
                <a:ext cx="706046" cy="963795"/>
              </a:xfrm>
              <a:prstGeom prst="arc">
                <a:avLst>
                  <a:gd name="adj1" fmla="val 17394420"/>
                  <a:gd name="adj2" fmla="val 652253"/>
                </a:avLst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3DEE8C56-A6FC-1A12-2282-440540ADE32E}"/>
                  </a:ext>
                </a:extLst>
              </p:cNvPr>
              <p:cNvSpPr txBox="1"/>
              <p:nvPr/>
            </p:nvSpPr>
            <p:spPr>
              <a:xfrm>
                <a:off x="8925019" y="2222240"/>
                <a:ext cx="1031768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3000" dirty="0">
                    <a:latin typeface="Helvetica" pitchFamily="2" charset="0"/>
                  </a:rPr>
                  <a:t>32°</a:t>
                </a:r>
                <a:endParaRPr lang="ja-JP" altLang="en-US" sz="3000">
                  <a:latin typeface="Helvetica" pitchFamily="2" charset="0"/>
                </a:endParaRPr>
              </a:p>
            </p:txBody>
          </p:sp>
          <p:sp>
            <p:nvSpPr>
              <p:cNvPr id="30" name="円弧 29">
                <a:extLst>
                  <a:ext uri="{FF2B5EF4-FFF2-40B4-BE49-F238E27FC236}">
                    <a16:creationId xmlns:a16="http://schemas.microsoft.com/office/drawing/2014/main" id="{5520BF46-36E7-B9E5-1F3B-C710E5EF1D36}"/>
                  </a:ext>
                </a:extLst>
              </p:cNvPr>
              <p:cNvSpPr/>
              <p:nvPr/>
            </p:nvSpPr>
            <p:spPr>
              <a:xfrm rot="888109">
                <a:off x="8454153" y="8992271"/>
                <a:ext cx="280794" cy="276502"/>
              </a:xfrm>
              <a:prstGeom prst="arc">
                <a:avLst>
                  <a:gd name="adj1" fmla="val 17394420"/>
                  <a:gd name="adj2" fmla="val 2490147"/>
                </a:avLst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4" name="テキスト ボックス 53">
                <a:extLst>
                  <a:ext uri="{FF2B5EF4-FFF2-40B4-BE49-F238E27FC236}">
                    <a16:creationId xmlns:a16="http://schemas.microsoft.com/office/drawing/2014/main" id="{B6B37B24-9A5D-B732-FD36-AE07DC3F14B6}"/>
                  </a:ext>
                </a:extLst>
              </p:cNvPr>
              <p:cNvSpPr txBox="1"/>
              <p:nvPr/>
            </p:nvSpPr>
            <p:spPr>
              <a:xfrm>
                <a:off x="8345569" y="8476544"/>
                <a:ext cx="1549003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3000" b="1" dirty="0">
                    <a:latin typeface="Helvetica" pitchFamily="2" charset="0"/>
                  </a:rPr>
                  <a:t>±</a:t>
                </a:r>
                <a:r>
                  <a:rPr lang="en-US" altLang="ja-JP" sz="3000" dirty="0">
                    <a:latin typeface="Helvetica" pitchFamily="2" charset="0"/>
                  </a:rPr>
                  <a:t>4.0°</a:t>
                </a:r>
                <a:endParaRPr lang="ja-JP" altLang="en-US" sz="3000">
                  <a:latin typeface="Helvetica" pitchFamily="2" charset="0"/>
                </a:endParaRPr>
              </a:p>
            </p:txBody>
          </p:sp>
          <p:cxnSp>
            <p:nvCxnSpPr>
              <p:cNvPr id="2" name="直線矢印コネクタ 1">
                <a:extLst>
                  <a:ext uri="{FF2B5EF4-FFF2-40B4-BE49-F238E27FC236}">
                    <a16:creationId xmlns:a16="http://schemas.microsoft.com/office/drawing/2014/main" id="{E3BF5BCA-B56B-B777-C2B6-28F4C4A8BF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00376" y="11071181"/>
                <a:ext cx="2813219" cy="4503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olid"/>
                <a:headEnd type="triangle"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84F7E605-4A4D-227F-6804-FC863DD83F46}"/>
                  </a:ext>
                </a:extLst>
              </p:cNvPr>
              <p:cNvSpPr txBox="1"/>
              <p:nvPr/>
            </p:nvSpPr>
            <p:spPr>
              <a:xfrm>
                <a:off x="8474491" y="11019807"/>
                <a:ext cx="1664988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3000" dirty="0">
                    <a:latin typeface="Helvetica" pitchFamily="2" charset="0"/>
                  </a:rPr>
                  <a:t>430 mm</a:t>
                </a:r>
                <a:endParaRPr lang="ja-JP" altLang="en-US" sz="3000">
                  <a:latin typeface="Helvetica" pitchFamily="2" charset="0"/>
                </a:endParaRPr>
              </a:p>
            </p:txBody>
          </p:sp>
          <p:cxnSp>
            <p:nvCxnSpPr>
              <p:cNvPr id="15" name="直線コネクタ 14">
                <a:extLst>
                  <a:ext uri="{FF2B5EF4-FFF2-40B4-BE49-F238E27FC236}">
                    <a16:creationId xmlns:a16="http://schemas.microsoft.com/office/drawing/2014/main" id="{D2A05D91-A519-73F3-222E-C7E0B0DC574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60824" y="8640000"/>
                <a:ext cx="0" cy="266400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円/楕円 141">
              <a:extLst>
                <a:ext uri="{FF2B5EF4-FFF2-40B4-BE49-F238E27FC236}">
                  <a16:creationId xmlns:a16="http://schemas.microsoft.com/office/drawing/2014/main" id="{82811652-1DCC-D844-78ED-40C8CB2165D7}"/>
                </a:ext>
              </a:extLst>
            </p:cNvPr>
            <p:cNvSpPr/>
            <p:nvPr/>
          </p:nvSpPr>
          <p:spPr>
            <a:xfrm>
              <a:off x="14210358" y="8176591"/>
              <a:ext cx="689566" cy="1953577"/>
            </a:xfrm>
            <a:custGeom>
              <a:avLst/>
              <a:gdLst>
                <a:gd name="csX0" fmla="*/ 0 w 689566"/>
                <a:gd name="csY0" fmla="*/ 906250 h 1816423"/>
                <a:gd name="csX1" fmla="*/ 344783 w 689566"/>
                <a:gd name="csY1" fmla="*/ 1032 h 1816423"/>
                <a:gd name="csX2" fmla="*/ 689566 w 689566"/>
                <a:gd name="csY2" fmla="*/ 906250 h 1816423"/>
                <a:gd name="csX3" fmla="*/ 344783 w 689566"/>
                <a:gd name="csY3" fmla="*/ 1811468 h 1816423"/>
                <a:gd name="csX4" fmla="*/ 0 w 689566"/>
                <a:gd name="csY4" fmla="*/ 906250 h 18164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89566" h="1816423">
                  <a:moveTo>
                    <a:pt x="0" y="906250"/>
                  </a:moveTo>
                  <a:cubicBezTo>
                    <a:pt x="0" y="406312"/>
                    <a:pt x="121114" y="25970"/>
                    <a:pt x="344783" y="1032"/>
                  </a:cubicBezTo>
                  <a:cubicBezTo>
                    <a:pt x="568452" y="-23906"/>
                    <a:pt x="689566" y="406312"/>
                    <a:pt x="689566" y="906250"/>
                  </a:cubicBezTo>
                  <a:cubicBezTo>
                    <a:pt x="689566" y="1406188"/>
                    <a:pt x="560139" y="1869657"/>
                    <a:pt x="344783" y="1811468"/>
                  </a:cubicBezTo>
                  <a:cubicBezTo>
                    <a:pt x="129427" y="1753279"/>
                    <a:pt x="0" y="1406188"/>
                    <a:pt x="0" y="906250"/>
                  </a:cubicBezTo>
                  <a:close/>
                </a:path>
              </a:pathLst>
            </a:custGeom>
            <a:noFill/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6" name="円/楕円 15">
              <a:extLst>
                <a:ext uri="{FF2B5EF4-FFF2-40B4-BE49-F238E27FC236}">
                  <a16:creationId xmlns:a16="http://schemas.microsoft.com/office/drawing/2014/main" id="{FA2B6F1F-C72F-D618-07D9-CF45727EC0C3}"/>
                </a:ext>
              </a:extLst>
            </p:cNvPr>
            <p:cNvSpPr/>
            <p:nvPr/>
          </p:nvSpPr>
          <p:spPr>
            <a:xfrm>
              <a:off x="14313827" y="8395720"/>
              <a:ext cx="482628" cy="1558476"/>
            </a:xfrm>
            <a:prstGeom prst="ellipse">
              <a:avLst/>
            </a:prstGeom>
            <a:noFill/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</p:grpSp>
    </p:spTree>
    <p:extLst>
      <p:ext uri="{BB962C8B-B14F-4D97-AF65-F5344CB8AC3E}">
        <p14:creationId xmlns:p14="http://schemas.microsoft.com/office/powerpoint/2010/main" val="2749142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グループ化 63">
            <a:extLst>
              <a:ext uri="{FF2B5EF4-FFF2-40B4-BE49-F238E27FC236}">
                <a16:creationId xmlns:a16="http://schemas.microsoft.com/office/drawing/2014/main" id="{A0013E2B-0312-D730-412D-795EB73411D6}"/>
              </a:ext>
            </a:extLst>
          </p:cNvPr>
          <p:cNvGrpSpPr/>
          <p:nvPr/>
        </p:nvGrpSpPr>
        <p:grpSpPr>
          <a:xfrm>
            <a:off x="5237946" y="3439190"/>
            <a:ext cx="12371791" cy="4601748"/>
            <a:chOff x="2200519" y="1577809"/>
            <a:chExt cx="8533632" cy="3174126"/>
          </a:xfrm>
        </p:grpSpPr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C0B7D3EC-2844-30D9-FEE6-B80C6D9FC964}"/>
                </a:ext>
              </a:extLst>
            </p:cNvPr>
            <p:cNvGrpSpPr/>
            <p:nvPr/>
          </p:nvGrpSpPr>
          <p:grpSpPr>
            <a:xfrm>
              <a:off x="8826278" y="1855619"/>
              <a:ext cx="1819001" cy="2896316"/>
              <a:chOff x="7673548" y="1407885"/>
              <a:chExt cx="1932495" cy="3077028"/>
            </a:xfrm>
            <a:solidFill>
              <a:schemeClr val="bg2"/>
            </a:solidFill>
          </p:grpSpPr>
          <p:sp>
            <p:nvSpPr>
              <p:cNvPr id="62" name="台形 61">
                <a:extLst>
                  <a:ext uri="{FF2B5EF4-FFF2-40B4-BE49-F238E27FC236}">
                    <a16:creationId xmlns:a16="http://schemas.microsoft.com/office/drawing/2014/main" id="{230A8DBC-15EF-02EE-E469-AF102BF6A893}"/>
                  </a:ext>
                </a:extLst>
              </p:cNvPr>
              <p:cNvSpPr/>
              <p:nvPr/>
            </p:nvSpPr>
            <p:spPr>
              <a:xfrm rot="16200000">
                <a:off x="6587233" y="2494200"/>
                <a:ext cx="3077027" cy="904397"/>
              </a:xfrm>
              <a:prstGeom prst="trapezoid">
                <a:avLst/>
              </a:prstGeom>
              <a:grp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63" name="正方形/長方形 62">
                <a:extLst>
                  <a:ext uri="{FF2B5EF4-FFF2-40B4-BE49-F238E27FC236}">
                    <a16:creationId xmlns:a16="http://schemas.microsoft.com/office/drawing/2014/main" id="{0CA567A4-E6BE-9120-9B64-76F94E6AE538}"/>
                  </a:ext>
                </a:extLst>
              </p:cNvPr>
              <p:cNvSpPr/>
              <p:nvPr/>
            </p:nvSpPr>
            <p:spPr>
              <a:xfrm>
                <a:off x="8577946" y="1407885"/>
                <a:ext cx="1028097" cy="3077028"/>
              </a:xfrm>
              <a:prstGeom prst="rect">
                <a:avLst/>
              </a:prstGeom>
              <a:grp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</p:grpSp>
        <p:sp>
          <p:nvSpPr>
            <p:cNvPr id="10" name="円/楕円 9">
              <a:extLst>
                <a:ext uri="{FF2B5EF4-FFF2-40B4-BE49-F238E27FC236}">
                  <a16:creationId xmlns:a16="http://schemas.microsoft.com/office/drawing/2014/main" id="{80AE8490-62AA-2A19-3B22-10864C8C655F}"/>
                </a:ext>
              </a:extLst>
            </p:cNvPr>
            <p:cNvSpPr/>
            <p:nvPr/>
          </p:nvSpPr>
          <p:spPr>
            <a:xfrm>
              <a:off x="8985091" y="2331139"/>
              <a:ext cx="522134" cy="1978018"/>
            </a:xfrm>
            <a:prstGeom prst="ellipse">
              <a:avLst/>
            </a:prstGeom>
            <a:noFill/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1" name="円柱 10">
              <a:extLst>
                <a:ext uri="{FF2B5EF4-FFF2-40B4-BE49-F238E27FC236}">
                  <a16:creationId xmlns:a16="http://schemas.microsoft.com/office/drawing/2014/main" id="{B2C0679E-1602-A82A-84FA-19A77AFA8B47}"/>
                </a:ext>
              </a:extLst>
            </p:cNvPr>
            <p:cNvSpPr/>
            <p:nvPr/>
          </p:nvSpPr>
          <p:spPr>
            <a:xfrm rot="16200000">
              <a:off x="7508791" y="2307801"/>
              <a:ext cx="1978017" cy="1991953"/>
            </a:xfrm>
            <a:prstGeom prst="can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2" name="円柱 11">
              <a:extLst>
                <a:ext uri="{FF2B5EF4-FFF2-40B4-BE49-F238E27FC236}">
                  <a16:creationId xmlns:a16="http://schemas.microsoft.com/office/drawing/2014/main" id="{3AED0021-9E8B-D105-BAB1-38EF83E5067D}"/>
                </a:ext>
              </a:extLst>
            </p:cNvPr>
            <p:cNvSpPr/>
            <p:nvPr/>
          </p:nvSpPr>
          <p:spPr>
            <a:xfrm rot="16200000">
              <a:off x="6339420" y="2903569"/>
              <a:ext cx="910669" cy="765063"/>
            </a:xfrm>
            <a:prstGeom prst="ca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3" name="円柱 12">
              <a:extLst>
                <a:ext uri="{FF2B5EF4-FFF2-40B4-BE49-F238E27FC236}">
                  <a16:creationId xmlns:a16="http://schemas.microsoft.com/office/drawing/2014/main" id="{9BFC8291-1A77-8B6C-8491-3528E6259D47}"/>
                </a:ext>
              </a:extLst>
            </p:cNvPr>
            <p:cNvSpPr/>
            <p:nvPr/>
          </p:nvSpPr>
          <p:spPr>
            <a:xfrm rot="16200000">
              <a:off x="6035422" y="2591086"/>
              <a:ext cx="1506961" cy="1425841"/>
            </a:xfrm>
            <a:prstGeom prst="ca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4" name="円柱 13">
              <a:extLst>
                <a:ext uri="{FF2B5EF4-FFF2-40B4-BE49-F238E27FC236}">
                  <a16:creationId xmlns:a16="http://schemas.microsoft.com/office/drawing/2014/main" id="{38AE0851-F503-8421-7BC2-EBB9BC339393}"/>
                </a:ext>
              </a:extLst>
            </p:cNvPr>
            <p:cNvSpPr/>
            <p:nvPr/>
          </p:nvSpPr>
          <p:spPr>
            <a:xfrm rot="16200000">
              <a:off x="5775167" y="2077626"/>
              <a:ext cx="1978017" cy="2452304"/>
            </a:xfrm>
            <a:prstGeom prst="can">
              <a:avLst/>
            </a:prstGeom>
            <a:noFill/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5" name="円/楕円 14">
              <a:extLst>
                <a:ext uri="{FF2B5EF4-FFF2-40B4-BE49-F238E27FC236}">
                  <a16:creationId xmlns:a16="http://schemas.microsoft.com/office/drawing/2014/main" id="{BB7811FB-BA6B-3067-1B81-7F5B5C11669F}"/>
                </a:ext>
              </a:extLst>
            </p:cNvPr>
            <p:cNvSpPr/>
            <p:nvPr/>
          </p:nvSpPr>
          <p:spPr>
            <a:xfrm>
              <a:off x="5671349" y="2823903"/>
              <a:ext cx="191184" cy="95974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27" name="直線コネクタ 26">
              <a:extLst>
                <a:ext uri="{FF2B5EF4-FFF2-40B4-BE49-F238E27FC236}">
                  <a16:creationId xmlns:a16="http://schemas.microsoft.com/office/drawing/2014/main" id="{86330EFA-F1CE-74B0-8F44-41EE2B8647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54114" y="2550525"/>
              <a:ext cx="4981242" cy="693386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円/楕円 27">
              <a:extLst>
                <a:ext uri="{FF2B5EF4-FFF2-40B4-BE49-F238E27FC236}">
                  <a16:creationId xmlns:a16="http://schemas.microsoft.com/office/drawing/2014/main" id="{F1999070-66B5-6771-2E96-25F48C279D32}"/>
                </a:ext>
              </a:extLst>
            </p:cNvPr>
            <p:cNvSpPr/>
            <p:nvPr/>
          </p:nvSpPr>
          <p:spPr>
            <a:xfrm>
              <a:off x="9052738" y="2550525"/>
              <a:ext cx="365236" cy="1506963"/>
            </a:xfrm>
            <a:prstGeom prst="ellipse">
              <a:avLst/>
            </a:prstGeom>
            <a:noFill/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29" name="直線コネクタ 28">
              <a:extLst>
                <a:ext uri="{FF2B5EF4-FFF2-40B4-BE49-F238E27FC236}">
                  <a16:creationId xmlns:a16="http://schemas.microsoft.com/office/drawing/2014/main" id="{0683A7BC-9AEC-5DC9-EEC9-B2B58D8CA4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63576" y="3325969"/>
              <a:ext cx="4982583" cy="71443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39FF46C3-6AA2-8071-8460-F715517F6C0B}"/>
                </a:ext>
              </a:extLst>
            </p:cNvPr>
            <p:cNvSpPr txBox="1"/>
            <p:nvPr/>
          </p:nvSpPr>
          <p:spPr>
            <a:xfrm>
              <a:off x="6454456" y="2572788"/>
              <a:ext cx="655899" cy="2483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740" baseline="30000" dirty="0">
                  <a:latin typeface="Helvetica" pitchFamily="2" charset="0"/>
                </a:rPr>
                <a:t>3</a:t>
              </a:r>
              <a:r>
                <a:rPr lang="en-US" altLang="ja-JP" sz="1740" dirty="0">
                  <a:latin typeface="Helvetica" pitchFamily="2" charset="0"/>
                </a:rPr>
                <a:t>He cell</a:t>
              </a:r>
              <a:endParaRPr lang="ja-JP" altLang="en-US" sz="1740">
                <a:latin typeface="Helvetica" pitchFamily="2" charset="0"/>
              </a:endParaRP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D9D07D8F-4254-A7CB-2B0F-D999DA8C2A25}"/>
                </a:ext>
              </a:extLst>
            </p:cNvPr>
            <p:cNvSpPr txBox="1"/>
            <p:nvPr/>
          </p:nvSpPr>
          <p:spPr>
            <a:xfrm>
              <a:off x="6477089" y="2337489"/>
              <a:ext cx="607248" cy="2483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740" dirty="0">
                  <a:latin typeface="Helvetica" pitchFamily="2" charset="0"/>
                </a:rPr>
                <a:t>RF coil</a:t>
              </a:r>
              <a:endParaRPr lang="ja-JP" altLang="en-US" sz="1740">
                <a:latin typeface="Helvetica" pitchFamily="2" charset="0"/>
              </a:endParaRPr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ACD0615C-B2B8-A7CB-3961-79B78A3AE72C}"/>
                </a:ext>
              </a:extLst>
            </p:cNvPr>
            <p:cNvSpPr txBox="1"/>
            <p:nvPr/>
          </p:nvSpPr>
          <p:spPr>
            <a:xfrm>
              <a:off x="6276410" y="2065398"/>
              <a:ext cx="1007510" cy="2483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740" baseline="30000" dirty="0">
                  <a:latin typeface="Helvetica" pitchFamily="2" charset="0"/>
                </a:rPr>
                <a:t>3</a:t>
              </a:r>
              <a:r>
                <a:rPr lang="en-US" altLang="ja-JP" sz="1740" dirty="0">
                  <a:latin typeface="Helvetica" pitchFamily="2" charset="0"/>
                </a:rPr>
                <a:t>He NSF coil</a:t>
              </a:r>
              <a:endParaRPr lang="ja-JP" altLang="en-US" sz="1740">
                <a:latin typeface="Helvetica" pitchFamily="2" charset="0"/>
              </a:endParaRPr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102F24B9-B258-A2CD-DC9D-7BF5B94B9033}"/>
                </a:ext>
              </a:extLst>
            </p:cNvPr>
            <p:cNvSpPr txBox="1"/>
            <p:nvPr/>
          </p:nvSpPr>
          <p:spPr>
            <a:xfrm>
              <a:off x="7810185" y="2070149"/>
              <a:ext cx="1433203" cy="2483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740" dirty="0">
                  <a:latin typeface="Helvetica" pitchFamily="2" charset="0"/>
                </a:rPr>
                <a:t>Neutron guide tube</a:t>
              </a:r>
              <a:endParaRPr lang="ja-JP" altLang="en-US" sz="1740">
                <a:latin typeface="Helvetica" pitchFamily="2" charset="0"/>
              </a:endParaRP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BFDB43CA-CCD6-7E40-C603-0657E1A8497B}"/>
                </a:ext>
              </a:extLst>
            </p:cNvPr>
            <p:cNvSpPr txBox="1"/>
            <p:nvPr/>
          </p:nvSpPr>
          <p:spPr>
            <a:xfrm>
              <a:off x="9058019" y="1577809"/>
              <a:ext cx="1630460" cy="2483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740" dirty="0">
                  <a:latin typeface="Helvetica" pitchFamily="2" charset="0"/>
                </a:rPr>
                <a:t>Neutron Area detector</a:t>
              </a:r>
              <a:endParaRPr lang="ja-JP" altLang="en-US" sz="1740">
                <a:latin typeface="Helvetica" pitchFamily="2" charset="0"/>
              </a:endParaRPr>
            </a:p>
          </p:txBody>
        </p:sp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FF94E495-C11C-C9D6-8C2A-9D06914F22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86875" y="1806885"/>
              <a:ext cx="213804" cy="22685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89BBD4C0-033F-C73E-F941-47BF7DB43D10}"/>
                </a:ext>
              </a:extLst>
            </p:cNvPr>
            <p:cNvSpPr txBox="1"/>
            <p:nvPr/>
          </p:nvSpPr>
          <p:spPr>
            <a:xfrm>
              <a:off x="9603196" y="2171416"/>
              <a:ext cx="1130955" cy="617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740" dirty="0">
                  <a:latin typeface="Helvetica" pitchFamily="2" charset="0"/>
                </a:rPr>
                <a:t>Polarization analysis region</a:t>
              </a:r>
              <a:endParaRPr lang="ja-JP" altLang="en-US" sz="1740">
                <a:latin typeface="Helvetica" pitchFamily="2" charset="0"/>
              </a:endParaRPr>
            </a:p>
          </p:txBody>
        </p:sp>
        <p:cxnSp>
          <p:nvCxnSpPr>
            <p:cNvPr id="44" name="直線コネクタ 43">
              <a:extLst>
                <a:ext uri="{FF2B5EF4-FFF2-40B4-BE49-F238E27FC236}">
                  <a16:creationId xmlns:a16="http://schemas.microsoft.com/office/drawing/2014/main" id="{061273BE-9EBB-9AD1-6EEE-401FF1362DC9}"/>
                </a:ext>
              </a:extLst>
            </p:cNvPr>
            <p:cNvCxnSpPr>
              <a:cxnSpLocks/>
              <a:stCxn id="43" idx="1"/>
            </p:cNvCxnSpPr>
            <p:nvPr/>
          </p:nvCxnSpPr>
          <p:spPr>
            <a:xfrm flipH="1">
              <a:off x="9289470" y="2480303"/>
              <a:ext cx="313726" cy="23121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コネクタ 44">
              <a:extLst>
                <a:ext uri="{FF2B5EF4-FFF2-40B4-BE49-F238E27FC236}">
                  <a16:creationId xmlns:a16="http://schemas.microsoft.com/office/drawing/2014/main" id="{0D34F075-1AF6-E363-1C4E-D5A35A2C47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43629" y="2787586"/>
              <a:ext cx="142923" cy="8475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コネクタ 45">
              <a:extLst>
                <a:ext uri="{FF2B5EF4-FFF2-40B4-BE49-F238E27FC236}">
                  <a16:creationId xmlns:a16="http://schemas.microsoft.com/office/drawing/2014/main" id="{C0BF9407-3430-F005-23B2-B46EF40AD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9063" y="2530408"/>
              <a:ext cx="104525" cy="4960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123FB751-269E-DFA7-D299-A9A73F21EB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24732" y="2275891"/>
              <a:ext cx="115507" cy="8768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EFC16BFE-3E48-AB17-A46E-FDC675D256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84039" y="2275891"/>
              <a:ext cx="140967" cy="1046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矢印コネクタ 53">
              <a:extLst>
                <a:ext uri="{FF2B5EF4-FFF2-40B4-BE49-F238E27FC236}">
                  <a16:creationId xmlns:a16="http://schemas.microsoft.com/office/drawing/2014/main" id="{822CEC21-13FB-0F60-2AAD-46E6212034E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786553" y="3011889"/>
              <a:ext cx="0" cy="537408"/>
            </a:xfrm>
            <a:prstGeom prst="straightConnector1">
              <a:avLst/>
            </a:prstGeom>
            <a:ln w="38100">
              <a:solidFill>
                <a:srgbClr val="0070C0"/>
              </a:solidFill>
              <a:headEnd type="triangle" w="lg" len="lg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コネクタ 56">
              <a:extLst>
                <a:ext uri="{FF2B5EF4-FFF2-40B4-BE49-F238E27FC236}">
                  <a16:creationId xmlns:a16="http://schemas.microsoft.com/office/drawing/2014/main" id="{E931CC84-4219-CEE4-9D0B-23C271DAF2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00519" y="3273471"/>
              <a:ext cx="7034836" cy="9235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BD749F29-1D5B-6999-4914-D1A1EC04D3CD}"/>
              </a:ext>
            </a:extLst>
          </p:cNvPr>
          <p:cNvGrpSpPr/>
          <p:nvPr/>
        </p:nvGrpSpPr>
        <p:grpSpPr>
          <a:xfrm>
            <a:off x="8046082" y="1732408"/>
            <a:ext cx="1076486" cy="1076486"/>
            <a:chOff x="3284376" y="1732408"/>
            <a:chExt cx="1440000" cy="1440000"/>
          </a:xfrm>
        </p:grpSpPr>
        <p:cxnSp>
          <p:nvCxnSpPr>
            <p:cNvPr id="3" name="直線矢印コネクタ 2">
              <a:extLst>
                <a:ext uri="{FF2B5EF4-FFF2-40B4-BE49-F238E27FC236}">
                  <a16:creationId xmlns:a16="http://schemas.microsoft.com/office/drawing/2014/main" id="{0F7517AA-833B-9B2C-3D38-5C939203F0DD}"/>
                </a:ext>
              </a:extLst>
            </p:cNvPr>
            <p:cNvCxnSpPr>
              <a:cxnSpLocks/>
            </p:cNvCxnSpPr>
            <p:nvPr/>
          </p:nvCxnSpPr>
          <p:spPr>
            <a:xfrm>
              <a:off x="3284376" y="3172408"/>
              <a:ext cx="144000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線矢印コネクタ 4">
              <a:extLst>
                <a:ext uri="{FF2B5EF4-FFF2-40B4-BE49-F238E27FC236}">
                  <a16:creationId xmlns:a16="http://schemas.microsoft.com/office/drawing/2014/main" id="{FBFBCEA8-E048-7EEC-DAC8-EBA95A71895B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2564376" y="2452408"/>
              <a:ext cx="144000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80300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51D26-6F9C-1E81-23F9-9125A4CFD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C3DC6214-A296-5CC7-FCB8-2FA7C9FE1DFB}"/>
              </a:ext>
            </a:extLst>
          </p:cNvPr>
          <p:cNvSpPr>
            <a:spLocks/>
          </p:cNvSpPr>
          <p:nvPr/>
        </p:nvSpPr>
        <p:spPr>
          <a:xfrm>
            <a:off x="5100000" y="838519"/>
            <a:ext cx="9298606" cy="479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正方形/長方形 2">
                <a:extLst>
                  <a:ext uri="{FF2B5EF4-FFF2-40B4-BE49-F238E27FC236}">
                    <a16:creationId xmlns:a16="http://schemas.microsoft.com/office/drawing/2014/main" id="{6BE69F42-706E-A770-301F-F99FB84E802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639598" y="1759625"/>
                <a:ext cx="1558238" cy="155823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lang="en-US" altLang="ja-JP" sz="3400" i="1">
                              <a:solidFill>
                                <a:srgbClr val="0404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ja-JP" sz="3400" i="1">
                              <a:solidFill>
                                <a:srgbClr val="0404FF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p>
                          <m:r>
                            <a:rPr lang="en-US" altLang="ja-JP" sz="3400" i="1">
                              <a:solidFill>
                                <a:srgbClr val="0404FF"/>
                              </a:solidFill>
                              <a:latin typeface="Cambria Math" panose="02040503050406030204" pitchFamily="18" charset="0"/>
                            </a:rPr>
                            <m:t>++</m:t>
                          </m:r>
                        </m:sup>
                      </m:sSup>
                      <m:r>
                        <a:rPr lang="en-US" altLang="ja-JP" sz="3400">
                          <a:solidFill>
                            <a:srgbClr val="0404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3400">
                          <a:solidFill>
                            <a:srgbClr val="0404FF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3400" baseline="-25000">
                          <a:solidFill>
                            <a:srgbClr val="0404F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ja-JP" sz="3400">
                          <a:solidFill>
                            <a:srgbClr val="0404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3400">
                  <a:solidFill>
                    <a:srgbClr val="0404FF"/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3" name="正方形/長方形 2">
                <a:extLst>
                  <a:ext uri="{FF2B5EF4-FFF2-40B4-BE49-F238E27FC236}">
                    <a16:creationId xmlns:a16="http://schemas.microsoft.com/office/drawing/2014/main" id="{6BE69F42-706E-A770-301F-F99FB84E80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9598" y="1759625"/>
                <a:ext cx="1558238" cy="1558238"/>
              </a:xfrm>
              <a:prstGeom prst="rect">
                <a:avLst/>
              </a:prstGeom>
              <a:blipFill>
                <a:blip r:embed="rId3"/>
                <a:stretch>
                  <a:fillRect l="-800" r="-4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正方形/長方形 4">
                <a:extLst>
                  <a:ext uri="{FF2B5EF4-FFF2-40B4-BE49-F238E27FC236}">
                    <a16:creationId xmlns:a16="http://schemas.microsoft.com/office/drawing/2014/main" id="{7D64F825-965E-1610-9835-C0F97B02EE1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908867" y="1759625"/>
                <a:ext cx="1558238" cy="155823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lang="en-US" altLang="ja-JP" sz="3400" i="1">
                              <a:solidFill>
                                <a:srgbClr val="0404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ja-JP" sz="3400" i="1">
                              <a:solidFill>
                                <a:srgbClr val="0404FF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p>
                          <m:r>
                            <a:rPr lang="en-US" altLang="ja-JP" sz="3400" i="1">
                              <a:solidFill>
                                <a:srgbClr val="0404FF"/>
                              </a:solidFill>
                              <a:latin typeface="Cambria Math" panose="02040503050406030204" pitchFamily="18" charset="0"/>
                            </a:rPr>
                            <m:t>++</m:t>
                          </m:r>
                        </m:sup>
                      </m:sSup>
                      <m:r>
                        <a:rPr lang="en-US" altLang="ja-JP" sz="3400">
                          <a:solidFill>
                            <a:srgbClr val="0404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3400">
                          <a:solidFill>
                            <a:srgbClr val="0404FF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3400" baseline="-25000">
                          <a:solidFill>
                            <a:srgbClr val="0404FF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ja-JP" sz="3400">
                          <a:solidFill>
                            <a:srgbClr val="0404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2800">
                  <a:solidFill>
                    <a:prstClr val="black"/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5" name="正方形/長方形 4">
                <a:extLst>
                  <a:ext uri="{FF2B5EF4-FFF2-40B4-BE49-F238E27FC236}">
                    <a16:creationId xmlns:a16="http://schemas.microsoft.com/office/drawing/2014/main" id="{7D64F825-965E-1610-9835-C0F97B02EE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8867" y="1759625"/>
                <a:ext cx="1558238" cy="1558238"/>
              </a:xfrm>
              <a:prstGeom prst="rect">
                <a:avLst/>
              </a:prstGeom>
              <a:blipFill>
                <a:blip r:embed="rId4"/>
                <a:stretch>
                  <a:fillRect r="-4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BF0D440-36CB-1F18-FA9A-00D15FC0CD73}"/>
              </a:ext>
            </a:extLst>
          </p:cNvPr>
          <p:cNvSpPr txBox="1">
            <a:spLocks/>
          </p:cNvSpPr>
          <p:nvPr/>
        </p:nvSpPr>
        <p:spPr>
          <a:xfrm>
            <a:off x="11608702" y="2063350"/>
            <a:ext cx="5357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dirty="0"/>
              <a:t>...</a:t>
            </a:r>
            <a:endParaRPr lang="ja-JP" altLang="en-US" sz="3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118B5CAE-74E8-3038-B250-6F9A477517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76792" y="1151982"/>
                <a:ext cx="1238481" cy="6155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l-GR" altLang="ja-JP" sz="348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ja-JP" sz="3480" i="1" baseline="-25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ja-JP" sz="348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ja-JP" sz="348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3480" i="1" baseline="-2500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ja-JP" altLang="en-US" sz="3480" baseline="-2500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118B5CAE-74E8-3038-B250-6F9A47751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792" y="1151982"/>
                <a:ext cx="1238481" cy="615553"/>
              </a:xfrm>
              <a:prstGeom prst="rect">
                <a:avLst/>
              </a:prstGeom>
              <a:blipFill>
                <a:blip r:embed="rId5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78E05C9A-7B4D-6110-C576-BD41723359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767271" y="1151982"/>
                <a:ext cx="1238481" cy="6155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l-GR" altLang="ja-JP" sz="348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ja-JP" sz="3480" i="1" baseline="-25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ja-JP" sz="348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ja-JP" sz="348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3480" i="1" baseline="-2500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ja-JP" altLang="en-US" sz="3480" baseline="-2500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78E05C9A-7B4D-6110-C576-BD4172335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7271" y="1151982"/>
                <a:ext cx="1238481" cy="615553"/>
              </a:xfrm>
              <a:prstGeom prst="rect">
                <a:avLst/>
              </a:prstGeom>
              <a:blipFill>
                <a:blip r:embed="rId6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B17ABD34-C772-8CE4-22C6-27A6F6C9FD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58546" y="3278390"/>
                <a:ext cx="994183" cy="6278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348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altLang="ja-JP" sz="3480" baseline="-25000" dirty="0">
                    <a:latin typeface="Helvetica" pitchFamily="2" charset="0"/>
                  </a:rPr>
                  <a:t> </a:t>
                </a:r>
                <a:r>
                  <a:rPr lang="en-US" altLang="ja-JP" sz="3480" dirty="0" err="1">
                    <a:latin typeface="Helvetica" pitchFamily="2" charset="0"/>
                  </a:rPr>
                  <a:t>ch</a:t>
                </a:r>
                <a:endParaRPr lang="ja-JP" altLang="en-US" sz="3480" baseline="-2500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B17ABD34-C772-8CE4-22C6-27A6F6C9F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546" y="3278390"/>
                <a:ext cx="994183" cy="627864"/>
              </a:xfrm>
              <a:prstGeom prst="rect">
                <a:avLst/>
              </a:prstGeom>
              <a:blipFill>
                <a:blip r:embed="rId7"/>
                <a:stretch>
                  <a:fillRect l="-5000" t="-14000" r="-16250" b="-34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52DE076F-41B8-5F8A-122F-242736BC6F90}"/>
                  </a:ext>
                </a:extLst>
              </p:cNvPr>
              <p:cNvSpPr txBox="1">
                <a:spLocks/>
              </p:cNvSpPr>
              <p:nvPr/>
            </p:nvSpPr>
            <p:spPr>
              <a:xfrm rot="16200000">
                <a:off x="4812404" y="2210090"/>
                <a:ext cx="994183" cy="6278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348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altLang="ja-JP" sz="3480" baseline="-25000" dirty="0">
                    <a:latin typeface="Helvetica" pitchFamily="2" charset="0"/>
                  </a:rPr>
                  <a:t> </a:t>
                </a:r>
                <a:r>
                  <a:rPr lang="en-US" altLang="ja-JP" sz="3480" dirty="0" err="1">
                    <a:latin typeface="Helvetica" pitchFamily="2" charset="0"/>
                  </a:rPr>
                  <a:t>ch</a:t>
                </a:r>
                <a:endParaRPr lang="ja-JP" altLang="en-US" sz="348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52DE076F-41B8-5F8A-122F-242736BC6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812404" y="2210090"/>
                <a:ext cx="994183" cy="627864"/>
              </a:xfrm>
              <a:prstGeom prst="rect">
                <a:avLst/>
              </a:prstGeom>
              <a:blipFill>
                <a:blip r:embed="rId8"/>
                <a:stretch>
                  <a:fillRect l="-14000" t="-16250" r="-36000" b="-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C36A9B61-E413-4727-452E-5D2098630113}"/>
              </a:ext>
            </a:extLst>
          </p:cNvPr>
          <p:cNvSpPr txBox="1">
            <a:spLocks/>
          </p:cNvSpPr>
          <p:nvPr/>
        </p:nvSpPr>
        <p:spPr>
          <a:xfrm>
            <a:off x="5600426" y="498066"/>
            <a:ext cx="1845377" cy="62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480" dirty="0">
                <a:highlight>
                  <a:srgbClr val="FFFFFF"/>
                </a:highlight>
                <a:latin typeface="Helvetica" pitchFamily="2" charset="0"/>
              </a:rPr>
              <a:t>Data set</a:t>
            </a:r>
            <a:endParaRPr lang="ja-JP" altLang="en-US" sz="3480" baseline="-25000">
              <a:highlight>
                <a:srgbClr val="FFFFFF"/>
              </a:highlight>
              <a:latin typeface="Helvetica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85EAA4D9-396A-F639-89F7-E34696E38C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44799" y="3929051"/>
                <a:ext cx="1604927" cy="6278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altLang="ja-JP" sz="3480" i="1" baseline="-250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3480" i="1" baseline="-250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), </m:t>
                      </m:r>
                    </m:oMath>
                  </m:oMathPara>
                </a14:m>
                <a:endParaRPr lang="ja-JP" altLang="en-US" sz="3480">
                  <a:highlight>
                    <a:srgbClr val="FFFFFF"/>
                  </a:highlight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85EAA4D9-396A-F639-89F7-E34696E38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799" y="3929051"/>
                <a:ext cx="1604927" cy="627864"/>
              </a:xfrm>
              <a:prstGeom prst="rect">
                <a:avLst/>
              </a:prstGeom>
              <a:blipFill>
                <a:blip r:embed="rId9"/>
                <a:stretch>
                  <a:fillRect t="-1961" r="-3937" b="-215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11DB4AE0-078F-8F13-B24D-FCA516F51B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9599" y="4580769"/>
                <a:ext cx="1426993" cy="6278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altLang="ja-JP" sz="3480" i="1" baseline="-250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3480" i="1" baseline="-250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3480">
                  <a:highlight>
                    <a:srgbClr val="FFFFFF"/>
                  </a:highlight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11DB4AE0-078F-8F13-B24D-FCA516F51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9599" y="4580769"/>
                <a:ext cx="1426993" cy="627864"/>
              </a:xfrm>
              <a:prstGeom prst="rect">
                <a:avLst/>
              </a:prstGeom>
              <a:blipFill>
                <a:blip r:embed="rId10"/>
                <a:stretch>
                  <a:fillRect r="-3540" b="-22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F5FB6154-7B06-6646-1BEB-87821AD0DE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538968" y="3743484"/>
                <a:ext cx="1499128" cy="6278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altLang="ja-JP" sz="3480" i="1" baseline="-250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tn</m:t>
                      </m:r>
                      <m: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3480">
                  <a:highlight>
                    <a:srgbClr val="FFFFFF"/>
                  </a:highlight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F5FB6154-7B06-6646-1BEB-87821AD0D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8968" y="3743484"/>
                <a:ext cx="1499128" cy="627864"/>
              </a:xfrm>
              <a:prstGeom prst="rect">
                <a:avLst/>
              </a:prstGeom>
              <a:blipFill>
                <a:blip r:embed="rId11"/>
                <a:stretch>
                  <a:fillRect r="-3361" b="-215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テキスト ボックス 54">
                <a:extLst>
                  <a:ext uri="{FF2B5EF4-FFF2-40B4-BE49-F238E27FC236}">
                    <a16:creationId xmlns:a16="http://schemas.microsoft.com/office/drawing/2014/main" id="{800CF423-5C6E-CBAE-924C-F0801CF58E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528569" y="4451487"/>
                <a:ext cx="1510350" cy="6278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altLang="ja-JP" sz="3480" i="1" baseline="-250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tn</m:t>
                      </m:r>
                      <m: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3480">
                  <a:highlight>
                    <a:srgbClr val="FFFFFF"/>
                  </a:highlight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55" name="テキスト ボックス 54">
                <a:extLst>
                  <a:ext uri="{FF2B5EF4-FFF2-40B4-BE49-F238E27FC236}">
                    <a16:creationId xmlns:a16="http://schemas.microsoft.com/office/drawing/2014/main" id="{800CF423-5C6E-CBAE-924C-F0801CF58E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28569" y="4451487"/>
                <a:ext cx="1510350" cy="627864"/>
              </a:xfrm>
              <a:prstGeom prst="rect">
                <a:avLst/>
              </a:prstGeom>
              <a:blipFill>
                <a:blip r:embed="rId12"/>
                <a:stretch>
                  <a:fillRect r="-3333" b="-22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下矢印 59">
            <a:extLst>
              <a:ext uri="{FF2B5EF4-FFF2-40B4-BE49-F238E27FC236}">
                <a16:creationId xmlns:a16="http://schemas.microsoft.com/office/drawing/2014/main" id="{486F2C67-120E-0091-AEDC-29A7B6F4414A}"/>
              </a:ext>
            </a:extLst>
          </p:cNvPr>
          <p:cNvSpPr/>
          <p:nvPr/>
        </p:nvSpPr>
        <p:spPr>
          <a:xfrm>
            <a:off x="5600426" y="5950221"/>
            <a:ext cx="1851499" cy="4316722"/>
          </a:xfrm>
          <a:prstGeom prst="downArrow">
            <a:avLst/>
          </a:prstGeom>
          <a:solidFill>
            <a:schemeClr val="bg1"/>
          </a:solidFill>
          <a:ln w="28575"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851499"/>
                      <a:gd name="csY0" fmla="*/ 2009956 h 2935705"/>
                      <a:gd name="csX1" fmla="*/ 462875 w 1851499"/>
                      <a:gd name="csY1" fmla="*/ 2009956 h 2935705"/>
                      <a:gd name="csX2" fmla="*/ 462875 w 1851499"/>
                      <a:gd name="csY2" fmla="*/ 1400269 h 2935705"/>
                      <a:gd name="csX3" fmla="*/ 462875 w 1851499"/>
                      <a:gd name="csY3" fmla="*/ 690085 h 2935705"/>
                      <a:gd name="csX4" fmla="*/ 462875 w 1851499"/>
                      <a:gd name="csY4" fmla="*/ 0 h 2935705"/>
                      <a:gd name="csX5" fmla="*/ 907235 w 1851499"/>
                      <a:gd name="csY5" fmla="*/ 0 h 2935705"/>
                      <a:gd name="csX6" fmla="*/ 1388624 w 1851499"/>
                      <a:gd name="csY6" fmla="*/ 0 h 2935705"/>
                      <a:gd name="csX7" fmla="*/ 1388624 w 1851499"/>
                      <a:gd name="csY7" fmla="*/ 609687 h 2935705"/>
                      <a:gd name="csX8" fmla="*/ 1388624 w 1851499"/>
                      <a:gd name="csY8" fmla="*/ 1319871 h 2935705"/>
                      <a:gd name="csX9" fmla="*/ 1388624 w 1851499"/>
                      <a:gd name="csY9" fmla="*/ 2009956 h 2935705"/>
                      <a:gd name="csX10" fmla="*/ 1851499 w 1851499"/>
                      <a:gd name="csY10" fmla="*/ 2009956 h 2935705"/>
                      <a:gd name="csX11" fmla="*/ 1379367 w 1851499"/>
                      <a:gd name="csY11" fmla="*/ 2482088 h 2935705"/>
                      <a:gd name="csX12" fmla="*/ 925750 w 1851499"/>
                      <a:gd name="csY12" fmla="*/ 2935705 h 2935705"/>
                      <a:gd name="csX13" fmla="*/ 481390 w 1851499"/>
                      <a:gd name="csY13" fmla="*/ 2491345 h 2935705"/>
                      <a:gd name="csX14" fmla="*/ 0 w 1851499"/>
                      <a:gd name="csY14" fmla="*/ 2009956 h 293570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1851499" h="2935705" fill="none" extrusionOk="0">
                        <a:moveTo>
                          <a:pt x="0" y="2009956"/>
                        </a:moveTo>
                        <a:cubicBezTo>
                          <a:pt x="120222" y="2009769"/>
                          <a:pt x="341034" y="2006819"/>
                          <a:pt x="462875" y="2009956"/>
                        </a:cubicBezTo>
                        <a:cubicBezTo>
                          <a:pt x="475536" y="1844598"/>
                          <a:pt x="479785" y="1563324"/>
                          <a:pt x="462875" y="1400269"/>
                        </a:cubicBezTo>
                        <a:cubicBezTo>
                          <a:pt x="445965" y="1237214"/>
                          <a:pt x="467495" y="1010035"/>
                          <a:pt x="462875" y="690085"/>
                        </a:cubicBezTo>
                        <a:cubicBezTo>
                          <a:pt x="458255" y="370135"/>
                          <a:pt x="472578" y="155301"/>
                          <a:pt x="462875" y="0"/>
                        </a:cubicBezTo>
                        <a:cubicBezTo>
                          <a:pt x="599519" y="-18069"/>
                          <a:pt x="736871" y="21322"/>
                          <a:pt x="907235" y="0"/>
                        </a:cubicBezTo>
                        <a:cubicBezTo>
                          <a:pt x="1077599" y="-21322"/>
                          <a:pt x="1155665" y="19966"/>
                          <a:pt x="1388624" y="0"/>
                        </a:cubicBezTo>
                        <a:cubicBezTo>
                          <a:pt x="1413210" y="226452"/>
                          <a:pt x="1414733" y="353893"/>
                          <a:pt x="1388624" y="609687"/>
                        </a:cubicBezTo>
                        <a:cubicBezTo>
                          <a:pt x="1362515" y="865481"/>
                          <a:pt x="1390657" y="1126773"/>
                          <a:pt x="1388624" y="1319871"/>
                        </a:cubicBezTo>
                        <a:cubicBezTo>
                          <a:pt x="1386591" y="1512969"/>
                          <a:pt x="1386915" y="1854347"/>
                          <a:pt x="1388624" y="2009956"/>
                        </a:cubicBezTo>
                        <a:cubicBezTo>
                          <a:pt x="1570324" y="1995515"/>
                          <a:pt x="1662747" y="2011805"/>
                          <a:pt x="1851499" y="2009956"/>
                        </a:cubicBezTo>
                        <a:cubicBezTo>
                          <a:pt x="1624353" y="2191032"/>
                          <a:pt x="1583037" y="2273392"/>
                          <a:pt x="1379367" y="2482088"/>
                        </a:cubicBezTo>
                        <a:cubicBezTo>
                          <a:pt x="1175697" y="2690784"/>
                          <a:pt x="1130305" y="2705017"/>
                          <a:pt x="925750" y="2935705"/>
                        </a:cubicBezTo>
                        <a:cubicBezTo>
                          <a:pt x="725658" y="2721677"/>
                          <a:pt x="690934" y="2694940"/>
                          <a:pt x="481390" y="2491345"/>
                        </a:cubicBezTo>
                        <a:cubicBezTo>
                          <a:pt x="271846" y="2287751"/>
                          <a:pt x="205221" y="2188228"/>
                          <a:pt x="0" y="2009956"/>
                        </a:cubicBezTo>
                        <a:close/>
                      </a:path>
                      <a:path w="1851499" h="2935705" stroke="0" extrusionOk="0">
                        <a:moveTo>
                          <a:pt x="0" y="2009956"/>
                        </a:moveTo>
                        <a:cubicBezTo>
                          <a:pt x="152673" y="2016662"/>
                          <a:pt x="262221" y="2006007"/>
                          <a:pt x="462875" y="2009956"/>
                        </a:cubicBezTo>
                        <a:cubicBezTo>
                          <a:pt x="485323" y="1715818"/>
                          <a:pt x="467608" y="1673325"/>
                          <a:pt x="462875" y="1400269"/>
                        </a:cubicBezTo>
                        <a:cubicBezTo>
                          <a:pt x="458142" y="1127213"/>
                          <a:pt x="473411" y="882367"/>
                          <a:pt x="462875" y="690085"/>
                        </a:cubicBezTo>
                        <a:cubicBezTo>
                          <a:pt x="452339" y="497803"/>
                          <a:pt x="480091" y="335956"/>
                          <a:pt x="462875" y="0"/>
                        </a:cubicBezTo>
                        <a:cubicBezTo>
                          <a:pt x="572380" y="-19618"/>
                          <a:pt x="774606" y="6241"/>
                          <a:pt x="907235" y="0"/>
                        </a:cubicBezTo>
                        <a:cubicBezTo>
                          <a:pt x="1039864" y="-6241"/>
                          <a:pt x="1246579" y="-4294"/>
                          <a:pt x="1388624" y="0"/>
                        </a:cubicBezTo>
                        <a:cubicBezTo>
                          <a:pt x="1361956" y="183639"/>
                          <a:pt x="1358160" y="482436"/>
                          <a:pt x="1388624" y="629786"/>
                        </a:cubicBezTo>
                        <a:cubicBezTo>
                          <a:pt x="1419088" y="777136"/>
                          <a:pt x="1365825" y="1001986"/>
                          <a:pt x="1388624" y="1299772"/>
                        </a:cubicBezTo>
                        <a:cubicBezTo>
                          <a:pt x="1411423" y="1597558"/>
                          <a:pt x="1419187" y="1843232"/>
                          <a:pt x="1388624" y="2009956"/>
                        </a:cubicBezTo>
                        <a:cubicBezTo>
                          <a:pt x="1497145" y="2024879"/>
                          <a:pt x="1637648" y="2032374"/>
                          <a:pt x="1851499" y="2009956"/>
                        </a:cubicBezTo>
                        <a:cubicBezTo>
                          <a:pt x="1643289" y="2182052"/>
                          <a:pt x="1527627" y="2322926"/>
                          <a:pt x="1416397" y="2445058"/>
                        </a:cubicBezTo>
                        <a:cubicBezTo>
                          <a:pt x="1305167" y="2567190"/>
                          <a:pt x="1076781" y="2766308"/>
                          <a:pt x="925750" y="2935705"/>
                        </a:cubicBezTo>
                        <a:cubicBezTo>
                          <a:pt x="748920" y="2771058"/>
                          <a:pt x="649008" y="2668428"/>
                          <a:pt x="481390" y="2491345"/>
                        </a:cubicBezTo>
                        <a:cubicBezTo>
                          <a:pt x="313772" y="2314262"/>
                          <a:pt x="151324" y="2203052"/>
                          <a:pt x="0" y="200995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6" name="グループ化 75">
            <a:extLst>
              <a:ext uri="{FF2B5EF4-FFF2-40B4-BE49-F238E27FC236}">
                <a16:creationId xmlns:a16="http://schemas.microsoft.com/office/drawing/2014/main" id="{0B77A3DA-6807-C57E-8839-F92F1444EFFC}"/>
              </a:ext>
            </a:extLst>
          </p:cNvPr>
          <p:cNvGrpSpPr/>
          <p:nvPr/>
        </p:nvGrpSpPr>
        <p:grpSpPr>
          <a:xfrm>
            <a:off x="6489706" y="6029507"/>
            <a:ext cx="7908900" cy="523220"/>
            <a:chOff x="2526826" y="6029507"/>
            <a:chExt cx="7908900" cy="523220"/>
          </a:xfrm>
        </p:grpSpPr>
        <p:cxnSp>
          <p:nvCxnSpPr>
            <p:cNvPr id="67" name="直線コネクタ 66">
              <a:extLst>
                <a:ext uri="{FF2B5EF4-FFF2-40B4-BE49-F238E27FC236}">
                  <a16:creationId xmlns:a16="http://schemas.microsoft.com/office/drawing/2014/main" id="{F4F57541-6E31-81C4-9C24-6A598754A7D0}"/>
                </a:ext>
              </a:extLst>
            </p:cNvPr>
            <p:cNvCxnSpPr>
              <a:cxnSpLocks/>
            </p:cNvCxnSpPr>
            <p:nvPr/>
          </p:nvCxnSpPr>
          <p:spPr>
            <a:xfrm>
              <a:off x="2526826" y="6291117"/>
              <a:ext cx="1080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テキスト ボックス 69">
                  <a:extLst>
                    <a:ext uri="{FF2B5EF4-FFF2-40B4-BE49-F238E27FC236}">
                      <a16:creationId xmlns:a16="http://schemas.microsoft.com/office/drawing/2014/main" id="{51B96247-317E-E33A-C88A-62F58B0ECF43}"/>
                    </a:ext>
                  </a:extLst>
                </p:cNvPr>
                <p:cNvSpPr txBox="1"/>
                <p:nvPr/>
              </p:nvSpPr>
              <p:spPr>
                <a:xfrm>
                  <a:off x="3737546" y="6029507"/>
                  <a:ext cx="6698180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2800" dirty="0">
                      <a:latin typeface="Helvetica" pitchFamily="2" charset="0"/>
                    </a:rPr>
                    <a:t>Apply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2800" i="1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kumimoji="1" lang="en-US" altLang="ja-JP" sz="2800" i="1" baseline="-2500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ja-JP" sz="280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), </m:t>
                      </m:r>
                      <m:r>
                        <m:rPr>
                          <m:sty m:val="p"/>
                        </m:rPr>
                        <a:rPr kumimoji="1" lang="en-US" altLang="ja-JP" sz="2800" i="1">
                          <a:latin typeface="Cambria Math" panose="02040503050406030204" pitchFamily="18" charset="0"/>
                        </a:rPr>
                        <m:t>Tn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ja-JP" sz="280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kumimoji="1" lang="en-US" altLang="ja-JP" sz="2800" dirty="0">
                      <a:latin typeface="Helvetica" pitchFamily="2" charset="0"/>
                    </a:rPr>
                    <a:t> correction to each data.</a:t>
                  </a:r>
                  <a:endParaRPr kumimoji="1" lang="ja-JP" altLang="en-US" sz="28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70" name="テキスト ボックス 69">
                  <a:extLst>
                    <a:ext uri="{FF2B5EF4-FFF2-40B4-BE49-F238E27FC236}">
                      <a16:creationId xmlns:a16="http://schemas.microsoft.com/office/drawing/2014/main" id="{51B96247-317E-E33A-C88A-62F58B0ECF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7546" y="6029507"/>
                  <a:ext cx="6698180" cy="523220"/>
                </a:xfrm>
                <a:prstGeom prst="rect">
                  <a:avLst/>
                </a:prstGeom>
                <a:blipFill>
                  <a:blip r:embed="rId13"/>
                  <a:stretch>
                    <a:fillRect l="-1894" t="-11905" r="-947" b="-3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テキスト ボックス 70">
                <a:extLst>
                  <a:ext uri="{FF2B5EF4-FFF2-40B4-BE49-F238E27FC236}">
                    <a16:creationId xmlns:a16="http://schemas.microsoft.com/office/drawing/2014/main" id="{31D91129-5D1A-B52F-D86F-F7EE565ECFB6}"/>
                  </a:ext>
                </a:extLst>
              </p:cNvPr>
              <p:cNvSpPr txBox="1"/>
              <p:nvPr/>
            </p:nvSpPr>
            <p:spPr>
              <a:xfrm>
                <a:off x="5704864" y="10398082"/>
                <a:ext cx="8088881" cy="5847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200" dirty="0"/>
                  <a:t>Slice the (</a:t>
                </a:r>
                <a14:m>
                  <m:oMath xmlns:m="http://schemas.openxmlformats.org/officeDocument/2006/math">
                    <m:r>
                      <a:rPr kumimoji="1" lang="en-US" altLang="ja-JP" sz="32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kumimoji="1" lang="en-US" altLang="ja-JP" sz="3200" i="1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ja-JP" sz="32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ja-JP" sz="3200" i="1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ja-JP" sz="32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kumimoji="1" lang="en-US" altLang="ja-JP" sz="3200" dirty="0">
                    <a:latin typeface="Helvetica" pitchFamily="2" charset="0"/>
                  </a:rPr>
                  <a:t>) data on an arbitrary plane.</a:t>
                </a:r>
                <a:endParaRPr kumimoji="1" lang="ja-JP" altLang="en-US" sz="320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71" name="テキスト ボックス 70">
                <a:extLst>
                  <a:ext uri="{FF2B5EF4-FFF2-40B4-BE49-F238E27FC236}">
                    <a16:creationId xmlns:a16="http://schemas.microsoft.com/office/drawing/2014/main" id="{31D91129-5D1A-B52F-D86F-F7EE565EC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864" y="10398082"/>
                <a:ext cx="8088881" cy="584775"/>
              </a:xfrm>
              <a:prstGeom prst="rect">
                <a:avLst/>
              </a:prstGeom>
              <a:blipFill>
                <a:blip r:embed="rId14"/>
                <a:stretch>
                  <a:fillRect l="-1721" t="-12500" r="-782" b="-3125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5" name="グループ化 74">
            <a:extLst>
              <a:ext uri="{FF2B5EF4-FFF2-40B4-BE49-F238E27FC236}">
                <a16:creationId xmlns:a16="http://schemas.microsoft.com/office/drawing/2014/main" id="{8F3BA155-0D68-8A71-A7A7-3EA7A3E1BE74}"/>
              </a:ext>
            </a:extLst>
          </p:cNvPr>
          <p:cNvGrpSpPr/>
          <p:nvPr/>
        </p:nvGrpSpPr>
        <p:grpSpPr>
          <a:xfrm>
            <a:off x="6489706" y="6908245"/>
            <a:ext cx="7218006" cy="954107"/>
            <a:chOff x="2526826" y="6846688"/>
            <a:chExt cx="7218006" cy="9541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テキスト ボックス 68">
                  <a:extLst>
                    <a:ext uri="{FF2B5EF4-FFF2-40B4-BE49-F238E27FC236}">
                      <a16:creationId xmlns:a16="http://schemas.microsoft.com/office/drawing/2014/main" id="{ABE4A7D9-4A4C-834A-20E9-7456CD13A5B5}"/>
                    </a:ext>
                  </a:extLst>
                </p:cNvPr>
                <p:cNvSpPr txBox="1"/>
                <p:nvPr/>
              </p:nvSpPr>
              <p:spPr>
                <a:xfrm>
                  <a:off x="3737546" y="6846688"/>
                  <a:ext cx="6007286" cy="954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2800" dirty="0">
                      <a:latin typeface="Helvetica" pitchFamily="2" charset="0"/>
                    </a:rPr>
                    <a:t>Convert detector coodinates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2800" i="1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kumimoji="1" lang="en-US" altLang="ja-JP" sz="2800" i="1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kumimoji="1" lang="en-US" altLang="ja-JP" sz="2800" dirty="0">
                      <a:latin typeface="Helvetica" pitchFamily="2" charset="0"/>
                    </a:rPr>
                    <a:t>and</a:t>
                  </a:r>
                  <a:br>
                    <a:rPr kumimoji="1" lang="en-US" altLang="ja-JP" sz="2800" dirty="0">
                      <a:latin typeface="Helvetica" pitchFamily="2" charset="0"/>
                    </a:rPr>
                  </a:br>
                  <a:r>
                    <a:rPr kumimoji="1" lang="en-US" altLang="ja-JP" sz="2800" dirty="0">
                      <a:latin typeface="Helvetica" pitchFamily="2" charset="0"/>
                    </a:rPr>
                    <a:t>sample orientation</a:t>
                  </a:r>
                  <a:r>
                    <a:rPr kumimoji="1" lang="en-US" altLang="ja-JP" sz="2800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1" lang="en-US" altLang="ja-JP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a14:m>
                  <a:r>
                    <a:rPr kumimoji="1" lang="en-US" altLang="ja-JP" sz="2800" dirty="0">
                      <a:latin typeface="Helvetica" pitchFamily="2" charset="0"/>
                    </a:rPr>
                    <a:t> to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2800" i="1">
                          <a:latin typeface="Cambria Math" panose="02040503050406030204" pitchFamily="18" charset="0"/>
                        </a:rPr>
                        <m:t>Q</m:t>
                      </m:r>
                      <m:r>
                        <m:rPr>
                          <m:sty m:val="p"/>
                        </m:rPr>
                        <a:rPr kumimoji="1" lang="en-US" altLang="ja-JP" sz="2800" i="1" baseline="-2500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kumimoji="1" lang="en-US" altLang="ja-JP" sz="2800" i="1">
                          <a:latin typeface="Cambria Math" panose="02040503050406030204" pitchFamily="18" charset="0"/>
                        </a:rPr>
                        <m:t>Qy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kumimoji="1" lang="en-US" altLang="ja-JP" sz="2800">
                          <a:latin typeface="Cambria Math" panose="02040503050406030204" pitchFamily="18" charset="0"/>
                        </a:rPr>
                        <m:t>Q</m:t>
                      </m:r>
                      <m:r>
                        <m:rPr>
                          <m:sty m:val="p"/>
                        </m:rPr>
                        <a:rPr kumimoji="1" lang="en-US" altLang="ja-JP" sz="2800" i="1" baseline="-25000">
                          <a:latin typeface="Cambria Math" panose="02040503050406030204" pitchFamily="18" charset="0"/>
                        </a:rPr>
                        <m:t>z</m:t>
                      </m:r>
                    </m:oMath>
                  </a14:m>
                  <a:r>
                    <a:rPr kumimoji="1" lang="en-US" altLang="ja-JP" sz="2800" dirty="0">
                      <a:latin typeface="Helvetica" pitchFamily="2" charset="0"/>
                    </a:rPr>
                    <a:t>.</a:t>
                  </a:r>
                  <a:endParaRPr kumimoji="1" lang="ja-JP" altLang="en-US" sz="28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9" name="テキスト ボックス 68">
                  <a:extLst>
                    <a:ext uri="{FF2B5EF4-FFF2-40B4-BE49-F238E27FC236}">
                      <a16:creationId xmlns:a16="http://schemas.microsoft.com/office/drawing/2014/main" id="{ABE4A7D9-4A4C-834A-20E9-7456CD13A5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7546" y="6846688"/>
                  <a:ext cx="6007286" cy="954107"/>
                </a:xfrm>
                <a:prstGeom prst="rect">
                  <a:avLst/>
                </a:prstGeom>
                <a:blipFill>
                  <a:blip r:embed="rId15"/>
                  <a:stretch>
                    <a:fillRect l="-2110" t="-5195" r="-1055" b="-1688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2" name="直線コネクタ 71">
              <a:extLst>
                <a:ext uri="{FF2B5EF4-FFF2-40B4-BE49-F238E27FC236}">
                  <a16:creationId xmlns:a16="http://schemas.microsoft.com/office/drawing/2014/main" id="{1557CF4B-3A0D-472F-A00B-D4F7717D9E71}"/>
                </a:ext>
              </a:extLst>
            </p:cNvPr>
            <p:cNvCxnSpPr>
              <a:cxnSpLocks/>
            </p:cNvCxnSpPr>
            <p:nvPr/>
          </p:nvCxnSpPr>
          <p:spPr>
            <a:xfrm>
              <a:off x="2526826" y="7323741"/>
              <a:ext cx="1080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グループ化 76">
            <a:extLst>
              <a:ext uri="{FF2B5EF4-FFF2-40B4-BE49-F238E27FC236}">
                <a16:creationId xmlns:a16="http://schemas.microsoft.com/office/drawing/2014/main" id="{993715DC-F6F8-5265-B417-8271D18EB0BB}"/>
              </a:ext>
            </a:extLst>
          </p:cNvPr>
          <p:cNvGrpSpPr/>
          <p:nvPr/>
        </p:nvGrpSpPr>
        <p:grpSpPr>
          <a:xfrm>
            <a:off x="6489707" y="8217868"/>
            <a:ext cx="6953061" cy="954107"/>
            <a:chOff x="2526826" y="8217867"/>
            <a:chExt cx="6953061" cy="954107"/>
          </a:xfrm>
        </p:grpSpPr>
        <p:cxnSp>
          <p:nvCxnSpPr>
            <p:cNvPr id="68" name="直線コネクタ 67">
              <a:extLst>
                <a:ext uri="{FF2B5EF4-FFF2-40B4-BE49-F238E27FC236}">
                  <a16:creationId xmlns:a16="http://schemas.microsoft.com/office/drawing/2014/main" id="{3122E1ED-1478-4EA4-15C5-655807AB0911}"/>
                </a:ext>
              </a:extLst>
            </p:cNvPr>
            <p:cNvCxnSpPr>
              <a:cxnSpLocks/>
            </p:cNvCxnSpPr>
            <p:nvPr/>
          </p:nvCxnSpPr>
          <p:spPr>
            <a:xfrm>
              <a:off x="2526826" y="8694920"/>
              <a:ext cx="1080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テキスト ボックス 72">
                  <a:extLst>
                    <a:ext uri="{FF2B5EF4-FFF2-40B4-BE49-F238E27FC236}">
                      <a16:creationId xmlns:a16="http://schemas.microsoft.com/office/drawing/2014/main" id="{737D49DD-DC17-BBAF-E42A-5F7E36FB514D}"/>
                    </a:ext>
                  </a:extLst>
                </p:cNvPr>
                <p:cNvSpPr txBox="1"/>
                <p:nvPr/>
              </p:nvSpPr>
              <p:spPr>
                <a:xfrm>
                  <a:off x="3737546" y="8217867"/>
                  <a:ext cx="5742341" cy="954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2800" dirty="0">
                      <a:latin typeface="Helvetica" pitchFamily="2" charset="0"/>
                    </a:rPr>
                    <a:t>Transform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2800" i="1">
                          <a:latin typeface="Cambria Math" panose="02040503050406030204" pitchFamily="18" charset="0"/>
                        </a:rPr>
                        <m:t>Q</m:t>
                      </m:r>
                      <m:r>
                        <m:rPr>
                          <m:sty m:val="p"/>
                        </m:rPr>
                        <a:rPr kumimoji="1" lang="en-US" altLang="ja-JP" sz="2800" i="1" baseline="-2500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kumimoji="1" lang="en-US" altLang="ja-JP" sz="2800" i="1">
                          <a:latin typeface="Cambria Math" panose="02040503050406030204" pitchFamily="18" charset="0"/>
                        </a:rPr>
                        <m:t>Qy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kumimoji="1" lang="en-US" altLang="ja-JP" sz="2800">
                          <a:latin typeface="Cambria Math" panose="02040503050406030204" pitchFamily="18" charset="0"/>
                        </a:rPr>
                        <m:t>Q</m:t>
                      </m:r>
                      <m:r>
                        <m:rPr>
                          <m:sty m:val="p"/>
                        </m:rPr>
                        <a:rPr kumimoji="1" lang="en-US" altLang="ja-JP" sz="2800" i="1" baseline="-25000">
                          <a:latin typeface="Cambria Math" panose="02040503050406030204" pitchFamily="18" charset="0"/>
                        </a:rPr>
                        <m:t>z</m:t>
                      </m:r>
                    </m:oMath>
                  </a14:m>
                  <a:r>
                    <a:rPr kumimoji="1" lang="en-US" altLang="ja-JP" sz="2800" dirty="0">
                      <a:latin typeface="Helvetica" pitchFamily="2" charset="0"/>
                    </a:rPr>
                    <a:t> to </a:t>
                  </a:r>
                  <a14:m>
                    <m:oMath xmlns:m="http://schemas.openxmlformats.org/officeDocument/2006/math"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r>
                    <a:rPr kumimoji="1" lang="en-US" altLang="ja-JP" sz="2800" dirty="0">
                      <a:latin typeface="Helvetica" pitchFamily="2" charset="0"/>
                    </a:rPr>
                    <a:t> using</a:t>
                  </a:r>
                  <a:br>
                    <a:rPr kumimoji="1" lang="en-US" altLang="ja-JP" sz="2800" dirty="0">
                      <a:latin typeface="Helvetica" pitchFamily="2" charset="0"/>
                    </a:rPr>
                  </a:br>
                  <a:r>
                    <a:rPr kumimoji="1" lang="en-US" altLang="ja-JP" sz="2800" dirty="0">
                      <a:latin typeface="Helvetica" pitchFamily="2" charset="0"/>
                    </a:rPr>
                    <a:t>the UB matrix.</a:t>
                  </a:r>
                  <a:endParaRPr kumimoji="1" lang="ja-JP" altLang="en-US" sz="28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73" name="テキスト ボックス 72">
                  <a:extLst>
                    <a:ext uri="{FF2B5EF4-FFF2-40B4-BE49-F238E27FC236}">
                      <a16:creationId xmlns:a16="http://schemas.microsoft.com/office/drawing/2014/main" id="{737D49DD-DC17-BBAF-E42A-5F7E36FB51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7546" y="8217867"/>
                  <a:ext cx="5742341" cy="954107"/>
                </a:xfrm>
                <a:prstGeom prst="rect">
                  <a:avLst/>
                </a:prstGeom>
                <a:blipFill>
                  <a:blip r:embed="rId16"/>
                  <a:stretch>
                    <a:fillRect l="-2208" t="-7895" r="-1325" b="-1578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正方形/長方形 81">
                <a:extLst>
                  <a:ext uri="{FF2B5EF4-FFF2-40B4-BE49-F238E27FC236}">
                    <a16:creationId xmlns:a16="http://schemas.microsoft.com/office/drawing/2014/main" id="{B74246D1-C326-9A9D-68FE-EA6C04DDBF4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065179" y="1759625"/>
                <a:ext cx="1558238" cy="155823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ja-JP" sz="3400" i="1">
                              <a:solidFill>
                                <a:srgbClr val="FF0B0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ja-JP" sz="3400" i="1">
                              <a:solidFill>
                                <a:srgbClr val="FF0B0B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p>
                          <m:r>
                            <a:rPr lang="en-US" altLang="ja-JP" sz="3400" i="1">
                              <a:solidFill>
                                <a:srgbClr val="FF0B0B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ja-JP" sz="3400" i="1">
                              <a:solidFill>
                                <a:srgbClr val="FF0B0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US" altLang="ja-JP" sz="3400">
                          <a:solidFill>
                            <a:srgbClr val="FF0B0B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3400">
                          <a:solidFill>
                            <a:srgbClr val="FF0B0B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3400" baseline="-25000">
                          <a:solidFill>
                            <a:srgbClr val="FF0B0B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ja-JP" sz="3400">
                          <a:solidFill>
                            <a:srgbClr val="FF0B0B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3400">
                  <a:solidFill>
                    <a:srgbClr val="FF0B0B"/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82" name="正方形/長方形 81">
                <a:extLst>
                  <a:ext uri="{FF2B5EF4-FFF2-40B4-BE49-F238E27FC236}">
                    <a16:creationId xmlns:a16="http://schemas.microsoft.com/office/drawing/2014/main" id="{B74246D1-C326-9A9D-68FE-EA6C04DDBF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5179" y="1759625"/>
                <a:ext cx="1558238" cy="1558238"/>
              </a:xfrm>
              <a:prstGeom prst="rect">
                <a:avLst/>
              </a:prstGeom>
              <a:blipFill>
                <a:blip r:embed="rId17"/>
                <a:stretch>
                  <a:fillRect l="-800" r="-4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テキスト ボックス 82">
                <a:extLst>
                  <a:ext uri="{FF2B5EF4-FFF2-40B4-BE49-F238E27FC236}">
                    <a16:creationId xmlns:a16="http://schemas.microsoft.com/office/drawing/2014/main" id="{CC69C8AA-3583-36B0-DE5F-4781056B22D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10683" y="1136187"/>
                <a:ext cx="1238481" cy="6155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l-GR" altLang="ja-JP" sz="348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ja-JP" sz="3480" i="1" baseline="-25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ja-JP" sz="348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ja-JP" sz="348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3480" i="1" baseline="-2500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ja-JP" altLang="en-US" sz="3480" baseline="-2500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83" name="テキスト ボックス 82">
                <a:extLst>
                  <a:ext uri="{FF2B5EF4-FFF2-40B4-BE49-F238E27FC236}">
                    <a16:creationId xmlns:a16="http://schemas.microsoft.com/office/drawing/2014/main" id="{CC69C8AA-3583-36B0-DE5F-4781056B2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0683" y="1136187"/>
                <a:ext cx="1238481" cy="615553"/>
              </a:xfrm>
              <a:prstGeom prst="rect">
                <a:avLst/>
              </a:prstGeom>
              <a:blipFill>
                <a:blip r:embed="rId18"/>
                <a:stretch>
                  <a:fillRect b="-1020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正方形/長方形 93">
                <a:extLst>
                  <a:ext uri="{FF2B5EF4-FFF2-40B4-BE49-F238E27FC236}">
                    <a16:creationId xmlns:a16="http://schemas.microsoft.com/office/drawing/2014/main" id="{2462F3EB-97BF-D06D-56C7-2A44B1C16CA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416614" y="1720152"/>
                <a:ext cx="1558238" cy="155823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lang="en-US" altLang="ja-JP" sz="3400" i="1">
                              <a:solidFill>
                                <a:srgbClr val="FF0B0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ja-JP" sz="3400" i="1">
                              <a:solidFill>
                                <a:srgbClr val="FF0B0B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p>
                          <m:r>
                            <a:rPr lang="en-US" altLang="ja-JP" sz="3400" i="1">
                              <a:solidFill>
                                <a:srgbClr val="FF0B0B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ja-JP" sz="3400" i="1">
                              <a:solidFill>
                                <a:srgbClr val="FF0B0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US" altLang="ja-JP" sz="3400">
                          <a:solidFill>
                            <a:srgbClr val="FF0B0B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3400">
                          <a:solidFill>
                            <a:srgbClr val="FF0B0B"/>
                          </a:solidFill>
                          <a:latin typeface="Cambria Math" panose="02040503050406030204" pitchFamily="18" charset="0"/>
                        </a:rPr>
                        <m:t>tn</m:t>
                      </m:r>
                      <m:r>
                        <a:rPr lang="en-US" altLang="ja-JP" sz="3400">
                          <a:solidFill>
                            <a:srgbClr val="FF0B0B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2800">
                  <a:solidFill>
                    <a:prstClr val="black"/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94" name="正方形/長方形 93">
                <a:extLst>
                  <a:ext uri="{FF2B5EF4-FFF2-40B4-BE49-F238E27FC236}">
                    <a16:creationId xmlns:a16="http://schemas.microsoft.com/office/drawing/2014/main" id="{2462F3EB-97BF-D06D-56C7-2A44B1C16C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6614" y="1720152"/>
                <a:ext cx="1558238" cy="1558238"/>
              </a:xfrm>
              <a:prstGeom prst="rect">
                <a:avLst/>
              </a:prstGeom>
              <a:blipFill>
                <a:blip r:embed="rId19"/>
                <a:stretch>
                  <a:fillRect l="-4000" r="-64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テキスト ボックス 94">
                <a:extLst>
                  <a:ext uri="{FF2B5EF4-FFF2-40B4-BE49-F238E27FC236}">
                    <a16:creationId xmlns:a16="http://schemas.microsoft.com/office/drawing/2014/main" id="{72D6724C-8DCE-10EB-214D-3F1695EB9E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275018" y="1112509"/>
                <a:ext cx="1238481" cy="6155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l-GR" altLang="ja-JP" sz="348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ja-JP" sz="3480" i="1" baseline="-25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ja-JP" sz="348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ja-JP" sz="348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3480" i="1" baseline="-2500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ja-JP" altLang="en-US" sz="3480" baseline="-2500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95" name="テキスト ボックス 94">
                <a:extLst>
                  <a:ext uri="{FF2B5EF4-FFF2-40B4-BE49-F238E27FC236}">
                    <a16:creationId xmlns:a16="http://schemas.microsoft.com/office/drawing/2014/main" id="{72D6724C-8DCE-10EB-214D-3F1695EB9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5018" y="1112509"/>
                <a:ext cx="1238481" cy="615553"/>
              </a:xfrm>
              <a:prstGeom prst="rect">
                <a:avLst/>
              </a:prstGeom>
              <a:blipFill>
                <a:blip r:embed="rId20"/>
                <a:stretch>
                  <a:fillRect b="-1020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9100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3070-D453-57A5-E902-43AA15575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EC9E0EDC-A4A8-31A4-7E2D-4102FD84D021}"/>
              </a:ext>
            </a:extLst>
          </p:cNvPr>
          <p:cNvGrpSpPr/>
          <p:nvPr/>
        </p:nvGrpSpPr>
        <p:grpSpPr>
          <a:xfrm>
            <a:off x="5100001" y="498066"/>
            <a:ext cx="10396915" cy="8977006"/>
            <a:chOff x="338294" y="498066"/>
            <a:chExt cx="10396915" cy="8977006"/>
          </a:xfrm>
        </p:grpSpPr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D6B2D2FB-6130-8FC2-C99D-F7930C64A015}"/>
                </a:ext>
              </a:extLst>
            </p:cNvPr>
            <p:cNvSpPr>
              <a:spLocks/>
            </p:cNvSpPr>
            <p:nvPr/>
          </p:nvSpPr>
          <p:spPr>
            <a:xfrm>
              <a:off x="338294" y="5984712"/>
              <a:ext cx="10396915" cy="34903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04790218-E06C-C66A-BCCC-CAE81FEE85DA}"/>
                </a:ext>
              </a:extLst>
            </p:cNvPr>
            <p:cNvSpPr>
              <a:spLocks/>
            </p:cNvSpPr>
            <p:nvPr/>
          </p:nvSpPr>
          <p:spPr>
            <a:xfrm>
              <a:off x="338294" y="838519"/>
              <a:ext cx="10396915" cy="436370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正方形/長方形 2">
                  <a:extLst>
                    <a:ext uri="{FF2B5EF4-FFF2-40B4-BE49-F238E27FC236}">
                      <a16:creationId xmlns:a16="http://schemas.microsoft.com/office/drawing/2014/main" id="{2C4E3A38-56E3-85F6-86F9-3D39BB11640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077716" y="1641483"/>
                  <a:ext cx="1558238" cy="1558238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sSupPr>
                            <m:ctrlP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  <m:d>
                          <m:dPr>
                            <m:ctrlP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ja-JP" altLang="en-US" sz="3400">
                    <a:solidFill>
                      <a:srgbClr val="0404FF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" name="正方形/長方形 2">
                  <a:extLst>
                    <a:ext uri="{FF2B5EF4-FFF2-40B4-BE49-F238E27FC236}">
                      <a16:creationId xmlns:a16="http://schemas.microsoft.com/office/drawing/2014/main" id="{2C4E3A38-56E3-85F6-86F9-3D39BB1164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7716" y="1641483"/>
                  <a:ext cx="1558238" cy="1558238"/>
                </a:xfrm>
                <a:prstGeom prst="rect">
                  <a:avLst/>
                </a:prstGeom>
                <a:blipFill>
                  <a:blip r:embed="rId3"/>
                  <a:stretch>
                    <a:fillRect l="-32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正方形/長方形 4">
                  <a:extLst>
                    <a:ext uri="{FF2B5EF4-FFF2-40B4-BE49-F238E27FC236}">
                      <a16:creationId xmlns:a16="http://schemas.microsoft.com/office/drawing/2014/main" id="{96B1BE15-D33B-2D8D-1C50-7B505AE8F09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376104" y="1641483"/>
                  <a:ext cx="1558238" cy="1558238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sSupPr>
                            <m:ctrlP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  <m:d>
                          <m:dPr>
                            <m:ctrlP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ja-JP" altLang="en-US" sz="2800">
                    <a:solidFill>
                      <a:prstClr val="black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5" name="正方形/長方形 4">
                  <a:extLst>
                    <a:ext uri="{FF2B5EF4-FFF2-40B4-BE49-F238E27FC236}">
                      <a16:creationId xmlns:a16="http://schemas.microsoft.com/office/drawing/2014/main" id="{96B1BE15-D33B-2D8D-1C50-7B505AE8F09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6104" y="1641483"/>
                  <a:ext cx="1558238" cy="1558238"/>
                </a:xfrm>
                <a:prstGeom prst="rect">
                  <a:avLst/>
                </a:prstGeom>
                <a:blipFill>
                  <a:blip r:embed="rId4"/>
                  <a:stretch>
                    <a:fillRect l="-317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235C19FE-345F-137B-DA82-68E62237C348}"/>
                </a:ext>
              </a:extLst>
            </p:cNvPr>
            <p:cNvSpPr txBox="1">
              <a:spLocks/>
            </p:cNvSpPr>
            <p:nvPr/>
          </p:nvSpPr>
          <p:spPr>
            <a:xfrm>
              <a:off x="7367413" y="2035881"/>
              <a:ext cx="67037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4400" dirty="0"/>
                <a:t>...</a:t>
              </a:r>
              <a:endParaRPr lang="ja-JP" altLang="en-US" sz="4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F55E4764-5CEE-BF2E-5C43-235AD529B4F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279049" y="1033812"/>
                  <a:ext cx="1178015" cy="5734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l-GR" altLang="ja-JP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ja-JP" sz="3200" i="1" baseline="-250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sz="32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3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ja-JP" sz="3200" i="1" baseline="-2500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ja-JP" altLang="en-US" sz="3200" i="1" baseline="-250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F55E4764-5CEE-BF2E-5C43-235AD529B4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9049" y="1033812"/>
                  <a:ext cx="1178015" cy="573427"/>
                </a:xfrm>
                <a:prstGeom prst="rect">
                  <a:avLst/>
                </a:prstGeom>
                <a:blipFill>
                  <a:blip r:embed="rId5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8AF602B0-11F6-03BD-03EB-DF211AFF15C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577437" y="1033812"/>
                  <a:ext cx="1178015" cy="5734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l-GR" altLang="ja-JP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ja-JP" sz="3200" i="1" baseline="-250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ja-JP" sz="32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3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ja-JP" sz="3200" i="1" baseline="-2500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ja-JP" altLang="en-US" sz="3200" i="1" baseline="-250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8AF602B0-11F6-03BD-03EB-DF211AFF15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7437" y="1033812"/>
                  <a:ext cx="1178015" cy="573427"/>
                </a:xfrm>
                <a:prstGeom prst="rect">
                  <a:avLst/>
                </a:prstGeom>
                <a:blipFill>
                  <a:blip r:embed="rId6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テキスト ボックス 31">
                  <a:extLst>
                    <a:ext uri="{FF2B5EF4-FFF2-40B4-BE49-F238E27FC236}">
                      <a16:creationId xmlns:a16="http://schemas.microsoft.com/office/drawing/2014/main" id="{F2DB9E95-ED7A-8038-2C80-2F9DE5FDB70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93407" y="3153698"/>
                  <a:ext cx="92685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</m:oMath>
                  </a14:m>
                  <a:r>
                    <a:rPr lang="en-US" altLang="ja-JP" sz="3200" baseline="-25000" dirty="0">
                      <a:latin typeface="Helvetica" pitchFamily="2" charset="0"/>
                    </a:rPr>
                    <a:t> </a:t>
                  </a:r>
                  <a:r>
                    <a:rPr lang="en-US" altLang="ja-JP" sz="3200" dirty="0" err="1">
                      <a:latin typeface="Helvetica" pitchFamily="2" charset="0"/>
                    </a:rPr>
                    <a:t>ch</a:t>
                  </a:r>
                  <a:endParaRPr lang="ja-JP" altLang="en-US" sz="3200" baseline="-250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2" name="テキスト ボックス 31">
                  <a:extLst>
                    <a:ext uri="{FF2B5EF4-FFF2-40B4-BE49-F238E27FC236}">
                      <a16:creationId xmlns:a16="http://schemas.microsoft.com/office/drawing/2014/main" id="{F2DB9E95-ED7A-8038-2C80-2F9DE5FDB7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3407" y="3153698"/>
                  <a:ext cx="926857" cy="584775"/>
                </a:xfrm>
                <a:prstGeom prst="rect">
                  <a:avLst/>
                </a:prstGeom>
                <a:blipFill>
                  <a:blip r:embed="rId7"/>
                  <a:stretch>
                    <a:fillRect l="-4054" t="-12766" r="-14865" b="-340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C9AD0DA0-2ECB-3677-AA85-12A1B3606D7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rot="16200000">
                  <a:off x="284183" y="2121665"/>
                  <a:ext cx="92685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Y</m:t>
                      </m:r>
                    </m:oMath>
                  </a14:m>
                  <a:r>
                    <a:rPr lang="en-US" altLang="ja-JP" sz="3200" baseline="-25000" dirty="0">
                      <a:latin typeface="Helvetica" pitchFamily="2" charset="0"/>
                    </a:rPr>
                    <a:t> </a:t>
                  </a:r>
                  <a:r>
                    <a:rPr lang="en-US" altLang="ja-JP" sz="3200" dirty="0" err="1">
                      <a:latin typeface="Helvetica" pitchFamily="2" charset="0"/>
                    </a:rPr>
                    <a:t>ch</a:t>
                  </a:r>
                  <a:endParaRPr lang="ja-JP" altLang="en-US" sz="32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C9AD0DA0-2ECB-3677-AA85-12A1B3606D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84183" y="2121665"/>
                  <a:ext cx="926857" cy="584775"/>
                </a:xfrm>
                <a:prstGeom prst="rect">
                  <a:avLst/>
                </a:prstGeom>
                <a:blipFill>
                  <a:blip r:embed="rId8"/>
                  <a:stretch>
                    <a:fillRect l="-14894" t="-14865" r="-31915" b="-405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8F546923-15D3-DC83-7D6E-04EBBB40AC21}"/>
                </a:ext>
              </a:extLst>
            </p:cNvPr>
            <p:cNvSpPr txBox="1">
              <a:spLocks/>
            </p:cNvSpPr>
            <p:nvPr/>
          </p:nvSpPr>
          <p:spPr>
            <a:xfrm>
              <a:off x="591439" y="498066"/>
              <a:ext cx="177965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3200" dirty="0">
                  <a:highlight>
                    <a:srgbClr val="FFFFFF"/>
                  </a:highlight>
                  <a:latin typeface="Helvetica" pitchFamily="2" charset="0"/>
                </a:rPr>
                <a:t>Data Set</a:t>
              </a:r>
              <a:endParaRPr lang="ja-JP" altLang="en-US" sz="3200" baseline="-25000">
                <a:highlight>
                  <a:srgbClr val="FFFFFF"/>
                </a:highlight>
                <a:latin typeface="Helvetica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30083400-9BDC-32BD-7CB3-A1CDD4BE8A7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110477" y="3752505"/>
                  <a:ext cx="1492716" cy="6278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ja-JP" sz="348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ja-JP" sz="3480" i="1" baseline="-2500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ja-JP" sz="3480" i="1" baseline="-2500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ja-JP" sz="348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ja-JP" altLang="en-US" sz="3480">
                    <a:highlight>
                      <a:srgbClr val="FFFFFF"/>
                    </a:highlight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30083400-9BDC-32BD-7CB3-A1CDD4BE8A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477" y="3752505"/>
                  <a:ext cx="1492716" cy="627864"/>
                </a:xfrm>
                <a:prstGeom prst="rect">
                  <a:avLst/>
                </a:prstGeom>
                <a:blipFill>
                  <a:blip r:embed="rId9"/>
                  <a:stretch>
                    <a:fillRect t="-1961" r="-3390" b="-2156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B23720C6-49D1-8616-D2AF-839E0E5DD21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187518" y="4404223"/>
                  <a:ext cx="1338635" cy="6278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ja-JP" sz="348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ja-JP" sz="3480" i="1" baseline="-2500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ja-JP" sz="3480" i="1" baseline="-2500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ja-JP" altLang="en-US" sz="3480">
                    <a:highlight>
                      <a:srgbClr val="FFFFFF"/>
                    </a:highlight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B23720C6-49D1-8616-D2AF-839E0E5DD2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7518" y="4404223"/>
                  <a:ext cx="1338635" cy="627864"/>
                </a:xfrm>
                <a:prstGeom prst="rect">
                  <a:avLst/>
                </a:prstGeom>
                <a:blipFill>
                  <a:blip r:embed="rId10"/>
                  <a:stretch>
                    <a:fillRect b="-22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テキスト ボックス 69">
                  <a:extLst>
                    <a:ext uri="{FF2B5EF4-FFF2-40B4-BE49-F238E27FC236}">
                      <a16:creationId xmlns:a16="http://schemas.microsoft.com/office/drawing/2014/main" id="{76C336D8-ABCF-1718-01D9-4B64094F251C}"/>
                    </a:ext>
                  </a:extLst>
                </p:cNvPr>
                <p:cNvSpPr txBox="1"/>
                <p:nvPr/>
              </p:nvSpPr>
              <p:spPr>
                <a:xfrm>
                  <a:off x="510332" y="6366739"/>
                  <a:ext cx="10078649" cy="23391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432000" indent="-432000">
                    <a:spcBef>
                      <a:spcPts val="300"/>
                    </a:spcBef>
                    <a:spcAft>
                      <a:spcPts val="300"/>
                    </a:spcAft>
                    <a:buFont typeface="+mj-lt"/>
                    <a:buAutoNum type="arabicPeriod"/>
                  </a:pPr>
                  <a:r>
                    <a:rPr kumimoji="1" lang="en-US" altLang="ja-JP" sz="3400" dirty="0">
                      <a:highlight>
                        <a:srgbClr val="FFFFFF"/>
                      </a:highlight>
                      <a:latin typeface="Helvetica" pitchFamily="2" charset="0"/>
                    </a:rPr>
                    <a:t>Apply </a:t>
                  </a:r>
                  <a14:m>
                    <m:oMath xmlns:m="http://schemas.openxmlformats.org/officeDocument/2006/math"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ja-JP" sz="3400" i="1" baseline="-250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𝑇𝑎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kumimoji="1" lang="en-US" altLang="ja-JP" sz="3400" i="1" dirty="0">
                      <a:highlight>
                        <a:srgbClr val="FFFFFF"/>
                      </a:highlight>
                      <a:latin typeface="Helvetica" pitchFamily="2" charset="0"/>
                    </a:rPr>
                    <a:t> </a:t>
                  </a:r>
                  <a:r>
                    <a:rPr kumimoji="1" lang="en-US" altLang="ja-JP" sz="3400" dirty="0">
                      <a:highlight>
                        <a:srgbClr val="FFFFFF"/>
                      </a:highlight>
                      <a:latin typeface="Helvetica" pitchFamily="2" charset="0"/>
                    </a:rPr>
                    <a:t>correction to each data.</a:t>
                  </a:r>
                </a:p>
                <a:p>
                  <a:pPr marL="432000" indent="-432000">
                    <a:spcBef>
                      <a:spcPts val="300"/>
                    </a:spcBef>
                    <a:spcAft>
                      <a:spcPts val="300"/>
                    </a:spcAft>
                    <a:buFont typeface="+mj-lt"/>
                    <a:buAutoNum type="arabicPeriod"/>
                  </a:pPr>
                  <a:r>
                    <a:rPr kumimoji="1" lang="en-US" altLang="ja-JP" sz="3400" dirty="0">
                      <a:highlight>
                        <a:srgbClr val="FFFFFF"/>
                      </a:highlight>
                      <a:latin typeface="Helvetica" pitchFamily="2" charset="0"/>
                    </a:rPr>
                    <a:t>Convert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34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kumimoji="1" lang="en-US" altLang="ja-JP" sz="34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kumimoji="1" lang="en-US" altLang="ja-JP" sz="34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kumimoji="1" lang="en-US" altLang="ja-JP" sz="34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a14:m>
                  <a:r>
                    <a:rPr kumimoji="1" lang="en-US" altLang="ja-JP" sz="3400" dirty="0">
                      <a:highlight>
                        <a:srgbClr val="FFFFFF"/>
                      </a:highlight>
                      <a:latin typeface="Helvetica" pitchFamily="2" charset="0"/>
                    </a:rPr>
                    <a:t> to </a:t>
                  </a:r>
                  <a14:m>
                    <m:oMath xmlns:m="http://schemas.openxmlformats.org/officeDocument/2006/math"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kumimoji="1" lang="en-US" altLang="ja-JP" sz="3400" i="1" baseline="-250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, 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𝑄𝑦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, 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𝑄𝑧</m:t>
                      </m:r>
                    </m:oMath>
                  </a14:m>
                  <a:r>
                    <a:rPr kumimoji="1" lang="en-US" altLang="ja-JP" sz="3400" i="1" dirty="0">
                      <a:highlight>
                        <a:srgbClr val="FFFFFF"/>
                      </a:highlight>
                      <a:latin typeface="Helvetica" pitchFamily="2" charset="0"/>
                    </a:rPr>
                    <a:t>.</a:t>
                  </a:r>
                </a:p>
                <a:p>
                  <a:pPr marL="432000" indent="-432000">
                    <a:spcBef>
                      <a:spcPts val="300"/>
                    </a:spcBef>
                    <a:spcAft>
                      <a:spcPts val="300"/>
                    </a:spcAft>
                    <a:buFont typeface="+mj-lt"/>
                    <a:buAutoNum type="arabicPeriod"/>
                  </a:pPr>
                  <a:r>
                    <a:rPr kumimoji="1" lang="en-US" altLang="ja-JP" sz="3400" dirty="0">
                      <a:highlight>
                        <a:srgbClr val="FFFFFF"/>
                      </a:highlight>
                      <a:latin typeface="Helvetica" pitchFamily="2" charset="0"/>
                    </a:rPr>
                    <a:t>Transform </a:t>
                  </a:r>
                  <a14:m>
                    <m:oMath xmlns:m="http://schemas.openxmlformats.org/officeDocument/2006/math"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kumimoji="1" lang="en-US" altLang="ja-JP" sz="3400" i="1" baseline="-250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𝑄𝑦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𝑄𝑧</m:t>
                      </m:r>
                    </m:oMath>
                  </a14:m>
                  <a:r>
                    <a:rPr kumimoji="1" lang="en-US" altLang="ja-JP" sz="3400" i="1" dirty="0">
                      <a:highlight>
                        <a:srgbClr val="FFFFFF"/>
                      </a:highlight>
                      <a:latin typeface="Helvetica" pitchFamily="2" charset="0"/>
                    </a:rPr>
                    <a:t> </a:t>
                  </a:r>
                  <a:r>
                    <a:rPr kumimoji="1" lang="en-US" altLang="ja-JP" sz="3400" dirty="0">
                      <a:highlight>
                        <a:srgbClr val="FFFFFF"/>
                      </a:highlight>
                      <a:latin typeface="Helvetica" pitchFamily="2" charset="0"/>
                    </a:rPr>
                    <a:t>to </a:t>
                  </a:r>
                  <a14:m>
                    <m:oMath xmlns:m="http://schemas.openxmlformats.org/officeDocument/2006/math"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r>
                    <a:rPr kumimoji="1" lang="en-US" altLang="ja-JP" sz="3400" dirty="0">
                      <a:highlight>
                        <a:srgbClr val="FFFFFF"/>
                      </a:highlight>
                      <a:latin typeface="Helvetica" pitchFamily="2" charset="0"/>
                    </a:rPr>
                    <a:t> using the UB matrix.</a:t>
                  </a:r>
                  <a:endParaRPr kumimoji="1" lang="ja-JP" altLang="en-US" sz="3400">
                    <a:highlight>
                      <a:srgbClr val="FFFFFF"/>
                    </a:highlight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70" name="テキスト ボックス 69">
                  <a:extLst>
                    <a:ext uri="{FF2B5EF4-FFF2-40B4-BE49-F238E27FC236}">
                      <a16:creationId xmlns:a16="http://schemas.microsoft.com/office/drawing/2014/main" id="{76C336D8-ABCF-1718-01D9-4B64094F25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332" y="6366739"/>
                  <a:ext cx="10078649" cy="2339102"/>
                </a:xfrm>
                <a:prstGeom prst="rect">
                  <a:avLst/>
                </a:prstGeom>
                <a:blipFill>
                  <a:blip r:embed="rId11"/>
                  <a:stretch>
                    <a:fillRect l="-1259" t="-3243" b="-810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テキスト ボックス 70">
                  <a:extLst>
                    <a:ext uri="{FF2B5EF4-FFF2-40B4-BE49-F238E27FC236}">
                      <a16:creationId xmlns:a16="http://schemas.microsoft.com/office/drawing/2014/main" id="{82D579A2-3C06-D2A8-17D9-F577D0B6D45E}"/>
                    </a:ext>
                  </a:extLst>
                </p:cNvPr>
                <p:cNvSpPr txBox="1"/>
                <p:nvPr/>
              </p:nvSpPr>
              <p:spPr>
                <a:xfrm>
                  <a:off x="1255483" y="8765406"/>
                  <a:ext cx="8562537" cy="5847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3200" b="1" dirty="0"/>
                    <a:t>Slice the (</a:t>
                  </a:r>
                  <a14:m>
                    <m:oMath xmlns:m="http://schemas.openxmlformats.org/officeDocument/2006/math">
                      <m:r>
                        <a:rPr kumimoji="1" lang="en-US" altLang="ja-JP" sz="3200" b="1" i="1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kumimoji="1" lang="en-US" altLang="ja-JP" sz="3200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3200" b="1" i="1"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kumimoji="1" lang="en-US" altLang="ja-JP" sz="3200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3200" b="1" i="1">
                          <a:latin typeface="Cambria Math" panose="02040503050406030204" pitchFamily="18" charset="0"/>
                        </a:rPr>
                        <m:t>𝑳</m:t>
                      </m:r>
                    </m:oMath>
                  </a14:m>
                  <a:r>
                    <a:rPr kumimoji="1" lang="en-US" altLang="ja-JP" sz="3200" b="1" dirty="0">
                      <a:latin typeface="Helvetica" pitchFamily="2" charset="0"/>
                    </a:rPr>
                    <a:t>) data on an arbitrary plane.</a:t>
                  </a:r>
                  <a:endParaRPr kumimoji="1" lang="ja-JP" altLang="en-US" sz="320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71" name="テキスト ボックス 70">
                  <a:extLst>
                    <a:ext uri="{FF2B5EF4-FFF2-40B4-BE49-F238E27FC236}">
                      <a16:creationId xmlns:a16="http://schemas.microsoft.com/office/drawing/2014/main" id="{82D579A2-3C06-D2A8-17D9-F577D0B6D4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5483" y="8765406"/>
                  <a:ext cx="8562537" cy="584775"/>
                </a:xfrm>
                <a:prstGeom prst="rect">
                  <a:avLst/>
                </a:prstGeom>
                <a:blipFill>
                  <a:blip r:embed="rId12"/>
                  <a:stretch>
                    <a:fillRect l="-1775" t="-10417" r="-740" b="-33333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正方形/長方形 81">
                  <a:extLst>
                    <a:ext uri="{FF2B5EF4-FFF2-40B4-BE49-F238E27FC236}">
                      <a16:creationId xmlns:a16="http://schemas.microsoft.com/office/drawing/2014/main" id="{231EC8D0-D6A6-F1A6-D481-BD056656061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226910" y="1641483"/>
                  <a:ext cx="1558238" cy="1558238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d>
                          <m:dPr>
                            <m:ctrlP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ja-JP" altLang="en-US" sz="3400">
                    <a:solidFill>
                      <a:srgbClr val="FF0B0B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82" name="正方形/長方形 81">
                  <a:extLst>
                    <a:ext uri="{FF2B5EF4-FFF2-40B4-BE49-F238E27FC236}">
                      <a16:creationId xmlns:a16="http://schemas.microsoft.com/office/drawing/2014/main" id="{231EC8D0-D6A6-F1A6-D481-BD05665606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6910" y="1641483"/>
                  <a:ext cx="1558238" cy="1558238"/>
                </a:xfrm>
                <a:prstGeom prst="rect">
                  <a:avLst/>
                </a:prstGeom>
                <a:blipFill>
                  <a:blip r:embed="rId13"/>
                  <a:stretch>
                    <a:fillRect l="-32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テキスト ボックス 82">
                  <a:extLst>
                    <a:ext uri="{FF2B5EF4-FFF2-40B4-BE49-F238E27FC236}">
                      <a16:creationId xmlns:a16="http://schemas.microsoft.com/office/drawing/2014/main" id="{830AD712-0672-8FFE-185B-34204FD887A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428243" y="1033812"/>
                  <a:ext cx="1178015" cy="5734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l-GR" altLang="ja-JP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ja-JP" sz="3200" i="1" baseline="-250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sz="32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3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ja-JP" sz="3200" i="1" baseline="-2500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ja-JP" altLang="en-US" sz="3200" i="1" baseline="-250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83" name="テキスト ボックス 82">
                  <a:extLst>
                    <a:ext uri="{FF2B5EF4-FFF2-40B4-BE49-F238E27FC236}">
                      <a16:creationId xmlns:a16="http://schemas.microsoft.com/office/drawing/2014/main" id="{830AD712-0672-8FFE-185B-34204FD887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8243" y="1033812"/>
                  <a:ext cx="1178015" cy="573427"/>
                </a:xfrm>
                <a:prstGeom prst="rect">
                  <a:avLst/>
                </a:prstGeom>
                <a:blipFill>
                  <a:blip r:embed="rId14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26C8A292-C5BC-3F6D-202A-1E54A07FF6BE}"/>
                </a:ext>
              </a:extLst>
            </p:cNvPr>
            <p:cNvSpPr txBox="1">
              <a:spLocks/>
            </p:cNvSpPr>
            <p:nvPr/>
          </p:nvSpPr>
          <p:spPr>
            <a:xfrm>
              <a:off x="591439" y="5700951"/>
              <a:ext cx="26693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3200" dirty="0">
                  <a:highlight>
                    <a:srgbClr val="FFFFFF"/>
                  </a:highlight>
                  <a:latin typeface="Helvetica" pitchFamily="2" charset="0"/>
                </a:rPr>
                <a:t>Data Analysis</a:t>
              </a:r>
              <a:endParaRPr lang="ja-JP" altLang="en-US" sz="3200" baseline="-25000">
                <a:highlight>
                  <a:srgbClr val="FFFFFF"/>
                </a:highlight>
                <a:latin typeface="Helvetica" pitchFamily="2" charset="0"/>
              </a:endParaRPr>
            </a:p>
          </p:txBody>
        </p:sp>
        <p:sp>
          <p:nvSpPr>
            <p:cNvPr id="15" name="下矢印 14">
              <a:extLst>
                <a:ext uri="{FF2B5EF4-FFF2-40B4-BE49-F238E27FC236}">
                  <a16:creationId xmlns:a16="http://schemas.microsoft.com/office/drawing/2014/main" id="{2AE56FB8-02B2-A81F-BA58-A9B935B8CE48}"/>
                </a:ext>
              </a:extLst>
            </p:cNvPr>
            <p:cNvSpPr/>
            <p:nvPr/>
          </p:nvSpPr>
          <p:spPr>
            <a:xfrm>
              <a:off x="4610712" y="8230543"/>
              <a:ext cx="1513069" cy="457200"/>
            </a:xfrm>
            <a:prstGeom prst="downArrow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下矢印 15">
              <a:extLst>
                <a:ext uri="{FF2B5EF4-FFF2-40B4-BE49-F238E27FC236}">
                  <a16:creationId xmlns:a16="http://schemas.microsoft.com/office/drawing/2014/main" id="{B885730B-A77A-A7A7-AF79-CB27FF145BAE}"/>
                </a:ext>
              </a:extLst>
            </p:cNvPr>
            <p:cNvSpPr/>
            <p:nvPr/>
          </p:nvSpPr>
          <p:spPr>
            <a:xfrm>
              <a:off x="4610711" y="5385632"/>
              <a:ext cx="1513069" cy="457200"/>
            </a:xfrm>
            <a:prstGeom prst="downArrow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正方形/長方形 24">
                  <a:extLst>
                    <a:ext uri="{FF2B5EF4-FFF2-40B4-BE49-F238E27FC236}">
                      <a16:creationId xmlns:a16="http://schemas.microsoft.com/office/drawing/2014/main" id="{0F303F4C-CFD2-8081-AE9C-B06115B0899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470860" y="1641483"/>
                  <a:ext cx="1558238" cy="1558238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p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r>
                          <a:rPr lang="en-US" altLang="ja-JP" sz="3400">
                            <a:solidFill>
                              <a:srgbClr val="FF0B0B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ja-JP" sz="3400">
                            <a:solidFill>
                              <a:srgbClr val="FF0B0B"/>
                            </a:solidFill>
                            <a:latin typeface="Cambria Math" panose="02040503050406030204" pitchFamily="18" charset="0"/>
                          </a:rPr>
                          <m:t>tm</m:t>
                        </m:r>
                        <m:r>
                          <a:rPr lang="en-US" altLang="ja-JP" sz="3400">
                            <a:solidFill>
                              <a:srgbClr val="FF0B0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3400">
                    <a:solidFill>
                      <a:srgbClr val="FF0B0B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5" name="正方形/長方形 24">
                  <a:extLst>
                    <a:ext uri="{FF2B5EF4-FFF2-40B4-BE49-F238E27FC236}">
                      <a16:creationId xmlns:a16="http://schemas.microsoft.com/office/drawing/2014/main" id="{0F303F4C-CFD2-8081-AE9C-B06115B0899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0860" y="1641483"/>
                  <a:ext cx="1558238" cy="1558238"/>
                </a:xfrm>
                <a:prstGeom prst="rect">
                  <a:avLst/>
                </a:prstGeom>
                <a:blipFill>
                  <a:blip r:embed="rId15"/>
                  <a:stretch>
                    <a:fillRect l="-3200" r="-64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8613261F-7B71-8ADA-4872-436DB6FEF0F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282209" y="3752505"/>
                  <a:ext cx="1447640" cy="6278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ja-JP" sz="348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ja-JP" sz="3480" i="1" baseline="-2500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ja-JP" sz="3480" i="1" baseline="-2500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US" altLang="ja-JP" sz="348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ja-JP" altLang="en-US" sz="3480">
                    <a:highlight>
                      <a:srgbClr val="FFFFFF"/>
                    </a:highlight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8613261F-7B71-8ADA-4872-436DB6FEF0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2209" y="3752505"/>
                  <a:ext cx="1447640" cy="627864"/>
                </a:xfrm>
                <a:prstGeom prst="rect">
                  <a:avLst/>
                </a:prstGeom>
                <a:blipFill>
                  <a:blip r:embed="rId16"/>
                  <a:stretch>
                    <a:fillRect t="-1961" r="-4348" b="-2156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EB223664-FD41-D613-DF3A-85D1D77B2E6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336711" y="4404223"/>
                  <a:ext cx="1338636" cy="6278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ja-JP" sz="348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ja-JP" sz="3480" i="1" baseline="-2500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ja-JP" sz="3480" i="1" baseline="-2500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ja-JP" altLang="en-US" sz="3480">
                    <a:highlight>
                      <a:srgbClr val="FFFFFF"/>
                    </a:highlight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EB223664-FD41-D613-DF3A-85D1D77B2E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6711" y="4404223"/>
                  <a:ext cx="1338636" cy="627864"/>
                </a:xfrm>
                <a:prstGeom prst="rect">
                  <a:avLst/>
                </a:prstGeom>
                <a:blipFill>
                  <a:blip r:embed="rId17"/>
                  <a:stretch>
                    <a:fillRect b="-22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1D60B553-B9EC-A062-25B8-43A68123FEC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431403" y="3752505"/>
                  <a:ext cx="1447640" cy="6278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ja-JP" sz="348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ja-JP" sz="3480" i="1" baseline="-2500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ja-JP" sz="3480" i="1" baseline="-2500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r>
                          <a:rPr lang="en-US" altLang="ja-JP" sz="348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ja-JP" altLang="en-US" sz="3480">
                    <a:highlight>
                      <a:srgbClr val="FFFFFF"/>
                    </a:highlight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1D60B553-B9EC-A062-25B8-43A68123FE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1403" y="3752505"/>
                  <a:ext cx="1447640" cy="627864"/>
                </a:xfrm>
                <a:prstGeom prst="rect">
                  <a:avLst/>
                </a:prstGeom>
                <a:blipFill>
                  <a:blip r:embed="rId18"/>
                  <a:stretch>
                    <a:fillRect t="-1961" r="-4348" b="-2156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0D5741CA-EA93-C492-6EAE-83048978DCD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485905" y="4404223"/>
                  <a:ext cx="1338636" cy="6278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ja-JP" sz="348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ja-JP" sz="3480" i="1" baseline="-2500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ja-JP" sz="3480" i="1" baseline="-2500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oMath>
                    </m:oMathPara>
                  </a14:m>
                  <a:endParaRPr lang="ja-JP" altLang="en-US" sz="3480">
                    <a:highlight>
                      <a:srgbClr val="FFFFFF"/>
                    </a:highlight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0D5741CA-EA93-C492-6EAE-83048978DC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5905" y="4404223"/>
                  <a:ext cx="1338636" cy="627864"/>
                </a:xfrm>
                <a:prstGeom prst="rect">
                  <a:avLst/>
                </a:prstGeom>
                <a:blipFill>
                  <a:blip r:embed="rId19"/>
                  <a:stretch>
                    <a:fillRect b="-22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8AB4225F-0A7B-64D5-6805-156F0DE8C3D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485283" y="3752505"/>
                  <a:ext cx="1529393" cy="6278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ja-JP" sz="348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ja-JP" sz="3480" i="1" baseline="-2500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ja-JP" sz="3480" i="1" baseline="-2500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altLang="ja-JP" sz="348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ja-JP" altLang="en-US" sz="3480">
                    <a:highlight>
                      <a:srgbClr val="FFFFFF"/>
                    </a:highlight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8AB4225F-0A7B-64D5-6805-156F0DE8C3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5283" y="3752505"/>
                  <a:ext cx="1529393" cy="627864"/>
                </a:xfrm>
                <a:prstGeom prst="rect">
                  <a:avLst/>
                </a:prstGeom>
                <a:blipFill>
                  <a:blip r:embed="rId20"/>
                  <a:stretch>
                    <a:fillRect t="-1961" r="-4132" b="-2156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テキスト ボックス 38">
                  <a:extLst>
                    <a:ext uri="{FF2B5EF4-FFF2-40B4-BE49-F238E27FC236}">
                      <a16:creationId xmlns:a16="http://schemas.microsoft.com/office/drawing/2014/main" id="{A2F2463D-E67A-968C-F529-286E6EAF74A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539785" y="4404223"/>
                  <a:ext cx="1420389" cy="6278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ja-JP" sz="348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ja-JP" sz="3480" i="1" baseline="-2500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ja-JP" sz="3480" i="1" baseline="-2500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oMath>
                    </m:oMathPara>
                  </a14:m>
                  <a:endParaRPr lang="ja-JP" altLang="en-US" sz="3480">
                    <a:highlight>
                      <a:srgbClr val="FFFFFF"/>
                    </a:highlight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9" name="テキスト ボックス 38">
                  <a:extLst>
                    <a:ext uri="{FF2B5EF4-FFF2-40B4-BE49-F238E27FC236}">
                      <a16:creationId xmlns:a16="http://schemas.microsoft.com/office/drawing/2014/main" id="{A2F2463D-E67A-968C-F529-286E6EAF74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9785" y="4404223"/>
                  <a:ext cx="1420389" cy="627864"/>
                </a:xfrm>
                <a:prstGeom prst="rect">
                  <a:avLst/>
                </a:prstGeom>
                <a:blipFill>
                  <a:blip r:embed="rId21"/>
                  <a:stretch>
                    <a:fillRect b="-18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A1D44C50-3A5C-4120-C717-A4DE4765789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603267" y="1033812"/>
                  <a:ext cx="1389163" cy="5734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l-GR" altLang="ja-JP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ja-JP" sz="3200" i="1" baseline="-2500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32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3200" i="1">
                            <a:latin typeface="Cambria Math" panose="02040503050406030204" pitchFamily="18" charset="0"/>
                          </a:rPr>
                          <m:t>𝑡𝑚</m:t>
                        </m:r>
                      </m:oMath>
                    </m:oMathPara>
                  </a14:m>
                  <a:endParaRPr lang="ja-JP" altLang="en-US" sz="3200" i="1" baseline="-250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A1D44C50-3A5C-4120-C717-A4DE476578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3267" y="1033812"/>
                  <a:ext cx="1389163" cy="573427"/>
                </a:xfrm>
                <a:prstGeom prst="rect">
                  <a:avLst/>
                </a:prstGeom>
                <a:blipFill>
                  <a:blip r:embed="rId22"/>
                  <a:stretch>
                    <a:fillRect b="-217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9922E613-B856-E3FC-C0E4-A6A2D4D1B60D}"/>
                </a:ext>
              </a:extLst>
            </p:cNvPr>
            <p:cNvSpPr txBox="1">
              <a:spLocks/>
            </p:cNvSpPr>
            <p:nvPr/>
          </p:nvSpPr>
          <p:spPr>
            <a:xfrm>
              <a:off x="7367413" y="3889564"/>
              <a:ext cx="67037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4400" dirty="0"/>
                <a:t>...</a:t>
              </a:r>
              <a:endParaRPr lang="ja-JP" altLang="en-US" sz="4400"/>
            </a:p>
          </p:txBody>
        </p:sp>
      </p:grpSp>
    </p:spTree>
    <p:extLst>
      <p:ext uri="{BB962C8B-B14F-4D97-AF65-F5344CB8AC3E}">
        <p14:creationId xmlns:p14="http://schemas.microsoft.com/office/powerpoint/2010/main" val="3871975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293F8-7A43-F94C-A3AE-87A0D18DB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" name="グループ化 278">
            <a:extLst>
              <a:ext uri="{FF2B5EF4-FFF2-40B4-BE49-F238E27FC236}">
                <a16:creationId xmlns:a16="http://schemas.microsoft.com/office/drawing/2014/main" id="{73080A32-EB80-D076-7E3E-636DEB33DE73}"/>
              </a:ext>
            </a:extLst>
          </p:cNvPr>
          <p:cNvGrpSpPr/>
          <p:nvPr/>
        </p:nvGrpSpPr>
        <p:grpSpPr>
          <a:xfrm>
            <a:off x="870293" y="1023267"/>
            <a:ext cx="19784494" cy="8765801"/>
            <a:chOff x="870293" y="1023267"/>
            <a:chExt cx="19784494" cy="8765801"/>
          </a:xfrm>
        </p:grpSpPr>
        <p:sp>
          <p:nvSpPr>
            <p:cNvPr id="112" name="右中かっこ 111">
              <a:extLst>
                <a:ext uri="{FF2B5EF4-FFF2-40B4-BE49-F238E27FC236}">
                  <a16:creationId xmlns:a16="http://schemas.microsoft.com/office/drawing/2014/main" id="{798C0950-51BE-FC89-EF9A-DC3F8AC26B73}"/>
                </a:ext>
              </a:extLst>
            </p:cNvPr>
            <p:cNvSpPr/>
            <p:nvPr/>
          </p:nvSpPr>
          <p:spPr>
            <a:xfrm rot="5400000">
              <a:off x="12571222" y="7225719"/>
              <a:ext cx="540654" cy="2790378"/>
            </a:xfrm>
            <a:prstGeom prst="rightBrace">
              <a:avLst/>
            </a:prstGeom>
            <a:ln w="25400" cap="rnd">
              <a:solidFill>
                <a:schemeClr val="tx1"/>
              </a:solidFill>
              <a:round/>
              <a:headEnd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35" name="グループ化 234">
              <a:extLst>
                <a:ext uri="{FF2B5EF4-FFF2-40B4-BE49-F238E27FC236}">
                  <a16:creationId xmlns:a16="http://schemas.microsoft.com/office/drawing/2014/main" id="{C38871DD-F29D-642B-2E11-CFF99D61CC05}"/>
                </a:ext>
              </a:extLst>
            </p:cNvPr>
            <p:cNvGrpSpPr/>
            <p:nvPr/>
          </p:nvGrpSpPr>
          <p:grpSpPr>
            <a:xfrm>
              <a:off x="11305797" y="1943196"/>
              <a:ext cx="2790378" cy="7719001"/>
              <a:chOff x="11446360" y="1943196"/>
              <a:chExt cx="2790378" cy="7719001"/>
            </a:xfrm>
          </p:grpSpPr>
          <p:grpSp>
            <p:nvGrpSpPr>
              <p:cNvPr id="229" name="グループ化 228">
                <a:extLst>
                  <a:ext uri="{FF2B5EF4-FFF2-40B4-BE49-F238E27FC236}">
                    <a16:creationId xmlns:a16="http://schemas.microsoft.com/office/drawing/2014/main" id="{935E5B98-089B-5409-5187-F186CD8DEEB4}"/>
                  </a:ext>
                </a:extLst>
              </p:cNvPr>
              <p:cNvGrpSpPr/>
              <p:nvPr/>
            </p:nvGrpSpPr>
            <p:grpSpPr>
              <a:xfrm>
                <a:off x="11446360" y="1943196"/>
                <a:ext cx="2790378" cy="3637495"/>
                <a:chOff x="11446360" y="1475366"/>
                <a:chExt cx="2790378" cy="3637495"/>
              </a:xfrm>
            </p:grpSpPr>
            <p:grpSp>
              <p:nvGrpSpPr>
                <p:cNvPr id="60" name="グループ化 59">
                  <a:extLst>
                    <a:ext uri="{FF2B5EF4-FFF2-40B4-BE49-F238E27FC236}">
                      <a16:creationId xmlns:a16="http://schemas.microsoft.com/office/drawing/2014/main" id="{04BD75FA-27C6-7461-0BAF-1DE7673D1EA9}"/>
                    </a:ext>
                  </a:extLst>
                </p:cNvPr>
                <p:cNvGrpSpPr/>
                <p:nvPr/>
              </p:nvGrpSpPr>
              <p:grpSpPr>
                <a:xfrm rot="5400000">
                  <a:off x="11664349" y="1475366"/>
                  <a:ext cx="2354400" cy="2354400"/>
                  <a:chOff x="11687241" y="1598899"/>
                  <a:chExt cx="2354400" cy="2354400"/>
                </a:xfrm>
              </p:grpSpPr>
              <p:sp>
                <p:nvSpPr>
                  <p:cNvPr id="48" name="正方形/長方形 47">
                    <a:extLst>
                      <a:ext uri="{FF2B5EF4-FFF2-40B4-BE49-F238E27FC236}">
                        <a16:creationId xmlns:a16="http://schemas.microsoft.com/office/drawing/2014/main" id="{BCA67D3B-057A-9F44-1124-6A0C1ECDAD3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687241" y="15988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54" name="正方形/長方形 53">
                    <a:extLst>
                      <a:ext uri="{FF2B5EF4-FFF2-40B4-BE49-F238E27FC236}">
                        <a16:creationId xmlns:a16="http://schemas.microsoft.com/office/drawing/2014/main" id="{5AF16080-C356-FAFA-F9D6-50DECF07C939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839641" y="17512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55" name="正方形/長方形 54">
                    <a:extLst>
                      <a:ext uri="{FF2B5EF4-FFF2-40B4-BE49-F238E27FC236}">
                        <a16:creationId xmlns:a16="http://schemas.microsoft.com/office/drawing/2014/main" id="{90AE01D1-99E8-5CA2-C7DF-82AE626F832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992041" y="19036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56" name="正方形/長方形 55">
                    <a:extLst>
                      <a:ext uri="{FF2B5EF4-FFF2-40B4-BE49-F238E27FC236}">
                        <a16:creationId xmlns:a16="http://schemas.microsoft.com/office/drawing/2014/main" id="{21996521-935F-5C43-F991-7AFD082EF8E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144441" y="20560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57" name="正方形/長方形 56">
                    <a:extLst>
                      <a:ext uri="{FF2B5EF4-FFF2-40B4-BE49-F238E27FC236}">
                        <a16:creationId xmlns:a16="http://schemas.microsoft.com/office/drawing/2014/main" id="{16919BC6-8A4C-539E-7B88-8BBCF066D6C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296841" y="22084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58" name="正方形/長方形 57">
                    <a:extLst>
                      <a:ext uri="{FF2B5EF4-FFF2-40B4-BE49-F238E27FC236}">
                        <a16:creationId xmlns:a16="http://schemas.microsoft.com/office/drawing/2014/main" id="{76F34106-A892-8F0D-2D26-76BC3BADFCA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449241" y="23608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9" name="正方形/長方形 58">
                        <a:extLst>
                          <a:ext uri="{FF2B5EF4-FFF2-40B4-BE49-F238E27FC236}">
                            <a16:creationId xmlns:a16="http://schemas.microsoft.com/office/drawing/2014/main" id="{7BA0D18C-6627-BDA1-9B9C-6B9B9AF14FC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 rot="16200000">
                        <a:off x="12601641" y="2513299"/>
                        <a:ext cx="1440000" cy="1440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bSup>
                                <m:sSubSupPr>
                                  <m:ctrlPr>
                                    <a:rPr lang="en-US" altLang="ja-JP" sz="3400" i="1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ja-JP" sz="3400" i="1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ja-JP" sz="3400" i="1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corr</m:t>
                                  </m:r>
                                </m:sub>
                                <m:sup>
                                  <m:r>
                                    <a:rPr lang="en-US" altLang="ja-JP" sz="3400" i="1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++</m:t>
                                  </m:r>
                                </m:sup>
                              </m:sSubSup>
                            </m:oMath>
                          </m:oMathPara>
                        </a14:m>
                        <a:endParaRPr kumimoji="1" lang="ja-JP" altLang="en-US" sz="3400">
                          <a:solidFill>
                            <a:srgbClr val="0404FF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59" name="正方形/長方形 58">
                        <a:extLst>
                          <a:ext uri="{FF2B5EF4-FFF2-40B4-BE49-F238E27FC236}">
                            <a16:creationId xmlns:a16="http://schemas.microsoft.com/office/drawing/2014/main" id="{7BA0D18C-6627-BDA1-9B9C-6B9B9AF14FC4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16200000">
                        <a:off x="12601641" y="2513299"/>
                        <a:ext cx="1440000" cy="1440000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78" name="右中かっこ 77">
                  <a:extLst>
                    <a:ext uri="{FF2B5EF4-FFF2-40B4-BE49-F238E27FC236}">
                      <a16:creationId xmlns:a16="http://schemas.microsoft.com/office/drawing/2014/main" id="{0168F43E-A504-5A6B-550F-0B62642AA19F}"/>
                    </a:ext>
                  </a:extLst>
                </p:cNvPr>
                <p:cNvSpPr/>
                <p:nvPr/>
              </p:nvSpPr>
              <p:spPr>
                <a:xfrm rot="5400000">
                  <a:off x="12571222" y="2723527"/>
                  <a:ext cx="540654" cy="2790378"/>
                </a:xfrm>
                <a:prstGeom prst="rightBrace">
                  <a:avLst/>
                </a:prstGeom>
                <a:ln w="25400" cap="rnd">
                  <a:solidFill>
                    <a:schemeClr val="tx1"/>
                  </a:solidFill>
                  <a:round/>
                  <a:headEnd w="med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7" name="テキスト ボックス 86">
                      <a:extLst>
                        <a:ext uri="{FF2B5EF4-FFF2-40B4-BE49-F238E27FC236}">
                          <a16:creationId xmlns:a16="http://schemas.microsoft.com/office/drawing/2014/main" id="{0239F935-8688-1E75-996D-7706D2DA707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930305" y="4497308"/>
                      <a:ext cx="1972271" cy="61555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Sup>
                              <m:sSubSupPr>
                                <m:ctrlP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corr</m:t>
                                </m:r>
                              </m:sub>
                              <m:sup>
                                <m: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oMath>
                        </m:oMathPara>
                      </a14:m>
                      <a:endParaRPr kumimoji="1" lang="ja-JP" altLang="en-US" sz="3400">
                        <a:solidFill>
                          <a:srgbClr val="0404FF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7" name="テキスト ボックス 86">
                      <a:extLst>
                        <a:ext uri="{FF2B5EF4-FFF2-40B4-BE49-F238E27FC236}">
                          <a16:creationId xmlns:a16="http://schemas.microsoft.com/office/drawing/2014/main" id="{0239F935-8688-1E75-996D-7706D2DA707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930305" y="4497308"/>
                      <a:ext cx="1972271" cy="615553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64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32" name="グループ化 231">
                <a:extLst>
                  <a:ext uri="{FF2B5EF4-FFF2-40B4-BE49-F238E27FC236}">
                    <a16:creationId xmlns:a16="http://schemas.microsoft.com/office/drawing/2014/main" id="{90DF0134-295E-04E5-386E-33FB836547CA}"/>
                  </a:ext>
                </a:extLst>
              </p:cNvPr>
              <p:cNvGrpSpPr/>
              <p:nvPr/>
            </p:nvGrpSpPr>
            <p:grpSpPr>
              <a:xfrm>
                <a:off x="11664349" y="5977558"/>
                <a:ext cx="2354400" cy="3684639"/>
                <a:chOff x="11664349" y="5977558"/>
                <a:chExt cx="2354400" cy="3684639"/>
              </a:xfrm>
            </p:grpSpPr>
            <p:grpSp>
              <p:nvGrpSpPr>
                <p:cNvPr id="111" name="グループ化 110">
                  <a:extLst>
                    <a:ext uri="{FF2B5EF4-FFF2-40B4-BE49-F238E27FC236}">
                      <a16:creationId xmlns:a16="http://schemas.microsoft.com/office/drawing/2014/main" id="{43CB884B-42B6-42D6-5F19-4297AC5A5D63}"/>
                    </a:ext>
                  </a:extLst>
                </p:cNvPr>
                <p:cNvGrpSpPr/>
                <p:nvPr/>
              </p:nvGrpSpPr>
              <p:grpSpPr>
                <a:xfrm rot="5400000">
                  <a:off x="11664349" y="5977558"/>
                  <a:ext cx="2354400" cy="2354400"/>
                  <a:chOff x="11687241" y="1598899"/>
                  <a:chExt cx="2354400" cy="2354400"/>
                </a:xfrm>
              </p:grpSpPr>
              <p:sp>
                <p:nvSpPr>
                  <p:cNvPr id="114" name="正方形/長方形 113">
                    <a:extLst>
                      <a:ext uri="{FF2B5EF4-FFF2-40B4-BE49-F238E27FC236}">
                        <a16:creationId xmlns:a16="http://schemas.microsoft.com/office/drawing/2014/main" id="{720725E5-D9F4-7C7A-BCF0-F2715710487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687241" y="15988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15" name="正方形/長方形 114">
                    <a:extLst>
                      <a:ext uri="{FF2B5EF4-FFF2-40B4-BE49-F238E27FC236}">
                        <a16:creationId xmlns:a16="http://schemas.microsoft.com/office/drawing/2014/main" id="{D66C08CF-3690-8CAE-42CA-79A4B5194BA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839641" y="17512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16" name="正方形/長方形 115">
                    <a:extLst>
                      <a:ext uri="{FF2B5EF4-FFF2-40B4-BE49-F238E27FC236}">
                        <a16:creationId xmlns:a16="http://schemas.microsoft.com/office/drawing/2014/main" id="{742A02D7-F196-4348-E480-8B7E23E15A7D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992041" y="19036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17" name="正方形/長方形 116">
                    <a:extLst>
                      <a:ext uri="{FF2B5EF4-FFF2-40B4-BE49-F238E27FC236}">
                        <a16:creationId xmlns:a16="http://schemas.microsoft.com/office/drawing/2014/main" id="{B6DBCED0-B1FC-8468-A00D-5CD1E6FBC57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144441" y="20560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18" name="正方形/長方形 117">
                    <a:extLst>
                      <a:ext uri="{FF2B5EF4-FFF2-40B4-BE49-F238E27FC236}">
                        <a16:creationId xmlns:a16="http://schemas.microsoft.com/office/drawing/2014/main" id="{44305254-F5C2-64BE-61E7-F96F1DBE4BB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296841" y="22084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19" name="正方形/長方形 118">
                    <a:extLst>
                      <a:ext uri="{FF2B5EF4-FFF2-40B4-BE49-F238E27FC236}">
                        <a16:creationId xmlns:a16="http://schemas.microsoft.com/office/drawing/2014/main" id="{151BD224-AFE2-6E98-E42E-B3ADE8E48E3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449241" y="23608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20" name="正方形/長方形 119">
                        <a:extLst>
                          <a:ext uri="{FF2B5EF4-FFF2-40B4-BE49-F238E27FC236}">
                            <a16:creationId xmlns:a16="http://schemas.microsoft.com/office/drawing/2014/main" id="{E8C14B6D-047F-AB5F-B45D-0EBFCCBAFFC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 rot="16200000">
                        <a:off x="12601641" y="2513299"/>
                        <a:ext cx="1440000" cy="1440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just"/>
                        <a14:m>
                          <m:oMathPara xmlns:m="http://schemas.openxmlformats.org/officeDocument/2006/math">
                            <m:oMath>
                              <m:sSubSup>
                                <m:sSubSupPr>
                                  <m:ctrlPr>
                                    <a:rPr lang="en-US" altLang="ja-JP" sz="34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ja-JP" sz="34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ja-JP" sz="34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corr</m:t>
                                  </m:r>
                                </m:sub>
                                <m:sup>
                                  <m:r>
                                    <a:rPr lang="en-US" altLang="ja-JP" sz="34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+−</m:t>
                                  </m:r>
                                </m:sup>
                              </m:sSubSup>
                              <m:r>
                                <a:rPr lang="en-US" altLang="ja-JP" sz="3400" i="1">
                                  <a:solidFill>
                                    <a:srgbClr val="FF0B0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m:oMathPara>
                        </a14:m>
                        <a:endParaRPr kumimoji="1" lang="ja-JP" altLang="en-US" sz="3400">
                          <a:solidFill>
                            <a:srgbClr val="FF0B0B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20" name="正方形/長方形 119">
                        <a:extLst>
                          <a:ext uri="{FF2B5EF4-FFF2-40B4-BE49-F238E27FC236}">
                            <a16:creationId xmlns:a16="http://schemas.microsoft.com/office/drawing/2014/main" id="{E8C14B6D-047F-AB5F-B45D-0EBFCCBAFFC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16200000">
                        <a:off x="12601641" y="2513299"/>
                        <a:ext cx="1440000" cy="1440000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3" name="テキスト ボックス 112">
                      <a:extLst>
                        <a:ext uri="{FF2B5EF4-FFF2-40B4-BE49-F238E27FC236}">
                          <a16:creationId xmlns:a16="http://schemas.microsoft.com/office/drawing/2014/main" id="{9744713C-A5FC-6316-0A3E-842AE651E85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930305" y="9046644"/>
                      <a:ext cx="2068450" cy="61555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Sup>
                              <m:sSubSupPr>
                                <m:ctrlP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corr</m:t>
                                </m:r>
                              </m:sub>
                              <m:sup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+−</m:t>
                                </m:r>
                              </m:sup>
                            </m:sSubSup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oMath>
                        </m:oMathPara>
                      </a14:m>
                      <a:endParaRPr kumimoji="1" lang="ja-JP" altLang="en-US" sz="3400">
                        <a:solidFill>
                          <a:srgbClr val="FF0B0B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13" name="テキスト ボックス 112">
                      <a:extLst>
                        <a:ext uri="{FF2B5EF4-FFF2-40B4-BE49-F238E27FC236}">
                          <a16:creationId xmlns:a16="http://schemas.microsoft.com/office/drawing/2014/main" id="{9744713C-A5FC-6316-0A3E-842AE651E85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930305" y="9046644"/>
                      <a:ext cx="2068450" cy="615553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610" b="-244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33" name="グループ化 132">
              <a:extLst>
                <a:ext uri="{FF2B5EF4-FFF2-40B4-BE49-F238E27FC236}">
                  <a16:creationId xmlns:a16="http://schemas.microsoft.com/office/drawing/2014/main" id="{811A34B3-694D-7D10-20E7-653B6A16C501}"/>
                </a:ext>
              </a:extLst>
            </p:cNvPr>
            <p:cNvGrpSpPr/>
            <p:nvPr/>
          </p:nvGrpSpPr>
          <p:grpSpPr>
            <a:xfrm>
              <a:off x="8693430" y="3241663"/>
              <a:ext cx="2666559" cy="4215326"/>
              <a:chOff x="7787627" y="3154448"/>
              <a:chExt cx="2666559" cy="4215326"/>
            </a:xfrm>
          </p:grpSpPr>
          <p:sp>
            <p:nvSpPr>
              <p:cNvPr id="129" name="右矢印 128">
                <a:extLst>
                  <a:ext uri="{FF2B5EF4-FFF2-40B4-BE49-F238E27FC236}">
                    <a16:creationId xmlns:a16="http://schemas.microsoft.com/office/drawing/2014/main" id="{ACB9764E-630E-C4CF-57CB-EBE68AC8C378}"/>
                  </a:ext>
                </a:extLst>
              </p:cNvPr>
              <p:cNvSpPr/>
              <p:nvPr/>
            </p:nvSpPr>
            <p:spPr>
              <a:xfrm>
                <a:off x="8214641" y="3154448"/>
                <a:ext cx="1812530" cy="4215326"/>
              </a:xfrm>
              <a:prstGeom prst="rightArrow">
                <a:avLst>
                  <a:gd name="adj1" fmla="val 55227"/>
                  <a:gd name="adj2" fmla="val 10000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1" name="テキスト ボックス 130">
                <a:extLst>
                  <a:ext uri="{FF2B5EF4-FFF2-40B4-BE49-F238E27FC236}">
                    <a16:creationId xmlns:a16="http://schemas.microsoft.com/office/drawing/2014/main" id="{79FA792B-293F-C06D-1242-2C4E0531C760}"/>
                  </a:ext>
                </a:extLst>
              </p:cNvPr>
              <p:cNvSpPr txBox="1"/>
              <p:nvPr/>
            </p:nvSpPr>
            <p:spPr>
              <a:xfrm>
                <a:off x="7787627" y="4391946"/>
                <a:ext cx="2666559" cy="1661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3400" dirty="0">
                    <a:latin typeface="Helvetica" pitchFamily="2" charset="0"/>
                  </a:rPr>
                  <a:t>Time Dependent Correction</a:t>
                </a:r>
                <a:endParaRPr kumimoji="1" lang="ja-JP" altLang="en-US" sz="3400">
                  <a:latin typeface="Helvetica" pitchFamily="2" charset="0"/>
                </a:endParaRPr>
              </a:p>
            </p:txBody>
          </p:sp>
        </p:grpSp>
        <p:grpSp>
          <p:nvGrpSpPr>
            <p:cNvPr id="134" name="グループ化 133">
              <a:extLst>
                <a:ext uri="{FF2B5EF4-FFF2-40B4-BE49-F238E27FC236}">
                  <a16:creationId xmlns:a16="http://schemas.microsoft.com/office/drawing/2014/main" id="{70798CF3-0923-687C-A750-574396A515A5}"/>
                </a:ext>
              </a:extLst>
            </p:cNvPr>
            <p:cNvGrpSpPr/>
            <p:nvPr/>
          </p:nvGrpSpPr>
          <p:grpSpPr>
            <a:xfrm>
              <a:off x="14041983" y="3220166"/>
              <a:ext cx="2666559" cy="4215326"/>
              <a:chOff x="7787627" y="3154448"/>
              <a:chExt cx="2666559" cy="4215326"/>
            </a:xfrm>
          </p:grpSpPr>
          <p:sp>
            <p:nvSpPr>
              <p:cNvPr id="135" name="右矢印 134">
                <a:extLst>
                  <a:ext uri="{FF2B5EF4-FFF2-40B4-BE49-F238E27FC236}">
                    <a16:creationId xmlns:a16="http://schemas.microsoft.com/office/drawing/2014/main" id="{DA34C36D-2B10-5215-FE21-E5B488B3F971}"/>
                  </a:ext>
                </a:extLst>
              </p:cNvPr>
              <p:cNvSpPr/>
              <p:nvPr/>
            </p:nvSpPr>
            <p:spPr>
              <a:xfrm>
                <a:off x="8214641" y="3154448"/>
                <a:ext cx="1812530" cy="4215326"/>
              </a:xfrm>
              <a:prstGeom prst="rightArrow">
                <a:avLst>
                  <a:gd name="adj1" fmla="val 55227"/>
                  <a:gd name="adj2" fmla="val 10000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6" name="テキスト ボックス 135">
                <a:extLst>
                  <a:ext uri="{FF2B5EF4-FFF2-40B4-BE49-F238E27FC236}">
                    <a16:creationId xmlns:a16="http://schemas.microsoft.com/office/drawing/2014/main" id="{DA4AFFCE-1AF9-68D2-47EF-FB2D7887653D}"/>
                  </a:ext>
                </a:extLst>
              </p:cNvPr>
              <p:cNvSpPr txBox="1"/>
              <p:nvPr/>
            </p:nvSpPr>
            <p:spPr>
              <a:xfrm>
                <a:off x="7787627" y="4391946"/>
                <a:ext cx="2666559" cy="1661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3400" dirty="0">
                    <a:latin typeface="Helvetica" pitchFamily="2" charset="0"/>
                  </a:rPr>
                  <a:t>Map to</a:t>
                </a:r>
                <a:br>
                  <a:rPr kumimoji="1" lang="en-US" altLang="ja-JP" sz="3400" dirty="0">
                    <a:latin typeface="Helvetica" pitchFamily="2" charset="0"/>
                  </a:rPr>
                </a:br>
                <a:r>
                  <a:rPr kumimoji="1" lang="en-US" altLang="ja-JP" sz="3400" dirty="0">
                    <a:latin typeface="Helvetica" pitchFamily="2" charset="0"/>
                  </a:rPr>
                  <a:t>Reciprocal</a:t>
                </a:r>
                <a:br>
                  <a:rPr kumimoji="1" lang="en-US" altLang="ja-JP" sz="3400" dirty="0">
                    <a:latin typeface="Helvetica" pitchFamily="2" charset="0"/>
                  </a:rPr>
                </a:br>
                <a:r>
                  <a:rPr kumimoji="1" lang="en-US" altLang="ja-JP" sz="3400" dirty="0">
                    <a:latin typeface="Helvetica" pitchFamily="2" charset="0"/>
                  </a:rPr>
                  <a:t>Space</a:t>
                </a:r>
                <a:endParaRPr kumimoji="1" lang="ja-JP" altLang="en-US" sz="3400">
                  <a:latin typeface="Helvetica" pitchFamily="2" charset="0"/>
                </a:endParaRPr>
              </a:p>
            </p:txBody>
          </p:sp>
        </p:grpSp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4CDA5838-E6FE-F09C-57C2-1D0E37173082}"/>
                </a:ext>
              </a:extLst>
            </p:cNvPr>
            <p:cNvSpPr/>
            <p:nvPr/>
          </p:nvSpPr>
          <p:spPr>
            <a:xfrm>
              <a:off x="1607791" y="2136751"/>
              <a:ext cx="3472516" cy="7166858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29597"/>
              </a:schemeClr>
            </a:soli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E1D29C00-529C-A8F1-3FB9-14F14CE4A624}"/>
                </a:ext>
              </a:extLst>
            </p:cNvPr>
            <p:cNvSpPr/>
            <p:nvPr/>
          </p:nvSpPr>
          <p:spPr>
            <a:xfrm>
              <a:off x="5197535" y="2109969"/>
              <a:ext cx="3472516" cy="7193636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29597"/>
              </a:schemeClr>
            </a:soli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20EFFE90-545C-140D-F372-3AD0417B15D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rot="16200000">
                  <a:off x="911278" y="2694223"/>
                  <a:ext cx="92685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Y</m:t>
                      </m:r>
                    </m:oMath>
                  </a14:m>
                  <a:r>
                    <a:rPr lang="en-US" altLang="ja-JP" sz="3200" baseline="-25000" dirty="0">
                      <a:latin typeface="Helvetica" pitchFamily="2" charset="0"/>
                    </a:rPr>
                    <a:t> </a:t>
                  </a:r>
                  <a:r>
                    <a:rPr lang="en-US" altLang="ja-JP" sz="3200" dirty="0" err="1">
                      <a:latin typeface="Helvetica" pitchFamily="2" charset="0"/>
                    </a:rPr>
                    <a:t>ch</a:t>
                  </a:r>
                  <a:endParaRPr lang="ja-JP" altLang="en-US" sz="32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20EFFE90-545C-140D-F372-3AD0417B15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911278" y="2694223"/>
                  <a:ext cx="926857" cy="584775"/>
                </a:xfrm>
                <a:prstGeom prst="rect">
                  <a:avLst/>
                </a:prstGeom>
                <a:blipFill>
                  <a:blip r:embed="rId7"/>
                  <a:stretch>
                    <a:fillRect l="-12766" t="-14865" r="-31915" b="-540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正方形/長方形 2">
                  <a:extLst>
                    <a:ext uri="{FF2B5EF4-FFF2-40B4-BE49-F238E27FC236}">
                      <a16:creationId xmlns:a16="http://schemas.microsoft.com/office/drawing/2014/main" id="{905705C6-5BB6-D2A1-0432-393DFC28DBA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667093" y="2176610"/>
                  <a:ext cx="1620000" cy="162000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sSubSupPr>
                            <m:ctrlP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obs</m:t>
                            </m:r>
                          </m:sub>
                          <m:sup>
                            <m: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bSup>
                      </m:oMath>
                    </m:oMathPara>
                  </a14:m>
                  <a:endParaRPr lang="en-US" altLang="ja-JP" sz="3400" b="0" i="1" dirty="0">
                    <a:solidFill>
                      <a:srgbClr val="0404FF"/>
                    </a:solidFill>
                    <a:latin typeface="Cambria Math" panose="02040503050406030204" pitchFamily="18" charset="0"/>
                  </a:endParaRPr>
                </a:p>
                <a:p>
                  <a:pPr algn="just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altLang="ja-JP" sz="3400" b="0" i="1" smtClean="0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3400" b="0" i="1" smtClean="0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3400" b="0" i="1" smtClean="0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3400">
                    <a:solidFill>
                      <a:srgbClr val="0404FF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" name="正方形/長方形 2">
                  <a:extLst>
                    <a:ext uri="{FF2B5EF4-FFF2-40B4-BE49-F238E27FC236}">
                      <a16:creationId xmlns:a16="http://schemas.microsoft.com/office/drawing/2014/main" id="{905705C6-5BB6-D2A1-0432-393DFC28DBA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7093" y="2176610"/>
                  <a:ext cx="1620000" cy="1620000"/>
                </a:xfrm>
                <a:prstGeom prst="rect">
                  <a:avLst/>
                </a:prstGeom>
                <a:blipFill>
                  <a:blip r:embed="rId8"/>
                  <a:stretch>
                    <a:fillRect l="-4615" r="-461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テキスト ボックス 31">
                  <a:extLst>
                    <a:ext uri="{FF2B5EF4-FFF2-40B4-BE49-F238E27FC236}">
                      <a16:creationId xmlns:a16="http://schemas.microsoft.com/office/drawing/2014/main" id="{652B4F24-4D53-4A58-DA9B-077A55D8E93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013665" y="3736701"/>
                  <a:ext cx="92685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</m:oMath>
                  </a14:m>
                  <a:r>
                    <a:rPr lang="en-US" altLang="ja-JP" sz="3200" baseline="-25000" dirty="0">
                      <a:latin typeface="Helvetica" pitchFamily="2" charset="0"/>
                    </a:rPr>
                    <a:t> </a:t>
                  </a:r>
                  <a:r>
                    <a:rPr lang="en-US" altLang="ja-JP" sz="3200" dirty="0" err="1">
                      <a:latin typeface="Helvetica" pitchFamily="2" charset="0"/>
                    </a:rPr>
                    <a:t>ch</a:t>
                  </a:r>
                  <a:endParaRPr lang="ja-JP" altLang="en-US" sz="3200" baseline="-250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2" name="テキスト ボックス 31">
                  <a:extLst>
                    <a:ext uri="{FF2B5EF4-FFF2-40B4-BE49-F238E27FC236}">
                      <a16:creationId xmlns:a16="http://schemas.microsoft.com/office/drawing/2014/main" id="{652B4F24-4D53-4A58-DA9B-077A55D8E9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3665" y="3736701"/>
                  <a:ext cx="926857" cy="584775"/>
                </a:xfrm>
                <a:prstGeom prst="rect">
                  <a:avLst/>
                </a:prstGeom>
                <a:blipFill>
                  <a:blip r:embed="rId9"/>
                  <a:stretch>
                    <a:fillRect l="-4054" t="-12766" r="-14865" b="-340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正方形/長方形 81">
                  <a:extLst>
                    <a:ext uri="{FF2B5EF4-FFF2-40B4-BE49-F238E27FC236}">
                      <a16:creationId xmlns:a16="http://schemas.microsoft.com/office/drawing/2014/main" id="{2A2647DC-AEDF-590D-799F-085F69DB350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441645" y="4192374"/>
                  <a:ext cx="1620000" cy="162000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obs</m:t>
                            </m:r>
                          </m:sub>
                          <m:sup>
                            <m:r>
                              <a:rPr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+−</m:t>
                            </m:r>
                          </m:sup>
                        </m:sSubSup>
                      </m:oMath>
                    </m:oMathPara>
                  </a14:m>
                  <a:endParaRPr lang="en-US" altLang="ja-JP" sz="3400" i="1" dirty="0">
                    <a:solidFill>
                      <a:srgbClr val="FF0B0B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ja-JP" altLang="en-US" sz="3400">
                    <a:solidFill>
                      <a:srgbClr val="FF0B0B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82" name="正方形/長方形 81">
                  <a:extLst>
                    <a:ext uri="{FF2B5EF4-FFF2-40B4-BE49-F238E27FC236}">
                      <a16:creationId xmlns:a16="http://schemas.microsoft.com/office/drawing/2014/main" id="{2A2647DC-AEDF-590D-799F-085F69DB35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1645" y="4192374"/>
                  <a:ext cx="1620000" cy="162000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直線矢印コネクタ 3">
              <a:extLst>
                <a:ext uri="{FF2B5EF4-FFF2-40B4-BE49-F238E27FC236}">
                  <a16:creationId xmlns:a16="http://schemas.microsoft.com/office/drawing/2014/main" id="{2934B124-0236-7B23-7FD4-A993A7D2CA5C}"/>
                </a:ext>
              </a:extLst>
            </p:cNvPr>
            <p:cNvCxnSpPr/>
            <p:nvPr/>
          </p:nvCxnSpPr>
          <p:spPr>
            <a:xfrm>
              <a:off x="1555134" y="5662889"/>
              <a:ext cx="0" cy="2936631"/>
            </a:xfrm>
            <a:prstGeom prst="straightConnector1">
              <a:avLst/>
            </a:prstGeom>
            <a:ln w="44450">
              <a:solidFill>
                <a:schemeClr val="tx1"/>
              </a:solidFill>
              <a:headEnd type="triangle" w="lg" len="lg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線矢印コネクタ 5">
              <a:extLst>
                <a:ext uri="{FF2B5EF4-FFF2-40B4-BE49-F238E27FC236}">
                  <a16:creationId xmlns:a16="http://schemas.microsoft.com/office/drawing/2014/main" id="{7B59A355-C39F-39FC-91DE-475EA433B34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147622" y="4983553"/>
              <a:ext cx="0" cy="7200000"/>
            </a:xfrm>
            <a:prstGeom prst="straightConnector1">
              <a:avLst/>
            </a:prstGeom>
            <a:ln w="44450">
              <a:solidFill>
                <a:schemeClr val="tx1"/>
              </a:solidFill>
              <a:headEnd type="triangle" w="lg" len="lg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5A4A89A0-6EBD-2385-9C76-5AE468E57090}"/>
                </a:ext>
              </a:extLst>
            </p:cNvPr>
            <p:cNvCxnSpPr>
              <a:cxnSpLocks/>
            </p:cNvCxnSpPr>
            <p:nvPr/>
          </p:nvCxnSpPr>
          <p:spPr>
            <a:xfrm>
              <a:off x="3368179" y="1988622"/>
              <a:ext cx="0" cy="6803999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正方形/長方形 4">
                  <a:extLst>
                    <a:ext uri="{FF2B5EF4-FFF2-40B4-BE49-F238E27FC236}">
                      <a16:creationId xmlns:a16="http://schemas.microsoft.com/office/drawing/2014/main" id="{950BC672-06A9-F8EB-B15D-1379F7B419F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216197" y="2176610"/>
                  <a:ext cx="1620000" cy="162000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sSubSupPr>
                            <m:ctrlP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obs</m:t>
                            </m:r>
                          </m:sub>
                          <m:sup>
                            <m: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bSup>
                      </m:oMath>
                    </m:oMathPara>
                  </a14:m>
                  <a:endParaRPr lang="en-US" altLang="ja-JP" sz="3400" dirty="0">
                    <a:solidFill>
                      <a:srgbClr val="0404FF"/>
                    </a:solidFill>
                    <a:latin typeface="Helvetica" pitchFamily="2" charset="0"/>
                  </a:endParaRPr>
                </a:p>
                <a:p>
                  <a:pPr algn="just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altLang="ja-JP" sz="3400" i="1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ja-JP" sz="3400" i="1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3400" i="1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3400">
                    <a:solidFill>
                      <a:prstClr val="black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5" name="正方形/長方形 4">
                  <a:extLst>
                    <a:ext uri="{FF2B5EF4-FFF2-40B4-BE49-F238E27FC236}">
                      <a16:creationId xmlns:a16="http://schemas.microsoft.com/office/drawing/2014/main" id="{950BC672-06A9-F8EB-B15D-1379F7B419F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6197" y="2176610"/>
                  <a:ext cx="1620000" cy="1620000"/>
                </a:xfrm>
                <a:prstGeom prst="rect">
                  <a:avLst/>
                </a:prstGeom>
                <a:blipFill>
                  <a:blip r:embed="rId11"/>
                  <a:stretch>
                    <a:fillRect l="-5385" r="-461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正方形/長方形 12">
                  <a:extLst>
                    <a:ext uri="{FF2B5EF4-FFF2-40B4-BE49-F238E27FC236}">
                      <a16:creationId xmlns:a16="http://schemas.microsoft.com/office/drawing/2014/main" id="{3A4ACB92-ABAE-D4DF-D5D9-AEE43E10BD7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990750" y="4192374"/>
                  <a:ext cx="1620000" cy="162000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obs</m:t>
                            </m:r>
                          </m:sub>
                          <m:sup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+−</m:t>
                            </m:r>
                          </m:sup>
                        </m:sSubSup>
                      </m:oMath>
                    </m:oMathPara>
                  </a14:m>
                  <a:endParaRPr lang="en-US" altLang="ja-JP" sz="3400" i="1" dirty="0">
                    <a:solidFill>
                      <a:srgbClr val="FF0B0B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just"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ja-JP" altLang="en-US" sz="3400">
                    <a:solidFill>
                      <a:srgbClr val="FF0B0B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13" name="正方形/長方形 12">
                  <a:extLst>
                    <a:ext uri="{FF2B5EF4-FFF2-40B4-BE49-F238E27FC236}">
                      <a16:creationId xmlns:a16="http://schemas.microsoft.com/office/drawing/2014/main" id="{3A4ACB92-ABAE-D4DF-D5D9-AEE43E10BD7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0750" y="4192374"/>
                  <a:ext cx="1620000" cy="162000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D09998E4-691E-F157-A329-19914A9CD711}"/>
                </a:ext>
              </a:extLst>
            </p:cNvPr>
            <p:cNvCxnSpPr>
              <a:cxnSpLocks/>
            </p:cNvCxnSpPr>
            <p:nvPr/>
          </p:nvCxnSpPr>
          <p:spPr>
            <a:xfrm>
              <a:off x="5138921" y="1988620"/>
              <a:ext cx="0" cy="6803999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73649A7B-8F47-04DD-5460-C9E62FF31AD6}"/>
                </a:ext>
              </a:extLst>
            </p:cNvPr>
            <p:cNvCxnSpPr>
              <a:cxnSpLocks/>
            </p:cNvCxnSpPr>
            <p:nvPr/>
          </p:nvCxnSpPr>
          <p:spPr>
            <a:xfrm>
              <a:off x="6932523" y="1988622"/>
              <a:ext cx="0" cy="6803999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02963D27-C9AC-AE7D-503A-73E4ECF17816}"/>
                    </a:ext>
                  </a:extLst>
                </p:cNvPr>
                <p:cNvSpPr txBox="1"/>
                <p:nvPr/>
              </p:nvSpPr>
              <p:spPr>
                <a:xfrm>
                  <a:off x="2174798" y="8547211"/>
                  <a:ext cx="630301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400"/>
                </a:p>
              </p:txBody>
            </p:sp>
          </mc:Choice>
          <mc:Fallback xmlns=""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02963D27-C9AC-AE7D-503A-73E4ECF178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4798" y="8547211"/>
                  <a:ext cx="630301" cy="615553"/>
                </a:xfrm>
                <a:prstGeom prst="rect">
                  <a:avLst/>
                </a:prstGeom>
                <a:blipFill>
                  <a:blip r:embed="rId13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39175A14-09B3-0B9C-6497-404D98439362}"/>
                    </a:ext>
                  </a:extLst>
                </p:cNvPr>
                <p:cNvSpPr txBox="1"/>
                <p:nvPr/>
              </p:nvSpPr>
              <p:spPr>
                <a:xfrm>
                  <a:off x="3944606" y="8547210"/>
                  <a:ext cx="640367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400"/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39175A14-09B3-0B9C-6497-404D984393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44606" y="8547210"/>
                  <a:ext cx="640367" cy="615553"/>
                </a:xfrm>
                <a:prstGeom prst="rect">
                  <a:avLst/>
                </a:prstGeom>
                <a:blipFill>
                  <a:blip r:embed="rId14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AC9232B9-BAE1-D488-F338-6193AC522047}"/>
                    </a:ext>
                  </a:extLst>
                </p:cNvPr>
                <p:cNvSpPr txBox="1"/>
                <p:nvPr/>
              </p:nvSpPr>
              <p:spPr>
                <a:xfrm>
                  <a:off x="5719158" y="8547212"/>
                  <a:ext cx="640367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400"/>
                </a:p>
              </p:txBody>
            </p:sp>
          </mc:Choice>
          <mc:Fallback xmlns="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AC9232B9-BAE1-D488-F338-6193AC5220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9158" y="8547212"/>
                  <a:ext cx="640367" cy="615553"/>
                </a:xfrm>
                <a:prstGeom prst="rect">
                  <a:avLst/>
                </a:prstGeom>
                <a:blipFill>
                  <a:blip r:embed="rId15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20FBCDCA-FBB1-B10B-5C5E-1CEC7C1C408C}"/>
                    </a:ext>
                  </a:extLst>
                </p:cNvPr>
                <p:cNvSpPr txBox="1"/>
                <p:nvPr/>
              </p:nvSpPr>
              <p:spPr>
                <a:xfrm>
                  <a:off x="7493711" y="8547211"/>
                  <a:ext cx="640367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400"/>
                </a:p>
              </p:txBody>
            </p:sp>
          </mc:Choice>
          <mc:Fallback xmlns="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20FBCDCA-FBB1-B10B-5C5E-1CEC7C1C40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3711" y="8547211"/>
                  <a:ext cx="640367" cy="615553"/>
                </a:xfrm>
                <a:prstGeom prst="rect">
                  <a:avLst/>
                </a:prstGeom>
                <a:blipFill>
                  <a:blip r:embed="rId16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E0138E0E-91A4-4381-BA6E-90C13CC31277}"/>
                </a:ext>
              </a:extLst>
            </p:cNvPr>
            <p:cNvSpPr txBox="1"/>
            <p:nvPr/>
          </p:nvSpPr>
          <p:spPr>
            <a:xfrm>
              <a:off x="2209848" y="1023267"/>
              <a:ext cx="2316661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3200" baseline="30000" dirty="0"/>
                <a:t>3</a:t>
              </a:r>
              <a:r>
                <a:rPr kumimoji="1" lang="en-US" altLang="ja-JP" sz="3200" dirty="0"/>
                <a:t>He spin flip</a:t>
              </a:r>
              <a:br>
                <a:rPr kumimoji="1" lang="en-US" altLang="ja-JP" sz="3200" dirty="0"/>
              </a:br>
              <a:r>
                <a:rPr kumimoji="1" lang="en-US" altLang="ja-JP" sz="3200" dirty="0"/>
                <a:t>(AFP-NMR)</a:t>
              </a:r>
              <a:endParaRPr kumimoji="1" lang="ja-JP" altLang="en-US" sz="3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テキスト ボックス 45">
                  <a:extLst>
                    <a:ext uri="{FF2B5EF4-FFF2-40B4-BE49-F238E27FC236}">
                      <a16:creationId xmlns:a16="http://schemas.microsoft.com/office/drawing/2014/main" id="{3F6F4033-CE81-0407-8C78-0DB1E8D89143}"/>
                    </a:ext>
                  </a:extLst>
                </p:cNvPr>
                <p:cNvSpPr txBox="1"/>
                <p:nvPr/>
              </p:nvSpPr>
              <p:spPr>
                <a:xfrm>
                  <a:off x="2990891" y="9142737"/>
                  <a:ext cx="818301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ja-JP" sz="3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600" i="1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テキスト ボックス 45">
                  <a:extLst>
                    <a:ext uri="{FF2B5EF4-FFF2-40B4-BE49-F238E27FC236}">
                      <a16:creationId xmlns:a16="http://schemas.microsoft.com/office/drawing/2014/main" id="{3F6F4033-CE81-0407-8C78-0DB1E8D891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0891" y="9142737"/>
                  <a:ext cx="818301" cy="646331"/>
                </a:xfrm>
                <a:prstGeom prst="rect">
                  <a:avLst/>
                </a:prstGeom>
                <a:blipFill>
                  <a:blip r:embed="rId17"/>
                  <a:stretch>
                    <a:fillRect b="-39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テキスト ボックス 46">
                  <a:extLst>
                    <a:ext uri="{FF2B5EF4-FFF2-40B4-BE49-F238E27FC236}">
                      <a16:creationId xmlns:a16="http://schemas.microsoft.com/office/drawing/2014/main" id="{652D79B2-C024-7543-3EA7-05D08A83A21F}"/>
                    </a:ext>
                  </a:extLst>
                </p:cNvPr>
                <p:cNvSpPr txBox="1"/>
                <p:nvPr/>
              </p:nvSpPr>
              <p:spPr>
                <a:xfrm>
                  <a:off x="6573722" y="9142737"/>
                  <a:ext cx="829008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ja-JP" sz="3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600" i="1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テキスト ボックス 46">
                  <a:extLst>
                    <a:ext uri="{FF2B5EF4-FFF2-40B4-BE49-F238E27FC236}">
                      <a16:creationId xmlns:a16="http://schemas.microsoft.com/office/drawing/2014/main" id="{652D79B2-C024-7543-3EA7-05D08A83A2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3722" y="9142737"/>
                  <a:ext cx="829008" cy="646331"/>
                </a:xfrm>
                <a:prstGeom prst="rect">
                  <a:avLst/>
                </a:prstGeom>
                <a:blipFill>
                  <a:blip r:embed="rId18"/>
                  <a:stretch>
                    <a:fillRect b="-39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テキスト ボックス 125">
                  <a:extLst>
                    <a:ext uri="{FF2B5EF4-FFF2-40B4-BE49-F238E27FC236}">
                      <a16:creationId xmlns:a16="http://schemas.microsoft.com/office/drawing/2014/main" id="{3F42F33B-889D-9B52-0855-3AB4E704113F}"/>
                    </a:ext>
                  </a:extLst>
                </p:cNvPr>
                <p:cNvSpPr txBox="1"/>
                <p:nvPr/>
              </p:nvSpPr>
              <p:spPr>
                <a:xfrm>
                  <a:off x="1840611" y="5865742"/>
                  <a:ext cx="1292149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600" b="0" i="1" smtClean="0">
                                <a:solidFill>
                                  <a:srgbClr val="FF93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600" b="0" i="1" smtClean="0">
                                <a:solidFill>
                                  <a:srgbClr val="FF93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kumimoji="1" lang="en-US" altLang="ja-JP" sz="3600" b="0" i="1" smtClean="0">
                                <a:solidFill>
                                  <a:srgbClr val="FF93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kumimoji="1" lang="en-US" altLang="ja-JP" sz="3600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3600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ja-JP" sz="3600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ja-JP" altLang="en-US" sz="3600" i="1">
                    <a:solidFill>
                      <a:srgbClr val="FF9300"/>
                    </a:solidFill>
                  </a:endParaRPr>
                </a:p>
              </p:txBody>
            </p:sp>
          </mc:Choice>
          <mc:Fallback xmlns="">
            <p:sp>
              <p:nvSpPr>
                <p:cNvPr id="126" name="テキスト ボックス 125">
                  <a:extLst>
                    <a:ext uri="{FF2B5EF4-FFF2-40B4-BE49-F238E27FC236}">
                      <a16:creationId xmlns:a16="http://schemas.microsoft.com/office/drawing/2014/main" id="{3F42F33B-889D-9B52-0855-3AB4E70411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0611" y="5865742"/>
                  <a:ext cx="1292149" cy="646331"/>
                </a:xfrm>
                <a:prstGeom prst="rect">
                  <a:avLst/>
                </a:prstGeom>
                <a:blipFill>
                  <a:blip r:embed="rId19"/>
                  <a:stretch>
                    <a:fillRect r="-5825" b="-2115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テキスト ボックス 126">
                  <a:extLst>
                    <a:ext uri="{FF2B5EF4-FFF2-40B4-BE49-F238E27FC236}">
                      <a16:creationId xmlns:a16="http://schemas.microsoft.com/office/drawing/2014/main" id="{816F76C5-30BD-973D-B963-88C864EEC072}"/>
                    </a:ext>
                  </a:extLst>
                </p:cNvPr>
                <p:cNvSpPr txBox="1"/>
                <p:nvPr/>
              </p:nvSpPr>
              <p:spPr>
                <a:xfrm>
                  <a:off x="1825304" y="7569930"/>
                  <a:ext cx="132619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6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6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kumimoji="1" lang="en-US" altLang="ja-JP" sz="36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kumimoji="1" lang="en-US" altLang="ja-JP" sz="3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3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ja-JP" sz="3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ja-JP" altLang="en-US" sz="3600" i="1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27" name="テキスト ボックス 126">
                  <a:extLst>
                    <a:ext uri="{FF2B5EF4-FFF2-40B4-BE49-F238E27FC236}">
                      <a16:creationId xmlns:a16="http://schemas.microsoft.com/office/drawing/2014/main" id="{816F76C5-30BD-973D-B963-88C864EEC0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5304" y="7569930"/>
                  <a:ext cx="1326196" cy="646331"/>
                </a:xfrm>
                <a:prstGeom prst="rect">
                  <a:avLst/>
                </a:prstGeom>
                <a:blipFill>
                  <a:blip r:embed="rId20"/>
                  <a:stretch>
                    <a:fillRect r="-3774" b="-1923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0" name="直線コネクタ 139">
              <a:extLst>
                <a:ext uri="{FF2B5EF4-FFF2-40B4-BE49-F238E27FC236}">
                  <a16:creationId xmlns:a16="http://schemas.microsoft.com/office/drawing/2014/main" id="{C057F6E9-16E8-ED3E-15FD-2584F96FB2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64095" y="5967219"/>
              <a:ext cx="7092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フリーフォーム 138">
              <a:extLst>
                <a:ext uri="{FF2B5EF4-FFF2-40B4-BE49-F238E27FC236}">
                  <a16:creationId xmlns:a16="http://schemas.microsoft.com/office/drawing/2014/main" id="{57C06065-1E8A-A469-29A2-51A4B8978917}"/>
                </a:ext>
              </a:extLst>
            </p:cNvPr>
            <p:cNvSpPr/>
            <p:nvPr/>
          </p:nvSpPr>
          <p:spPr>
            <a:xfrm>
              <a:off x="1550911" y="5967219"/>
              <a:ext cx="7096664" cy="120770"/>
            </a:xfrm>
            <a:custGeom>
              <a:avLst/>
              <a:gdLst>
                <a:gd name="csX0" fmla="*/ 0 w 7096664"/>
                <a:gd name="csY0" fmla="*/ 0 h 120770"/>
                <a:gd name="csX1" fmla="*/ 753374 w 7096664"/>
                <a:gd name="csY1" fmla="*/ 5751 h 120770"/>
                <a:gd name="csX2" fmla="*/ 1454989 w 7096664"/>
                <a:gd name="csY2" fmla="*/ 5751 h 120770"/>
                <a:gd name="csX3" fmla="*/ 2300377 w 7096664"/>
                <a:gd name="csY3" fmla="*/ 17253 h 120770"/>
                <a:gd name="csX4" fmla="*/ 2955985 w 7096664"/>
                <a:gd name="csY4" fmla="*/ 28755 h 120770"/>
                <a:gd name="csX5" fmla="*/ 3623094 w 7096664"/>
                <a:gd name="csY5" fmla="*/ 34506 h 120770"/>
                <a:gd name="csX6" fmla="*/ 4278702 w 7096664"/>
                <a:gd name="csY6" fmla="*/ 51759 h 120770"/>
                <a:gd name="csX7" fmla="*/ 4940060 w 7096664"/>
                <a:gd name="csY7" fmla="*/ 63261 h 120770"/>
                <a:gd name="csX8" fmla="*/ 5681932 w 7096664"/>
                <a:gd name="csY8" fmla="*/ 80513 h 120770"/>
                <a:gd name="csX9" fmla="*/ 6343291 w 7096664"/>
                <a:gd name="csY9" fmla="*/ 103517 h 120770"/>
                <a:gd name="csX10" fmla="*/ 7096664 w 7096664"/>
                <a:gd name="csY10" fmla="*/ 120770 h 1207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96664" h="120770">
                  <a:moveTo>
                    <a:pt x="0" y="0"/>
                  </a:moveTo>
                  <a:lnTo>
                    <a:pt x="753374" y="5751"/>
                  </a:lnTo>
                  <a:lnTo>
                    <a:pt x="1454989" y="5751"/>
                  </a:lnTo>
                  <a:lnTo>
                    <a:pt x="2300377" y="17253"/>
                  </a:lnTo>
                  <a:lnTo>
                    <a:pt x="2955985" y="28755"/>
                  </a:lnTo>
                  <a:lnTo>
                    <a:pt x="3623094" y="34506"/>
                  </a:lnTo>
                  <a:lnTo>
                    <a:pt x="4278702" y="51759"/>
                  </a:lnTo>
                  <a:lnTo>
                    <a:pt x="4940060" y="63261"/>
                  </a:lnTo>
                  <a:lnTo>
                    <a:pt x="5681932" y="80513"/>
                  </a:lnTo>
                  <a:lnTo>
                    <a:pt x="6343291" y="103517"/>
                  </a:lnTo>
                  <a:lnTo>
                    <a:pt x="7096664" y="120770"/>
                  </a:lnTo>
                </a:path>
              </a:pathLst>
            </a:custGeom>
            <a:noFill/>
            <a:ln w="31750">
              <a:solidFill>
                <a:srgbClr val="FF93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2" name="フリーフォーム 141">
              <a:extLst>
                <a:ext uri="{FF2B5EF4-FFF2-40B4-BE49-F238E27FC236}">
                  <a16:creationId xmlns:a16="http://schemas.microsoft.com/office/drawing/2014/main" id="{2D0F40CA-36C8-F1B0-1271-B87B4BB2C067}"/>
                </a:ext>
              </a:extLst>
            </p:cNvPr>
            <p:cNvSpPr/>
            <p:nvPr/>
          </p:nvSpPr>
          <p:spPr>
            <a:xfrm>
              <a:off x="1555134" y="7510204"/>
              <a:ext cx="7076901" cy="371302"/>
            </a:xfrm>
            <a:custGeom>
              <a:avLst/>
              <a:gdLst>
                <a:gd name="csX0" fmla="*/ 0 w 7076901"/>
                <a:gd name="csY0" fmla="*/ 0 h 371302"/>
                <a:gd name="csX1" fmla="*/ 415636 w 7076901"/>
                <a:gd name="csY1" fmla="*/ 55418 h 371302"/>
                <a:gd name="csX2" fmla="*/ 764771 w 7076901"/>
                <a:gd name="csY2" fmla="*/ 88669 h 371302"/>
                <a:gd name="csX3" fmla="*/ 1230283 w 7076901"/>
                <a:gd name="csY3" fmla="*/ 127462 h 371302"/>
                <a:gd name="csX4" fmla="*/ 1745672 w 7076901"/>
                <a:gd name="csY4" fmla="*/ 166254 h 371302"/>
                <a:gd name="csX5" fmla="*/ 2183476 w 7076901"/>
                <a:gd name="csY5" fmla="*/ 193963 h 371302"/>
                <a:gd name="csX6" fmla="*/ 2637905 w 7076901"/>
                <a:gd name="csY6" fmla="*/ 221673 h 371302"/>
                <a:gd name="csX7" fmla="*/ 3120043 w 7076901"/>
                <a:gd name="csY7" fmla="*/ 249382 h 371302"/>
                <a:gd name="csX8" fmla="*/ 3574472 w 7076901"/>
                <a:gd name="csY8" fmla="*/ 271549 h 371302"/>
                <a:gd name="csX9" fmla="*/ 4067694 w 7076901"/>
                <a:gd name="csY9" fmla="*/ 293716 h 371302"/>
                <a:gd name="csX10" fmla="*/ 4627418 w 7076901"/>
                <a:gd name="csY10" fmla="*/ 304800 h 371302"/>
                <a:gd name="csX11" fmla="*/ 5115098 w 7076901"/>
                <a:gd name="csY11" fmla="*/ 326967 h 371302"/>
                <a:gd name="csX12" fmla="*/ 5757949 w 7076901"/>
                <a:gd name="csY12" fmla="*/ 338051 h 371302"/>
                <a:gd name="csX13" fmla="*/ 6256712 w 7076901"/>
                <a:gd name="csY13" fmla="*/ 349134 h 371302"/>
                <a:gd name="csX14" fmla="*/ 6683432 w 7076901"/>
                <a:gd name="csY14" fmla="*/ 360218 h 371302"/>
                <a:gd name="csX15" fmla="*/ 7076901 w 7076901"/>
                <a:gd name="csY15" fmla="*/ 371302 h 3713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7076901" h="371302">
                  <a:moveTo>
                    <a:pt x="0" y="0"/>
                  </a:moveTo>
                  <a:lnTo>
                    <a:pt x="415636" y="55418"/>
                  </a:lnTo>
                  <a:cubicBezTo>
                    <a:pt x="543098" y="70196"/>
                    <a:pt x="764771" y="88669"/>
                    <a:pt x="764771" y="88669"/>
                  </a:cubicBezTo>
                  <a:lnTo>
                    <a:pt x="1230283" y="127462"/>
                  </a:lnTo>
                  <a:lnTo>
                    <a:pt x="1745672" y="166254"/>
                  </a:lnTo>
                  <a:lnTo>
                    <a:pt x="2183476" y="193963"/>
                  </a:lnTo>
                  <a:lnTo>
                    <a:pt x="2637905" y="221673"/>
                  </a:lnTo>
                  <a:lnTo>
                    <a:pt x="3120043" y="249382"/>
                  </a:lnTo>
                  <a:lnTo>
                    <a:pt x="3574472" y="271549"/>
                  </a:lnTo>
                  <a:lnTo>
                    <a:pt x="4067694" y="293716"/>
                  </a:lnTo>
                  <a:cubicBezTo>
                    <a:pt x="4243185" y="299258"/>
                    <a:pt x="4452851" y="299258"/>
                    <a:pt x="4627418" y="304800"/>
                  </a:cubicBezTo>
                  <a:cubicBezTo>
                    <a:pt x="4801985" y="310342"/>
                    <a:pt x="4926676" y="321425"/>
                    <a:pt x="5115098" y="326967"/>
                  </a:cubicBezTo>
                  <a:cubicBezTo>
                    <a:pt x="5303520" y="332509"/>
                    <a:pt x="5757949" y="338051"/>
                    <a:pt x="5757949" y="338051"/>
                  </a:cubicBezTo>
                  <a:lnTo>
                    <a:pt x="6256712" y="349134"/>
                  </a:lnTo>
                  <a:lnTo>
                    <a:pt x="6683432" y="360218"/>
                  </a:lnTo>
                  <a:lnTo>
                    <a:pt x="7076901" y="371302"/>
                  </a:lnTo>
                </a:path>
              </a:pathLst>
            </a:custGeom>
            <a:noFill/>
            <a:ln w="317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34" name="グループ化 233">
              <a:extLst>
                <a:ext uri="{FF2B5EF4-FFF2-40B4-BE49-F238E27FC236}">
                  <a16:creationId xmlns:a16="http://schemas.microsoft.com/office/drawing/2014/main" id="{BF5BFFC4-1E28-5E90-FBBC-2CB45670DA94}"/>
                </a:ext>
              </a:extLst>
            </p:cNvPr>
            <p:cNvGrpSpPr/>
            <p:nvPr/>
          </p:nvGrpSpPr>
          <p:grpSpPr>
            <a:xfrm>
              <a:off x="16654349" y="1259284"/>
              <a:ext cx="4000438" cy="8442283"/>
              <a:chOff x="16518881" y="1259284"/>
              <a:chExt cx="4000438" cy="8442283"/>
            </a:xfrm>
          </p:grpSpPr>
          <p:grpSp>
            <p:nvGrpSpPr>
              <p:cNvPr id="230" name="グループ化 229">
                <a:extLst>
                  <a:ext uri="{FF2B5EF4-FFF2-40B4-BE49-F238E27FC236}">
                    <a16:creationId xmlns:a16="http://schemas.microsoft.com/office/drawing/2014/main" id="{628570BC-D440-0008-DE70-EDD92BB9758F}"/>
                  </a:ext>
                </a:extLst>
              </p:cNvPr>
              <p:cNvGrpSpPr/>
              <p:nvPr/>
            </p:nvGrpSpPr>
            <p:grpSpPr>
              <a:xfrm>
                <a:off x="16518881" y="1259284"/>
                <a:ext cx="4000438" cy="4360777"/>
                <a:chOff x="16518881" y="791454"/>
                <a:chExt cx="4000438" cy="4360777"/>
              </a:xfrm>
            </p:grpSpPr>
            <p:grpSp>
              <p:nvGrpSpPr>
                <p:cNvPr id="194" name="グループ化 193">
                  <a:extLst>
                    <a:ext uri="{FF2B5EF4-FFF2-40B4-BE49-F238E27FC236}">
                      <a16:creationId xmlns:a16="http://schemas.microsoft.com/office/drawing/2014/main" id="{D413DDF7-7807-8B42-682B-CE5B3C70A994}"/>
                    </a:ext>
                  </a:extLst>
                </p:cNvPr>
                <p:cNvGrpSpPr/>
                <p:nvPr/>
              </p:nvGrpSpPr>
              <p:grpSpPr>
                <a:xfrm>
                  <a:off x="16518881" y="791454"/>
                  <a:ext cx="4000438" cy="3528514"/>
                  <a:chOff x="15398170" y="3215283"/>
                  <a:chExt cx="4335811" cy="3824323"/>
                </a:xfrm>
              </p:grpSpPr>
              <p:cxnSp>
                <p:nvCxnSpPr>
                  <p:cNvPr id="145" name="直線矢印コネクタ 144">
                    <a:extLst>
                      <a:ext uri="{FF2B5EF4-FFF2-40B4-BE49-F238E27FC236}">
                        <a16:creationId xmlns:a16="http://schemas.microsoft.com/office/drawing/2014/main" id="{3E6C712E-96F9-4A14-069A-049750D4E5C8}"/>
                      </a:ext>
                    </a:extLst>
                  </p:cNvPr>
                  <p:cNvCxnSpPr/>
                  <p:nvPr/>
                </p:nvCxnSpPr>
                <p:spPr>
                  <a:xfrm>
                    <a:off x="16051565" y="5157773"/>
                    <a:ext cx="3009900" cy="18316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w="lg" len="lg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" name="直線矢印コネクタ 145">
                    <a:extLst>
                      <a:ext uri="{FF2B5EF4-FFF2-40B4-BE49-F238E27FC236}">
                        <a16:creationId xmlns:a16="http://schemas.microsoft.com/office/drawing/2014/main" id="{65BE1336-5450-2C37-737D-0169844BB3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15613415" y="5097797"/>
                    <a:ext cx="3009900" cy="18316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w="lg" len="lg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7" name="直線矢印コネクタ 146">
                    <a:extLst>
                      <a:ext uri="{FF2B5EF4-FFF2-40B4-BE49-F238E27FC236}">
                        <a16:creationId xmlns:a16="http://schemas.microsoft.com/office/drawing/2014/main" id="{6A381706-7693-C2B9-F6F3-288D7BAAE38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8100000" flipV="1">
                    <a:off x="15398170" y="5339454"/>
                    <a:ext cx="3009900" cy="18316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w="lg" len="lg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88" name="グループ化 187">
                    <a:extLst>
                      <a:ext uri="{FF2B5EF4-FFF2-40B4-BE49-F238E27FC236}">
                        <a16:creationId xmlns:a16="http://schemas.microsoft.com/office/drawing/2014/main" id="{5CE9AEC2-9569-ED1E-6DEF-06F43B8208A3}"/>
                      </a:ext>
                    </a:extLst>
                  </p:cNvPr>
                  <p:cNvGrpSpPr/>
                  <p:nvPr/>
                </p:nvGrpSpPr>
                <p:grpSpPr>
                  <a:xfrm>
                    <a:off x="16948261" y="4673362"/>
                    <a:ext cx="1772362" cy="2366244"/>
                    <a:chOff x="15134519" y="7961404"/>
                    <a:chExt cx="3495405" cy="4666644"/>
                  </a:xfrm>
                </p:grpSpPr>
                <p:sp>
                  <p:nvSpPr>
                    <p:cNvPr id="175" name="フリーフォーム 174">
                      <a:extLst>
                        <a:ext uri="{FF2B5EF4-FFF2-40B4-BE49-F238E27FC236}">
                          <a16:creationId xmlns:a16="http://schemas.microsoft.com/office/drawing/2014/main" id="{C6CBFE1A-F955-864E-B594-F8750A192F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134519" y="7963283"/>
                      <a:ext cx="3495405" cy="4664765"/>
                    </a:xfrm>
                    <a:custGeom>
                      <a:avLst/>
                      <a:gdLst>
                        <a:gd name="csX0" fmla="*/ 0 w 3366052"/>
                        <a:gd name="csY0" fmla="*/ 1603513 h 4664765"/>
                        <a:gd name="csX1" fmla="*/ 26504 w 3366052"/>
                        <a:gd name="csY1" fmla="*/ 4412974 h 4664765"/>
                        <a:gd name="csX2" fmla="*/ 649357 w 3366052"/>
                        <a:gd name="csY2" fmla="*/ 4664765 h 4664765"/>
                        <a:gd name="csX3" fmla="*/ 3299791 w 3366052"/>
                        <a:gd name="csY3" fmla="*/ 3101009 h 4664765"/>
                        <a:gd name="csX4" fmla="*/ 3366052 w 3366052"/>
                        <a:gd name="csY4" fmla="*/ 463826 h 4664765"/>
                        <a:gd name="csX5" fmla="*/ 2358887 w 3366052"/>
                        <a:gd name="csY5" fmla="*/ 0 h 4664765"/>
                        <a:gd name="csX6" fmla="*/ 0 w 3366052"/>
                        <a:gd name="csY6" fmla="*/ 1603513 h 4664765"/>
                        <a:gd name="csX0" fmla="*/ 0 w 3366052"/>
                        <a:gd name="csY0" fmla="*/ 1603513 h 4664765"/>
                        <a:gd name="csX1" fmla="*/ 26504 w 3366052"/>
                        <a:gd name="csY1" fmla="*/ 4412974 h 4664765"/>
                        <a:gd name="csX2" fmla="*/ 649357 w 3366052"/>
                        <a:gd name="csY2" fmla="*/ 4664765 h 4664765"/>
                        <a:gd name="csX3" fmla="*/ 3299791 w 3366052"/>
                        <a:gd name="csY3" fmla="*/ 3101009 h 4664765"/>
                        <a:gd name="csX4" fmla="*/ 3366052 w 3366052"/>
                        <a:gd name="csY4" fmla="*/ 463826 h 4664765"/>
                        <a:gd name="csX5" fmla="*/ 2358887 w 3366052"/>
                        <a:gd name="csY5" fmla="*/ 0 h 4664765"/>
                        <a:gd name="csX6" fmla="*/ 0 w 3366052"/>
                        <a:gd name="csY6" fmla="*/ 1603513 h 4664765"/>
                        <a:gd name="csX0" fmla="*/ 0 w 3366052"/>
                        <a:gd name="csY0" fmla="*/ 1603513 h 4664765"/>
                        <a:gd name="csX1" fmla="*/ 26504 w 3366052"/>
                        <a:gd name="csY1" fmla="*/ 4412974 h 4664765"/>
                        <a:gd name="csX2" fmla="*/ 649357 w 3366052"/>
                        <a:gd name="csY2" fmla="*/ 4664765 h 4664765"/>
                        <a:gd name="csX3" fmla="*/ 3299791 w 3366052"/>
                        <a:gd name="csY3" fmla="*/ 3101009 h 4664765"/>
                        <a:gd name="csX4" fmla="*/ 3366052 w 3366052"/>
                        <a:gd name="csY4" fmla="*/ 463826 h 4664765"/>
                        <a:gd name="csX5" fmla="*/ 2358887 w 3366052"/>
                        <a:gd name="csY5" fmla="*/ 0 h 4664765"/>
                        <a:gd name="csX6" fmla="*/ 0 w 3366052"/>
                        <a:gd name="csY6" fmla="*/ 1603513 h 4664765"/>
                        <a:gd name="csX0" fmla="*/ 0 w 3366052"/>
                        <a:gd name="csY0" fmla="*/ 1603513 h 4664765"/>
                        <a:gd name="csX1" fmla="*/ 79513 w 3366052"/>
                        <a:gd name="csY1" fmla="*/ 4386470 h 4664765"/>
                        <a:gd name="csX2" fmla="*/ 649357 w 3366052"/>
                        <a:gd name="csY2" fmla="*/ 4664765 h 4664765"/>
                        <a:gd name="csX3" fmla="*/ 3299791 w 3366052"/>
                        <a:gd name="csY3" fmla="*/ 3101009 h 4664765"/>
                        <a:gd name="csX4" fmla="*/ 3366052 w 3366052"/>
                        <a:gd name="csY4" fmla="*/ 463826 h 4664765"/>
                        <a:gd name="csX5" fmla="*/ 2358887 w 3366052"/>
                        <a:gd name="csY5" fmla="*/ 0 h 4664765"/>
                        <a:gd name="csX6" fmla="*/ 0 w 3366052"/>
                        <a:gd name="csY6" fmla="*/ 1603513 h 4664765"/>
                        <a:gd name="csX0" fmla="*/ 78466 w 3444518"/>
                        <a:gd name="csY0" fmla="*/ 1603513 h 4664765"/>
                        <a:gd name="csX1" fmla="*/ 157979 w 3444518"/>
                        <a:gd name="csY1" fmla="*/ 4386470 h 4664765"/>
                        <a:gd name="csX2" fmla="*/ 727823 w 3444518"/>
                        <a:gd name="csY2" fmla="*/ 4664765 h 4664765"/>
                        <a:gd name="csX3" fmla="*/ 3378257 w 3444518"/>
                        <a:gd name="csY3" fmla="*/ 3101009 h 4664765"/>
                        <a:gd name="csX4" fmla="*/ 3444518 w 3444518"/>
                        <a:gd name="csY4" fmla="*/ 463826 h 4664765"/>
                        <a:gd name="csX5" fmla="*/ 2437353 w 3444518"/>
                        <a:gd name="csY5" fmla="*/ 0 h 4664765"/>
                        <a:gd name="csX6" fmla="*/ 78466 w 3444518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</a:cxnLst>
                      <a:rect l="l" t="t" r="r" b="b"/>
                      <a:pathLst>
                        <a:path w="3495405" h="4664765">
                          <a:moveTo>
                            <a:pt x="129353" y="1603513"/>
                          </a:moveTo>
                          <a:cubicBezTo>
                            <a:pt x="-3169" y="2504661"/>
                            <a:pt x="-109185" y="3432314"/>
                            <a:pt x="208866" y="4386470"/>
                          </a:cubicBezTo>
                          <a:lnTo>
                            <a:pt x="778710" y="4664765"/>
                          </a:lnTo>
                          <a:cubicBezTo>
                            <a:pt x="1582675" y="4037495"/>
                            <a:pt x="2519162" y="3317462"/>
                            <a:pt x="3429144" y="3101009"/>
                          </a:cubicBezTo>
                          <a:cubicBezTo>
                            <a:pt x="3159683" y="2036417"/>
                            <a:pt x="3420310" y="1329635"/>
                            <a:pt x="3495405" y="463826"/>
                          </a:cubicBezTo>
                          <a:lnTo>
                            <a:pt x="2488240" y="0"/>
                          </a:lnTo>
                          <a:cubicBezTo>
                            <a:pt x="1489909" y="348973"/>
                            <a:pt x="796380" y="976244"/>
                            <a:pt x="129353" y="1603513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chemeClr val="accent1">
                            <a:lumMod val="5000"/>
                            <a:lumOff val="95000"/>
                            <a:alpha val="30000"/>
                          </a:schemeClr>
                        </a:gs>
                        <a:gs pos="100000">
                          <a:srgbClr val="0404FF">
                            <a:alpha val="30000"/>
                          </a:srgbClr>
                        </a:gs>
                      </a:gsLst>
                      <a:lin ang="5400000" scaled="1"/>
                      <a:tileRect/>
                    </a:gra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176" name="フリーフォーム 175">
                      <a:extLst>
                        <a:ext uri="{FF2B5EF4-FFF2-40B4-BE49-F238E27FC236}">
                          <a16:creationId xmlns:a16="http://schemas.microsoft.com/office/drawing/2014/main" id="{41CC594C-D3A7-E7C9-EBC1-477F4858EA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83613" y="8420672"/>
                      <a:ext cx="2631924" cy="1450461"/>
                    </a:xfrm>
                    <a:custGeom>
                      <a:avLst/>
                      <a:gdLst>
                        <a:gd name="csX0" fmla="*/ 2577737 w 2577737"/>
                        <a:gd name="csY0" fmla="*/ 0 h 1436914"/>
                        <a:gd name="csX1" fmla="*/ 0 w 2577737"/>
                        <a:gd name="csY1" fmla="*/ 1436914 h 1436914"/>
                        <a:gd name="csX0" fmla="*/ 2577737 w 2577737"/>
                        <a:gd name="csY0" fmla="*/ 0 h 1436914"/>
                        <a:gd name="csX1" fmla="*/ 0 w 2577737"/>
                        <a:gd name="csY1" fmla="*/ 1436914 h 1436914"/>
                        <a:gd name="csX0" fmla="*/ 2577737 w 2577737"/>
                        <a:gd name="csY0" fmla="*/ 0 h 1436914"/>
                        <a:gd name="csX1" fmla="*/ 0 w 2577737"/>
                        <a:gd name="csY1" fmla="*/ 1436914 h 1436914"/>
                        <a:gd name="csX0" fmla="*/ 2631924 w 2631924"/>
                        <a:gd name="csY0" fmla="*/ 0 h 1450461"/>
                        <a:gd name="csX1" fmla="*/ 0 w 2631924"/>
                        <a:gd name="csY1" fmla="*/ 1450461 h 1450461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2631924" h="1450461">
                          <a:moveTo>
                            <a:pt x="2631924" y="0"/>
                          </a:moveTo>
                          <a:cubicBezTo>
                            <a:pt x="1476586" y="269965"/>
                            <a:pt x="702491" y="858278"/>
                            <a:pt x="0" y="1450461"/>
                          </a:cubicBezTo>
                        </a:path>
                      </a:pathLst>
                    </a:cu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177" name="フリーフォーム 176">
                      <a:extLst>
                        <a:ext uri="{FF2B5EF4-FFF2-40B4-BE49-F238E27FC236}">
                          <a16:creationId xmlns:a16="http://schemas.microsoft.com/office/drawing/2014/main" id="{FE21FAE6-890F-0AB5-1F7B-70C0414876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254028" y="9552786"/>
                      <a:ext cx="706361" cy="319315"/>
                    </a:xfrm>
                    <a:custGeom>
                      <a:avLst/>
                      <a:gdLst>
                        <a:gd name="csX0" fmla="*/ 0 w 740228"/>
                        <a:gd name="csY0" fmla="*/ 0 h 339635"/>
                        <a:gd name="csX1" fmla="*/ 740228 w 740228"/>
                        <a:gd name="csY1" fmla="*/ 339635 h 339635"/>
                        <a:gd name="csX0" fmla="*/ 0 w 706361"/>
                        <a:gd name="csY0" fmla="*/ 0 h 319315"/>
                        <a:gd name="csX1" fmla="*/ 706361 w 706361"/>
                        <a:gd name="csY1" fmla="*/ 319315 h 31931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706361" h="319315">
                          <a:moveTo>
                            <a:pt x="0" y="0"/>
                          </a:moveTo>
                          <a:lnTo>
                            <a:pt x="706361" y="319315"/>
                          </a:lnTo>
                        </a:path>
                      </a:pathLst>
                    </a:cu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179" name="フリーフォーム 178">
                      <a:extLst>
                        <a:ext uri="{FF2B5EF4-FFF2-40B4-BE49-F238E27FC236}">
                          <a16:creationId xmlns:a16="http://schemas.microsoft.com/office/drawing/2014/main" id="{371F0A01-A249-F4CB-E057-CEC7E34D36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426461" y="7961404"/>
                      <a:ext cx="191381" cy="2623559"/>
                    </a:xfrm>
                    <a:custGeom>
                      <a:avLst/>
                      <a:gdLst>
                        <a:gd name="csX0" fmla="*/ 0 w 76912"/>
                        <a:gd name="csY0" fmla="*/ 0 h 2785929"/>
                        <a:gd name="csX1" fmla="*/ 76912 w 76912"/>
                        <a:gd name="csY1" fmla="*/ 2785929 h 2785929"/>
                        <a:gd name="csX0" fmla="*/ 64084 w 140996"/>
                        <a:gd name="csY0" fmla="*/ 0 h 2785929"/>
                        <a:gd name="csX1" fmla="*/ 140996 w 140996"/>
                        <a:gd name="csY1" fmla="*/ 2785929 h 2785929"/>
                        <a:gd name="csX0" fmla="*/ 117045 w 193957"/>
                        <a:gd name="csY0" fmla="*/ 0 h 2785929"/>
                        <a:gd name="csX1" fmla="*/ 193957 w 193957"/>
                        <a:gd name="csY1" fmla="*/ 2785929 h 2785929"/>
                        <a:gd name="csX0" fmla="*/ 191381 w 191381"/>
                        <a:gd name="csY0" fmla="*/ 0 h 2623559"/>
                        <a:gd name="csX1" fmla="*/ 131560 w 191381"/>
                        <a:gd name="csY1" fmla="*/ 2623559 h 262355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191381" h="2623559">
                          <a:moveTo>
                            <a:pt x="191381" y="0"/>
                          </a:moveTo>
                          <a:cubicBezTo>
                            <a:pt x="20464" y="937189"/>
                            <a:pt x="-107722" y="1720554"/>
                            <a:pt x="131560" y="2623559"/>
                          </a:cubicBezTo>
                        </a:path>
                      </a:pathLst>
                    </a:custGeom>
                    <a:noFill/>
                    <a:ln>
                      <a:prstDash val="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cxnSp>
                  <p:nvCxnSpPr>
                    <p:cNvPr id="181" name="直線コネクタ 180">
                      <a:extLst>
                        <a:ext uri="{FF2B5EF4-FFF2-40B4-BE49-F238E27FC236}">
                          <a16:creationId xmlns:a16="http://schemas.microsoft.com/office/drawing/2014/main" id="{BDB8B557-DEDE-3C95-D527-D7129E9E349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543527" y="10593763"/>
                      <a:ext cx="1011121" cy="46570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84" name="フリーフォーム 183">
                      <a:extLst>
                        <a:ext uri="{FF2B5EF4-FFF2-40B4-BE49-F238E27FC236}">
                          <a16:creationId xmlns:a16="http://schemas.microsoft.com/office/drawing/2014/main" id="{3B5C9B6A-2894-71B7-E6F8-DB0789E2BA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336510" y="10616356"/>
                      <a:ext cx="2204634" cy="1715380"/>
                    </a:xfrm>
                    <a:custGeom>
                      <a:avLst/>
                      <a:gdLst>
                        <a:gd name="csX0" fmla="*/ 2577737 w 2577737"/>
                        <a:gd name="csY0" fmla="*/ 0 h 1436914"/>
                        <a:gd name="csX1" fmla="*/ 0 w 2577737"/>
                        <a:gd name="csY1" fmla="*/ 1436914 h 1436914"/>
                        <a:gd name="csX0" fmla="*/ 2577737 w 2577737"/>
                        <a:gd name="csY0" fmla="*/ 0 h 1436914"/>
                        <a:gd name="csX1" fmla="*/ 0 w 2577737"/>
                        <a:gd name="csY1" fmla="*/ 1436914 h 1436914"/>
                        <a:gd name="csX0" fmla="*/ 2577737 w 2577737"/>
                        <a:gd name="csY0" fmla="*/ 0 h 1436914"/>
                        <a:gd name="csX1" fmla="*/ 0 w 2577737"/>
                        <a:gd name="csY1" fmla="*/ 1436914 h 1436914"/>
                        <a:gd name="csX0" fmla="*/ 2631924 w 2631924"/>
                        <a:gd name="csY0" fmla="*/ 0 h 1450461"/>
                        <a:gd name="csX1" fmla="*/ 0 w 2631924"/>
                        <a:gd name="csY1" fmla="*/ 1450461 h 1450461"/>
                        <a:gd name="csX0" fmla="*/ 2204634 w 2204634"/>
                        <a:gd name="csY0" fmla="*/ 0 h 1715380"/>
                        <a:gd name="csX1" fmla="*/ 0 w 2204634"/>
                        <a:gd name="csY1" fmla="*/ 1715380 h 1715380"/>
                        <a:gd name="csX0" fmla="*/ 2204634 w 2204634"/>
                        <a:gd name="csY0" fmla="*/ 0 h 1715380"/>
                        <a:gd name="csX1" fmla="*/ 0 w 2204634"/>
                        <a:gd name="csY1" fmla="*/ 1715380 h 1715380"/>
                        <a:gd name="csX0" fmla="*/ 2204634 w 2204634"/>
                        <a:gd name="csY0" fmla="*/ 0 h 1715380"/>
                        <a:gd name="csX1" fmla="*/ 0 w 2204634"/>
                        <a:gd name="csY1" fmla="*/ 1715380 h 1715380"/>
                        <a:gd name="csX0" fmla="*/ 2204634 w 2204634"/>
                        <a:gd name="csY0" fmla="*/ 0 h 1715380"/>
                        <a:gd name="csX1" fmla="*/ 0 w 2204634"/>
                        <a:gd name="csY1" fmla="*/ 1715380 h 171538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2204634" h="1715380">
                          <a:moveTo>
                            <a:pt x="2204634" y="0"/>
                          </a:moveTo>
                          <a:cubicBezTo>
                            <a:pt x="1220212" y="483610"/>
                            <a:pt x="608487" y="1063376"/>
                            <a:pt x="0" y="1715380"/>
                          </a:cubicBezTo>
                        </a:path>
                      </a:pathLst>
                    </a:custGeom>
                    <a:noFill/>
                    <a:ln>
                      <a:prstDash val="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178" name="フリーフォーム 177">
                      <a:extLst>
                        <a:ext uri="{FF2B5EF4-FFF2-40B4-BE49-F238E27FC236}">
                          <a16:creationId xmlns:a16="http://schemas.microsoft.com/office/drawing/2014/main" id="{824C4838-C021-0E65-AC3A-A295D99E5D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793927" y="9883712"/>
                      <a:ext cx="165496" cy="2734492"/>
                    </a:xfrm>
                    <a:custGeom>
                      <a:avLst/>
                      <a:gdLst>
                        <a:gd name="csX0" fmla="*/ 43543 w 43543"/>
                        <a:gd name="csY0" fmla="*/ 0 h 2734492"/>
                        <a:gd name="csX1" fmla="*/ 0 w 43543"/>
                        <a:gd name="csY1" fmla="*/ 2734492 h 2734492"/>
                        <a:gd name="csX0" fmla="*/ 99663 w 99663"/>
                        <a:gd name="csY0" fmla="*/ 0 h 2734492"/>
                        <a:gd name="csX1" fmla="*/ 56120 w 99663"/>
                        <a:gd name="csY1" fmla="*/ 2734492 h 2734492"/>
                        <a:gd name="csX0" fmla="*/ 165496 w 165496"/>
                        <a:gd name="csY0" fmla="*/ 0 h 2734492"/>
                        <a:gd name="csX1" fmla="*/ 121953 w 165496"/>
                        <a:gd name="csY1" fmla="*/ 2734492 h 273449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165496" h="2734492">
                          <a:moveTo>
                            <a:pt x="165496" y="0"/>
                          </a:moveTo>
                          <a:cubicBezTo>
                            <a:pt x="-75441" y="885372"/>
                            <a:pt x="-20288" y="1831704"/>
                            <a:pt x="121953" y="2734492"/>
                          </a:cubicBezTo>
                        </a:path>
                      </a:pathLst>
                    </a:cu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90" name="テキスト ボックス 189">
                        <a:extLst>
                          <a:ext uri="{FF2B5EF4-FFF2-40B4-BE49-F238E27FC236}">
                            <a16:creationId xmlns:a16="http://schemas.microsoft.com/office/drawing/2014/main" id="{FF0D161E-0A41-9CDA-3272-E973FFD5393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963298" y="6126181"/>
                        <a:ext cx="768094" cy="61555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1" lang="ja-JP" altLang="en-US" sz="34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90" name="テキスト ボックス 189">
                        <a:extLst>
                          <a:ext uri="{FF2B5EF4-FFF2-40B4-BE49-F238E27FC236}">
                            <a16:creationId xmlns:a16="http://schemas.microsoft.com/office/drawing/2014/main" id="{FF0D161E-0A41-9CDA-3272-E973FFD5393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5963298" y="6126181"/>
                        <a:ext cx="768094" cy="615553"/>
                      </a:xfrm>
                      <a:prstGeom prst="rect">
                        <a:avLst/>
                      </a:prstGeom>
                      <a:blipFill>
                        <a:blip r:embed="rId21"/>
                        <a:stretch>
                          <a:fillRect l="-10526" b="-2608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92" name="テキスト ボックス 191">
                        <a:extLst>
                          <a:ext uri="{FF2B5EF4-FFF2-40B4-BE49-F238E27FC236}">
                            <a16:creationId xmlns:a16="http://schemas.microsoft.com/office/drawing/2014/main" id="{ED730357-151D-3200-D277-1C8B145A0F2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8979224" y="4744616"/>
                        <a:ext cx="754757" cy="66364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1" lang="ja-JP" altLang="en-US" sz="34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92" name="テキスト ボックス 191">
                        <a:extLst>
                          <a:ext uri="{FF2B5EF4-FFF2-40B4-BE49-F238E27FC236}">
                            <a16:creationId xmlns:a16="http://schemas.microsoft.com/office/drawing/2014/main" id="{ED730357-151D-3200-D277-1C8B145A0F2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8979224" y="4744616"/>
                        <a:ext cx="754757" cy="663643"/>
                      </a:xfrm>
                      <a:prstGeom prst="rect">
                        <a:avLst/>
                      </a:prstGeom>
                      <a:blipFill>
                        <a:blip r:embed="rId22"/>
                        <a:stretch>
                          <a:fillRect l="-10714" b="-1632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93" name="テキスト ボックス 192">
                        <a:extLst>
                          <a:ext uri="{FF2B5EF4-FFF2-40B4-BE49-F238E27FC236}">
                            <a16:creationId xmlns:a16="http://schemas.microsoft.com/office/drawing/2014/main" id="{6D5F0C58-EEF8-7D6F-C0BC-2D4134F485B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7098921" y="3215283"/>
                        <a:ext cx="735521" cy="61555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1" lang="ja-JP" altLang="en-US" sz="34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93" name="テキスト ボックス 192">
                        <a:extLst>
                          <a:ext uri="{FF2B5EF4-FFF2-40B4-BE49-F238E27FC236}">
                            <a16:creationId xmlns:a16="http://schemas.microsoft.com/office/drawing/2014/main" id="{6D5F0C58-EEF8-7D6F-C0BC-2D4134F485B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098921" y="3215283"/>
                        <a:ext cx="735521" cy="615553"/>
                      </a:xfrm>
                      <a:prstGeom prst="rect">
                        <a:avLst/>
                      </a:prstGeom>
                      <a:blipFill>
                        <a:blip r:embed="rId23"/>
                        <a:stretch>
                          <a:fillRect l="-10909" b="-2666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1" name="テキスト ボックス 210">
                      <a:extLst>
                        <a:ext uri="{FF2B5EF4-FFF2-40B4-BE49-F238E27FC236}">
                          <a16:creationId xmlns:a16="http://schemas.microsoft.com/office/drawing/2014/main" id="{ECE6FB5E-1BFB-3D38-E625-7015891B892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865923" y="4457938"/>
                      <a:ext cx="3456139" cy="69429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Sup>
                              <m:sSubSupPr>
                                <m:ctrlP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corr</m:t>
                                </m:r>
                              </m:sub>
                              <m:sup>
                                <m: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+−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, </m:t>
                                </m:r>
                                <m:sSub>
                                  <m:sSubPr>
                                    <m:ctrlP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, </m:t>
                                </m:r>
                                <m:sSub>
                                  <m:sSubPr>
                                    <m:ctrlP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d>
                          </m:oMath>
                        </m:oMathPara>
                      </a14:m>
                      <a:endParaRPr kumimoji="1" lang="ja-JP" altLang="en-US" sz="3400">
                        <a:solidFill>
                          <a:srgbClr val="0404FF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11" name="テキスト ボックス 210">
                      <a:extLst>
                        <a:ext uri="{FF2B5EF4-FFF2-40B4-BE49-F238E27FC236}">
                          <a16:creationId xmlns:a16="http://schemas.microsoft.com/office/drawing/2014/main" id="{ECE6FB5E-1BFB-3D38-E625-7015891B892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865923" y="4457938"/>
                      <a:ext cx="3456139" cy="694293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 b="-1607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33" name="グループ化 232">
                <a:extLst>
                  <a:ext uri="{FF2B5EF4-FFF2-40B4-BE49-F238E27FC236}">
                    <a16:creationId xmlns:a16="http://schemas.microsoft.com/office/drawing/2014/main" id="{208414B6-C0BF-88D9-A99A-07CB5FBAC171}"/>
                  </a:ext>
                </a:extLst>
              </p:cNvPr>
              <p:cNvGrpSpPr/>
              <p:nvPr/>
            </p:nvGrpSpPr>
            <p:grpSpPr>
              <a:xfrm>
                <a:off x="16518881" y="5443882"/>
                <a:ext cx="4000438" cy="4257685"/>
                <a:chOff x="16518881" y="5443882"/>
                <a:chExt cx="4000438" cy="425768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2" name="テキスト ボックス 211">
                      <a:extLst>
                        <a:ext uri="{FF2B5EF4-FFF2-40B4-BE49-F238E27FC236}">
                          <a16:creationId xmlns:a16="http://schemas.microsoft.com/office/drawing/2014/main" id="{8D991A3E-1D67-DC9D-7185-093B3947AD5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865924" y="9007274"/>
                      <a:ext cx="3456139" cy="69429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Sup>
                              <m:sSubSupPr>
                                <m:ctrlP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corr</m:t>
                                </m:r>
                              </m:sub>
                              <m:sup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+−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  <m:t>, </m:t>
                                </m:r>
                                <m:sSub>
                                  <m:sSubPr>
                                    <m:ctrlP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  <m:t>, </m:t>
                                </m:r>
                                <m:sSub>
                                  <m:sSubPr>
                                    <m:ctrlP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d>
                          </m:oMath>
                        </m:oMathPara>
                      </a14:m>
                      <a:endParaRPr kumimoji="1" lang="ja-JP" altLang="en-US" sz="3400">
                        <a:solidFill>
                          <a:srgbClr val="FF0B0B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12" name="テキスト ボックス 211">
                      <a:extLst>
                        <a:ext uri="{FF2B5EF4-FFF2-40B4-BE49-F238E27FC236}">
                          <a16:creationId xmlns:a16="http://schemas.microsoft.com/office/drawing/2014/main" id="{8D991A3E-1D67-DC9D-7185-093B3947AD5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865924" y="9007274"/>
                      <a:ext cx="3456139" cy="694293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 b="-1636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13" name="グループ化 212">
                  <a:extLst>
                    <a:ext uri="{FF2B5EF4-FFF2-40B4-BE49-F238E27FC236}">
                      <a16:creationId xmlns:a16="http://schemas.microsoft.com/office/drawing/2014/main" id="{D0E1DFA8-47CC-6832-968D-708C513DD1B8}"/>
                    </a:ext>
                  </a:extLst>
                </p:cNvPr>
                <p:cNvGrpSpPr/>
                <p:nvPr/>
              </p:nvGrpSpPr>
              <p:grpSpPr>
                <a:xfrm>
                  <a:off x="16518881" y="5443882"/>
                  <a:ext cx="4000438" cy="3528514"/>
                  <a:chOff x="15398170" y="3215283"/>
                  <a:chExt cx="4335811" cy="3824323"/>
                </a:xfrm>
              </p:grpSpPr>
              <p:cxnSp>
                <p:nvCxnSpPr>
                  <p:cNvPr id="214" name="直線矢印コネクタ 213">
                    <a:extLst>
                      <a:ext uri="{FF2B5EF4-FFF2-40B4-BE49-F238E27FC236}">
                        <a16:creationId xmlns:a16="http://schemas.microsoft.com/office/drawing/2014/main" id="{D83B3B3D-65D2-C344-9DCB-B0A9CCBDD951}"/>
                      </a:ext>
                    </a:extLst>
                  </p:cNvPr>
                  <p:cNvCxnSpPr/>
                  <p:nvPr/>
                </p:nvCxnSpPr>
                <p:spPr>
                  <a:xfrm>
                    <a:off x="16051565" y="5157773"/>
                    <a:ext cx="3009900" cy="18316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w="lg" len="lg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" name="直線矢印コネクタ 214">
                    <a:extLst>
                      <a:ext uri="{FF2B5EF4-FFF2-40B4-BE49-F238E27FC236}">
                        <a16:creationId xmlns:a16="http://schemas.microsoft.com/office/drawing/2014/main" id="{D79B4DBC-8DFF-1447-EEF6-B2398ED19A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15613415" y="5097797"/>
                    <a:ext cx="3009900" cy="18316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w="lg" len="lg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" name="直線矢印コネクタ 215">
                    <a:extLst>
                      <a:ext uri="{FF2B5EF4-FFF2-40B4-BE49-F238E27FC236}">
                        <a16:creationId xmlns:a16="http://schemas.microsoft.com/office/drawing/2014/main" id="{C543974C-63ED-4F92-CAEE-BD2142D1DF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8100000" flipV="1">
                    <a:off x="15398170" y="5339454"/>
                    <a:ext cx="3009900" cy="18316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w="lg" len="lg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17" name="グループ化 216">
                    <a:extLst>
                      <a:ext uri="{FF2B5EF4-FFF2-40B4-BE49-F238E27FC236}">
                        <a16:creationId xmlns:a16="http://schemas.microsoft.com/office/drawing/2014/main" id="{3C980E5D-183D-C46E-F250-408C0E9C977C}"/>
                      </a:ext>
                    </a:extLst>
                  </p:cNvPr>
                  <p:cNvGrpSpPr/>
                  <p:nvPr/>
                </p:nvGrpSpPr>
                <p:grpSpPr>
                  <a:xfrm>
                    <a:off x="16948261" y="4673362"/>
                    <a:ext cx="1772362" cy="2366244"/>
                    <a:chOff x="15134519" y="7961404"/>
                    <a:chExt cx="3495405" cy="4666644"/>
                  </a:xfrm>
                </p:grpSpPr>
                <p:sp>
                  <p:nvSpPr>
                    <p:cNvPr id="221" name="フリーフォーム 220">
                      <a:extLst>
                        <a:ext uri="{FF2B5EF4-FFF2-40B4-BE49-F238E27FC236}">
                          <a16:creationId xmlns:a16="http://schemas.microsoft.com/office/drawing/2014/main" id="{72A89D98-885C-EE88-4C37-899372767D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134519" y="7963283"/>
                      <a:ext cx="3495405" cy="4664765"/>
                    </a:xfrm>
                    <a:custGeom>
                      <a:avLst/>
                      <a:gdLst>
                        <a:gd name="csX0" fmla="*/ 0 w 3366052"/>
                        <a:gd name="csY0" fmla="*/ 1603513 h 4664765"/>
                        <a:gd name="csX1" fmla="*/ 26504 w 3366052"/>
                        <a:gd name="csY1" fmla="*/ 4412974 h 4664765"/>
                        <a:gd name="csX2" fmla="*/ 649357 w 3366052"/>
                        <a:gd name="csY2" fmla="*/ 4664765 h 4664765"/>
                        <a:gd name="csX3" fmla="*/ 3299791 w 3366052"/>
                        <a:gd name="csY3" fmla="*/ 3101009 h 4664765"/>
                        <a:gd name="csX4" fmla="*/ 3366052 w 3366052"/>
                        <a:gd name="csY4" fmla="*/ 463826 h 4664765"/>
                        <a:gd name="csX5" fmla="*/ 2358887 w 3366052"/>
                        <a:gd name="csY5" fmla="*/ 0 h 4664765"/>
                        <a:gd name="csX6" fmla="*/ 0 w 3366052"/>
                        <a:gd name="csY6" fmla="*/ 1603513 h 4664765"/>
                        <a:gd name="csX0" fmla="*/ 0 w 3366052"/>
                        <a:gd name="csY0" fmla="*/ 1603513 h 4664765"/>
                        <a:gd name="csX1" fmla="*/ 26504 w 3366052"/>
                        <a:gd name="csY1" fmla="*/ 4412974 h 4664765"/>
                        <a:gd name="csX2" fmla="*/ 649357 w 3366052"/>
                        <a:gd name="csY2" fmla="*/ 4664765 h 4664765"/>
                        <a:gd name="csX3" fmla="*/ 3299791 w 3366052"/>
                        <a:gd name="csY3" fmla="*/ 3101009 h 4664765"/>
                        <a:gd name="csX4" fmla="*/ 3366052 w 3366052"/>
                        <a:gd name="csY4" fmla="*/ 463826 h 4664765"/>
                        <a:gd name="csX5" fmla="*/ 2358887 w 3366052"/>
                        <a:gd name="csY5" fmla="*/ 0 h 4664765"/>
                        <a:gd name="csX6" fmla="*/ 0 w 3366052"/>
                        <a:gd name="csY6" fmla="*/ 1603513 h 4664765"/>
                        <a:gd name="csX0" fmla="*/ 0 w 3366052"/>
                        <a:gd name="csY0" fmla="*/ 1603513 h 4664765"/>
                        <a:gd name="csX1" fmla="*/ 26504 w 3366052"/>
                        <a:gd name="csY1" fmla="*/ 4412974 h 4664765"/>
                        <a:gd name="csX2" fmla="*/ 649357 w 3366052"/>
                        <a:gd name="csY2" fmla="*/ 4664765 h 4664765"/>
                        <a:gd name="csX3" fmla="*/ 3299791 w 3366052"/>
                        <a:gd name="csY3" fmla="*/ 3101009 h 4664765"/>
                        <a:gd name="csX4" fmla="*/ 3366052 w 3366052"/>
                        <a:gd name="csY4" fmla="*/ 463826 h 4664765"/>
                        <a:gd name="csX5" fmla="*/ 2358887 w 3366052"/>
                        <a:gd name="csY5" fmla="*/ 0 h 4664765"/>
                        <a:gd name="csX6" fmla="*/ 0 w 3366052"/>
                        <a:gd name="csY6" fmla="*/ 1603513 h 4664765"/>
                        <a:gd name="csX0" fmla="*/ 0 w 3366052"/>
                        <a:gd name="csY0" fmla="*/ 1603513 h 4664765"/>
                        <a:gd name="csX1" fmla="*/ 79513 w 3366052"/>
                        <a:gd name="csY1" fmla="*/ 4386470 h 4664765"/>
                        <a:gd name="csX2" fmla="*/ 649357 w 3366052"/>
                        <a:gd name="csY2" fmla="*/ 4664765 h 4664765"/>
                        <a:gd name="csX3" fmla="*/ 3299791 w 3366052"/>
                        <a:gd name="csY3" fmla="*/ 3101009 h 4664765"/>
                        <a:gd name="csX4" fmla="*/ 3366052 w 3366052"/>
                        <a:gd name="csY4" fmla="*/ 463826 h 4664765"/>
                        <a:gd name="csX5" fmla="*/ 2358887 w 3366052"/>
                        <a:gd name="csY5" fmla="*/ 0 h 4664765"/>
                        <a:gd name="csX6" fmla="*/ 0 w 3366052"/>
                        <a:gd name="csY6" fmla="*/ 1603513 h 4664765"/>
                        <a:gd name="csX0" fmla="*/ 78466 w 3444518"/>
                        <a:gd name="csY0" fmla="*/ 1603513 h 4664765"/>
                        <a:gd name="csX1" fmla="*/ 157979 w 3444518"/>
                        <a:gd name="csY1" fmla="*/ 4386470 h 4664765"/>
                        <a:gd name="csX2" fmla="*/ 727823 w 3444518"/>
                        <a:gd name="csY2" fmla="*/ 4664765 h 4664765"/>
                        <a:gd name="csX3" fmla="*/ 3378257 w 3444518"/>
                        <a:gd name="csY3" fmla="*/ 3101009 h 4664765"/>
                        <a:gd name="csX4" fmla="*/ 3444518 w 3444518"/>
                        <a:gd name="csY4" fmla="*/ 463826 h 4664765"/>
                        <a:gd name="csX5" fmla="*/ 2437353 w 3444518"/>
                        <a:gd name="csY5" fmla="*/ 0 h 4664765"/>
                        <a:gd name="csX6" fmla="*/ 78466 w 3444518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</a:cxnLst>
                      <a:rect l="l" t="t" r="r" b="b"/>
                      <a:pathLst>
                        <a:path w="3495405" h="4664765">
                          <a:moveTo>
                            <a:pt x="129353" y="1603513"/>
                          </a:moveTo>
                          <a:cubicBezTo>
                            <a:pt x="-3169" y="2504661"/>
                            <a:pt x="-109185" y="3432314"/>
                            <a:pt x="208866" y="4386470"/>
                          </a:cubicBezTo>
                          <a:lnTo>
                            <a:pt x="778710" y="4664765"/>
                          </a:lnTo>
                          <a:cubicBezTo>
                            <a:pt x="1582675" y="4037495"/>
                            <a:pt x="2519162" y="3317462"/>
                            <a:pt x="3429144" y="3101009"/>
                          </a:cubicBezTo>
                          <a:cubicBezTo>
                            <a:pt x="3159683" y="2036417"/>
                            <a:pt x="3420310" y="1329635"/>
                            <a:pt x="3495405" y="463826"/>
                          </a:cubicBezTo>
                          <a:lnTo>
                            <a:pt x="2488240" y="0"/>
                          </a:lnTo>
                          <a:cubicBezTo>
                            <a:pt x="1489909" y="348973"/>
                            <a:pt x="796380" y="976244"/>
                            <a:pt x="129353" y="1603513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chemeClr val="accent1">
                            <a:lumMod val="5000"/>
                            <a:lumOff val="95000"/>
                            <a:alpha val="30000"/>
                          </a:schemeClr>
                        </a:gs>
                        <a:gs pos="100000">
                          <a:srgbClr val="FF0B0B">
                            <a:alpha val="30000"/>
                          </a:srgbClr>
                        </a:gs>
                      </a:gsLst>
                      <a:lin ang="5400000" scaled="1"/>
                      <a:tileRect/>
                    </a:gra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222" name="フリーフォーム 221">
                      <a:extLst>
                        <a:ext uri="{FF2B5EF4-FFF2-40B4-BE49-F238E27FC236}">
                          <a16:creationId xmlns:a16="http://schemas.microsoft.com/office/drawing/2014/main" id="{F4BF5726-3585-EAE7-2A1E-3C926D4895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83613" y="8420672"/>
                      <a:ext cx="2631924" cy="1450461"/>
                    </a:xfrm>
                    <a:custGeom>
                      <a:avLst/>
                      <a:gdLst>
                        <a:gd name="csX0" fmla="*/ 2577737 w 2577737"/>
                        <a:gd name="csY0" fmla="*/ 0 h 1436914"/>
                        <a:gd name="csX1" fmla="*/ 0 w 2577737"/>
                        <a:gd name="csY1" fmla="*/ 1436914 h 1436914"/>
                        <a:gd name="csX0" fmla="*/ 2577737 w 2577737"/>
                        <a:gd name="csY0" fmla="*/ 0 h 1436914"/>
                        <a:gd name="csX1" fmla="*/ 0 w 2577737"/>
                        <a:gd name="csY1" fmla="*/ 1436914 h 1436914"/>
                        <a:gd name="csX0" fmla="*/ 2577737 w 2577737"/>
                        <a:gd name="csY0" fmla="*/ 0 h 1436914"/>
                        <a:gd name="csX1" fmla="*/ 0 w 2577737"/>
                        <a:gd name="csY1" fmla="*/ 1436914 h 1436914"/>
                        <a:gd name="csX0" fmla="*/ 2631924 w 2631924"/>
                        <a:gd name="csY0" fmla="*/ 0 h 1450461"/>
                        <a:gd name="csX1" fmla="*/ 0 w 2631924"/>
                        <a:gd name="csY1" fmla="*/ 1450461 h 1450461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2631924" h="1450461">
                          <a:moveTo>
                            <a:pt x="2631924" y="0"/>
                          </a:moveTo>
                          <a:cubicBezTo>
                            <a:pt x="1476586" y="269965"/>
                            <a:pt x="702491" y="858278"/>
                            <a:pt x="0" y="1450461"/>
                          </a:cubicBezTo>
                        </a:path>
                      </a:pathLst>
                    </a:cu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223" name="フリーフォーム 222">
                      <a:extLst>
                        <a:ext uri="{FF2B5EF4-FFF2-40B4-BE49-F238E27FC236}">
                          <a16:creationId xmlns:a16="http://schemas.microsoft.com/office/drawing/2014/main" id="{8E23E41E-F25D-A9C3-FEF3-3050FBD7BA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254028" y="9552786"/>
                      <a:ext cx="706361" cy="319315"/>
                    </a:xfrm>
                    <a:custGeom>
                      <a:avLst/>
                      <a:gdLst>
                        <a:gd name="csX0" fmla="*/ 0 w 740228"/>
                        <a:gd name="csY0" fmla="*/ 0 h 339635"/>
                        <a:gd name="csX1" fmla="*/ 740228 w 740228"/>
                        <a:gd name="csY1" fmla="*/ 339635 h 339635"/>
                        <a:gd name="csX0" fmla="*/ 0 w 706361"/>
                        <a:gd name="csY0" fmla="*/ 0 h 319315"/>
                        <a:gd name="csX1" fmla="*/ 706361 w 706361"/>
                        <a:gd name="csY1" fmla="*/ 319315 h 31931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706361" h="319315">
                          <a:moveTo>
                            <a:pt x="0" y="0"/>
                          </a:moveTo>
                          <a:lnTo>
                            <a:pt x="706361" y="319315"/>
                          </a:lnTo>
                        </a:path>
                      </a:pathLst>
                    </a:cu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224" name="フリーフォーム 223">
                      <a:extLst>
                        <a:ext uri="{FF2B5EF4-FFF2-40B4-BE49-F238E27FC236}">
                          <a16:creationId xmlns:a16="http://schemas.microsoft.com/office/drawing/2014/main" id="{5EEDD651-5531-E420-DD1E-FBCD07C77A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426461" y="7961404"/>
                      <a:ext cx="191381" cy="2623559"/>
                    </a:xfrm>
                    <a:custGeom>
                      <a:avLst/>
                      <a:gdLst>
                        <a:gd name="csX0" fmla="*/ 0 w 76912"/>
                        <a:gd name="csY0" fmla="*/ 0 h 2785929"/>
                        <a:gd name="csX1" fmla="*/ 76912 w 76912"/>
                        <a:gd name="csY1" fmla="*/ 2785929 h 2785929"/>
                        <a:gd name="csX0" fmla="*/ 64084 w 140996"/>
                        <a:gd name="csY0" fmla="*/ 0 h 2785929"/>
                        <a:gd name="csX1" fmla="*/ 140996 w 140996"/>
                        <a:gd name="csY1" fmla="*/ 2785929 h 2785929"/>
                        <a:gd name="csX0" fmla="*/ 117045 w 193957"/>
                        <a:gd name="csY0" fmla="*/ 0 h 2785929"/>
                        <a:gd name="csX1" fmla="*/ 193957 w 193957"/>
                        <a:gd name="csY1" fmla="*/ 2785929 h 2785929"/>
                        <a:gd name="csX0" fmla="*/ 191381 w 191381"/>
                        <a:gd name="csY0" fmla="*/ 0 h 2623559"/>
                        <a:gd name="csX1" fmla="*/ 131560 w 191381"/>
                        <a:gd name="csY1" fmla="*/ 2623559 h 262355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191381" h="2623559">
                          <a:moveTo>
                            <a:pt x="191381" y="0"/>
                          </a:moveTo>
                          <a:cubicBezTo>
                            <a:pt x="20464" y="937189"/>
                            <a:pt x="-107722" y="1720554"/>
                            <a:pt x="131560" y="2623559"/>
                          </a:cubicBezTo>
                        </a:path>
                      </a:pathLst>
                    </a:custGeom>
                    <a:noFill/>
                    <a:ln>
                      <a:prstDash val="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cxnSp>
                  <p:nvCxnSpPr>
                    <p:cNvPr id="225" name="直線コネクタ 224">
                      <a:extLst>
                        <a:ext uri="{FF2B5EF4-FFF2-40B4-BE49-F238E27FC236}">
                          <a16:creationId xmlns:a16="http://schemas.microsoft.com/office/drawing/2014/main" id="{93286489-CECA-43F3-C1A9-61D6E9DC02C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543527" y="10593763"/>
                      <a:ext cx="1011121" cy="46570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26" name="フリーフォーム 225">
                      <a:extLst>
                        <a:ext uri="{FF2B5EF4-FFF2-40B4-BE49-F238E27FC236}">
                          <a16:creationId xmlns:a16="http://schemas.microsoft.com/office/drawing/2014/main" id="{BB8C48A4-1F15-60DB-295F-CBB50A4AD1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336510" y="10616356"/>
                      <a:ext cx="2204634" cy="1715380"/>
                    </a:xfrm>
                    <a:custGeom>
                      <a:avLst/>
                      <a:gdLst>
                        <a:gd name="csX0" fmla="*/ 2577737 w 2577737"/>
                        <a:gd name="csY0" fmla="*/ 0 h 1436914"/>
                        <a:gd name="csX1" fmla="*/ 0 w 2577737"/>
                        <a:gd name="csY1" fmla="*/ 1436914 h 1436914"/>
                        <a:gd name="csX0" fmla="*/ 2577737 w 2577737"/>
                        <a:gd name="csY0" fmla="*/ 0 h 1436914"/>
                        <a:gd name="csX1" fmla="*/ 0 w 2577737"/>
                        <a:gd name="csY1" fmla="*/ 1436914 h 1436914"/>
                        <a:gd name="csX0" fmla="*/ 2577737 w 2577737"/>
                        <a:gd name="csY0" fmla="*/ 0 h 1436914"/>
                        <a:gd name="csX1" fmla="*/ 0 w 2577737"/>
                        <a:gd name="csY1" fmla="*/ 1436914 h 1436914"/>
                        <a:gd name="csX0" fmla="*/ 2631924 w 2631924"/>
                        <a:gd name="csY0" fmla="*/ 0 h 1450461"/>
                        <a:gd name="csX1" fmla="*/ 0 w 2631924"/>
                        <a:gd name="csY1" fmla="*/ 1450461 h 1450461"/>
                        <a:gd name="csX0" fmla="*/ 2204634 w 2204634"/>
                        <a:gd name="csY0" fmla="*/ 0 h 1715380"/>
                        <a:gd name="csX1" fmla="*/ 0 w 2204634"/>
                        <a:gd name="csY1" fmla="*/ 1715380 h 1715380"/>
                        <a:gd name="csX0" fmla="*/ 2204634 w 2204634"/>
                        <a:gd name="csY0" fmla="*/ 0 h 1715380"/>
                        <a:gd name="csX1" fmla="*/ 0 w 2204634"/>
                        <a:gd name="csY1" fmla="*/ 1715380 h 1715380"/>
                        <a:gd name="csX0" fmla="*/ 2204634 w 2204634"/>
                        <a:gd name="csY0" fmla="*/ 0 h 1715380"/>
                        <a:gd name="csX1" fmla="*/ 0 w 2204634"/>
                        <a:gd name="csY1" fmla="*/ 1715380 h 1715380"/>
                        <a:gd name="csX0" fmla="*/ 2204634 w 2204634"/>
                        <a:gd name="csY0" fmla="*/ 0 h 1715380"/>
                        <a:gd name="csX1" fmla="*/ 0 w 2204634"/>
                        <a:gd name="csY1" fmla="*/ 1715380 h 171538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2204634" h="1715380">
                          <a:moveTo>
                            <a:pt x="2204634" y="0"/>
                          </a:moveTo>
                          <a:cubicBezTo>
                            <a:pt x="1220212" y="483610"/>
                            <a:pt x="608487" y="1063376"/>
                            <a:pt x="0" y="1715380"/>
                          </a:cubicBezTo>
                        </a:path>
                      </a:pathLst>
                    </a:custGeom>
                    <a:noFill/>
                    <a:ln>
                      <a:prstDash val="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227" name="フリーフォーム 226">
                      <a:extLst>
                        <a:ext uri="{FF2B5EF4-FFF2-40B4-BE49-F238E27FC236}">
                          <a16:creationId xmlns:a16="http://schemas.microsoft.com/office/drawing/2014/main" id="{140DEEE2-600D-F07B-843C-A4FEB2AFF4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793927" y="9883712"/>
                      <a:ext cx="165496" cy="2734492"/>
                    </a:xfrm>
                    <a:custGeom>
                      <a:avLst/>
                      <a:gdLst>
                        <a:gd name="csX0" fmla="*/ 43543 w 43543"/>
                        <a:gd name="csY0" fmla="*/ 0 h 2734492"/>
                        <a:gd name="csX1" fmla="*/ 0 w 43543"/>
                        <a:gd name="csY1" fmla="*/ 2734492 h 2734492"/>
                        <a:gd name="csX0" fmla="*/ 99663 w 99663"/>
                        <a:gd name="csY0" fmla="*/ 0 h 2734492"/>
                        <a:gd name="csX1" fmla="*/ 56120 w 99663"/>
                        <a:gd name="csY1" fmla="*/ 2734492 h 2734492"/>
                        <a:gd name="csX0" fmla="*/ 165496 w 165496"/>
                        <a:gd name="csY0" fmla="*/ 0 h 2734492"/>
                        <a:gd name="csX1" fmla="*/ 121953 w 165496"/>
                        <a:gd name="csY1" fmla="*/ 2734492 h 273449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165496" h="2734492">
                          <a:moveTo>
                            <a:pt x="165496" y="0"/>
                          </a:moveTo>
                          <a:cubicBezTo>
                            <a:pt x="-75441" y="885372"/>
                            <a:pt x="-20288" y="1831704"/>
                            <a:pt x="121953" y="2734492"/>
                          </a:cubicBezTo>
                        </a:path>
                      </a:pathLst>
                    </a:cu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18" name="テキスト ボックス 217">
                        <a:extLst>
                          <a:ext uri="{FF2B5EF4-FFF2-40B4-BE49-F238E27FC236}">
                            <a16:creationId xmlns:a16="http://schemas.microsoft.com/office/drawing/2014/main" id="{3F4AEF9F-B119-8850-293D-78E58808729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963298" y="6126181"/>
                        <a:ext cx="768094" cy="61555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1" lang="ja-JP" altLang="en-US" sz="34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18" name="テキスト ボックス 217">
                        <a:extLst>
                          <a:ext uri="{FF2B5EF4-FFF2-40B4-BE49-F238E27FC236}">
                            <a16:creationId xmlns:a16="http://schemas.microsoft.com/office/drawing/2014/main" id="{3F4AEF9F-B119-8850-293D-78E58808729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5963298" y="6126181"/>
                        <a:ext cx="768094" cy="615553"/>
                      </a:xfrm>
                      <a:prstGeom prst="rect">
                        <a:avLst/>
                      </a:prstGeom>
                      <a:blipFill>
                        <a:blip r:embed="rId26"/>
                        <a:stretch>
                          <a:fillRect l="-10526" b="-2666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19" name="テキスト ボックス 218">
                        <a:extLst>
                          <a:ext uri="{FF2B5EF4-FFF2-40B4-BE49-F238E27FC236}">
                            <a16:creationId xmlns:a16="http://schemas.microsoft.com/office/drawing/2014/main" id="{D28DCE2F-87D6-A804-19CE-D6ABDCC7FA2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8979224" y="4744616"/>
                        <a:ext cx="754757" cy="66364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1" lang="ja-JP" altLang="en-US" sz="34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19" name="テキスト ボックス 218">
                        <a:extLst>
                          <a:ext uri="{FF2B5EF4-FFF2-40B4-BE49-F238E27FC236}">
                            <a16:creationId xmlns:a16="http://schemas.microsoft.com/office/drawing/2014/main" id="{D28DCE2F-87D6-A804-19CE-D6ABDCC7FA2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8979224" y="4744616"/>
                        <a:ext cx="754757" cy="663643"/>
                      </a:xfrm>
                      <a:prstGeom prst="rect">
                        <a:avLst/>
                      </a:prstGeom>
                      <a:blipFill>
                        <a:blip r:embed="rId27"/>
                        <a:stretch>
                          <a:fillRect l="-10714" b="-1836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20" name="テキスト ボックス 219">
                        <a:extLst>
                          <a:ext uri="{FF2B5EF4-FFF2-40B4-BE49-F238E27FC236}">
                            <a16:creationId xmlns:a16="http://schemas.microsoft.com/office/drawing/2014/main" id="{EAE85D9B-0D11-711E-7DFC-6F57014F8A2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7098921" y="3215283"/>
                        <a:ext cx="735521" cy="61555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1" lang="ja-JP" altLang="en-US" sz="34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20" name="テキスト ボックス 219">
                        <a:extLst>
                          <a:ext uri="{FF2B5EF4-FFF2-40B4-BE49-F238E27FC236}">
                            <a16:creationId xmlns:a16="http://schemas.microsoft.com/office/drawing/2014/main" id="{EAE85D9B-0D11-711E-7DFC-6F57014F8A2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098921" y="3215283"/>
                        <a:ext cx="735521" cy="615553"/>
                      </a:xfrm>
                      <a:prstGeom prst="rect">
                        <a:avLst/>
                      </a:prstGeom>
                      <a:blipFill>
                        <a:blip r:embed="rId28"/>
                        <a:stretch>
                          <a:fillRect l="-10909" b="-2391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</p:grpSp>
        <p:grpSp>
          <p:nvGrpSpPr>
            <p:cNvPr id="244" name="グループ化 243">
              <a:extLst>
                <a:ext uri="{FF2B5EF4-FFF2-40B4-BE49-F238E27FC236}">
                  <a16:creationId xmlns:a16="http://schemas.microsoft.com/office/drawing/2014/main" id="{88F237FE-E2F0-FD75-D5E0-8DCFAB10AE41}"/>
                </a:ext>
              </a:extLst>
            </p:cNvPr>
            <p:cNvGrpSpPr/>
            <p:nvPr/>
          </p:nvGrpSpPr>
          <p:grpSpPr>
            <a:xfrm>
              <a:off x="1857308" y="8218208"/>
              <a:ext cx="1208696" cy="468000"/>
              <a:chOff x="1857308" y="8216261"/>
              <a:chExt cx="1208696" cy="468000"/>
            </a:xfrm>
          </p:grpSpPr>
          <p:cxnSp>
            <p:nvCxnSpPr>
              <p:cNvPr id="238" name="直線コネクタ 237">
                <a:extLst>
                  <a:ext uri="{FF2B5EF4-FFF2-40B4-BE49-F238E27FC236}">
                    <a16:creationId xmlns:a16="http://schemas.microsoft.com/office/drawing/2014/main" id="{4F1B4AAD-FCC3-B759-8D48-1D1B5D98EF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7308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直線コネクタ 238">
                <a:extLst>
                  <a:ext uri="{FF2B5EF4-FFF2-40B4-BE49-F238E27FC236}">
                    <a16:creationId xmlns:a16="http://schemas.microsoft.com/office/drawing/2014/main" id="{497301CF-E959-C8C6-89BF-C325C06E5A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66004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直線コネクタ 239">
                <a:extLst>
                  <a:ext uri="{FF2B5EF4-FFF2-40B4-BE49-F238E27FC236}">
                    <a16:creationId xmlns:a16="http://schemas.microsoft.com/office/drawing/2014/main" id="{D7067ADD-5DFA-7071-B9D6-19719F094F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9482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直線コネクタ 240">
                <a:extLst>
                  <a:ext uri="{FF2B5EF4-FFF2-40B4-BE49-F238E27FC236}">
                    <a16:creationId xmlns:a16="http://schemas.microsoft.com/office/drawing/2014/main" id="{EEECBD73-59FE-4B35-70E8-C6B1E19FFF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3830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直線コネクタ 241">
                <a:extLst>
                  <a:ext uri="{FF2B5EF4-FFF2-40B4-BE49-F238E27FC236}">
                    <a16:creationId xmlns:a16="http://schemas.microsoft.com/office/drawing/2014/main" id="{A22D0949-EDAC-7CDA-C4AD-1618403FF4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1656" y="8216261"/>
                <a:ext cx="0" cy="4680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5" name="グループ化 244">
              <a:extLst>
                <a:ext uri="{FF2B5EF4-FFF2-40B4-BE49-F238E27FC236}">
                  <a16:creationId xmlns:a16="http://schemas.microsoft.com/office/drawing/2014/main" id="{5A6062E0-E4D6-EE24-442E-2C950F48BFB3}"/>
                </a:ext>
              </a:extLst>
            </p:cNvPr>
            <p:cNvGrpSpPr/>
            <p:nvPr/>
          </p:nvGrpSpPr>
          <p:grpSpPr>
            <a:xfrm>
              <a:off x="3649202" y="8218208"/>
              <a:ext cx="1208696" cy="468000"/>
              <a:chOff x="1857308" y="8216261"/>
              <a:chExt cx="1208696" cy="468000"/>
            </a:xfrm>
          </p:grpSpPr>
          <p:cxnSp>
            <p:nvCxnSpPr>
              <p:cNvPr id="246" name="直線コネクタ 245">
                <a:extLst>
                  <a:ext uri="{FF2B5EF4-FFF2-40B4-BE49-F238E27FC236}">
                    <a16:creationId xmlns:a16="http://schemas.microsoft.com/office/drawing/2014/main" id="{1E59AD25-A92F-EA6D-2AFF-78E3D6AA9A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7308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直線コネクタ 246">
                <a:extLst>
                  <a:ext uri="{FF2B5EF4-FFF2-40B4-BE49-F238E27FC236}">
                    <a16:creationId xmlns:a16="http://schemas.microsoft.com/office/drawing/2014/main" id="{8437B60B-473E-36B6-955A-01A4675E3D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66004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直線コネクタ 247">
                <a:extLst>
                  <a:ext uri="{FF2B5EF4-FFF2-40B4-BE49-F238E27FC236}">
                    <a16:creationId xmlns:a16="http://schemas.microsoft.com/office/drawing/2014/main" id="{BD834DD2-6FC7-57AA-BCAE-6B0F7CC886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9482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直線コネクタ 248">
                <a:extLst>
                  <a:ext uri="{FF2B5EF4-FFF2-40B4-BE49-F238E27FC236}">
                    <a16:creationId xmlns:a16="http://schemas.microsoft.com/office/drawing/2014/main" id="{72F60B1C-4E5E-E67A-0593-4BD3C60789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3830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直線コネクタ 249">
                <a:extLst>
                  <a:ext uri="{FF2B5EF4-FFF2-40B4-BE49-F238E27FC236}">
                    <a16:creationId xmlns:a16="http://schemas.microsoft.com/office/drawing/2014/main" id="{23DC38BF-A624-6C1D-02CD-FA69D00679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1656" y="8216261"/>
                <a:ext cx="0" cy="4680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1" name="グループ化 250">
              <a:extLst>
                <a:ext uri="{FF2B5EF4-FFF2-40B4-BE49-F238E27FC236}">
                  <a16:creationId xmlns:a16="http://schemas.microsoft.com/office/drawing/2014/main" id="{F8A9C3FF-9BB5-A371-C0E5-8BC3CCFF70DA}"/>
                </a:ext>
              </a:extLst>
            </p:cNvPr>
            <p:cNvGrpSpPr/>
            <p:nvPr/>
          </p:nvGrpSpPr>
          <p:grpSpPr>
            <a:xfrm>
              <a:off x="5431374" y="8218208"/>
              <a:ext cx="1208696" cy="468000"/>
              <a:chOff x="1857308" y="8216261"/>
              <a:chExt cx="1208696" cy="468000"/>
            </a:xfrm>
          </p:grpSpPr>
          <p:cxnSp>
            <p:nvCxnSpPr>
              <p:cNvPr id="252" name="直線コネクタ 251">
                <a:extLst>
                  <a:ext uri="{FF2B5EF4-FFF2-40B4-BE49-F238E27FC236}">
                    <a16:creationId xmlns:a16="http://schemas.microsoft.com/office/drawing/2014/main" id="{43D94AD0-3FF4-515A-6EFA-A0DF4DC9FB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7308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直線コネクタ 252">
                <a:extLst>
                  <a:ext uri="{FF2B5EF4-FFF2-40B4-BE49-F238E27FC236}">
                    <a16:creationId xmlns:a16="http://schemas.microsoft.com/office/drawing/2014/main" id="{26540569-B469-4F4B-EB00-8AAA585696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66004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直線コネクタ 253">
                <a:extLst>
                  <a:ext uri="{FF2B5EF4-FFF2-40B4-BE49-F238E27FC236}">
                    <a16:creationId xmlns:a16="http://schemas.microsoft.com/office/drawing/2014/main" id="{14AD268D-5BD1-15FF-2B88-F8D464FD1B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9482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直線コネクタ 254">
                <a:extLst>
                  <a:ext uri="{FF2B5EF4-FFF2-40B4-BE49-F238E27FC236}">
                    <a16:creationId xmlns:a16="http://schemas.microsoft.com/office/drawing/2014/main" id="{9BDAB9F0-4E68-0F29-86F5-119BC4D13D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3830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直線コネクタ 255">
                <a:extLst>
                  <a:ext uri="{FF2B5EF4-FFF2-40B4-BE49-F238E27FC236}">
                    <a16:creationId xmlns:a16="http://schemas.microsoft.com/office/drawing/2014/main" id="{1D5E4073-8F39-35D8-50FD-5B8E8D1875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1656" y="8216261"/>
                <a:ext cx="0" cy="4680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7" name="グループ化 256">
              <a:extLst>
                <a:ext uri="{FF2B5EF4-FFF2-40B4-BE49-F238E27FC236}">
                  <a16:creationId xmlns:a16="http://schemas.microsoft.com/office/drawing/2014/main" id="{1B4CD3C0-7E1D-4806-EA4F-A5EC7BE4FE03}"/>
                </a:ext>
              </a:extLst>
            </p:cNvPr>
            <p:cNvGrpSpPr/>
            <p:nvPr/>
          </p:nvGrpSpPr>
          <p:grpSpPr>
            <a:xfrm>
              <a:off x="7206878" y="8218208"/>
              <a:ext cx="1208696" cy="468000"/>
              <a:chOff x="1857308" y="8216261"/>
              <a:chExt cx="1208696" cy="468000"/>
            </a:xfrm>
          </p:grpSpPr>
          <p:cxnSp>
            <p:nvCxnSpPr>
              <p:cNvPr id="258" name="直線コネクタ 257">
                <a:extLst>
                  <a:ext uri="{FF2B5EF4-FFF2-40B4-BE49-F238E27FC236}">
                    <a16:creationId xmlns:a16="http://schemas.microsoft.com/office/drawing/2014/main" id="{AA62C5F0-BA02-4E2F-073A-110F741AF5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7308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直線コネクタ 258">
                <a:extLst>
                  <a:ext uri="{FF2B5EF4-FFF2-40B4-BE49-F238E27FC236}">
                    <a16:creationId xmlns:a16="http://schemas.microsoft.com/office/drawing/2014/main" id="{1318A453-7754-802F-44F1-21105B95B1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66004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直線コネクタ 259">
                <a:extLst>
                  <a:ext uri="{FF2B5EF4-FFF2-40B4-BE49-F238E27FC236}">
                    <a16:creationId xmlns:a16="http://schemas.microsoft.com/office/drawing/2014/main" id="{61283310-ACCC-CEFA-AE3C-120B85435F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9482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直線コネクタ 260">
                <a:extLst>
                  <a:ext uri="{FF2B5EF4-FFF2-40B4-BE49-F238E27FC236}">
                    <a16:creationId xmlns:a16="http://schemas.microsoft.com/office/drawing/2014/main" id="{E7B61A9A-44AC-1947-CACF-A9F902B68F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3830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直線コネクタ 261">
                <a:extLst>
                  <a:ext uri="{FF2B5EF4-FFF2-40B4-BE49-F238E27FC236}">
                    <a16:creationId xmlns:a16="http://schemas.microsoft.com/office/drawing/2014/main" id="{8C357C50-1B78-919B-233D-119FED9732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1656" y="8216261"/>
                <a:ext cx="0" cy="4680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3" name="テキスト ボックス 262">
              <a:extLst>
                <a:ext uri="{FF2B5EF4-FFF2-40B4-BE49-F238E27FC236}">
                  <a16:creationId xmlns:a16="http://schemas.microsoft.com/office/drawing/2014/main" id="{4A6558D7-23BD-7A37-CACB-25CE64E970A1}"/>
                </a:ext>
              </a:extLst>
            </p:cNvPr>
            <p:cNvSpPr txBox="1"/>
            <p:nvPr/>
          </p:nvSpPr>
          <p:spPr>
            <a:xfrm>
              <a:off x="8238090" y="8577229"/>
              <a:ext cx="1098378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3400" b="0" dirty="0"/>
                <a:t>Time</a:t>
              </a:r>
              <a:endParaRPr kumimoji="1" lang="ja-JP" altLang="en-US" sz="3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テキスト ボックス 263">
                  <a:extLst>
                    <a:ext uri="{FF2B5EF4-FFF2-40B4-BE49-F238E27FC236}">
                      <a16:creationId xmlns:a16="http://schemas.microsoft.com/office/drawing/2014/main" id="{BE1722B4-5EE1-7D6C-D272-CEF3CFD32F29}"/>
                    </a:ext>
                  </a:extLst>
                </p:cNvPr>
                <p:cNvSpPr txBox="1"/>
                <p:nvPr/>
              </p:nvSpPr>
              <p:spPr>
                <a:xfrm rot="16200000">
                  <a:off x="542928" y="6139739"/>
                  <a:ext cx="1270284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kumimoji="1" lang="en-US" altLang="ja-JP" sz="3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400"/>
                </a:p>
              </p:txBody>
            </p:sp>
          </mc:Choice>
          <mc:Fallback xmlns="">
            <p:sp>
              <p:nvSpPr>
                <p:cNvPr id="264" name="テキスト ボックス 263">
                  <a:extLst>
                    <a:ext uri="{FF2B5EF4-FFF2-40B4-BE49-F238E27FC236}">
                      <a16:creationId xmlns:a16="http://schemas.microsoft.com/office/drawing/2014/main" id="{BE1722B4-5EE1-7D6C-D272-CEF3CFD32F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542928" y="6139739"/>
                  <a:ext cx="1270284" cy="615553"/>
                </a:xfrm>
                <a:prstGeom prst="rect">
                  <a:avLst/>
                </a:prstGeom>
                <a:blipFill>
                  <a:blip r:embed="rId29"/>
                  <a:stretch>
                    <a:fillRect b="-99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9" name="テキスト ボックス 268">
              <a:extLst>
                <a:ext uri="{FF2B5EF4-FFF2-40B4-BE49-F238E27FC236}">
                  <a16:creationId xmlns:a16="http://schemas.microsoft.com/office/drawing/2014/main" id="{26BE9262-B4E6-8F16-C541-B047A8616F9A}"/>
                </a:ext>
              </a:extLst>
            </p:cNvPr>
            <p:cNvSpPr txBox="1"/>
            <p:nvPr/>
          </p:nvSpPr>
          <p:spPr>
            <a:xfrm>
              <a:off x="4775565" y="1454154"/>
              <a:ext cx="74411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3200" dirty="0"/>
                <a:t>flip</a:t>
              </a:r>
              <a:endParaRPr kumimoji="1" lang="ja-JP" altLang="en-US" sz="3200"/>
            </a:p>
          </p:txBody>
        </p:sp>
        <p:grpSp>
          <p:nvGrpSpPr>
            <p:cNvPr id="277" name="グループ化 276">
              <a:extLst>
                <a:ext uri="{FF2B5EF4-FFF2-40B4-BE49-F238E27FC236}">
                  <a16:creationId xmlns:a16="http://schemas.microsoft.com/office/drawing/2014/main" id="{46CF465B-EE25-9EE9-2215-15A2EA966CE7}"/>
                </a:ext>
              </a:extLst>
            </p:cNvPr>
            <p:cNvGrpSpPr/>
            <p:nvPr/>
          </p:nvGrpSpPr>
          <p:grpSpPr>
            <a:xfrm>
              <a:off x="11106634" y="1422054"/>
              <a:ext cx="1603085" cy="1847099"/>
              <a:chOff x="10979128" y="1373067"/>
              <a:chExt cx="1603085" cy="1847099"/>
            </a:xfrm>
          </p:grpSpPr>
          <p:cxnSp>
            <p:nvCxnSpPr>
              <p:cNvPr id="267" name="直線コネクタ 266">
                <a:extLst>
                  <a:ext uri="{FF2B5EF4-FFF2-40B4-BE49-F238E27FC236}">
                    <a16:creationId xmlns:a16="http://schemas.microsoft.com/office/drawing/2014/main" id="{C3E407BC-938D-0249-5910-7C2FD6D5AD6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494013" y="1942627"/>
                <a:ext cx="591458" cy="656209"/>
              </a:xfrm>
              <a:prstGeom prst="line">
                <a:avLst/>
              </a:prstGeom>
              <a:ln w="73025" cap="rnd">
                <a:solidFill>
                  <a:schemeClr val="tx1"/>
                </a:solidFill>
                <a:prstDash val="sysDot"/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1" name="テキスト ボックス 270">
                    <a:extLst>
                      <a:ext uri="{FF2B5EF4-FFF2-40B4-BE49-F238E27FC236}">
                        <a16:creationId xmlns:a16="http://schemas.microsoft.com/office/drawing/2014/main" id="{582B0CB3-1F69-9033-1542-959A65B03EA3}"/>
                      </a:ext>
                    </a:extLst>
                  </p:cNvPr>
                  <p:cNvSpPr txBox="1"/>
                  <p:nvPr/>
                </p:nvSpPr>
                <p:spPr>
                  <a:xfrm>
                    <a:off x="10979128" y="2604613"/>
                    <a:ext cx="514885" cy="61555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kumimoji="1" lang="en-US" altLang="ja-JP" sz="3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kumimoji="1" lang="ja-JP" altLang="en-US" sz="3400"/>
                  </a:p>
                </p:txBody>
              </p:sp>
            </mc:Choice>
            <mc:Fallback xmlns="">
              <p:sp>
                <p:nvSpPr>
                  <p:cNvPr id="271" name="テキスト ボックス 270">
                    <a:extLst>
                      <a:ext uri="{FF2B5EF4-FFF2-40B4-BE49-F238E27FC236}">
                        <a16:creationId xmlns:a16="http://schemas.microsoft.com/office/drawing/2014/main" id="{582B0CB3-1F69-9033-1542-959A65B03EA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79128" y="2604613"/>
                    <a:ext cx="514885" cy="615553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l="-2439" r="-2439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2" name="テキスト ボックス 271">
                    <a:extLst>
                      <a:ext uri="{FF2B5EF4-FFF2-40B4-BE49-F238E27FC236}">
                        <a16:creationId xmlns:a16="http://schemas.microsoft.com/office/drawing/2014/main" id="{CB4FAF7E-4A8D-79F0-711F-C256D33CDC37}"/>
                      </a:ext>
                    </a:extLst>
                  </p:cNvPr>
                  <p:cNvSpPr txBox="1"/>
                  <p:nvPr/>
                </p:nvSpPr>
                <p:spPr>
                  <a:xfrm>
                    <a:off x="12051876" y="1373067"/>
                    <a:ext cx="530337" cy="61555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kumimoji="1" lang="en-US" altLang="ja-JP" sz="3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oMath>
                      </m:oMathPara>
                    </a14:m>
                    <a:endParaRPr kumimoji="1" lang="ja-JP" altLang="en-US" sz="3400" i="1"/>
                  </a:p>
                </p:txBody>
              </p:sp>
            </mc:Choice>
            <mc:Fallback xmlns="">
              <p:sp>
                <p:nvSpPr>
                  <p:cNvPr id="272" name="テキスト ボックス 271">
                    <a:extLst>
                      <a:ext uri="{FF2B5EF4-FFF2-40B4-BE49-F238E27FC236}">
                        <a16:creationId xmlns:a16="http://schemas.microsoft.com/office/drawing/2014/main" id="{CB4FAF7E-4A8D-79F0-711F-C256D33CDC3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051876" y="1373067"/>
                    <a:ext cx="530337" cy="615553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76" name="グループ化 275">
              <a:extLst>
                <a:ext uri="{FF2B5EF4-FFF2-40B4-BE49-F238E27FC236}">
                  <a16:creationId xmlns:a16="http://schemas.microsoft.com/office/drawing/2014/main" id="{0487B717-6728-8420-4D4C-2CED2FB1551B}"/>
                </a:ext>
              </a:extLst>
            </p:cNvPr>
            <p:cNvGrpSpPr/>
            <p:nvPr/>
          </p:nvGrpSpPr>
          <p:grpSpPr>
            <a:xfrm>
              <a:off x="11106634" y="5445729"/>
              <a:ext cx="1603085" cy="1847099"/>
              <a:chOff x="11070849" y="5445729"/>
              <a:chExt cx="1603085" cy="1847099"/>
            </a:xfrm>
          </p:grpSpPr>
          <p:cxnSp>
            <p:nvCxnSpPr>
              <p:cNvPr id="273" name="直線コネクタ 272">
                <a:extLst>
                  <a:ext uri="{FF2B5EF4-FFF2-40B4-BE49-F238E27FC236}">
                    <a16:creationId xmlns:a16="http://schemas.microsoft.com/office/drawing/2014/main" id="{5AA95D15-04E6-A2EC-D2BA-DA26C2D444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585734" y="6015289"/>
                <a:ext cx="591458" cy="656209"/>
              </a:xfrm>
              <a:prstGeom prst="line">
                <a:avLst/>
              </a:prstGeom>
              <a:ln w="73025" cap="rnd">
                <a:solidFill>
                  <a:schemeClr val="tx1"/>
                </a:solidFill>
                <a:prstDash val="sysDot"/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4" name="テキスト ボックス 273">
                    <a:extLst>
                      <a:ext uri="{FF2B5EF4-FFF2-40B4-BE49-F238E27FC236}">
                        <a16:creationId xmlns:a16="http://schemas.microsoft.com/office/drawing/2014/main" id="{BF27128F-17F2-015C-7BAB-37C836F62165}"/>
                      </a:ext>
                    </a:extLst>
                  </p:cNvPr>
                  <p:cNvSpPr txBox="1"/>
                  <p:nvPr/>
                </p:nvSpPr>
                <p:spPr>
                  <a:xfrm>
                    <a:off x="11070849" y="6677275"/>
                    <a:ext cx="514885" cy="61555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kumimoji="1" lang="en-US" altLang="ja-JP" sz="3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kumimoji="1" lang="ja-JP" altLang="en-US" sz="3400"/>
                  </a:p>
                </p:txBody>
              </p:sp>
            </mc:Choice>
            <mc:Fallback xmlns="">
              <p:sp>
                <p:nvSpPr>
                  <p:cNvPr id="274" name="テキスト ボックス 273">
                    <a:extLst>
                      <a:ext uri="{FF2B5EF4-FFF2-40B4-BE49-F238E27FC236}">
                        <a16:creationId xmlns:a16="http://schemas.microsoft.com/office/drawing/2014/main" id="{BF27128F-17F2-015C-7BAB-37C836F6216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070849" y="6677275"/>
                    <a:ext cx="514885" cy="615553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l="-2439" r="-2439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5" name="テキスト ボックス 274">
                    <a:extLst>
                      <a:ext uri="{FF2B5EF4-FFF2-40B4-BE49-F238E27FC236}">
                        <a16:creationId xmlns:a16="http://schemas.microsoft.com/office/drawing/2014/main" id="{0AEE869D-8500-3937-FD6B-8DF6C2D2DC54}"/>
                      </a:ext>
                    </a:extLst>
                  </p:cNvPr>
                  <p:cNvSpPr txBox="1"/>
                  <p:nvPr/>
                </p:nvSpPr>
                <p:spPr>
                  <a:xfrm>
                    <a:off x="12143597" y="5445729"/>
                    <a:ext cx="530337" cy="61555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kumimoji="1" lang="en-US" altLang="ja-JP" sz="3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oMath>
                      </m:oMathPara>
                    </a14:m>
                    <a:endParaRPr kumimoji="1" lang="ja-JP" altLang="en-US" sz="3400" i="1"/>
                  </a:p>
                </p:txBody>
              </p:sp>
            </mc:Choice>
            <mc:Fallback xmlns="">
              <p:sp>
                <p:nvSpPr>
                  <p:cNvPr id="275" name="テキスト ボックス 274">
                    <a:extLst>
                      <a:ext uri="{FF2B5EF4-FFF2-40B4-BE49-F238E27FC236}">
                        <a16:creationId xmlns:a16="http://schemas.microsoft.com/office/drawing/2014/main" id="{0AEE869D-8500-3937-FD6B-8DF6C2D2DC5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143597" y="5445729"/>
                    <a:ext cx="530337" cy="615553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78" name="テキスト ボックス 277">
              <a:extLst>
                <a:ext uri="{FF2B5EF4-FFF2-40B4-BE49-F238E27FC236}">
                  <a16:creationId xmlns:a16="http://schemas.microsoft.com/office/drawing/2014/main" id="{B2F55CE8-E26A-E0A5-DC70-71EFFFD9FFBF}"/>
                </a:ext>
              </a:extLst>
            </p:cNvPr>
            <p:cNvSpPr txBox="1"/>
            <p:nvPr/>
          </p:nvSpPr>
          <p:spPr>
            <a:xfrm>
              <a:off x="6560466" y="1454154"/>
              <a:ext cx="74411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3200" dirty="0"/>
                <a:t>flip</a:t>
              </a:r>
              <a:endParaRPr kumimoji="1" lang="ja-JP" altLang="en-US" sz="3200"/>
            </a:p>
          </p:txBody>
        </p:sp>
      </p:grpSp>
    </p:spTree>
    <p:extLst>
      <p:ext uri="{BB962C8B-B14F-4D97-AF65-F5344CB8AC3E}">
        <p14:creationId xmlns:p14="http://schemas.microsoft.com/office/powerpoint/2010/main" val="3318289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9EBAD-319C-1AFA-73A5-E2A71C6F7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グループ化 75">
            <a:extLst>
              <a:ext uri="{FF2B5EF4-FFF2-40B4-BE49-F238E27FC236}">
                <a16:creationId xmlns:a16="http://schemas.microsoft.com/office/drawing/2014/main" id="{BAC52C38-670B-64EF-5B1B-C8B5A974BAAC}"/>
              </a:ext>
            </a:extLst>
          </p:cNvPr>
          <p:cNvGrpSpPr/>
          <p:nvPr/>
        </p:nvGrpSpPr>
        <p:grpSpPr>
          <a:xfrm>
            <a:off x="870293" y="1023267"/>
            <a:ext cx="19809129" cy="8765801"/>
            <a:chOff x="870293" y="1023267"/>
            <a:chExt cx="19809129" cy="8765801"/>
          </a:xfrm>
        </p:grpSpPr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10C2501B-BDBF-5780-06D2-5C2144E679FD}"/>
                </a:ext>
              </a:extLst>
            </p:cNvPr>
            <p:cNvGrpSpPr/>
            <p:nvPr/>
          </p:nvGrpSpPr>
          <p:grpSpPr>
            <a:xfrm>
              <a:off x="16156150" y="1874688"/>
              <a:ext cx="4194058" cy="3093001"/>
              <a:chOff x="16194865" y="5651304"/>
              <a:chExt cx="4194058" cy="3093001"/>
            </a:xfrm>
          </p:grpSpPr>
          <p:cxnSp>
            <p:nvCxnSpPr>
              <p:cNvPr id="44" name="直線矢印コネクタ 43">
                <a:extLst>
                  <a:ext uri="{FF2B5EF4-FFF2-40B4-BE49-F238E27FC236}">
                    <a16:creationId xmlns:a16="http://schemas.microsoft.com/office/drawing/2014/main" id="{3A37C455-582C-3A4A-E927-D06634B87B31}"/>
                  </a:ext>
                </a:extLst>
              </p:cNvPr>
              <p:cNvCxnSpPr>
                <a:cxnSpLocks/>
              </p:cNvCxnSpPr>
              <p:nvPr/>
            </p:nvCxnSpPr>
            <p:spPr>
              <a:xfrm rot="8100000" flipV="1">
                <a:off x="16460358" y="7393459"/>
                <a:ext cx="2777086" cy="1689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線矢印コネクタ 42">
                <a:extLst>
                  <a:ext uri="{FF2B5EF4-FFF2-40B4-BE49-F238E27FC236}">
                    <a16:creationId xmlns:a16="http://schemas.microsoft.com/office/drawing/2014/main" id="{201C2F0E-4D64-01D4-0679-4C21F8C3ED4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15883556" y="7347312"/>
                <a:ext cx="2777086" cy="1689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9" name="テキスト ボックス 48">
                    <a:extLst>
                      <a:ext uri="{FF2B5EF4-FFF2-40B4-BE49-F238E27FC236}">
                        <a16:creationId xmlns:a16="http://schemas.microsoft.com/office/drawing/2014/main" id="{BAB020BC-C327-2E7B-F866-D63366833C04}"/>
                      </a:ext>
                    </a:extLst>
                  </p:cNvPr>
                  <p:cNvSpPr txBox="1"/>
                  <p:nvPr/>
                </p:nvSpPr>
                <p:spPr>
                  <a:xfrm>
                    <a:off x="16194865" y="7787431"/>
                    <a:ext cx="708682" cy="56794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kumimoji="1" lang="ja-JP" altLang="en-US" sz="34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49" name="テキスト ボックス 48">
                    <a:extLst>
                      <a:ext uri="{FF2B5EF4-FFF2-40B4-BE49-F238E27FC236}">
                        <a16:creationId xmlns:a16="http://schemas.microsoft.com/office/drawing/2014/main" id="{BAB020BC-C327-2E7B-F866-D63366833C0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194865" y="7787431"/>
                    <a:ext cx="708682" cy="56794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2281" b="-23913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3" name="テキスト ボックス 52">
                    <a:extLst>
                      <a:ext uri="{FF2B5EF4-FFF2-40B4-BE49-F238E27FC236}">
                        <a16:creationId xmlns:a16="http://schemas.microsoft.com/office/drawing/2014/main" id="{3D01A9DB-13E4-DDB6-240E-598BDA334C42}"/>
                      </a:ext>
                    </a:extLst>
                  </p:cNvPr>
                  <p:cNvSpPr txBox="1"/>
                  <p:nvPr/>
                </p:nvSpPr>
                <p:spPr>
                  <a:xfrm>
                    <a:off x="19692546" y="7586939"/>
                    <a:ext cx="696377" cy="61231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sub>
                          </m:sSub>
                        </m:oMath>
                      </m:oMathPara>
                    </a14:m>
                    <a:endParaRPr kumimoji="1" lang="ja-JP" altLang="en-US" sz="34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53" name="テキスト ボックス 52">
                    <a:extLst>
                      <a:ext uri="{FF2B5EF4-FFF2-40B4-BE49-F238E27FC236}">
                        <a16:creationId xmlns:a16="http://schemas.microsoft.com/office/drawing/2014/main" id="{3D01A9DB-13E4-DDB6-240E-598BDA334C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692546" y="7586939"/>
                    <a:ext cx="696377" cy="61231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0714" b="-1875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1" name="テキスト ボックス 60">
                    <a:extLst>
                      <a:ext uri="{FF2B5EF4-FFF2-40B4-BE49-F238E27FC236}">
                        <a16:creationId xmlns:a16="http://schemas.microsoft.com/office/drawing/2014/main" id="{AF2F0A1D-7AC2-9CF3-80E9-C20B3FF5EDDD}"/>
                      </a:ext>
                    </a:extLst>
                  </p:cNvPr>
                  <p:cNvSpPr txBox="1"/>
                  <p:nvPr/>
                </p:nvSpPr>
                <p:spPr>
                  <a:xfrm>
                    <a:off x="17282635" y="5651304"/>
                    <a:ext cx="678629" cy="56794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sub>
                          </m:sSub>
                        </m:oMath>
                      </m:oMathPara>
                    </a14:m>
                    <a:endParaRPr kumimoji="1" lang="ja-JP" altLang="en-US" sz="34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61" name="テキスト ボックス 60">
                    <a:extLst>
                      <a:ext uri="{FF2B5EF4-FFF2-40B4-BE49-F238E27FC236}">
                        <a16:creationId xmlns:a16="http://schemas.microsoft.com/office/drawing/2014/main" id="{AF2F0A1D-7AC2-9CF3-80E9-C20B3FF5EDD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282635" y="5651304"/>
                    <a:ext cx="678629" cy="56794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0909" b="-2608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2" name="円/楕円 61">
                <a:extLst>
                  <a:ext uri="{FF2B5EF4-FFF2-40B4-BE49-F238E27FC236}">
                    <a16:creationId xmlns:a16="http://schemas.microsoft.com/office/drawing/2014/main" id="{74009274-2114-4597-6256-79709EFAFECF}"/>
                  </a:ext>
                </a:extLst>
              </p:cNvPr>
              <p:cNvSpPr/>
              <p:nvPr/>
            </p:nvSpPr>
            <p:spPr>
              <a:xfrm rot="10800000">
                <a:off x="18776473" y="6879879"/>
                <a:ext cx="192205" cy="192205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30000"/>
                    </a:schemeClr>
                  </a:gs>
                  <a:gs pos="100000">
                    <a:schemeClr val="accent3"/>
                  </a:gs>
                </a:gsLst>
                <a:path path="circle">
                  <a:fillToRect l="100000" t="100000"/>
                </a:path>
                <a:tileRect r="-100000" b="-100000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3" name="円/楕円 62">
                <a:extLst>
                  <a:ext uri="{FF2B5EF4-FFF2-40B4-BE49-F238E27FC236}">
                    <a16:creationId xmlns:a16="http://schemas.microsoft.com/office/drawing/2014/main" id="{679C7EA6-BE5C-2781-C56A-560A9D785A9C}"/>
                  </a:ext>
                </a:extLst>
              </p:cNvPr>
              <p:cNvSpPr/>
              <p:nvPr/>
            </p:nvSpPr>
            <p:spPr>
              <a:xfrm rot="10800000">
                <a:off x="18376929" y="7206270"/>
                <a:ext cx="192205" cy="192205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30000"/>
                    </a:schemeClr>
                  </a:gs>
                  <a:gs pos="100000">
                    <a:schemeClr val="accent3"/>
                  </a:gs>
                </a:gsLst>
                <a:path path="circle">
                  <a:fillToRect l="100000" t="100000"/>
                </a:path>
                <a:tileRect r="-100000" b="-100000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4" name="フリーフォーム 63">
                <a:extLst>
                  <a:ext uri="{FF2B5EF4-FFF2-40B4-BE49-F238E27FC236}">
                    <a16:creationId xmlns:a16="http://schemas.microsoft.com/office/drawing/2014/main" id="{DC8A1F64-79D4-F194-8306-D105D7C8A221}"/>
                  </a:ext>
                </a:extLst>
              </p:cNvPr>
              <p:cNvSpPr/>
              <p:nvPr/>
            </p:nvSpPr>
            <p:spPr>
              <a:xfrm>
                <a:off x="18321453" y="6334518"/>
                <a:ext cx="1231305" cy="678576"/>
              </a:xfrm>
              <a:custGeom>
                <a:avLst/>
                <a:gdLst>
                  <a:gd name="csX0" fmla="*/ 2577737 w 2577737"/>
                  <a:gd name="csY0" fmla="*/ 0 h 1436914"/>
                  <a:gd name="csX1" fmla="*/ 0 w 2577737"/>
                  <a:gd name="csY1" fmla="*/ 1436914 h 1436914"/>
                  <a:gd name="csX0" fmla="*/ 2577737 w 2577737"/>
                  <a:gd name="csY0" fmla="*/ 0 h 1436914"/>
                  <a:gd name="csX1" fmla="*/ 0 w 2577737"/>
                  <a:gd name="csY1" fmla="*/ 1436914 h 1436914"/>
                  <a:gd name="csX0" fmla="*/ 2577737 w 2577737"/>
                  <a:gd name="csY0" fmla="*/ 0 h 1436914"/>
                  <a:gd name="csX1" fmla="*/ 0 w 2577737"/>
                  <a:gd name="csY1" fmla="*/ 1436914 h 1436914"/>
                  <a:gd name="csX0" fmla="*/ 2631924 w 2631924"/>
                  <a:gd name="csY0" fmla="*/ 0 h 1450461"/>
                  <a:gd name="csX1" fmla="*/ 0 w 2631924"/>
                  <a:gd name="csY1" fmla="*/ 1450461 h 14504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631924" h="1450461">
                    <a:moveTo>
                      <a:pt x="2631924" y="0"/>
                    </a:moveTo>
                    <a:cubicBezTo>
                      <a:pt x="1476586" y="269965"/>
                      <a:pt x="702491" y="858278"/>
                      <a:pt x="0" y="1450461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5" name="フリーフォーム 64">
                <a:extLst>
                  <a:ext uri="{FF2B5EF4-FFF2-40B4-BE49-F238E27FC236}">
                    <a16:creationId xmlns:a16="http://schemas.microsoft.com/office/drawing/2014/main" id="{E94CAF86-C1F5-75D1-C188-E82F64D6585E}"/>
                  </a:ext>
                </a:extLst>
              </p:cNvPr>
              <p:cNvSpPr/>
              <p:nvPr/>
            </p:nvSpPr>
            <p:spPr>
              <a:xfrm>
                <a:off x="17980128" y="6864161"/>
                <a:ext cx="330460" cy="149387"/>
              </a:xfrm>
              <a:custGeom>
                <a:avLst/>
                <a:gdLst>
                  <a:gd name="csX0" fmla="*/ 0 w 740228"/>
                  <a:gd name="csY0" fmla="*/ 0 h 339635"/>
                  <a:gd name="csX1" fmla="*/ 740228 w 740228"/>
                  <a:gd name="csY1" fmla="*/ 339635 h 339635"/>
                  <a:gd name="csX0" fmla="*/ 0 w 706361"/>
                  <a:gd name="csY0" fmla="*/ 0 h 319315"/>
                  <a:gd name="csX1" fmla="*/ 706361 w 706361"/>
                  <a:gd name="csY1" fmla="*/ 319315 h 3193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06361" h="319315">
                    <a:moveTo>
                      <a:pt x="0" y="0"/>
                    </a:moveTo>
                    <a:lnTo>
                      <a:pt x="706361" y="319315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6" name="フリーフォーム 65">
                <a:extLst>
                  <a:ext uri="{FF2B5EF4-FFF2-40B4-BE49-F238E27FC236}">
                    <a16:creationId xmlns:a16="http://schemas.microsoft.com/office/drawing/2014/main" id="{9EB39474-2EC0-473F-CAAE-9D71EEF03717}"/>
                  </a:ext>
                </a:extLst>
              </p:cNvPr>
              <p:cNvSpPr/>
              <p:nvPr/>
            </p:nvSpPr>
            <p:spPr>
              <a:xfrm>
                <a:off x="18996467" y="6119657"/>
                <a:ext cx="89535" cy="1227392"/>
              </a:xfrm>
              <a:custGeom>
                <a:avLst/>
                <a:gdLst>
                  <a:gd name="csX0" fmla="*/ 0 w 76912"/>
                  <a:gd name="csY0" fmla="*/ 0 h 2785929"/>
                  <a:gd name="csX1" fmla="*/ 76912 w 76912"/>
                  <a:gd name="csY1" fmla="*/ 2785929 h 2785929"/>
                  <a:gd name="csX0" fmla="*/ 64084 w 140996"/>
                  <a:gd name="csY0" fmla="*/ 0 h 2785929"/>
                  <a:gd name="csX1" fmla="*/ 140996 w 140996"/>
                  <a:gd name="csY1" fmla="*/ 2785929 h 2785929"/>
                  <a:gd name="csX0" fmla="*/ 117045 w 193957"/>
                  <a:gd name="csY0" fmla="*/ 0 h 2785929"/>
                  <a:gd name="csX1" fmla="*/ 193957 w 193957"/>
                  <a:gd name="csY1" fmla="*/ 2785929 h 2785929"/>
                  <a:gd name="csX0" fmla="*/ 191381 w 191381"/>
                  <a:gd name="csY0" fmla="*/ 0 h 2623559"/>
                  <a:gd name="csX1" fmla="*/ 131560 w 191381"/>
                  <a:gd name="csY1" fmla="*/ 2623559 h 26235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91381" h="2623559">
                    <a:moveTo>
                      <a:pt x="191381" y="0"/>
                    </a:moveTo>
                    <a:cubicBezTo>
                      <a:pt x="20464" y="937189"/>
                      <a:pt x="-107722" y="1720554"/>
                      <a:pt x="131560" y="2623559"/>
                    </a:cubicBezTo>
                  </a:path>
                </a:pathLst>
              </a:cu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67" name="直線コネクタ 66">
                <a:extLst>
                  <a:ext uri="{FF2B5EF4-FFF2-40B4-BE49-F238E27FC236}">
                    <a16:creationId xmlns:a16="http://schemas.microsoft.com/office/drawing/2014/main" id="{BD14AF08-D7DA-31D3-1D30-0B6C4F1D8F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051235" y="7351166"/>
                <a:ext cx="473037" cy="217873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フリーフォーム 67">
                <a:extLst>
                  <a:ext uri="{FF2B5EF4-FFF2-40B4-BE49-F238E27FC236}">
                    <a16:creationId xmlns:a16="http://schemas.microsoft.com/office/drawing/2014/main" id="{D5A5BFDB-0E67-D92D-4B31-E4D800920D53}"/>
                  </a:ext>
                </a:extLst>
              </p:cNvPr>
              <p:cNvSpPr/>
              <p:nvPr/>
            </p:nvSpPr>
            <p:spPr>
              <a:xfrm>
                <a:off x="18018716" y="7361735"/>
                <a:ext cx="1031404" cy="802514"/>
              </a:xfrm>
              <a:custGeom>
                <a:avLst/>
                <a:gdLst>
                  <a:gd name="csX0" fmla="*/ 2577737 w 2577737"/>
                  <a:gd name="csY0" fmla="*/ 0 h 1436914"/>
                  <a:gd name="csX1" fmla="*/ 0 w 2577737"/>
                  <a:gd name="csY1" fmla="*/ 1436914 h 1436914"/>
                  <a:gd name="csX0" fmla="*/ 2577737 w 2577737"/>
                  <a:gd name="csY0" fmla="*/ 0 h 1436914"/>
                  <a:gd name="csX1" fmla="*/ 0 w 2577737"/>
                  <a:gd name="csY1" fmla="*/ 1436914 h 1436914"/>
                  <a:gd name="csX0" fmla="*/ 2577737 w 2577737"/>
                  <a:gd name="csY0" fmla="*/ 0 h 1436914"/>
                  <a:gd name="csX1" fmla="*/ 0 w 2577737"/>
                  <a:gd name="csY1" fmla="*/ 1436914 h 1436914"/>
                  <a:gd name="csX0" fmla="*/ 2631924 w 2631924"/>
                  <a:gd name="csY0" fmla="*/ 0 h 1450461"/>
                  <a:gd name="csX1" fmla="*/ 0 w 2631924"/>
                  <a:gd name="csY1" fmla="*/ 1450461 h 1450461"/>
                  <a:gd name="csX0" fmla="*/ 2204634 w 2204634"/>
                  <a:gd name="csY0" fmla="*/ 0 h 1715380"/>
                  <a:gd name="csX1" fmla="*/ 0 w 2204634"/>
                  <a:gd name="csY1" fmla="*/ 1715380 h 1715380"/>
                  <a:gd name="csX0" fmla="*/ 2204634 w 2204634"/>
                  <a:gd name="csY0" fmla="*/ 0 h 1715380"/>
                  <a:gd name="csX1" fmla="*/ 0 w 2204634"/>
                  <a:gd name="csY1" fmla="*/ 1715380 h 1715380"/>
                  <a:gd name="csX0" fmla="*/ 2204634 w 2204634"/>
                  <a:gd name="csY0" fmla="*/ 0 h 1715380"/>
                  <a:gd name="csX1" fmla="*/ 0 w 2204634"/>
                  <a:gd name="csY1" fmla="*/ 1715380 h 1715380"/>
                  <a:gd name="csX0" fmla="*/ 2204634 w 2204634"/>
                  <a:gd name="csY0" fmla="*/ 0 h 1715380"/>
                  <a:gd name="csX1" fmla="*/ 0 w 2204634"/>
                  <a:gd name="csY1" fmla="*/ 1715380 h 17153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04634" h="1715380">
                    <a:moveTo>
                      <a:pt x="2204634" y="0"/>
                    </a:moveTo>
                    <a:cubicBezTo>
                      <a:pt x="1220212" y="483610"/>
                      <a:pt x="608487" y="1063376"/>
                      <a:pt x="0" y="1715380"/>
                    </a:cubicBezTo>
                  </a:path>
                </a:pathLst>
              </a:cu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9" name="フリーフォーム 68">
                <a:extLst>
                  <a:ext uri="{FF2B5EF4-FFF2-40B4-BE49-F238E27FC236}">
                    <a16:creationId xmlns:a16="http://schemas.microsoft.com/office/drawing/2014/main" id="{112E16A2-2338-C9DE-B5DE-ED67DB2EF254}"/>
                  </a:ext>
                </a:extLst>
              </p:cNvPr>
              <p:cNvSpPr/>
              <p:nvPr/>
            </p:nvSpPr>
            <p:spPr>
              <a:xfrm>
                <a:off x="18232711" y="7018979"/>
                <a:ext cx="77425" cy="1279290"/>
              </a:xfrm>
              <a:custGeom>
                <a:avLst/>
                <a:gdLst>
                  <a:gd name="csX0" fmla="*/ 43543 w 43543"/>
                  <a:gd name="csY0" fmla="*/ 0 h 2734492"/>
                  <a:gd name="csX1" fmla="*/ 0 w 43543"/>
                  <a:gd name="csY1" fmla="*/ 2734492 h 2734492"/>
                  <a:gd name="csX0" fmla="*/ 99663 w 99663"/>
                  <a:gd name="csY0" fmla="*/ 0 h 2734492"/>
                  <a:gd name="csX1" fmla="*/ 56120 w 99663"/>
                  <a:gd name="csY1" fmla="*/ 2734492 h 2734492"/>
                  <a:gd name="csX0" fmla="*/ 165496 w 165496"/>
                  <a:gd name="csY0" fmla="*/ 0 h 2734492"/>
                  <a:gd name="csX1" fmla="*/ 121953 w 165496"/>
                  <a:gd name="csY1" fmla="*/ 2734492 h 273449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65496" h="2734492">
                    <a:moveTo>
                      <a:pt x="165496" y="0"/>
                    </a:moveTo>
                    <a:cubicBezTo>
                      <a:pt x="-75441" y="885372"/>
                      <a:pt x="-20288" y="1831704"/>
                      <a:pt x="121953" y="2734492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0" name="フリーフォーム 69">
                <a:extLst>
                  <a:ext uri="{FF2B5EF4-FFF2-40B4-BE49-F238E27FC236}">
                    <a16:creationId xmlns:a16="http://schemas.microsoft.com/office/drawing/2014/main" id="{C8E8A1CA-DB0D-E126-B6C3-6E498365F025}"/>
                  </a:ext>
                </a:extLst>
              </p:cNvPr>
              <p:cNvSpPr/>
              <p:nvPr/>
            </p:nvSpPr>
            <p:spPr>
              <a:xfrm>
                <a:off x="17924216" y="6120535"/>
                <a:ext cx="1635271" cy="2182338"/>
              </a:xfrm>
              <a:custGeom>
                <a:avLst/>
                <a:gdLst>
                  <a:gd name="csX0" fmla="*/ 0 w 3366052"/>
                  <a:gd name="csY0" fmla="*/ 1603513 h 4664765"/>
                  <a:gd name="csX1" fmla="*/ 26504 w 3366052"/>
                  <a:gd name="csY1" fmla="*/ 4412974 h 4664765"/>
                  <a:gd name="csX2" fmla="*/ 649357 w 3366052"/>
                  <a:gd name="csY2" fmla="*/ 4664765 h 4664765"/>
                  <a:gd name="csX3" fmla="*/ 3299791 w 3366052"/>
                  <a:gd name="csY3" fmla="*/ 3101009 h 4664765"/>
                  <a:gd name="csX4" fmla="*/ 3366052 w 3366052"/>
                  <a:gd name="csY4" fmla="*/ 463826 h 4664765"/>
                  <a:gd name="csX5" fmla="*/ 2358887 w 3366052"/>
                  <a:gd name="csY5" fmla="*/ 0 h 4664765"/>
                  <a:gd name="csX6" fmla="*/ 0 w 3366052"/>
                  <a:gd name="csY6" fmla="*/ 1603513 h 4664765"/>
                  <a:gd name="csX0" fmla="*/ 0 w 3366052"/>
                  <a:gd name="csY0" fmla="*/ 1603513 h 4664765"/>
                  <a:gd name="csX1" fmla="*/ 26504 w 3366052"/>
                  <a:gd name="csY1" fmla="*/ 4412974 h 4664765"/>
                  <a:gd name="csX2" fmla="*/ 649357 w 3366052"/>
                  <a:gd name="csY2" fmla="*/ 4664765 h 4664765"/>
                  <a:gd name="csX3" fmla="*/ 3299791 w 3366052"/>
                  <a:gd name="csY3" fmla="*/ 3101009 h 4664765"/>
                  <a:gd name="csX4" fmla="*/ 3366052 w 3366052"/>
                  <a:gd name="csY4" fmla="*/ 463826 h 4664765"/>
                  <a:gd name="csX5" fmla="*/ 2358887 w 3366052"/>
                  <a:gd name="csY5" fmla="*/ 0 h 4664765"/>
                  <a:gd name="csX6" fmla="*/ 0 w 3366052"/>
                  <a:gd name="csY6" fmla="*/ 1603513 h 4664765"/>
                  <a:gd name="csX0" fmla="*/ 0 w 3366052"/>
                  <a:gd name="csY0" fmla="*/ 1603513 h 4664765"/>
                  <a:gd name="csX1" fmla="*/ 26504 w 3366052"/>
                  <a:gd name="csY1" fmla="*/ 4412974 h 4664765"/>
                  <a:gd name="csX2" fmla="*/ 649357 w 3366052"/>
                  <a:gd name="csY2" fmla="*/ 4664765 h 4664765"/>
                  <a:gd name="csX3" fmla="*/ 3299791 w 3366052"/>
                  <a:gd name="csY3" fmla="*/ 3101009 h 4664765"/>
                  <a:gd name="csX4" fmla="*/ 3366052 w 3366052"/>
                  <a:gd name="csY4" fmla="*/ 463826 h 4664765"/>
                  <a:gd name="csX5" fmla="*/ 2358887 w 3366052"/>
                  <a:gd name="csY5" fmla="*/ 0 h 4664765"/>
                  <a:gd name="csX6" fmla="*/ 0 w 3366052"/>
                  <a:gd name="csY6" fmla="*/ 1603513 h 4664765"/>
                  <a:gd name="csX0" fmla="*/ 0 w 3366052"/>
                  <a:gd name="csY0" fmla="*/ 1603513 h 4664765"/>
                  <a:gd name="csX1" fmla="*/ 79513 w 3366052"/>
                  <a:gd name="csY1" fmla="*/ 4386470 h 4664765"/>
                  <a:gd name="csX2" fmla="*/ 649357 w 3366052"/>
                  <a:gd name="csY2" fmla="*/ 4664765 h 4664765"/>
                  <a:gd name="csX3" fmla="*/ 3299791 w 3366052"/>
                  <a:gd name="csY3" fmla="*/ 3101009 h 4664765"/>
                  <a:gd name="csX4" fmla="*/ 3366052 w 3366052"/>
                  <a:gd name="csY4" fmla="*/ 463826 h 4664765"/>
                  <a:gd name="csX5" fmla="*/ 2358887 w 3366052"/>
                  <a:gd name="csY5" fmla="*/ 0 h 4664765"/>
                  <a:gd name="csX6" fmla="*/ 0 w 3366052"/>
                  <a:gd name="csY6" fmla="*/ 1603513 h 4664765"/>
                  <a:gd name="csX0" fmla="*/ 78466 w 3444518"/>
                  <a:gd name="csY0" fmla="*/ 1603513 h 4664765"/>
                  <a:gd name="csX1" fmla="*/ 157979 w 3444518"/>
                  <a:gd name="csY1" fmla="*/ 4386470 h 4664765"/>
                  <a:gd name="csX2" fmla="*/ 727823 w 3444518"/>
                  <a:gd name="csY2" fmla="*/ 4664765 h 4664765"/>
                  <a:gd name="csX3" fmla="*/ 3378257 w 3444518"/>
                  <a:gd name="csY3" fmla="*/ 3101009 h 4664765"/>
                  <a:gd name="csX4" fmla="*/ 3444518 w 3444518"/>
                  <a:gd name="csY4" fmla="*/ 463826 h 4664765"/>
                  <a:gd name="csX5" fmla="*/ 2437353 w 3444518"/>
                  <a:gd name="csY5" fmla="*/ 0 h 4664765"/>
                  <a:gd name="csX6" fmla="*/ 78466 w 3444518"/>
                  <a:gd name="csY6" fmla="*/ 1603513 h 4664765"/>
                  <a:gd name="csX0" fmla="*/ 129353 w 3495405"/>
                  <a:gd name="csY0" fmla="*/ 1603513 h 4664765"/>
                  <a:gd name="csX1" fmla="*/ 208866 w 3495405"/>
                  <a:gd name="csY1" fmla="*/ 4386470 h 4664765"/>
                  <a:gd name="csX2" fmla="*/ 778710 w 3495405"/>
                  <a:gd name="csY2" fmla="*/ 4664765 h 4664765"/>
                  <a:gd name="csX3" fmla="*/ 3429144 w 3495405"/>
                  <a:gd name="csY3" fmla="*/ 3101009 h 4664765"/>
                  <a:gd name="csX4" fmla="*/ 3495405 w 3495405"/>
                  <a:gd name="csY4" fmla="*/ 463826 h 4664765"/>
                  <a:gd name="csX5" fmla="*/ 2488240 w 3495405"/>
                  <a:gd name="csY5" fmla="*/ 0 h 4664765"/>
                  <a:gd name="csX6" fmla="*/ 129353 w 3495405"/>
                  <a:gd name="csY6" fmla="*/ 1603513 h 4664765"/>
                  <a:gd name="csX0" fmla="*/ 129353 w 3495405"/>
                  <a:gd name="csY0" fmla="*/ 1603513 h 4664765"/>
                  <a:gd name="csX1" fmla="*/ 208866 w 3495405"/>
                  <a:gd name="csY1" fmla="*/ 4386470 h 4664765"/>
                  <a:gd name="csX2" fmla="*/ 778710 w 3495405"/>
                  <a:gd name="csY2" fmla="*/ 4664765 h 4664765"/>
                  <a:gd name="csX3" fmla="*/ 3429144 w 3495405"/>
                  <a:gd name="csY3" fmla="*/ 3101009 h 4664765"/>
                  <a:gd name="csX4" fmla="*/ 3495405 w 3495405"/>
                  <a:gd name="csY4" fmla="*/ 463826 h 4664765"/>
                  <a:gd name="csX5" fmla="*/ 2488240 w 3495405"/>
                  <a:gd name="csY5" fmla="*/ 0 h 4664765"/>
                  <a:gd name="csX6" fmla="*/ 129353 w 3495405"/>
                  <a:gd name="csY6" fmla="*/ 1603513 h 4664765"/>
                  <a:gd name="csX0" fmla="*/ 129353 w 3495405"/>
                  <a:gd name="csY0" fmla="*/ 1603513 h 4664765"/>
                  <a:gd name="csX1" fmla="*/ 208866 w 3495405"/>
                  <a:gd name="csY1" fmla="*/ 4386470 h 4664765"/>
                  <a:gd name="csX2" fmla="*/ 778710 w 3495405"/>
                  <a:gd name="csY2" fmla="*/ 4664765 h 4664765"/>
                  <a:gd name="csX3" fmla="*/ 3429144 w 3495405"/>
                  <a:gd name="csY3" fmla="*/ 3101009 h 4664765"/>
                  <a:gd name="csX4" fmla="*/ 3495405 w 3495405"/>
                  <a:gd name="csY4" fmla="*/ 463826 h 4664765"/>
                  <a:gd name="csX5" fmla="*/ 2488240 w 3495405"/>
                  <a:gd name="csY5" fmla="*/ 0 h 4664765"/>
                  <a:gd name="csX6" fmla="*/ 129353 w 3495405"/>
                  <a:gd name="csY6" fmla="*/ 1603513 h 4664765"/>
                  <a:gd name="csX0" fmla="*/ 129353 w 3495405"/>
                  <a:gd name="csY0" fmla="*/ 1603513 h 4664765"/>
                  <a:gd name="csX1" fmla="*/ 208866 w 3495405"/>
                  <a:gd name="csY1" fmla="*/ 4386470 h 4664765"/>
                  <a:gd name="csX2" fmla="*/ 778710 w 3495405"/>
                  <a:gd name="csY2" fmla="*/ 4664765 h 4664765"/>
                  <a:gd name="csX3" fmla="*/ 3429144 w 3495405"/>
                  <a:gd name="csY3" fmla="*/ 3101009 h 4664765"/>
                  <a:gd name="csX4" fmla="*/ 3495405 w 3495405"/>
                  <a:gd name="csY4" fmla="*/ 463826 h 4664765"/>
                  <a:gd name="csX5" fmla="*/ 2488240 w 3495405"/>
                  <a:gd name="csY5" fmla="*/ 0 h 4664765"/>
                  <a:gd name="csX6" fmla="*/ 129353 w 3495405"/>
                  <a:gd name="csY6" fmla="*/ 1603513 h 4664765"/>
                  <a:gd name="csX0" fmla="*/ 129353 w 3495405"/>
                  <a:gd name="csY0" fmla="*/ 1603513 h 4664765"/>
                  <a:gd name="csX1" fmla="*/ 208866 w 3495405"/>
                  <a:gd name="csY1" fmla="*/ 4386470 h 4664765"/>
                  <a:gd name="csX2" fmla="*/ 778710 w 3495405"/>
                  <a:gd name="csY2" fmla="*/ 4664765 h 4664765"/>
                  <a:gd name="csX3" fmla="*/ 3429144 w 3495405"/>
                  <a:gd name="csY3" fmla="*/ 3101009 h 4664765"/>
                  <a:gd name="csX4" fmla="*/ 3495405 w 3495405"/>
                  <a:gd name="csY4" fmla="*/ 463826 h 4664765"/>
                  <a:gd name="csX5" fmla="*/ 2488240 w 3495405"/>
                  <a:gd name="csY5" fmla="*/ 0 h 4664765"/>
                  <a:gd name="csX6" fmla="*/ 129353 w 3495405"/>
                  <a:gd name="csY6" fmla="*/ 1603513 h 4664765"/>
                  <a:gd name="csX0" fmla="*/ 129353 w 3495405"/>
                  <a:gd name="csY0" fmla="*/ 1603513 h 4664765"/>
                  <a:gd name="csX1" fmla="*/ 208866 w 3495405"/>
                  <a:gd name="csY1" fmla="*/ 4386470 h 4664765"/>
                  <a:gd name="csX2" fmla="*/ 778710 w 3495405"/>
                  <a:gd name="csY2" fmla="*/ 4664765 h 4664765"/>
                  <a:gd name="csX3" fmla="*/ 3429144 w 3495405"/>
                  <a:gd name="csY3" fmla="*/ 3101009 h 4664765"/>
                  <a:gd name="csX4" fmla="*/ 3495405 w 3495405"/>
                  <a:gd name="csY4" fmla="*/ 463826 h 4664765"/>
                  <a:gd name="csX5" fmla="*/ 2488240 w 3495405"/>
                  <a:gd name="csY5" fmla="*/ 0 h 4664765"/>
                  <a:gd name="csX6" fmla="*/ 129353 w 3495405"/>
                  <a:gd name="csY6" fmla="*/ 1603513 h 4664765"/>
                  <a:gd name="csX0" fmla="*/ 129353 w 3495405"/>
                  <a:gd name="csY0" fmla="*/ 1603513 h 4664765"/>
                  <a:gd name="csX1" fmla="*/ 208866 w 3495405"/>
                  <a:gd name="csY1" fmla="*/ 4386470 h 4664765"/>
                  <a:gd name="csX2" fmla="*/ 778710 w 3495405"/>
                  <a:gd name="csY2" fmla="*/ 4664765 h 4664765"/>
                  <a:gd name="csX3" fmla="*/ 3429144 w 3495405"/>
                  <a:gd name="csY3" fmla="*/ 3101009 h 4664765"/>
                  <a:gd name="csX4" fmla="*/ 3495405 w 3495405"/>
                  <a:gd name="csY4" fmla="*/ 463826 h 4664765"/>
                  <a:gd name="csX5" fmla="*/ 2488240 w 3495405"/>
                  <a:gd name="csY5" fmla="*/ 0 h 4664765"/>
                  <a:gd name="csX6" fmla="*/ 129353 w 3495405"/>
                  <a:gd name="csY6" fmla="*/ 1603513 h 4664765"/>
                  <a:gd name="csX0" fmla="*/ 129353 w 3495405"/>
                  <a:gd name="csY0" fmla="*/ 1603513 h 4664765"/>
                  <a:gd name="csX1" fmla="*/ 208866 w 3495405"/>
                  <a:gd name="csY1" fmla="*/ 4386470 h 4664765"/>
                  <a:gd name="csX2" fmla="*/ 778710 w 3495405"/>
                  <a:gd name="csY2" fmla="*/ 4664765 h 4664765"/>
                  <a:gd name="csX3" fmla="*/ 3429144 w 3495405"/>
                  <a:gd name="csY3" fmla="*/ 3101009 h 4664765"/>
                  <a:gd name="csX4" fmla="*/ 3495405 w 3495405"/>
                  <a:gd name="csY4" fmla="*/ 463826 h 4664765"/>
                  <a:gd name="csX5" fmla="*/ 2488240 w 3495405"/>
                  <a:gd name="csY5" fmla="*/ 0 h 4664765"/>
                  <a:gd name="csX6" fmla="*/ 129353 w 3495405"/>
                  <a:gd name="csY6" fmla="*/ 1603513 h 4664765"/>
                  <a:gd name="csX0" fmla="*/ 129353 w 3495405"/>
                  <a:gd name="csY0" fmla="*/ 1603513 h 4664765"/>
                  <a:gd name="csX1" fmla="*/ 208866 w 3495405"/>
                  <a:gd name="csY1" fmla="*/ 4386470 h 4664765"/>
                  <a:gd name="csX2" fmla="*/ 778710 w 3495405"/>
                  <a:gd name="csY2" fmla="*/ 4664765 h 4664765"/>
                  <a:gd name="csX3" fmla="*/ 3429144 w 3495405"/>
                  <a:gd name="csY3" fmla="*/ 3101009 h 4664765"/>
                  <a:gd name="csX4" fmla="*/ 3495405 w 3495405"/>
                  <a:gd name="csY4" fmla="*/ 463826 h 4664765"/>
                  <a:gd name="csX5" fmla="*/ 2488240 w 3495405"/>
                  <a:gd name="csY5" fmla="*/ 0 h 4664765"/>
                  <a:gd name="csX6" fmla="*/ 129353 w 3495405"/>
                  <a:gd name="csY6" fmla="*/ 1603513 h 46647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495405" h="4664765">
                    <a:moveTo>
                      <a:pt x="129353" y="1603513"/>
                    </a:moveTo>
                    <a:cubicBezTo>
                      <a:pt x="-3169" y="2504661"/>
                      <a:pt x="-109185" y="3432314"/>
                      <a:pt x="208866" y="4386470"/>
                    </a:cubicBezTo>
                    <a:lnTo>
                      <a:pt x="778710" y="4664765"/>
                    </a:lnTo>
                    <a:cubicBezTo>
                      <a:pt x="1582675" y="4037495"/>
                      <a:pt x="2519162" y="3317462"/>
                      <a:pt x="3429144" y="3101009"/>
                    </a:cubicBezTo>
                    <a:cubicBezTo>
                      <a:pt x="3159683" y="2036417"/>
                      <a:pt x="3420310" y="1329635"/>
                      <a:pt x="3495405" y="463826"/>
                    </a:cubicBezTo>
                    <a:lnTo>
                      <a:pt x="2488240" y="0"/>
                    </a:lnTo>
                    <a:cubicBezTo>
                      <a:pt x="1489909" y="348973"/>
                      <a:pt x="796380" y="976244"/>
                      <a:pt x="129353" y="160351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30000"/>
                    </a:schemeClr>
                  </a:gs>
                  <a:gs pos="100000">
                    <a:srgbClr val="0404FF">
                      <a:alpha val="30000"/>
                    </a:srgbClr>
                  </a:gs>
                </a:gsLst>
                <a:lin ang="540000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40" name="直線矢印コネクタ 39">
                <a:extLst>
                  <a:ext uri="{FF2B5EF4-FFF2-40B4-BE49-F238E27FC236}">
                    <a16:creationId xmlns:a16="http://schemas.microsoft.com/office/drawing/2014/main" id="{BF2D621B-9EDC-DC93-CDB2-498575F23F69}"/>
                  </a:ext>
                </a:extLst>
              </p:cNvPr>
              <p:cNvCxnSpPr/>
              <p:nvPr/>
            </p:nvCxnSpPr>
            <p:spPr>
              <a:xfrm>
                <a:off x="16996256" y="7984498"/>
                <a:ext cx="2777086" cy="1689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2" name="右中かっこ 111">
              <a:extLst>
                <a:ext uri="{FF2B5EF4-FFF2-40B4-BE49-F238E27FC236}">
                  <a16:creationId xmlns:a16="http://schemas.microsoft.com/office/drawing/2014/main" id="{815FB118-D54A-6810-EC4D-27CB9C6F7326}"/>
                </a:ext>
              </a:extLst>
            </p:cNvPr>
            <p:cNvSpPr/>
            <p:nvPr/>
          </p:nvSpPr>
          <p:spPr>
            <a:xfrm rot="5400000">
              <a:off x="12429703" y="7225719"/>
              <a:ext cx="540654" cy="2790378"/>
            </a:xfrm>
            <a:prstGeom prst="rightBrace">
              <a:avLst/>
            </a:prstGeom>
            <a:ln w="25400" cap="rnd">
              <a:solidFill>
                <a:schemeClr val="tx1"/>
              </a:solidFill>
              <a:round/>
              <a:headEnd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33" name="グループ化 132">
              <a:extLst>
                <a:ext uri="{FF2B5EF4-FFF2-40B4-BE49-F238E27FC236}">
                  <a16:creationId xmlns:a16="http://schemas.microsoft.com/office/drawing/2014/main" id="{D1B9FD74-E6A2-46E6-1F43-DD8CCA9A578C}"/>
                </a:ext>
              </a:extLst>
            </p:cNvPr>
            <p:cNvGrpSpPr/>
            <p:nvPr/>
          </p:nvGrpSpPr>
          <p:grpSpPr>
            <a:xfrm>
              <a:off x="8693430" y="3241663"/>
              <a:ext cx="2666559" cy="4215326"/>
              <a:chOff x="7787627" y="3154448"/>
              <a:chExt cx="2666559" cy="4215326"/>
            </a:xfrm>
          </p:grpSpPr>
          <p:sp>
            <p:nvSpPr>
              <p:cNvPr id="129" name="右矢印 128">
                <a:extLst>
                  <a:ext uri="{FF2B5EF4-FFF2-40B4-BE49-F238E27FC236}">
                    <a16:creationId xmlns:a16="http://schemas.microsoft.com/office/drawing/2014/main" id="{06B4924E-3398-D1A7-3BEE-DF62A3E215B3}"/>
                  </a:ext>
                </a:extLst>
              </p:cNvPr>
              <p:cNvSpPr/>
              <p:nvPr/>
            </p:nvSpPr>
            <p:spPr>
              <a:xfrm>
                <a:off x="8214641" y="3154448"/>
                <a:ext cx="1812530" cy="4215326"/>
              </a:xfrm>
              <a:prstGeom prst="rightArrow">
                <a:avLst>
                  <a:gd name="adj1" fmla="val 55227"/>
                  <a:gd name="adj2" fmla="val 10000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1" name="テキスト ボックス 130">
                <a:extLst>
                  <a:ext uri="{FF2B5EF4-FFF2-40B4-BE49-F238E27FC236}">
                    <a16:creationId xmlns:a16="http://schemas.microsoft.com/office/drawing/2014/main" id="{30CACE18-9857-0685-5010-E0FF2A589EA0}"/>
                  </a:ext>
                </a:extLst>
              </p:cNvPr>
              <p:cNvSpPr txBox="1"/>
              <p:nvPr/>
            </p:nvSpPr>
            <p:spPr>
              <a:xfrm>
                <a:off x="7787627" y="4391946"/>
                <a:ext cx="2666559" cy="1661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3400" dirty="0">
                    <a:latin typeface="Helvetica" pitchFamily="2" charset="0"/>
                  </a:rPr>
                  <a:t>Time Dependent Correction</a:t>
                </a:r>
                <a:endParaRPr kumimoji="1" lang="ja-JP" altLang="en-US" sz="3400">
                  <a:latin typeface="Helvetica" pitchFamily="2" charset="0"/>
                </a:endParaRPr>
              </a:p>
            </p:txBody>
          </p:sp>
        </p:grpSp>
        <p:grpSp>
          <p:nvGrpSpPr>
            <p:cNvPr id="134" name="グループ化 133">
              <a:extLst>
                <a:ext uri="{FF2B5EF4-FFF2-40B4-BE49-F238E27FC236}">
                  <a16:creationId xmlns:a16="http://schemas.microsoft.com/office/drawing/2014/main" id="{B7D49281-3511-F810-A95D-C01F35923384}"/>
                </a:ext>
              </a:extLst>
            </p:cNvPr>
            <p:cNvGrpSpPr/>
            <p:nvPr/>
          </p:nvGrpSpPr>
          <p:grpSpPr>
            <a:xfrm>
              <a:off x="14041983" y="3220166"/>
              <a:ext cx="2666559" cy="4215326"/>
              <a:chOff x="7787627" y="3154448"/>
              <a:chExt cx="2666559" cy="4215326"/>
            </a:xfrm>
          </p:grpSpPr>
          <p:sp>
            <p:nvSpPr>
              <p:cNvPr id="135" name="右矢印 134">
                <a:extLst>
                  <a:ext uri="{FF2B5EF4-FFF2-40B4-BE49-F238E27FC236}">
                    <a16:creationId xmlns:a16="http://schemas.microsoft.com/office/drawing/2014/main" id="{21896631-11DB-BAD0-B804-DB8E0EBFD28F}"/>
                  </a:ext>
                </a:extLst>
              </p:cNvPr>
              <p:cNvSpPr/>
              <p:nvPr/>
            </p:nvSpPr>
            <p:spPr>
              <a:xfrm>
                <a:off x="8214641" y="3154448"/>
                <a:ext cx="1812530" cy="4215326"/>
              </a:xfrm>
              <a:prstGeom prst="rightArrow">
                <a:avLst>
                  <a:gd name="adj1" fmla="val 55227"/>
                  <a:gd name="adj2" fmla="val 10000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6" name="テキスト ボックス 135">
                <a:extLst>
                  <a:ext uri="{FF2B5EF4-FFF2-40B4-BE49-F238E27FC236}">
                    <a16:creationId xmlns:a16="http://schemas.microsoft.com/office/drawing/2014/main" id="{A32F26FF-ECAB-FA0C-37F0-D2E1E649E5D4}"/>
                  </a:ext>
                </a:extLst>
              </p:cNvPr>
              <p:cNvSpPr txBox="1"/>
              <p:nvPr/>
            </p:nvSpPr>
            <p:spPr>
              <a:xfrm>
                <a:off x="7787627" y="4391946"/>
                <a:ext cx="2666559" cy="1661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3400" dirty="0">
                    <a:latin typeface="Helvetica" pitchFamily="2" charset="0"/>
                  </a:rPr>
                  <a:t>Map to</a:t>
                </a:r>
                <a:br>
                  <a:rPr kumimoji="1" lang="en-US" altLang="ja-JP" sz="3400" dirty="0">
                    <a:latin typeface="Helvetica" pitchFamily="2" charset="0"/>
                  </a:rPr>
                </a:br>
                <a:r>
                  <a:rPr kumimoji="1" lang="en-US" altLang="ja-JP" sz="3400" dirty="0">
                    <a:latin typeface="Helvetica" pitchFamily="2" charset="0"/>
                  </a:rPr>
                  <a:t>Reciprocal</a:t>
                </a:r>
                <a:br>
                  <a:rPr kumimoji="1" lang="en-US" altLang="ja-JP" sz="3400" dirty="0">
                    <a:latin typeface="Helvetica" pitchFamily="2" charset="0"/>
                  </a:rPr>
                </a:br>
                <a:r>
                  <a:rPr kumimoji="1" lang="en-US" altLang="ja-JP" sz="3400" dirty="0">
                    <a:latin typeface="Helvetica" pitchFamily="2" charset="0"/>
                  </a:rPr>
                  <a:t>Space</a:t>
                </a:r>
                <a:endParaRPr kumimoji="1" lang="ja-JP" altLang="en-US" sz="3400">
                  <a:latin typeface="Helvetica" pitchFamily="2" charset="0"/>
                </a:endParaRPr>
              </a:p>
            </p:txBody>
          </p:sp>
        </p:grpSp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9C310205-2247-0BDE-5EB1-4A50FED8D940}"/>
                </a:ext>
              </a:extLst>
            </p:cNvPr>
            <p:cNvSpPr/>
            <p:nvPr/>
          </p:nvSpPr>
          <p:spPr>
            <a:xfrm>
              <a:off x="1607791" y="2136751"/>
              <a:ext cx="3472516" cy="7164000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29597"/>
              </a:schemeClr>
            </a:soli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606763C8-7799-6BCF-D027-183DF0026172}"/>
                </a:ext>
              </a:extLst>
            </p:cNvPr>
            <p:cNvSpPr/>
            <p:nvPr/>
          </p:nvSpPr>
          <p:spPr>
            <a:xfrm>
              <a:off x="5181493" y="2142053"/>
              <a:ext cx="3472516" cy="7164000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29597"/>
              </a:schemeClr>
            </a:soli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D5B09612-9D3D-C8BD-5780-B91FC35194D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rot="16200000">
                  <a:off x="911278" y="2694223"/>
                  <a:ext cx="92685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Y</m:t>
                      </m:r>
                    </m:oMath>
                  </a14:m>
                  <a:r>
                    <a:rPr lang="en-US" altLang="ja-JP" sz="3200" baseline="-25000" dirty="0">
                      <a:latin typeface="Helvetica" pitchFamily="2" charset="0"/>
                    </a:rPr>
                    <a:t> </a:t>
                  </a:r>
                  <a:r>
                    <a:rPr lang="en-US" altLang="ja-JP" sz="3200" dirty="0" err="1">
                      <a:latin typeface="Helvetica" pitchFamily="2" charset="0"/>
                    </a:rPr>
                    <a:t>ch</a:t>
                  </a:r>
                  <a:endParaRPr lang="ja-JP" altLang="en-US" sz="3200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D5B09612-9D3D-C8BD-5780-B91FC35194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911278" y="2694223"/>
                  <a:ext cx="926857" cy="584775"/>
                </a:xfrm>
                <a:prstGeom prst="rect">
                  <a:avLst/>
                </a:prstGeom>
                <a:blipFill>
                  <a:blip r:embed="rId6"/>
                  <a:stretch>
                    <a:fillRect l="-12766" t="-14865" r="-31915" b="-540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正方形/長方形 2">
                  <a:extLst>
                    <a:ext uri="{FF2B5EF4-FFF2-40B4-BE49-F238E27FC236}">
                      <a16:creationId xmlns:a16="http://schemas.microsoft.com/office/drawing/2014/main" id="{0DB47C47-618B-CC4C-FE82-FF957AF5812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667093" y="2176610"/>
                  <a:ext cx="1620000" cy="1620000"/>
                </a:xfrm>
                <a:prstGeom prst="rect">
                  <a:avLst/>
                </a:prstGeom>
                <a:pattFill prst="lgGrid">
                  <a:fgClr>
                    <a:schemeClr val="bg2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obs</m:t>
                            </m:r>
                          </m:sub>
                          <m:sup>
                            <m: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bSup>
                        <m:r>
                          <a:rPr lang="en-US" altLang="ja-JP" sz="2800" i="1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28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800" i="1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US" altLang="ja-JP" sz="2800" i="1" dirty="0">
                    <a:solidFill>
                      <a:srgbClr val="0404FF"/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ja-JP" sz="28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800" i="1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ja-JP" sz="2800" i="1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ja-JP" sz="2800" i="1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800">
                    <a:solidFill>
                      <a:srgbClr val="0404FF"/>
                    </a:solidFill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3" name="正方形/長方形 2">
                  <a:extLst>
                    <a:ext uri="{FF2B5EF4-FFF2-40B4-BE49-F238E27FC236}">
                      <a16:creationId xmlns:a16="http://schemas.microsoft.com/office/drawing/2014/main" id="{0DB47C47-618B-CC4C-FE82-FF957AF5812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7093" y="2176610"/>
                  <a:ext cx="1620000" cy="1620000"/>
                </a:xfrm>
                <a:prstGeom prst="rect">
                  <a:avLst/>
                </a:prstGeom>
                <a:blipFill>
                  <a:blip r:embed="rId7"/>
                  <a:stretch>
                    <a:fillRect r="-384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テキスト ボックス 31">
                  <a:extLst>
                    <a:ext uri="{FF2B5EF4-FFF2-40B4-BE49-F238E27FC236}">
                      <a16:creationId xmlns:a16="http://schemas.microsoft.com/office/drawing/2014/main" id="{EAA03B52-FEC7-E20F-C961-B6321B03628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013665" y="3736701"/>
                  <a:ext cx="92685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</m:oMath>
                  </a14:m>
                  <a:r>
                    <a:rPr lang="en-US" altLang="ja-JP" sz="3200" baseline="-25000" dirty="0">
                      <a:latin typeface="Helvetica" pitchFamily="2" charset="0"/>
                    </a:rPr>
                    <a:t> </a:t>
                  </a:r>
                  <a:r>
                    <a:rPr lang="en-US" altLang="ja-JP" sz="3200" dirty="0" err="1">
                      <a:latin typeface="Helvetica" pitchFamily="2" charset="0"/>
                    </a:rPr>
                    <a:t>ch</a:t>
                  </a:r>
                  <a:endParaRPr lang="ja-JP" altLang="en-US" sz="3200" baseline="-25000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32" name="テキスト ボックス 31">
                  <a:extLst>
                    <a:ext uri="{FF2B5EF4-FFF2-40B4-BE49-F238E27FC236}">
                      <a16:creationId xmlns:a16="http://schemas.microsoft.com/office/drawing/2014/main" id="{EAA03B52-FEC7-E20F-C961-B6321B0362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3665" y="3736701"/>
                  <a:ext cx="926857" cy="584775"/>
                </a:xfrm>
                <a:prstGeom prst="rect">
                  <a:avLst/>
                </a:prstGeom>
                <a:blipFill>
                  <a:blip r:embed="rId8"/>
                  <a:stretch>
                    <a:fillRect l="-4054" t="-12766" r="-14865" b="-340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2" name="正方形/長方形 81">
                  <a:extLst>
                    <a:ext uri="{FF2B5EF4-FFF2-40B4-BE49-F238E27FC236}">
                      <a16:creationId xmlns:a16="http://schemas.microsoft.com/office/drawing/2014/main" id="{72D4002A-C537-083E-00F7-EDC4BC2597D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441645" y="4192374"/>
                  <a:ext cx="1620000" cy="1620000"/>
                </a:xfrm>
                <a:prstGeom prst="rect">
                  <a:avLst/>
                </a:prstGeom>
                <a:pattFill prst="lgGrid">
                  <a:fgClr>
                    <a:schemeClr val="bg2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obs</m:t>
                            </m:r>
                          </m:sub>
                          <m:sup>
                            <m: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ja-JP" sz="28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  <m:r>
                          <a:rPr lang="en-US" altLang="ja-JP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US" altLang="ja-JP" sz="2800" i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ja-JP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ja-JP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800">
                    <a:solidFill>
                      <a:srgbClr val="FF0000"/>
                    </a:solidFill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82" name="正方形/長方形 81">
                  <a:extLst>
                    <a:ext uri="{FF2B5EF4-FFF2-40B4-BE49-F238E27FC236}">
                      <a16:creationId xmlns:a16="http://schemas.microsoft.com/office/drawing/2014/main" id="{72D4002A-C537-083E-00F7-EDC4BC2597D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1645" y="4192374"/>
                  <a:ext cx="1620000" cy="1620000"/>
                </a:xfrm>
                <a:prstGeom prst="rect">
                  <a:avLst/>
                </a:prstGeom>
                <a:blipFill>
                  <a:blip r:embed="rId9"/>
                  <a:stretch>
                    <a:fillRect r="-461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直線矢印コネクタ 3">
              <a:extLst>
                <a:ext uri="{FF2B5EF4-FFF2-40B4-BE49-F238E27FC236}">
                  <a16:creationId xmlns:a16="http://schemas.microsoft.com/office/drawing/2014/main" id="{A02082C9-AFC4-38B9-48B7-905ECDE7212B}"/>
                </a:ext>
              </a:extLst>
            </p:cNvPr>
            <p:cNvCxnSpPr/>
            <p:nvPr/>
          </p:nvCxnSpPr>
          <p:spPr>
            <a:xfrm>
              <a:off x="1555134" y="5662889"/>
              <a:ext cx="0" cy="2936631"/>
            </a:xfrm>
            <a:prstGeom prst="straightConnector1">
              <a:avLst/>
            </a:prstGeom>
            <a:ln w="44450">
              <a:solidFill>
                <a:schemeClr val="tx1"/>
              </a:solidFill>
              <a:headEnd type="triangle" w="lg" len="lg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線矢印コネクタ 5">
              <a:extLst>
                <a:ext uri="{FF2B5EF4-FFF2-40B4-BE49-F238E27FC236}">
                  <a16:creationId xmlns:a16="http://schemas.microsoft.com/office/drawing/2014/main" id="{02B8C4B0-CE8E-B35E-C73E-3D08BCCFEF5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147622" y="4983553"/>
              <a:ext cx="0" cy="7200000"/>
            </a:xfrm>
            <a:prstGeom prst="straightConnector1">
              <a:avLst/>
            </a:prstGeom>
            <a:ln w="44450">
              <a:solidFill>
                <a:schemeClr val="tx1"/>
              </a:solidFill>
              <a:headEnd type="triangle" w="lg" len="lg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1905FCC5-6BAC-244F-47A0-20F1A39CEC64}"/>
                </a:ext>
              </a:extLst>
            </p:cNvPr>
            <p:cNvCxnSpPr>
              <a:cxnSpLocks/>
            </p:cNvCxnSpPr>
            <p:nvPr/>
          </p:nvCxnSpPr>
          <p:spPr>
            <a:xfrm>
              <a:off x="3368179" y="1988622"/>
              <a:ext cx="0" cy="6803999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正方形/長方形 4">
                  <a:extLst>
                    <a:ext uri="{FF2B5EF4-FFF2-40B4-BE49-F238E27FC236}">
                      <a16:creationId xmlns:a16="http://schemas.microsoft.com/office/drawing/2014/main" id="{975E26E0-734E-33BA-83C8-2F3AB96D449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216197" y="2176610"/>
                  <a:ext cx="1620000" cy="1620000"/>
                </a:xfrm>
                <a:prstGeom prst="rect">
                  <a:avLst/>
                </a:prstGeom>
                <a:pattFill prst="lgGrid">
                  <a:fgClr>
                    <a:schemeClr val="bg2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obs</m:t>
                            </m:r>
                          </m:sub>
                          <m:sup>
                            <m: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ja-JP" sz="28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800" i="1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28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ja-JP" sz="2800" i="1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US" altLang="ja-JP" sz="2800" i="1" dirty="0">
                    <a:solidFill>
                      <a:srgbClr val="0404FF"/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800" i="1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ja-JP" sz="2800" i="1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ja-JP" sz="2800" i="1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800">
                    <a:solidFill>
                      <a:srgbClr val="0404FF"/>
                    </a:solidFill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5" name="正方形/長方形 4">
                  <a:extLst>
                    <a:ext uri="{FF2B5EF4-FFF2-40B4-BE49-F238E27FC236}">
                      <a16:creationId xmlns:a16="http://schemas.microsoft.com/office/drawing/2014/main" id="{975E26E0-734E-33BA-83C8-2F3AB96D449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6197" y="2176610"/>
                  <a:ext cx="1620000" cy="1620000"/>
                </a:xfrm>
                <a:prstGeom prst="rect">
                  <a:avLst/>
                </a:prstGeom>
                <a:blipFill>
                  <a:blip r:embed="rId10"/>
                  <a:stretch>
                    <a:fillRect r="-461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正方形/長方形 12">
                  <a:extLst>
                    <a:ext uri="{FF2B5EF4-FFF2-40B4-BE49-F238E27FC236}">
                      <a16:creationId xmlns:a16="http://schemas.microsoft.com/office/drawing/2014/main" id="{58271956-2C73-7744-4764-7A475CC0F61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990750" y="4192374"/>
                  <a:ext cx="1620000" cy="1620000"/>
                </a:xfrm>
                <a:prstGeom prst="rect">
                  <a:avLst/>
                </a:prstGeom>
                <a:pattFill prst="lgGrid">
                  <a:fgClr>
                    <a:schemeClr val="bg2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obs</m:t>
                            </m:r>
                          </m:sub>
                          <m:sup>
                            <m: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  <m:r>
                          <a:rPr lang="en-US" altLang="ja-JP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ja-JP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US" altLang="ja-JP" sz="2800" i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ja-JP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ja-JP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ja-JP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800">
                    <a:solidFill>
                      <a:srgbClr val="FF0000"/>
                    </a:solidFill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13" name="正方形/長方形 12">
                  <a:extLst>
                    <a:ext uri="{FF2B5EF4-FFF2-40B4-BE49-F238E27FC236}">
                      <a16:creationId xmlns:a16="http://schemas.microsoft.com/office/drawing/2014/main" id="{58271956-2C73-7744-4764-7A475CC0F61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0750" y="4192374"/>
                  <a:ext cx="1620000" cy="1620000"/>
                </a:xfrm>
                <a:prstGeom prst="rect">
                  <a:avLst/>
                </a:prstGeom>
                <a:blipFill>
                  <a:blip r:embed="rId11"/>
                  <a:stretch>
                    <a:fillRect r="-384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07C399C6-4B15-F8A7-CAEC-71931EB8B1DD}"/>
                </a:ext>
              </a:extLst>
            </p:cNvPr>
            <p:cNvCxnSpPr>
              <a:cxnSpLocks/>
            </p:cNvCxnSpPr>
            <p:nvPr/>
          </p:nvCxnSpPr>
          <p:spPr>
            <a:xfrm>
              <a:off x="5138921" y="1988620"/>
              <a:ext cx="0" cy="6803999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AA8BCFD5-D80C-A9E4-ACFF-4837B24938E4}"/>
                </a:ext>
              </a:extLst>
            </p:cNvPr>
            <p:cNvCxnSpPr>
              <a:cxnSpLocks/>
            </p:cNvCxnSpPr>
            <p:nvPr/>
          </p:nvCxnSpPr>
          <p:spPr>
            <a:xfrm>
              <a:off x="6932523" y="1988622"/>
              <a:ext cx="0" cy="6803999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19211C02-8498-9BEC-142A-ED768EDD39DA}"/>
                    </a:ext>
                  </a:extLst>
                </p:cNvPr>
                <p:cNvSpPr txBox="1"/>
                <p:nvPr/>
              </p:nvSpPr>
              <p:spPr>
                <a:xfrm>
                  <a:off x="2174798" y="8547211"/>
                  <a:ext cx="630301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400"/>
                </a:p>
              </p:txBody>
            </p:sp>
          </mc:Choice>
          <mc:Fallback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19211C02-8498-9BEC-142A-ED768EDD39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4798" y="8547211"/>
                  <a:ext cx="630301" cy="615553"/>
                </a:xfrm>
                <a:prstGeom prst="rect">
                  <a:avLst/>
                </a:prstGeom>
                <a:blipFill>
                  <a:blip r:embed="rId12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78187D70-2990-AA93-81F5-7ECCC0FAB981}"/>
                    </a:ext>
                  </a:extLst>
                </p:cNvPr>
                <p:cNvSpPr txBox="1"/>
                <p:nvPr/>
              </p:nvSpPr>
              <p:spPr>
                <a:xfrm>
                  <a:off x="3944606" y="8547210"/>
                  <a:ext cx="640367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400"/>
                </a:p>
              </p:txBody>
            </p:sp>
          </mc:Choice>
          <mc:Fallback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78187D70-2990-AA93-81F5-7ECCC0FAB9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44606" y="8547210"/>
                  <a:ext cx="640367" cy="615553"/>
                </a:xfrm>
                <a:prstGeom prst="rect">
                  <a:avLst/>
                </a:prstGeom>
                <a:blipFill>
                  <a:blip r:embed="rId13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279A4901-CD77-0A38-FA16-9B2C4E0A37D3}"/>
                    </a:ext>
                  </a:extLst>
                </p:cNvPr>
                <p:cNvSpPr txBox="1"/>
                <p:nvPr/>
              </p:nvSpPr>
              <p:spPr>
                <a:xfrm>
                  <a:off x="5719158" y="8547212"/>
                  <a:ext cx="640367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400"/>
                </a:p>
              </p:txBody>
            </p:sp>
          </mc:Choice>
          <mc:Fallback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279A4901-CD77-0A38-FA16-9B2C4E0A37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9158" y="8547212"/>
                  <a:ext cx="640367" cy="615553"/>
                </a:xfrm>
                <a:prstGeom prst="rect">
                  <a:avLst/>
                </a:prstGeom>
                <a:blipFill>
                  <a:blip r:embed="rId14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886B3DB7-CB32-6BDB-8848-6975993A839B}"/>
                    </a:ext>
                  </a:extLst>
                </p:cNvPr>
                <p:cNvSpPr txBox="1"/>
                <p:nvPr/>
              </p:nvSpPr>
              <p:spPr>
                <a:xfrm>
                  <a:off x="7493711" y="8547211"/>
                  <a:ext cx="640367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400"/>
                </a:p>
              </p:txBody>
            </p:sp>
          </mc:Choice>
          <mc:Fallback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886B3DB7-CB32-6BDB-8848-6975993A83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3711" y="8547211"/>
                  <a:ext cx="640367" cy="615553"/>
                </a:xfrm>
                <a:prstGeom prst="rect">
                  <a:avLst/>
                </a:prstGeom>
                <a:blipFill>
                  <a:blip r:embed="rId15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7231A3F7-515B-0DAD-40CE-865E6A14F2FF}"/>
                </a:ext>
              </a:extLst>
            </p:cNvPr>
            <p:cNvSpPr txBox="1"/>
            <p:nvPr/>
          </p:nvSpPr>
          <p:spPr>
            <a:xfrm>
              <a:off x="2209848" y="1023267"/>
              <a:ext cx="2316661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3200" baseline="30000" dirty="0"/>
                <a:t>3</a:t>
              </a:r>
              <a:r>
                <a:rPr kumimoji="1" lang="en-US" altLang="ja-JP" sz="3200" dirty="0"/>
                <a:t>He spin flip</a:t>
              </a:r>
              <a:br>
                <a:rPr kumimoji="1" lang="en-US" altLang="ja-JP" sz="3200" dirty="0"/>
              </a:br>
              <a:r>
                <a:rPr kumimoji="1" lang="en-US" altLang="ja-JP" sz="3200" dirty="0"/>
                <a:t>(AFP-NMR)</a:t>
              </a:r>
              <a:endParaRPr kumimoji="1" lang="ja-JP" altLang="en-US" sz="32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テキスト ボックス 45">
                  <a:extLst>
                    <a:ext uri="{FF2B5EF4-FFF2-40B4-BE49-F238E27FC236}">
                      <a16:creationId xmlns:a16="http://schemas.microsoft.com/office/drawing/2014/main" id="{C349F213-1C23-A6E4-4291-8623451AF9A9}"/>
                    </a:ext>
                  </a:extLst>
                </p:cNvPr>
                <p:cNvSpPr txBox="1"/>
                <p:nvPr/>
              </p:nvSpPr>
              <p:spPr>
                <a:xfrm>
                  <a:off x="2990891" y="9142737"/>
                  <a:ext cx="818301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ja-JP" sz="3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600" i="1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46" name="テキスト ボックス 45">
                  <a:extLst>
                    <a:ext uri="{FF2B5EF4-FFF2-40B4-BE49-F238E27FC236}">
                      <a16:creationId xmlns:a16="http://schemas.microsoft.com/office/drawing/2014/main" id="{C349F213-1C23-A6E4-4291-8623451AF9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0891" y="9142737"/>
                  <a:ext cx="818301" cy="646331"/>
                </a:xfrm>
                <a:prstGeom prst="rect">
                  <a:avLst/>
                </a:prstGeom>
                <a:blipFill>
                  <a:blip r:embed="rId16"/>
                  <a:stretch>
                    <a:fillRect b="-39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テキスト ボックス 46">
                  <a:extLst>
                    <a:ext uri="{FF2B5EF4-FFF2-40B4-BE49-F238E27FC236}">
                      <a16:creationId xmlns:a16="http://schemas.microsoft.com/office/drawing/2014/main" id="{698536C4-263F-B387-9802-EB9D4BCE05CC}"/>
                    </a:ext>
                  </a:extLst>
                </p:cNvPr>
                <p:cNvSpPr txBox="1"/>
                <p:nvPr/>
              </p:nvSpPr>
              <p:spPr>
                <a:xfrm>
                  <a:off x="6573722" y="9142737"/>
                  <a:ext cx="829008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ja-JP" sz="3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600" i="1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47" name="テキスト ボックス 46">
                  <a:extLst>
                    <a:ext uri="{FF2B5EF4-FFF2-40B4-BE49-F238E27FC236}">
                      <a16:creationId xmlns:a16="http://schemas.microsoft.com/office/drawing/2014/main" id="{698536C4-263F-B387-9802-EB9D4BCE05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3722" y="9142737"/>
                  <a:ext cx="829008" cy="646331"/>
                </a:xfrm>
                <a:prstGeom prst="rect">
                  <a:avLst/>
                </a:prstGeom>
                <a:blipFill>
                  <a:blip r:embed="rId17"/>
                  <a:stretch>
                    <a:fillRect b="-39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6" name="テキスト ボックス 125">
                  <a:extLst>
                    <a:ext uri="{FF2B5EF4-FFF2-40B4-BE49-F238E27FC236}">
                      <a16:creationId xmlns:a16="http://schemas.microsoft.com/office/drawing/2014/main" id="{A0CF6492-5637-E9EB-6177-28081651AB15}"/>
                    </a:ext>
                  </a:extLst>
                </p:cNvPr>
                <p:cNvSpPr txBox="1"/>
                <p:nvPr/>
              </p:nvSpPr>
              <p:spPr>
                <a:xfrm>
                  <a:off x="1840611" y="5865742"/>
                  <a:ext cx="1292149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600" b="0" i="1" smtClean="0">
                                <a:solidFill>
                                  <a:srgbClr val="FF93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600" b="0" i="1" smtClean="0">
                                <a:solidFill>
                                  <a:srgbClr val="FF93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kumimoji="1" lang="en-US" altLang="ja-JP" sz="3600" b="0" i="1" smtClean="0">
                                <a:solidFill>
                                  <a:srgbClr val="FF93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kumimoji="1" lang="en-US" altLang="ja-JP" sz="3600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3600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ja-JP" sz="3600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ja-JP" altLang="en-US" sz="3600" i="1">
                    <a:solidFill>
                      <a:srgbClr val="FF9300"/>
                    </a:solidFill>
                  </a:endParaRPr>
                </a:p>
              </p:txBody>
            </p:sp>
          </mc:Choice>
          <mc:Fallback>
            <p:sp>
              <p:nvSpPr>
                <p:cNvPr id="126" name="テキスト ボックス 125">
                  <a:extLst>
                    <a:ext uri="{FF2B5EF4-FFF2-40B4-BE49-F238E27FC236}">
                      <a16:creationId xmlns:a16="http://schemas.microsoft.com/office/drawing/2014/main" id="{A0CF6492-5637-E9EB-6177-28081651AB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0611" y="5865742"/>
                  <a:ext cx="1292149" cy="646331"/>
                </a:xfrm>
                <a:prstGeom prst="rect">
                  <a:avLst/>
                </a:prstGeom>
                <a:blipFill>
                  <a:blip r:embed="rId18"/>
                  <a:stretch>
                    <a:fillRect r="-5825" b="-2115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7" name="テキスト ボックス 126">
                  <a:extLst>
                    <a:ext uri="{FF2B5EF4-FFF2-40B4-BE49-F238E27FC236}">
                      <a16:creationId xmlns:a16="http://schemas.microsoft.com/office/drawing/2014/main" id="{80226698-AE6F-856A-C387-C52BD11B3795}"/>
                    </a:ext>
                  </a:extLst>
                </p:cNvPr>
                <p:cNvSpPr txBox="1"/>
                <p:nvPr/>
              </p:nvSpPr>
              <p:spPr>
                <a:xfrm>
                  <a:off x="1825304" y="7569930"/>
                  <a:ext cx="132619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6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6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kumimoji="1" lang="en-US" altLang="ja-JP" sz="36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kumimoji="1" lang="en-US" altLang="ja-JP" sz="3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3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ja-JP" sz="3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ja-JP" altLang="en-US" sz="3600" i="1">
                    <a:solidFill>
                      <a:srgbClr val="00B0F0"/>
                    </a:solidFill>
                  </a:endParaRPr>
                </a:p>
              </p:txBody>
            </p:sp>
          </mc:Choice>
          <mc:Fallback>
            <p:sp>
              <p:nvSpPr>
                <p:cNvPr id="127" name="テキスト ボックス 126">
                  <a:extLst>
                    <a:ext uri="{FF2B5EF4-FFF2-40B4-BE49-F238E27FC236}">
                      <a16:creationId xmlns:a16="http://schemas.microsoft.com/office/drawing/2014/main" id="{80226698-AE6F-856A-C387-C52BD11B37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5304" y="7569930"/>
                  <a:ext cx="1326196" cy="646331"/>
                </a:xfrm>
                <a:prstGeom prst="rect">
                  <a:avLst/>
                </a:prstGeom>
                <a:blipFill>
                  <a:blip r:embed="rId19"/>
                  <a:stretch>
                    <a:fillRect r="-3774" b="-1923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0" name="直線コネクタ 139">
              <a:extLst>
                <a:ext uri="{FF2B5EF4-FFF2-40B4-BE49-F238E27FC236}">
                  <a16:creationId xmlns:a16="http://schemas.microsoft.com/office/drawing/2014/main" id="{B8CD7304-4702-7E19-FB75-C72BC0C049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64095" y="5967219"/>
              <a:ext cx="7092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フリーフォーム 138">
              <a:extLst>
                <a:ext uri="{FF2B5EF4-FFF2-40B4-BE49-F238E27FC236}">
                  <a16:creationId xmlns:a16="http://schemas.microsoft.com/office/drawing/2014/main" id="{896FC74E-0640-876C-ED80-E72015B78F5C}"/>
                </a:ext>
              </a:extLst>
            </p:cNvPr>
            <p:cNvSpPr/>
            <p:nvPr/>
          </p:nvSpPr>
          <p:spPr>
            <a:xfrm>
              <a:off x="1550911" y="5967219"/>
              <a:ext cx="7096664" cy="120770"/>
            </a:xfrm>
            <a:custGeom>
              <a:avLst/>
              <a:gdLst>
                <a:gd name="csX0" fmla="*/ 0 w 7096664"/>
                <a:gd name="csY0" fmla="*/ 0 h 120770"/>
                <a:gd name="csX1" fmla="*/ 753374 w 7096664"/>
                <a:gd name="csY1" fmla="*/ 5751 h 120770"/>
                <a:gd name="csX2" fmla="*/ 1454989 w 7096664"/>
                <a:gd name="csY2" fmla="*/ 5751 h 120770"/>
                <a:gd name="csX3" fmla="*/ 2300377 w 7096664"/>
                <a:gd name="csY3" fmla="*/ 17253 h 120770"/>
                <a:gd name="csX4" fmla="*/ 2955985 w 7096664"/>
                <a:gd name="csY4" fmla="*/ 28755 h 120770"/>
                <a:gd name="csX5" fmla="*/ 3623094 w 7096664"/>
                <a:gd name="csY5" fmla="*/ 34506 h 120770"/>
                <a:gd name="csX6" fmla="*/ 4278702 w 7096664"/>
                <a:gd name="csY6" fmla="*/ 51759 h 120770"/>
                <a:gd name="csX7" fmla="*/ 4940060 w 7096664"/>
                <a:gd name="csY7" fmla="*/ 63261 h 120770"/>
                <a:gd name="csX8" fmla="*/ 5681932 w 7096664"/>
                <a:gd name="csY8" fmla="*/ 80513 h 120770"/>
                <a:gd name="csX9" fmla="*/ 6343291 w 7096664"/>
                <a:gd name="csY9" fmla="*/ 103517 h 120770"/>
                <a:gd name="csX10" fmla="*/ 7096664 w 7096664"/>
                <a:gd name="csY10" fmla="*/ 120770 h 1207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96664" h="120770">
                  <a:moveTo>
                    <a:pt x="0" y="0"/>
                  </a:moveTo>
                  <a:lnTo>
                    <a:pt x="753374" y="5751"/>
                  </a:lnTo>
                  <a:lnTo>
                    <a:pt x="1454989" y="5751"/>
                  </a:lnTo>
                  <a:lnTo>
                    <a:pt x="2300377" y="17253"/>
                  </a:lnTo>
                  <a:lnTo>
                    <a:pt x="2955985" y="28755"/>
                  </a:lnTo>
                  <a:lnTo>
                    <a:pt x="3623094" y="34506"/>
                  </a:lnTo>
                  <a:lnTo>
                    <a:pt x="4278702" y="51759"/>
                  </a:lnTo>
                  <a:lnTo>
                    <a:pt x="4940060" y="63261"/>
                  </a:lnTo>
                  <a:lnTo>
                    <a:pt x="5681932" y="80513"/>
                  </a:lnTo>
                  <a:lnTo>
                    <a:pt x="6343291" y="103517"/>
                  </a:lnTo>
                  <a:lnTo>
                    <a:pt x="7096664" y="120770"/>
                  </a:lnTo>
                </a:path>
              </a:pathLst>
            </a:custGeom>
            <a:noFill/>
            <a:ln w="31750">
              <a:solidFill>
                <a:srgbClr val="FF93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2" name="フリーフォーム 141">
              <a:extLst>
                <a:ext uri="{FF2B5EF4-FFF2-40B4-BE49-F238E27FC236}">
                  <a16:creationId xmlns:a16="http://schemas.microsoft.com/office/drawing/2014/main" id="{2645F80E-3A12-7E11-2696-611B8FED84EF}"/>
                </a:ext>
              </a:extLst>
            </p:cNvPr>
            <p:cNvSpPr/>
            <p:nvPr/>
          </p:nvSpPr>
          <p:spPr>
            <a:xfrm>
              <a:off x="1555134" y="7510204"/>
              <a:ext cx="7076901" cy="371302"/>
            </a:xfrm>
            <a:custGeom>
              <a:avLst/>
              <a:gdLst>
                <a:gd name="csX0" fmla="*/ 0 w 7076901"/>
                <a:gd name="csY0" fmla="*/ 0 h 371302"/>
                <a:gd name="csX1" fmla="*/ 415636 w 7076901"/>
                <a:gd name="csY1" fmla="*/ 55418 h 371302"/>
                <a:gd name="csX2" fmla="*/ 764771 w 7076901"/>
                <a:gd name="csY2" fmla="*/ 88669 h 371302"/>
                <a:gd name="csX3" fmla="*/ 1230283 w 7076901"/>
                <a:gd name="csY3" fmla="*/ 127462 h 371302"/>
                <a:gd name="csX4" fmla="*/ 1745672 w 7076901"/>
                <a:gd name="csY4" fmla="*/ 166254 h 371302"/>
                <a:gd name="csX5" fmla="*/ 2183476 w 7076901"/>
                <a:gd name="csY5" fmla="*/ 193963 h 371302"/>
                <a:gd name="csX6" fmla="*/ 2637905 w 7076901"/>
                <a:gd name="csY6" fmla="*/ 221673 h 371302"/>
                <a:gd name="csX7" fmla="*/ 3120043 w 7076901"/>
                <a:gd name="csY7" fmla="*/ 249382 h 371302"/>
                <a:gd name="csX8" fmla="*/ 3574472 w 7076901"/>
                <a:gd name="csY8" fmla="*/ 271549 h 371302"/>
                <a:gd name="csX9" fmla="*/ 4067694 w 7076901"/>
                <a:gd name="csY9" fmla="*/ 293716 h 371302"/>
                <a:gd name="csX10" fmla="*/ 4627418 w 7076901"/>
                <a:gd name="csY10" fmla="*/ 304800 h 371302"/>
                <a:gd name="csX11" fmla="*/ 5115098 w 7076901"/>
                <a:gd name="csY11" fmla="*/ 326967 h 371302"/>
                <a:gd name="csX12" fmla="*/ 5757949 w 7076901"/>
                <a:gd name="csY12" fmla="*/ 338051 h 371302"/>
                <a:gd name="csX13" fmla="*/ 6256712 w 7076901"/>
                <a:gd name="csY13" fmla="*/ 349134 h 371302"/>
                <a:gd name="csX14" fmla="*/ 6683432 w 7076901"/>
                <a:gd name="csY14" fmla="*/ 360218 h 371302"/>
                <a:gd name="csX15" fmla="*/ 7076901 w 7076901"/>
                <a:gd name="csY15" fmla="*/ 371302 h 3713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7076901" h="371302">
                  <a:moveTo>
                    <a:pt x="0" y="0"/>
                  </a:moveTo>
                  <a:lnTo>
                    <a:pt x="415636" y="55418"/>
                  </a:lnTo>
                  <a:cubicBezTo>
                    <a:pt x="543098" y="70196"/>
                    <a:pt x="764771" y="88669"/>
                    <a:pt x="764771" y="88669"/>
                  </a:cubicBezTo>
                  <a:lnTo>
                    <a:pt x="1230283" y="127462"/>
                  </a:lnTo>
                  <a:lnTo>
                    <a:pt x="1745672" y="166254"/>
                  </a:lnTo>
                  <a:lnTo>
                    <a:pt x="2183476" y="193963"/>
                  </a:lnTo>
                  <a:lnTo>
                    <a:pt x="2637905" y="221673"/>
                  </a:lnTo>
                  <a:lnTo>
                    <a:pt x="3120043" y="249382"/>
                  </a:lnTo>
                  <a:lnTo>
                    <a:pt x="3574472" y="271549"/>
                  </a:lnTo>
                  <a:lnTo>
                    <a:pt x="4067694" y="293716"/>
                  </a:lnTo>
                  <a:cubicBezTo>
                    <a:pt x="4243185" y="299258"/>
                    <a:pt x="4452851" y="299258"/>
                    <a:pt x="4627418" y="304800"/>
                  </a:cubicBezTo>
                  <a:cubicBezTo>
                    <a:pt x="4801985" y="310342"/>
                    <a:pt x="4926676" y="321425"/>
                    <a:pt x="5115098" y="326967"/>
                  </a:cubicBezTo>
                  <a:cubicBezTo>
                    <a:pt x="5303520" y="332509"/>
                    <a:pt x="5757949" y="338051"/>
                    <a:pt x="5757949" y="338051"/>
                  </a:cubicBezTo>
                  <a:lnTo>
                    <a:pt x="6256712" y="349134"/>
                  </a:lnTo>
                  <a:lnTo>
                    <a:pt x="6683432" y="360218"/>
                  </a:lnTo>
                  <a:lnTo>
                    <a:pt x="7076901" y="371302"/>
                  </a:lnTo>
                </a:path>
              </a:pathLst>
            </a:custGeom>
            <a:noFill/>
            <a:ln w="317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1" name="テキスト ボックス 210">
                  <a:extLst>
                    <a:ext uri="{FF2B5EF4-FFF2-40B4-BE49-F238E27FC236}">
                      <a16:creationId xmlns:a16="http://schemas.microsoft.com/office/drawing/2014/main" id="{CC848C76-918C-245F-FE45-85DED4CB00CD}"/>
                    </a:ext>
                  </a:extLst>
                </p:cNvPr>
                <p:cNvSpPr txBox="1"/>
                <p:nvPr/>
              </p:nvSpPr>
              <p:spPr>
                <a:xfrm>
                  <a:off x="16778372" y="4861104"/>
                  <a:ext cx="3282309" cy="69429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kumimoji="1"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kumimoji="1"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  <m:d>
                          <m:dPr>
                            <m:ctrlPr>
                              <a:rPr kumimoji="1"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kumimoji="1"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, </m:t>
                            </m:r>
                            <m:sSub>
                              <m:sSubPr>
                                <m:ctrlP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kumimoji="1"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, </m:t>
                            </m:r>
                            <m:sSub>
                              <m:sSubPr>
                                <m:ctrlP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kumimoji="1" lang="ja-JP" altLang="en-US" sz="3400">
                    <a:solidFill>
                      <a:srgbClr val="0404FF"/>
                    </a:solidFill>
                  </a:endParaRPr>
                </a:p>
              </p:txBody>
            </p:sp>
          </mc:Choice>
          <mc:Fallback>
            <p:sp>
              <p:nvSpPr>
                <p:cNvPr id="211" name="テキスト ボックス 210">
                  <a:extLst>
                    <a:ext uri="{FF2B5EF4-FFF2-40B4-BE49-F238E27FC236}">
                      <a16:creationId xmlns:a16="http://schemas.microsoft.com/office/drawing/2014/main" id="{CC848C76-918C-245F-FE45-85DED4CB00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78372" y="4861104"/>
                  <a:ext cx="3282309" cy="694293"/>
                </a:xfrm>
                <a:prstGeom prst="rect">
                  <a:avLst/>
                </a:prstGeom>
                <a:blipFill>
                  <a:blip r:embed="rId20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2" name="テキスト ボックス 211">
                  <a:extLst>
                    <a:ext uri="{FF2B5EF4-FFF2-40B4-BE49-F238E27FC236}">
                      <a16:creationId xmlns:a16="http://schemas.microsoft.com/office/drawing/2014/main" id="{048761FF-DC33-2199-4ABE-12B455B001FA}"/>
                    </a:ext>
                  </a:extLst>
                </p:cNvPr>
                <p:cNvSpPr txBox="1"/>
                <p:nvPr/>
              </p:nvSpPr>
              <p:spPr>
                <a:xfrm>
                  <a:off x="16778372" y="8906247"/>
                  <a:ext cx="3282309" cy="69429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kumimoji="1"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kumimoji="1"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kumimoji="1"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d>
                          <m:dPr>
                            <m:ctrlPr>
                              <a:rPr kumimoji="1"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kumimoji="1"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  <m:t>, </m:t>
                            </m:r>
                            <m:sSub>
                              <m:sSubPr>
                                <m:ctrlP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kumimoji="1"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  <m:t>, </m:t>
                            </m:r>
                            <m:sSub>
                              <m:sSubPr>
                                <m:ctrlP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kumimoji="1" lang="ja-JP" altLang="en-US" sz="3400">
                    <a:solidFill>
                      <a:srgbClr val="FF0B0B"/>
                    </a:solidFill>
                  </a:endParaRPr>
                </a:p>
              </p:txBody>
            </p:sp>
          </mc:Choice>
          <mc:Fallback>
            <p:sp>
              <p:nvSpPr>
                <p:cNvPr id="212" name="テキスト ボックス 211">
                  <a:extLst>
                    <a:ext uri="{FF2B5EF4-FFF2-40B4-BE49-F238E27FC236}">
                      <a16:creationId xmlns:a16="http://schemas.microsoft.com/office/drawing/2014/main" id="{048761FF-DC33-2199-4ABE-12B455B001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78372" y="8906247"/>
                  <a:ext cx="3282309" cy="694293"/>
                </a:xfrm>
                <a:prstGeom prst="rect">
                  <a:avLst/>
                </a:prstGeom>
                <a:blipFill>
                  <a:blip r:embed="rId21"/>
                  <a:stretch>
                    <a:fillRect b="-1636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44" name="グループ化 243">
              <a:extLst>
                <a:ext uri="{FF2B5EF4-FFF2-40B4-BE49-F238E27FC236}">
                  <a16:creationId xmlns:a16="http://schemas.microsoft.com/office/drawing/2014/main" id="{0016196F-0E12-AD82-E576-F31E6D1A50C0}"/>
                </a:ext>
              </a:extLst>
            </p:cNvPr>
            <p:cNvGrpSpPr/>
            <p:nvPr/>
          </p:nvGrpSpPr>
          <p:grpSpPr>
            <a:xfrm>
              <a:off x="1857308" y="8218208"/>
              <a:ext cx="1208696" cy="468000"/>
              <a:chOff x="1857308" y="8216261"/>
              <a:chExt cx="1208696" cy="468000"/>
            </a:xfrm>
          </p:grpSpPr>
          <p:cxnSp>
            <p:nvCxnSpPr>
              <p:cNvPr id="238" name="直線コネクタ 237">
                <a:extLst>
                  <a:ext uri="{FF2B5EF4-FFF2-40B4-BE49-F238E27FC236}">
                    <a16:creationId xmlns:a16="http://schemas.microsoft.com/office/drawing/2014/main" id="{2E88D90B-F61F-3CAE-9594-43F52AE998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7308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直線コネクタ 238">
                <a:extLst>
                  <a:ext uri="{FF2B5EF4-FFF2-40B4-BE49-F238E27FC236}">
                    <a16:creationId xmlns:a16="http://schemas.microsoft.com/office/drawing/2014/main" id="{6D464564-FFF2-BCB3-3563-7A41FCDC39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66004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直線コネクタ 239">
                <a:extLst>
                  <a:ext uri="{FF2B5EF4-FFF2-40B4-BE49-F238E27FC236}">
                    <a16:creationId xmlns:a16="http://schemas.microsoft.com/office/drawing/2014/main" id="{B2CA10A0-652F-56D3-36C1-6CF6BBC286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9482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直線コネクタ 240">
                <a:extLst>
                  <a:ext uri="{FF2B5EF4-FFF2-40B4-BE49-F238E27FC236}">
                    <a16:creationId xmlns:a16="http://schemas.microsoft.com/office/drawing/2014/main" id="{0D5A87D5-87F8-10BB-A920-DA66475BFE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3830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直線コネクタ 241">
                <a:extLst>
                  <a:ext uri="{FF2B5EF4-FFF2-40B4-BE49-F238E27FC236}">
                    <a16:creationId xmlns:a16="http://schemas.microsoft.com/office/drawing/2014/main" id="{7313EDC7-8952-E85D-E53C-1FF74772B3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1656" y="8216261"/>
                <a:ext cx="0" cy="4680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5" name="グループ化 244">
              <a:extLst>
                <a:ext uri="{FF2B5EF4-FFF2-40B4-BE49-F238E27FC236}">
                  <a16:creationId xmlns:a16="http://schemas.microsoft.com/office/drawing/2014/main" id="{304BBBFE-28AE-2283-FD1A-511F555039D9}"/>
                </a:ext>
              </a:extLst>
            </p:cNvPr>
            <p:cNvGrpSpPr/>
            <p:nvPr/>
          </p:nvGrpSpPr>
          <p:grpSpPr>
            <a:xfrm>
              <a:off x="3649202" y="8218208"/>
              <a:ext cx="1208696" cy="468000"/>
              <a:chOff x="1857308" y="8216261"/>
              <a:chExt cx="1208696" cy="468000"/>
            </a:xfrm>
          </p:grpSpPr>
          <p:cxnSp>
            <p:nvCxnSpPr>
              <p:cNvPr id="246" name="直線コネクタ 245">
                <a:extLst>
                  <a:ext uri="{FF2B5EF4-FFF2-40B4-BE49-F238E27FC236}">
                    <a16:creationId xmlns:a16="http://schemas.microsoft.com/office/drawing/2014/main" id="{997388F4-C980-5E8A-3960-B87B19622A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7308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直線コネクタ 246">
                <a:extLst>
                  <a:ext uri="{FF2B5EF4-FFF2-40B4-BE49-F238E27FC236}">
                    <a16:creationId xmlns:a16="http://schemas.microsoft.com/office/drawing/2014/main" id="{6036C9D7-E18B-B187-4FBD-63DB7978E3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66004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直線コネクタ 247">
                <a:extLst>
                  <a:ext uri="{FF2B5EF4-FFF2-40B4-BE49-F238E27FC236}">
                    <a16:creationId xmlns:a16="http://schemas.microsoft.com/office/drawing/2014/main" id="{539D515D-8C1E-DCD7-2C5D-F70F2C559E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9482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直線コネクタ 248">
                <a:extLst>
                  <a:ext uri="{FF2B5EF4-FFF2-40B4-BE49-F238E27FC236}">
                    <a16:creationId xmlns:a16="http://schemas.microsoft.com/office/drawing/2014/main" id="{C41ED3DE-2EC8-7F5F-959C-2275DDA4E5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3830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直線コネクタ 249">
                <a:extLst>
                  <a:ext uri="{FF2B5EF4-FFF2-40B4-BE49-F238E27FC236}">
                    <a16:creationId xmlns:a16="http://schemas.microsoft.com/office/drawing/2014/main" id="{9799060C-58DB-A3E6-23EE-8DCE77025E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1656" y="8216261"/>
                <a:ext cx="0" cy="4680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1" name="グループ化 250">
              <a:extLst>
                <a:ext uri="{FF2B5EF4-FFF2-40B4-BE49-F238E27FC236}">
                  <a16:creationId xmlns:a16="http://schemas.microsoft.com/office/drawing/2014/main" id="{006DD98A-4C81-5BF6-F5DF-5365651F7E39}"/>
                </a:ext>
              </a:extLst>
            </p:cNvPr>
            <p:cNvGrpSpPr/>
            <p:nvPr/>
          </p:nvGrpSpPr>
          <p:grpSpPr>
            <a:xfrm>
              <a:off x="5431374" y="8218208"/>
              <a:ext cx="1208696" cy="468000"/>
              <a:chOff x="1857308" y="8216261"/>
              <a:chExt cx="1208696" cy="468000"/>
            </a:xfrm>
          </p:grpSpPr>
          <p:cxnSp>
            <p:nvCxnSpPr>
              <p:cNvPr id="252" name="直線コネクタ 251">
                <a:extLst>
                  <a:ext uri="{FF2B5EF4-FFF2-40B4-BE49-F238E27FC236}">
                    <a16:creationId xmlns:a16="http://schemas.microsoft.com/office/drawing/2014/main" id="{2B95B70C-BCA0-E1B2-D67D-F858A77466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7308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直線コネクタ 252">
                <a:extLst>
                  <a:ext uri="{FF2B5EF4-FFF2-40B4-BE49-F238E27FC236}">
                    <a16:creationId xmlns:a16="http://schemas.microsoft.com/office/drawing/2014/main" id="{0278963F-6E48-8D0A-F2F4-0A68DDB5BA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66004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直線コネクタ 253">
                <a:extLst>
                  <a:ext uri="{FF2B5EF4-FFF2-40B4-BE49-F238E27FC236}">
                    <a16:creationId xmlns:a16="http://schemas.microsoft.com/office/drawing/2014/main" id="{22D215EE-215D-8C46-D403-8558D37D39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9482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直線コネクタ 254">
                <a:extLst>
                  <a:ext uri="{FF2B5EF4-FFF2-40B4-BE49-F238E27FC236}">
                    <a16:creationId xmlns:a16="http://schemas.microsoft.com/office/drawing/2014/main" id="{F5407C22-5B1D-3DA1-203C-6BF9FCF357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3830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直線コネクタ 255">
                <a:extLst>
                  <a:ext uri="{FF2B5EF4-FFF2-40B4-BE49-F238E27FC236}">
                    <a16:creationId xmlns:a16="http://schemas.microsoft.com/office/drawing/2014/main" id="{77FEC86D-40E6-52EC-85F0-FAE4F1EE6F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1656" y="8216261"/>
                <a:ext cx="0" cy="4680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7" name="グループ化 256">
              <a:extLst>
                <a:ext uri="{FF2B5EF4-FFF2-40B4-BE49-F238E27FC236}">
                  <a16:creationId xmlns:a16="http://schemas.microsoft.com/office/drawing/2014/main" id="{7161CDD6-B220-1C20-D22B-1D1E687BA1A2}"/>
                </a:ext>
              </a:extLst>
            </p:cNvPr>
            <p:cNvGrpSpPr/>
            <p:nvPr/>
          </p:nvGrpSpPr>
          <p:grpSpPr>
            <a:xfrm>
              <a:off x="7206878" y="8218208"/>
              <a:ext cx="1208696" cy="468000"/>
              <a:chOff x="1857308" y="8216261"/>
              <a:chExt cx="1208696" cy="468000"/>
            </a:xfrm>
          </p:grpSpPr>
          <p:cxnSp>
            <p:nvCxnSpPr>
              <p:cNvPr id="258" name="直線コネクタ 257">
                <a:extLst>
                  <a:ext uri="{FF2B5EF4-FFF2-40B4-BE49-F238E27FC236}">
                    <a16:creationId xmlns:a16="http://schemas.microsoft.com/office/drawing/2014/main" id="{0B2D5846-CEBC-7290-F34C-5CBBB85209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7308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直線コネクタ 258">
                <a:extLst>
                  <a:ext uri="{FF2B5EF4-FFF2-40B4-BE49-F238E27FC236}">
                    <a16:creationId xmlns:a16="http://schemas.microsoft.com/office/drawing/2014/main" id="{A0C90B2A-DDD7-BF01-4993-33494A1C20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66004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直線コネクタ 259">
                <a:extLst>
                  <a:ext uri="{FF2B5EF4-FFF2-40B4-BE49-F238E27FC236}">
                    <a16:creationId xmlns:a16="http://schemas.microsoft.com/office/drawing/2014/main" id="{78296A25-C4F9-C8F6-C3BA-D6D1CDDF0D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9482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直線コネクタ 260">
                <a:extLst>
                  <a:ext uri="{FF2B5EF4-FFF2-40B4-BE49-F238E27FC236}">
                    <a16:creationId xmlns:a16="http://schemas.microsoft.com/office/drawing/2014/main" id="{C908F5C8-6829-B407-3910-C70927581C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3830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直線コネクタ 261">
                <a:extLst>
                  <a:ext uri="{FF2B5EF4-FFF2-40B4-BE49-F238E27FC236}">
                    <a16:creationId xmlns:a16="http://schemas.microsoft.com/office/drawing/2014/main" id="{D7B5FC23-99FD-B04E-F297-AEB41791DE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1656" y="8216261"/>
                <a:ext cx="0" cy="4680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3" name="テキスト ボックス 262">
              <a:extLst>
                <a:ext uri="{FF2B5EF4-FFF2-40B4-BE49-F238E27FC236}">
                  <a16:creationId xmlns:a16="http://schemas.microsoft.com/office/drawing/2014/main" id="{D2A52627-1ADF-BC73-7487-5B1637B85685}"/>
                </a:ext>
              </a:extLst>
            </p:cNvPr>
            <p:cNvSpPr txBox="1"/>
            <p:nvPr/>
          </p:nvSpPr>
          <p:spPr>
            <a:xfrm>
              <a:off x="8238090" y="8577229"/>
              <a:ext cx="1098378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3400" b="0" dirty="0"/>
                <a:t>Time</a:t>
              </a:r>
              <a:endParaRPr kumimoji="1" lang="ja-JP" altLang="en-US" sz="34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4" name="テキスト ボックス 263">
                  <a:extLst>
                    <a:ext uri="{FF2B5EF4-FFF2-40B4-BE49-F238E27FC236}">
                      <a16:creationId xmlns:a16="http://schemas.microsoft.com/office/drawing/2014/main" id="{5B5782EF-E3A4-BEE2-8264-DA5DE8732429}"/>
                    </a:ext>
                  </a:extLst>
                </p:cNvPr>
                <p:cNvSpPr txBox="1"/>
                <p:nvPr/>
              </p:nvSpPr>
              <p:spPr>
                <a:xfrm rot="16200000">
                  <a:off x="542928" y="6139739"/>
                  <a:ext cx="1270284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kumimoji="1" lang="en-US" altLang="ja-JP" sz="3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400"/>
                </a:p>
              </p:txBody>
            </p:sp>
          </mc:Choice>
          <mc:Fallback>
            <p:sp>
              <p:nvSpPr>
                <p:cNvPr id="264" name="テキスト ボックス 263">
                  <a:extLst>
                    <a:ext uri="{FF2B5EF4-FFF2-40B4-BE49-F238E27FC236}">
                      <a16:creationId xmlns:a16="http://schemas.microsoft.com/office/drawing/2014/main" id="{5B5782EF-E3A4-BEE2-8264-DA5DE87324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542928" y="6139739"/>
                  <a:ext cx="1270284" cy="615553"/>
                </a:xfrm>
                <a:prstGeom prst="rect">
                  <a:avLst/>
                </a:prstGeom>
                <a:blipFill>
                  <a:blip r:embed="rId22"/>
                  <a:stretch>
                    <a:fillRect b="-99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9" name="テキスト ボックス 268">
              <a:extLst>
                <a:ext uri="{FF2B5EF4-FFF2-40B4-BE49-F238E27FC236}">
                  <a16:creationId xmlns:a16="http://schemas.microsoft.com/office/drawing/2014/main" id="{C96BC9DA-43A9-5AD5-F402-5BD5457DB3E8}"/>
                </a:ext>
              </a:extLst>
            </p:cNvPr>
            <p:cNvSpPr txBox="1"/>
            <p:nvPr/>
          </p:nvSpPr>
          <p:spPr>
            <a:xfrm>
              <a:off x="4775565" y="1454154"/>
              <a:ext cx="74411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3200" dirty="0"/>
                <a:t>flip</a:t>
              </a:r>
              <a:endParaRPr kumimoji="1" lang="ja-JP" altLang="en-US" sz="3200"/>
            </a:p>
          </p:txBody>
        </p:sp>
        <p:grpSp>
          <p:nvGrpSpPr>
            <p:cNvPr id="73" name="グループ化 72">
              <a:extLst>
                <a:ext uri="{FF2B5EF4-FFF2-40B4-BE49-F238E27FC236}">
                  <a16:creationId xmlns:a16="http://schemas.microsoft.com/office/drawing/2014/main" id="{410A8CA7-E2E7-733E-02CA-28266C3FC291}"/>
                </a:ext>
              </a:extLst>
            </p:cNvPr>
            <p:cNvGrpSpPr/>
            <p:nvPr/>
          </p:nvGrpSpPr>
          <p:grpSpPr>
            <a:xfrm>
              <a:off x="11106634" y="1422054"/>
              <a:ext cx="3130104" cy="4143409"/>
              <a:chOff x="11106634" y="1422054"/>
              <a:chExt cx="3130104" cy="4143409"/>
            </a:xfrm>
          </p:grpSpPr>
          <p:grpSp>
            <p:nvGrpSpPr>
              <p:cNvPr id="229" name="グループ化 228">
                <a:extLst>
                  <a:ext uri="{FF2B5EF4-FFF2-40B4-BE49-F238E27FC236}">
                    <a16:creationId xmlns:a16="http://schemas.microsoft.com/office/drawing/2014/main" id="{E70D0F2E-9457-6855-EC57-5EB518FADCA4}"/>
                  </a:ext>
                </a:extLst>
              </p:cNvPr>
              <p:cNvGrpSpPr/>
              <p:nvPr/>
            </p:nvGrpSpPr>
            <p:grpSpPr>
              <a:xfrm>
                <a:off x="11163323" y="1943196"/>
                <a:ext cx="3073415" cy="3622267"/>
                <a:chOff x="11303886" y="1475366"/>
                <a:chExt cx="3073415" cy="3622267"/>
              </a:xfrm>
            </p:grpSpPr>
            <p:grpSp>
              <p:nvGrpSpPr>
                <p:cNvPr id="60" name="グループ化 59">
                  <a:extLst>
                    <a:ext uri="{FF2B5EF4-FFF2-40B4-BE49-F238E27FC236}">
                      <a16:creationId xmlns:a16="http://schemas.microsoft.com/office/drawing/2014/main" id="{916656FB-5AB7-9FE4-D3B5-326CD767BE08}"/>
                    </a:ext>
                  </a:extLst>
                </p:cNvPr>
                <p:cNvGrpSpPr/>
                <p:nvPr/>
              </p:nvGrpSpPr>
              <p:grpSpPr>
                <a:xfrm rot="5400000">
                  <a:off x="11664349" y="1475366"/>
                  <a:ext cx="2354400" cy="2354400"/>
                  <a:chOff x="11687241" y="1598899"/>
                  <a:chExt cx="2354400" cy="2354400"/>
                </a:xfrm>
              </p:grpSpPr>
              <p:sp>
                <p:nvSpPr>
                  <p:cNvPr id="48" name="正方形/長方形 47">
                    <a:extLst>
                      <a:ext uri="{FF2B5EF4-FFF2-40B4-BE49-F238E27FC236}">
                        <a16:creationId xmlns:a16="http://schemas.microsoft.com/office/drawing/2014/main" id="{98BA22F9-F332-BAB6-824D-F94FCF69E2F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687241" y="1598899"/>
                    <a:ext cx="1440000" cy="1440000"/>
                  </a:xfrm>
                  <a:prstGeom prst="rect">
                    <a:avLst/>
                  </a:prstGeom>
                  <a:pattFill prst="lgGrid">
                    <a:fgClr>
                      <a:schemeClr val="bg2"/>
                    </a:fgClr>
                    <a:bgClr>
                      <a:schemeClr val="bg1"/>
                    </a:bgClr>
                  </a:patt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54" name="正方形/長方形 53">
                    <a:extLst>
                      <a:ext uri="{FF2B5EF4-FFF2-40B4-BE49-F238E27FC236}">
                        <a16:creationId xmlns:a16="http://schemas.microsoft.com/office/drawing/2014/main" id="{DCF69FD9-C66F-4996-072C-E32175FE03B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839641" y="1751299"/>
                    <a:ext cx="1440000" cy="1440000"/>
                  </a:xfrm>
                  <a:prstGeom prst="rect">
                    <a:avLst/>
                  </a:prstGeom>
                  <a:pattFill prst="lgGrid">
                    <a:fgClr>
                      <a:schemeClr val="bg2"/>
                    </a:fgClr>
                    <a:bgClr>
                      <a:schemeClr val="bg1"/>
                    </a:bgClr>
                  </a:patt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55" name="正方形/長方形 54">
                    <a:extLst>
                      <a:ext uri="{FF2B5EF4-FFF2-40B4-BE49-F238E27FC236}">
                        <a16:creationId xmlns:a16="http://schemas.microsoft.com/office/drawing/2014/main" id="{9ACC735C-37F8-AD6B-5C91-1CFEBE06491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992041" y="1903699"/>
                    <a:ext cx="1440000" cy="1440000"/>
                  </a:xfrm>
                  <a:prstGeom prst="rect">
                    <a:avLst/>
                  </a:prstGeom>
                  <a:pattFill prst="lgGrid">
                    <a:fgClr>
                      <a:schemeClr val="bg2"/>
                    </a:fgClr>
                    <a:bgClr>
                      <a:schemeClr val="bg1"/>
                    </a:bgClr>
                  </a:patt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56" name="正方形/長方形 55">
                    <a:extLst>
                      <a:ext uri="{FF2B5EF4-FFF2-40B4-BE49-F238E27FC236}">
                        <a16:creationId xmlns:a16="http://schemas.microsoft.com/office/drawing/2014/main" id="{13A0E867-CA9C-08DA-E648-E56487A58968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144441" y="2056099"/>
                    <a:ext cx="1440000" cy="1440000"/>
                  </a:xfrm>
                  <a:prstGeom prst="rect">
                    <a:avLst/>
                  </a:prstGeom>
                  <a:pattFill prst="lgGrid">
                    <a:fgClr>
                      <a:schemeClr val="bg2"/>
                    </a:fgClr>
                    <a:bgClr>
                      <a:schemeClr val="bg1"/>
                    </a:bgClr>
                  </a:patt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57" name="正方形/長方形 56">
                    <a:extLst>
                      <a:ext uri="{FF2B5EF4-FFF2-40B4-BE49-F238E27FC236}">
                        <a16:creationId xmlns:a16="http://schemas.microsoft.com/office/drawing/2014/main" id="{6FD4E181-C630-E056-08A2-D85D8FFD795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296841" y="2208499"/>
                    <a:ext cx="1440000" cy="1440000"/>
                  </a:xfrm>
                  <a:prstGeom prst="rect">
                    <a:avLst/>
                  </a:prstGeom>
                  <a:pattFill prst="lgGrid">
                    <a:fgClr>
                      <a:schemeClr val="bg2"/>
                    </a:fgClr>
                    <a:bgClr>
                      <a:schemeClr val="bg1"/>
                    </a:bgClr>
                  </a:patt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58" name="正方形/長方形 57">
                    <a:extLst>
                      <a:ext uri="{FF2B5EF4-FFF2-40B4-BE49-F238E27FC236}">
                        <a16:creationId xmlns:a16="http://schemas.microsoft.com/office/drawing/2014/main" id="{1E254032-E465-C841-A088-12078FB3F892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449241" y="2360899"/>
                    <a:ext cx="1440000" cy="1440000"/>
                  </a:xfrm>
                  <a:prstGeom prst="rect">
                    <a:avLst/>
                  </a:prstGeom>
                  <a:pattFill prst="lgGrid">
                    <a:fgClr>
                      <a:schemeClr val="bg2"/>
                    </a:fgClr>
                    <a:bgClr>
                      <a:schemeClr val="bg1"/>
                    </a:bgClr>
                  </a:patt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9" name="正方形/長方形 58">
                        <a:extLst>
                          <a:ext uri="{FF2B5EF4-FFF2-40B4-BE49-F238E27FC236}">
                            <a16:creationId xmlns:a16="http://schemas.microsoft.com/office/drawing/2014/main" id="{5EE97B99-CD85-4ACF-4C59-14DEF7AAEF7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 rot="16200000">
                        <a:off x="12601641" y="2513299"/>
                        <a:ext cx="1440000" cy="1440000"/>
                      </a:xfrm>
                      <a:prstGeom prst="rect">
                        <a:avLst/>
                      </a:prstGeom>
                      <a:pattFill prst="lgGrid">
                        <a:fgClr>
                          <a:schemeClr val="bg2"/>
                        </a:fgClr>
                        <a:bgClr>
                          <a:schemeClr val="bg1"/>
                        </a:bgClr>
                      </a:patt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altLang="ja-JP" sz="2800" b="0" i="1" smtClean="0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sz="2800" b="0" i="1" smtClean="0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p>
                                  <m:r>
                                    <a:rPr lang="en-US" altLang="ja-JP" sz="2800" b="0" i="1" smtClean="0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++</m:t>
                                  </m:r>
                                </m:sup>
                              </m:sSup>
                              <m:r>
                                <a:rPr lang="en-US" altLang="ja-JP" sz="2800" b="0" i="1" smtClean="0">
                                  <a:solidFill>
                                    <a:srgbClr val="0404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ja-JP" sz="2800" i="1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i="1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sz="2800" b="0" i="1" smtClean="0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sz="2800" i="1">
                                  <a:solidFill>
                                    <a:srgbClr val="0404FF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oMath>
                          </m:oMathPara>
                        </a14:m>
                        <a:endParaRPr lang="en-US" altLang="ja-JP" sz="2800" i="1" dirty="0">
                          <a:solidFill>
                            <a:srgbClr val="0404FF"/>
                          </a:solidFill>
                          <a:latin typeface="Cambria Math" panose="02040503050406030204" pitchFamily="18" charset="0"/>
                        </a:endParaRPr>
                      </a:p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lang="en-US" altLang="ja-JP" sz="2800" i="1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i="1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2800" i="1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ja-JP" sz="2800" i="1">
                                  <a:solidFill>
                                    <a:srgbClr val="0404FF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ja-JP" sz="2800" i="1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i="1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2800" i="1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ja-JP" sz="2800" i="1">
                                  <a:solidFill>
                                    <a:srgbClr val="0404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kumimoji="1" lang="ja-JP" altLang="en-US" sz="2800">
                          <a:solidFill>
                            <a:srgbClr val="0404FF"/>
                          </a:solidFill>
                          <a:highlight>
                            <a:srgbClr val="FFFFFF"/>
                          </a:highlight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59" name="正方形/長方形 58">
                        <a:extLst>
                          <a:ext uri="{FF2B5EF4-FFF2-40B4-BE49-F238E27FC236}">
                            <a16:creationId xmlns:a16="http://schemas.microsoft.com/office/drawing/2014/main" id="{5EE97B99-CD85-4ACF-4C59-14DEF7AAEF7E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16200000">
                        <a:off x="12601641" y="2513299"/>
                        <a:ext cx="1440000" cy="1440000"/>
                      </a:xfrm>
                      <a:prstGeom prst="rect">
                        <a:avLst/>
                      </a:prstGeom>
                      <a:blipFill>
                        <a:blip r:embed="rId23"/>
                        <a:stretch>
                          <a:fillRect l="-172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78" name="右中かっこ 77">
                  <a:extLst>
                    <a:ext uri="{FF2B5EF4-FFF2-40B4-BE49-F238E27FC236}">
                      <a16:creationId xmlns:a16="http://schemas.microsoft.com/office/drawing/2014/main" id="{938E1AEE-D252-BAD7-574D-59E66F1F57D8}"/>
                    </a:ext>
                  </a:extLst>
                </p:cNvPr>
                <p:cNvSpPr/>
                <p:nvPr/>
              </p:nvSpPr>
              <p:spPr>
                <a:xfrm rot="5400000">
                  <a:off x="12570266" y="2723527"/>
                  <a:ext cx="540654" cy="2790378"/>
                </a:xfrm>
                <a:prstGeom prst="rightBrace">
                  <a:avLst/>
                </a:prstGeom>
                <a:ln w="25400" cap="rnd">
                  <a:solidFill>
                    <a:schemeClr val="tx1"/>
                  </a:solidFill>
                  <a:round/>
                  <a:headEnd w="med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7" name="テキスト ボックス 86">
                      <a:extLst>
                        <a:ext uri="{FF2B5EF4-FFF2-40B4-BE49-F238E27FC236}">
                          <a16:creationId xmlns:a16="http://schemas.microsoft.com/office/drawing/2014/main" id="{E95F2013-2981-C0AD-1D03-21439E094AA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303886" y="4383207"/>
                      <a:ext cx="3073415" cy="71442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p>
                              <m:sSupPr>
                                <m:ctrlP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p>
                                <m: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++</m:t>
                                </m:r>
                              </m:sup>
                            </m:sSup>
                            <m:d>
                              <m:dPr>
                                <m:ctrlP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ja-JP" sz="3400" i="1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3400" i="1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sz="3400" i="1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ja-JP" sz="3400" i="1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3400" i="1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ja-JP" sz="3400" i="1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oMath>
                        </m:oMathPara>
                      </a14:m>
                      <a:endParaRPr kumimoji="1" lang="ja-JP" altLang="en-US" sz="3400">
                        <a:solidFill>
                          <a:srgbClr val="0404FF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7" name="テキスト ボックス 86">
                      <a:extLst>
                        <a:ext uri="{FF2B5EF4-FFF2-40B4-BE49-F238E27FC236}">
                          <a16:creationId xmlns:a16="http://schemas.microsoft.com/office/drawing/2014/main" id="{E95F2013-2981-C0AD-1D03-21439E094AA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303886" y="4383207"/>
                      <a:ext cx="3073415" cy="714426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 b="-877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77" name="グループ化 276">
                <a:extLst>
                  <a:ext uri="{FF2B5EF4-FFF2-40B4-BE49-F238E27FC236}">
                    <a16:creationId xmlns:a16="http://schemas.microsoft.com/office/drawing/2014/main" id="{1B521155-5C3C-C759-7AB9-D4A7786A792E}"/>
                  </a:ext>
                </a:extLst>
              </p:cNvPr>
              <p:cNvGrpSpPr/>
              <p:nvPr/>
            </p:nvGrpSpPr>
            <p:grpSpPr>
              <a:xfrm>
                <a:off x="11106634" y="1422054"/>
                <a:ext cx="1603085" cy="1847099"/>
                <a:chOff x="10979128" y="1373067"/>
                <a:chExt cx="1603085" cy="1847099"/>
              </a:xfrm>
            </p:grpSpPr>
            <p:cxnSp>
              <p:nvCxnSpPr>
                <p:cNvPr id="267" name="直線コネクタ 266">
                  <a:extLst>
                    <a:ext uri="{FF2B5EF4-FFF2-40B4-BE49-F238E27FC236}">
                      <a16:creationId xmlns:a16="http://schemas.microsoft.com/office/drawing/2014/main" id="{DA518F55-EDBA-6CAC-84C5-37246774A8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494013" y="1942627"/>
                  <a:ext cx="591458" cy="656209"/>
                </a:xfrm>
                <a:prstGeom prst="line">
                  <a:avLst/>
                </a:prstGeom>
                <a:ln w="73025" cap="rnd">
                  <a:solidFill>
                    <a:schemeClr val="tx1"/>
                  </a:solidFill>
                  <a:prstDash val="sysDot"/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1" name="テキスト ボックス 270">
                      <a:extLst>
                        <a:ext uri="{FF2B5EF4-FFF2-40B4-BE49-F238E27FC236}">
                          <a16:creationId xmlns:a16="http://schemas.microsoft.com/office/drawing/2014/main" id="{78D4C691-AD42-8668-356D-6A6549F94E0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979128" y="2604613"/>
                      <a:ext cx="514885" cy="61555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kumimoji="1" lang="ja-JP" altLang="en-US" sz="3400"/>
                    </a:p>
                  </p:txBody>
                </p:sp>
              </mc:Choice>
              <mc:Fallback xmlns="">
                <p:sp>
                  <p:nvSpPr>
                    <p:cNvPr id="271" name="テキスト ボックス 270">
                      <a:extLst>
                        <a:ext uri="{FF2B5EF4-FFF2-40B4-BE49-F238E27FC236}">
                          <a16:creationId xmlns:a16="http://schemas.microsoft.com/office/drawing/2014/main" id="{78D4C691-AD42-8668-356D-6A6549F94E0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979128" y="2604613"/>
                      <a:ext cx="514885" cy="615553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 l="-2439" r="-243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2" name="テキスト ボックス 271">
                      <a:extLst>
                        <a:ext uri="{FF2B5EF4-FFF2-40B4-BE49-F238E27FC236}">
                          <a16:creationId xmlns:a16="http://schemas.microsoft.com/office/drawing/2014/main" id="{7849D25D-7839-67A3-4297-BF848E19D91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051876" y="1373067"/>
                      <a:ext cx="530337" cy="61555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oMath>
                        </m:oMathPara>
                      </a14:m>
                      <a:endParaRPr kumimoji="1" lang="ja-JP" altLang="en-US" sz="3400" i="1"/>
                    </a:p>
                  </p:txBody>
                </p:sp>
              </mc:Choice>
              <mc:Fallback xmlns="">
                <p:sp>
                  <p:nvSpPr>
                    <p:cNvPr id="272" name="テキスト ボックス 271">
                      <a:extLst>
                        <a:ext uri="{FF2B5EF4-FFF2-40B4-BE49-F238E27FC236}">
                          <a16:creationId xmlns:a16="http://schemas.microsoft.com/office/drawing/2014/main" id="{7849D25D-7839-67A3-4297-BF848E19D91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051876" y="1373067"/>
                      <a:ext cx="530337" cy="615553"/>
                    </a:xfrm>
                    <a:prstGeom prst="rect">
                      <a:avLst/>
                    </a:prstGeom>
                    <a:blipFill>
                      <a:blip r:embed="rId2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71" name="グループ化 70">
              <a:extLst>
                <a:ext uri="{FF2B5EF4-FFF2-40B4-BE49-F238E27FC236}">
                  <a16:creationId xmlns:a16="http://schemas.microsoft.com/office/drawing/2014/main" id="{E5613CD5-DB80-9015-2C44-F7D27D95E781}"/>
                </a:ext>
              </a:extLst>
            </p:cNvPr>
            <p:cNvGrpSpPr/>
            <p:nvPr/>
          </p:nvGrpSpPr>
          <p:grpSpPr>
            <a:xfrm>
              <a:off x="11106634" y="5445729"/>
              <a:ext cx="2994495" cy="4155195"/>
              <a:chOff x="11106634" y="5445729"/>
              <a:chExt cx="2994495" cy="4155195"/>
            </a:xfrm>
          </p:grpSpPr>
          <p:grpSp>
            <p:nvGrpSpPr>
              <p:cNvPr id="232" name="グループ化 231">
                <a:extLst>
                  <a:ext uri="{FF2B5EF4-FFF2-40B4-BE49-F238E27FC236}">
                    <a16:creationId xmlns:a16="http://schemas.microsoft.com/office/drawing/2014/main" id="{AE5C9177-E003-5779-D7E3-A8C44628237D}"/>
                  </a:ext>
                </a:extLst>
              </p:cNvPr>
              <p:cNvGrpSpPr/>
              <p:nvPr/>
            </p:nvGrpSpPr>
            <p:grpSpPr>
              <a:xfrm>
                <a:off x="11298931" y="5977558"/>
                <a:ext cx="2802198" cy="3623366"/>
                <a:chOff x="11439494" y="5977558"/>
                <a:chExt cx="2802198" cy="3623366"/>
              </a:xfrm>
            </p:grpSpPr>
            <p:grpSp>
              <p:nvGrpSpPr>
                <p:cNvPr id="111" name="グループ化 110">
                  <a:extLst>
                    <a:ext uri="{FF2B5EF4-FFF2-40B4-BE49-F238E27FC236}">
                      <a16:creationId xmlns:a16="http://schemas.microsoft.com/office/drawing/2014/main" id="{04DE8876-F599-A2A9-88EE-FF88BBB45537}"/>
                    </a:ext>
                  </a:extLst>
                </p:cNvPr>
                <p:cNvGrpSpPr/>
                <p:nvPr/>
              </p:nvGrpSpPr>
              <p:grpSpPr>
                <a:xfrm rot="5400000">
                  <a:off x="11664349" y="5977558"/>
                  <a:ext cx="2354400" cy="2354400"/>
                  <a:chOff x="11687241" y="1598899"/>
                  <a:chExt cx="2354400" cy="2354400"/>
                </a:xfrm>
              </p:grpSpPr>
              <p:sp>
                <p:nvSpPr>
                  <p:cNvPr id="114" name="正方形/長方形 113">
                    <a:extLst>
                      <a:ext uri="{FF2B5EF4-FFF2-40B4-BE49-F238E27FC236}">
                        <a16:creationId xmlns:a16="http://schemas.microsoft.com/office/drawing/2014/main" id="{35048533-D1E7-F58F-3FEB-00CFDBE4C39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687241" y="1598899"/>
                    <a:ext cx="1440000" cy="1440000"/>
                  </a:xfrm>
                  <a:prstGeom prst="rect">
                    <a:avLst/>
                  </a:prstGeom>
                  <a:pattFill prst="lgGrid">
                    <a:fgClr>
                      <a:schemeClr val="bg2"/>
                    </a:fgClr>
                    <a:bgClr>
                      <a:schemeClr val="bg1"/>
                    </a:bgClr>
                  </a:patt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15" name="正方形/長方形 114">
                    <a:extLst>
                      <a:ext uri="{FF2B5EF4-FFF2-40B4-BE49-F238E27FC236}">
                        <a16:creationId xmlns:a16="http://schemas.microsoft.com/office/drawing/2014/main" id="{43EA97DB-ED30-6CB7-E543-1E303A5E72E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839641" y="1751299"/>
                    <a:ext cx="1440000" cy="1440000"/>
                  </a:xfrm>
                  <a:prstGeom prst="rect">
                    <a:avLst/>
                  </a:prstGeom>
                  <a:pattFill prst="lgGrid">
                    <a:fgClr>
                      <a:schemeClr val="bg2"/>
                    </a:fgClr>
                    <a:bgClr>
                      <a:schemeClr val="bg1"/>
                    </a:bgClr>
                  </a:patt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16" name="正方形/長方形 115">
                    <a:extLst>
                      <a:ext uri="{FF2B5EF4-FFF2-40B4-BE49-F238E27FC236}">
                        <a16:creationId xmlns:a16="http://schemas.microsoft.com/office/drawing/2014/main" id="{92F982A2-0467-5093-2588-7311492E047D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992041" y="1903699"/>
                    <a:ext cx="1440000" cy="1440000"/>
                  </a:xfrm>
                  <a:prstGeom prst="rect">
                    <a:avLst/>
                  </a:prstGeom>
                  <a:pattFill prst="lgGrid">
                    <a:fgClr>
                      <a:schemeClr val="bg2"/>
                    </a:fgClr>
                    <a:bgClr>
                      <a:schemeClr val="bg1"/>
                    </a:bgClr>
                  </a:patt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17" name="正方形/長方形 116">
                    <a:extLst>
                      <a:ext uri="{FF2B5EF4-FFF2-40B4-BE49-F238E27FC236}">
                        <a16:creationId xmlns:a16="http://schemas.microsoft.com/office/drawing/2014/main" id="{4F79906A-C000-23E7-AE99-E33F3D560AB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144441" y="2056099"/>
                    <a:ext cx="1440000" cy="1440000"/>
                  </a:xfrm>
                  <a:prstGeom prst="rect">
                    <a:avLst/>
                  </a:prstGeom>
                  <a:pattFill prst="lgGrid">
                    <a:fgClr>
                      <a:schemeClr val="bg2"/>
                    </a:fgClr>
                    <a:bgClr>
                      <a:schemeClr val="bg1"/>
                    </a:bgClr>
                  </a:patt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18" name="正方形/長方形 117">
                    <a:extLst>
                      <a:ext uri="{FF2B5EF4-FFF2-40B4-BE49-F238E27FC236}">
                        <a16:creationId xmlns:a16="http://schemas.microsoft.com/office/drawing/2014/main" id="{96C189BF-7F8C-57B0-BDC2-B121AB0BFF5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296841" y="2208499"/>
                    <a:ext cx="1440000" cy="1440000"/>
                  </a:xfrm>
                  <a:prstGeom prst="rect">
                    <a:avLst/>
                  </a:prstGeom>
                  <a:pattFill prst="lgGrid">
                    <a:fgClr>
                      <a:schemeClr val="bg2"/>
                    </a:fgClr>
                    <a:bgClr>
                      <a:schemeClr val="bg1"/>
                    </a:bgClr>
                  </a:patt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19" name="正方形/長方形 118">
                    <a:extLst>
                      <a:ext uri="{FF2B5EF4-FFF2-40B4-BE49-F238E27FC236}">
                        <a16:creationId xmlns:a16="http://schemas.microsoft.com/office/drawing/2014/main" id="{6969C76A-3C75-033F-150F-6E59C080E02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449241" y="2360899"/>
                    <a:ext cx="1440000" cy="1440000"/>
                  </a:xfrm>
                  <a:prstGeom prst="rect">
                    <a:avLst/>
                  </a:prstGeom>
                  <a:pattFill prst="lgGrid">
                    <a:fgClr>
                      <a:schemeClr val="bg2"/>
                    </a:fgClr>
                    <a:bgClr>
                      <a:schemeClr val="bg1"/>
                    </a:bgClr>
                  </a:patt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20" name="正方形/長方形 119">
                        <a:extLst>
                          <a:ext uri="{FF2B5EF4-FFF2-40B4-BE49-F238E27FC236}">
                            <a16:creationId xmlns:a16="http://schemas.microsoft.com/office/drawing/2014/main" id="{C257E6C0-E03D-8CCB-3771-86A654FB946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 rot="16200000">
                        <a:off x="12601641" y="2513299"/>
                        <a:ext cx="1440000" cy="1440000"/>
                      </a:xfrm>
                      <a:prstGeom prst="rect">
                        <a:avLst/>
                      </a:prstGeom>
                      <a:pattFill prst="lgGrid">
                        <a:fgClr>
                          <a:schemeClr val="bg2"/>
                        </a:fgClr>
                        <a:bgClr>
                          <a:schemeClr val="bg1"/>
                        </a:bgClr>
                      </a:patt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altLang="ja-JP" sz="28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sz="28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p>
                                  <m:r>
                                    <a:rPr lang="en-US" altLang="ja-JP" sz="28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ja-JP" sz="2800" i="1" smtClean="0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  <m:r>
                                <a:rPr lang="en-US" altLang="ja-JP" sz="2800" i="1">
                                  <a:solidFill>
                                    <a:srgbClr val="FF0B0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ja-JP" sz="28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sz="28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sz="2800" i="1">
                                  <a:solidFill>
                                    <a:srgbClr val="FF0B0B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oMath>
                          </m:oMathPara>
                        </a14:m>
                        <a:endParaRPr lang="en-US" altLang="ja-JP" sz="2800" i="1" dirty="0">
                          <a:solidFill>
                            <a:srgbClr val="FF0B0B"/>
                          </a:solidFill>
                          <a:latin typeface="Cambria Math" panose="02040503050406030204" pitchFamily="18" charset="0"/>
                        </a:endParaRPr>
                      </a:p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lang="en-US" altLang="ja-JP" sz="28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28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ja-JP" sz="2800" i="1">
                                  <a:solidFill>
                                    <a:srgbClr val="FF0B0B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ja-JP" sz="28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28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ja-JP" sz="2800" i="1">
                                  <a:solidFill>
                                    <a:srgbClr val="FF0B0B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kumimoji="1" lang="ja-JP" altLang="en-US" sz="2800">
                          <a:solidFill>
                            <a:srgbClr val="FF0B0B"/>
                          </a:solidFill>
                          <a:highlight>
                            <a:srgbClr val="FFFFFF"/>
                          </a:highlight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20" name="正方形/長方形 119">
                        <a:extLst>
                          <a:ext uri="{FF2B5EF4-FFF2-40B4-BE49-F238E27FC236}">
                            <a16:creationId xmlns:a16="http://schemas.microsoft.com/office/drawing/2014/main" id="{C257E6C0-E03D-8CCB-3771-86A654FB9467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16200000">
                        <a:off x="12601641" y="2513299"/>
                        <a:ext cx="1440000" cy="1440000"/>
                      </a:xfrm>
                      <a:prstGeom prst="rect">
                        <a:avLst/>
                      </a:prstGeom>
                      <a:blipFill>
                        <a:blip r:embed="rId27"/>
                        <a:stretch>
                          <a:fillRect l="-172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3" name="テキスト ボックス 112">
                      <a:extLst>
                        <a:ext uri="{FF2B5EF4-FFF2-40B4-BE49-F238E27FC236}">
                          <a16:creationId xmlns:a16="http://schemas.microsoft.com/office/drawing/2014/main" id="{A8315022-A434-40EC-5EAB-B1272AE9197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439494" y="8905862"/>
                      <a:ext cx="2802198" cy="69506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p>
                              <m:sSupPr>
                                <m:ctrlPr>
                                  <a:rPr kumimoji="1" lang="en-US" altLang="ja-JP" sz="3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ja-JP" sz="3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p>
                                <m:r>
                                  <a:rPr kumimoji="1" lang="en-US" altLang="ja-JP" sz="3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kumimoji="1" lang="en-US" altLang="ja-JP" sz="34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p>
                            <m:d>
                              <m:dPr>
                                <m:ctrlPr>
                                  <a:rPr kumimoji="1" lang="en-US" altLang="ja-JP" sz="3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ja-JP" sz="3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3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kumimoji="1" lang="en-US" altLang="ja-JP" sz="3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kumimoji="1" lang="en-US" altLang="ja-JP" sz="3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ja-JP" sz="3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3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sz="3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sz="3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ja-JP" sz="3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3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ja-JP" sz="3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oMath>
                        </m:oMathPara>
                      </a14:m>
                      <a:endParaRPr kumimoji="1" lang="ja-JP" altLang="en-US" sz="340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13" name="テキスト ボックス 112">
                      <a:extLst>
                        <a:ext uri="{FF2B5EF4-FFF2-40B4-BE49-F238E27FC236}">
                          <a16:creationId xmlns:a16="http://schemas.microsoft.com/office/drawing/2014/main" id="{A8315022-A434-40EC-5EAB-B1272AE9197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439494" y="8905862"/>
                      <a:ext cx="2802198" cy="695062"/>
                    </a:xfrm>
                    <a:prstGeom prst="rect">
                      <a:avLst/>
                    </a:prstGeom>
                    <a:blipFill>
                      <a:blip r:embed="rId28"/>
                      <a:stretch>
                        <a:fillRect l="-1802" b="-1454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76" name="グループ化 275">
                <a:extLst>
                  <a:ext uri="{FF2B5EF4-FFF2-40B4-BE49-F238E27FC236}">
                    <a16:creationId xmlns:a16="http://schemas.microsoft.com/office/drawing/2014/main" id="{799A5A24-1454-6545-9FF1-F51424E1E164}"/>
                  </a:ext>
                </a:extLst>
              </p:cNvPr>
              <p:cNvGrpSpPr/>
              <p:nvPr/>
            </p:nvGrpSpPr>
            <p:grpSpPr>
              <a:xfrm>
                <a:off x="11106634" y="5445729"/>
                <a:ext cx="1603085" cy="1847099"/>
                <a:chOff x="11070849" y="5445729"/>
                <a:chExt cx="1603085" cy="1847099"/>
              </a:xfrm>
            </p:grpSpPr>
            <p:cxnSp>
              <p:nvCxnSpPr>
                <p:cNvPr id="273" name="直線コネクタ 272">
                  <a:extLst>
                    <a:ext uri="{FF2B5EF4-FFF2-40B4-BE49-F238E27FC236}">
                      <a16:creationId xmlns:a16="http://schemas.microsoft.com/office/drawing/2014/main" id="{1A3B4385-78A2-3AEB-4675-450BAB4354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585734" y="6015289"/>
                  <a:ext cx="591458" cy="656209"/>
                </a:xfrm>
                <a:prstGeom prst="line">
                  <a:avLst/>
                </a:prstGeom>
                <a:ln w="73025" cap="rnd">
                  <a:solidFill>
                    <a:schemeClr val="tx1"/>
                  </a:solidFill>
                  <a:prstDash val="sysDot"/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4" name="テキスト ボックス 273">
                      <a:extLst>
                        <a:ext uri="{FF2B5EF4-FFF2-40B4-BE49-F238E27FC236}">
                          <a16:creationId xmlns:a16="http://schemas.microsoft.com/office/drawing/2014/main" id="{1C774485-F8FE-3312-D91C-1A53E62E5D2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070849" y="6677275"/>
                      <a:ext cx="514885" cy="61555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kumimoji="1" lang="ja-JP" altLang="en-US" sz="3400"/>
                    </a:p>
                  </p:txBody>
                </p:sp>
              </mc:Choice>
              <mc:Fallback xmlns="">
                <p:sp>
                  <p:nvSpPr>
                    <p:cNvPr id="274" name="テキスト ボックス 273">
                      <a:extLst>
                        <a:ext uri="{FF2B5EF4-FFF2-40B4-BE49-F238E27FC236}">
                          <a16:creationId xmlns:a16="http://schemas.microsoft.com/office/drawing/2014/main" id="{1C774485-F8FE-3312-D91C-1A53E62E5D2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070849" y="6677275"/>
                      <a:ext cx="514885" cy="615553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 l="-2439" r="-243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5" name="テキスト ボックス 274">
                      <a:extLst>
                        <a:ext uri="{FF2B5EF4-FFF2-40B4-BE49-F238E27FC236}">
                          <a16:creationId xmlns:a16="http://schemas.microsoft.com/office/drawing/2014/main" id="{41D06C22-6E11-1B5A-E22D-DB4B0183016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143597" y="5445729"/>
                      <a:ext cx="530337" cy="61555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oMath>
                        </m:oMathPara>
                      </a14:m>
                      <a:endParaRPr kumimoji="1" lang="ja-JP" altLang="en-US" sz="3400" i="1"/>
                    </a:p>
                  </p:txBody>
                </p:sp>
              </mc:Choice>
              <mc:Fallback xmlns="">
                <p:sp>
                  <p:nvSpPr>
                    <p:cNvPr id="275" name="テキスト ボックス 274">
                      <a:extLst>
                        <a:ext uri="{FF2B5EF4-FFF2-40B4-BE49-F238E27FC236}">
                          <a16:creationId xmlns:a16="http://schemas.microsoft.com/office/drawing/2014/main" id="{41D06C22-6E11-1B5A-E22D-DB4B0183016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143597" y="5445729"/>
                      <a:ext cx="530337" cy="615553"/>
                    </a:xfrm>
                    <a:prstGeom prst="rect">
                      <a:avLst/>
                    </a:prstGeom>
                    <a:blipFill>
                      <a:blip r:embed="rId2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278" name="テキスト ボックス 277">
              <a:extLst>
                <a:ext uri="{FF2B5EF4-FFF2-40B4-BE49-F238E27FC236}">
                  <a16:creationId xmlns:a16="http://schemas.microsoft.com/office/drawing/2014/main" id="{40A16CEB-3DE0-832C-35AD-67DD5A9EABDE}"/>
                </a:ext>
              </a:extLst>
            </p:cNvPr>
            <p:cNvSpPr txBox="1"/>
            <p:nvPr/>
          </p:nvSpPr>
          <p:spPr>
            <a:xfrm>
              <a:off x="6560466" y="1454154"/>
              <a:ext cx="74411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3200" dirty="0"/>
                <a:t>flip</a:t>
              </a:r>
              <a:endParaRPr kumimoji="1" lang="ja-JP" altLang="en-US" sz="3200"/>
            </a:p>
          </p:txBody>
        </p:sp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F8FEA92F-6DA5-510D-FACD-FB15E036E7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854777" y="2358823"/>
              <a:ext cx="511098" cy="8493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3DF8C24D-5458-3DF3-CC60-6573CDE074BD}"/>
                </a:ext>
              </a:extLst>
            </p:cNvPr>
            <p:cNvSpPr txBox="1"/>
            <p:nvPr/>
          </p:nvSpPr>
          <p:spPr>
            <a:xfrm>
              <a:off x="17902336" y="1363634"/>
              <a:ext cx="2777086" cy="1138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3400" dirty="0">
                  <a:latin typeface="Helvetica" pitchFamily="2" charset="0"/>
                </a:rPr>
                <a:t>Magnetic reflections</a:t>
              </a:r>
              <a:endParaRPr kumimoji="1" lang="ja-JP" altLang="en-US" sz="3400">
                <a:latin typeface="Helvetica" pitchFamily="2" charset="0"/>
              </a:endParaRPr>
            </a:p>
          </p:txBody>
        </p:sp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E1D528AD-C1C5-C1A7-2126-7561A092D513}"/>
                </a:ext>
              </a:extLst>
            </p:cNvPr>
            <p:cNvGrpSpPr/>
            <p:nvPr/>
          </p:nvGrpSpPr>
          <p:grpSpPr>
            <a:xfrm>
              <a:off x="16156150" y="5904256"/>
              <a:ext cx="4194058" cy="3093001"/>
              <a:chOff x="16194865" y="5651304"/>
              <a:chExt cx="4194058" cy="3093001"/>
            </a:xfrm>
          </p:grpSpPr>
          <p:cxnSp>
            <p:nvCxnSpPr>
              <p:cNvPr id="16" name="直線矢印コネクタ 15">
                <a:extLst>
                  <a:ext uri="{FF2B5EF4-FFF2-40B4-BE49-F238E27FC236}">
                    <a16:creationId xmlns:a16="http://schemas.microsoft.com/office/drawing/2014/main" id="{130652A3-09F0-CBF2-C919-65D1C0908D91}"/>
                  </a:ext>
                </a:extLst>
              </p:cNvPr>
              <p:cNvCxnSpPr>
                <a:cxnSpLocks/>
              </p:cNvCxnSpPr>
              <p:nvPr/>
            </p:nvCxnSpPr>
            <p:spPr>
              <a:xfrm rot="8100000" flipV="1">
                <a:off x="16460358" y="7393459"/>
                <a:ext cx="2777086" cy="1689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線矢印コネクタ 14">
                <a:extLst>
                  <a:ext uri="{FF2B5EF4-FFF2-40B4-BE49-F238E27FC236}">
                    <a16:creationId xmlns:a16="http://schemas.microsoft.com/office/drawing/2014/main" id="{E64EE9AB-25EB-D47C-D413-8C2166075D6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15883556" y="7347312"/>
                <a:ext cx="2777086" cy="1689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" name="テキスト ボックス 18">
                    <a:extLst>
                      <a:ext uri="{FF2B5EF4-FFF2-40B4-BE49-F238E27FC236}">
                        <a16:creationId xmlns:a16="http://schemas.microsoft.com/office/drawing/2014/main" id="{EF391A89-1FC5-2395-2C9A-4A22F9BF44D3}"/>
                      </a:ext>
                    </a:extLst>
                  </p:cNvPr>
                  <p:cNvSpPr txBox="1"/>
                  <p:nvPr/>
                </p:nvSpPr>
                <p:spPr>
                  <a:xfrm>
                    <a:off x="16194865" y="7787431"/>
                    <a:ext cx="708682" cy="56794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kumimoji="1" lang="ja-JP" altLang="en-US" sz="34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9" name="テキスト ボックス 18">
                    <a:extLst>
                      <a:ext uri="{FF2B5EF4-FFF2-40B4-BE49-F238E27FC236}">
                        <a16:creationId xmlns:a16="http://schemas.microsoft.com/office/drawing/2014/main" id="{EF391A89-1FC5-2395-2C9A-4A22F9BF44D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194865" y="7787431"/>
                    <a:ext cx="708682" cy="567940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 l="-12281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テキスト ボックス 19">
                    <a:extLst>
                      <a:ext uri="{FF2B5EF4-FFF2-40B4-BE49-F238E27FC236}">
                        <a16:creationId xmlns:a16="http://schemas.microsoft.com/office/drawing/2014/main" id="{1B560AED-0407-D5DD-9625-E770895299A9}"/>
                      </a:ext>
                    </a:extLst>
                  </p:cNvPr>
                  <p:cNvSpPr txBox="1"/>
                  <p:nvPr/>
                </p:nvSpPr>
                <p:spPr>
                  <a:xfrm>
                    <a:off x="19692546" y="7586939"/>
                    <a:ext cx="696377" cy="61231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sub>
                          </m:sSub>
                        </m:oMath>
                      </m:oMathPara>
                    </a14:m>
                    <a:endParaRPr kumimoji="1" lang="ja-JP" altLang="en-US" sz="34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0" name="テキスト ボックス 19">
                    <a:extLst>
                      <a:ext uri="{FF2B5EF4-FFF2-40B4-BE49-F238E27FC236}">
                        <a16:creationId xmlns:a16="http://schemas.microsoft.com/office/drawing/2014/main" id="{1B560AED-0407-D5DD-9625-E770895299A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692546" y="7586939"/>
                    <a:ext cx="696377" cy="612311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l="-10714" b="-1632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" name="テキスト ボックス 20">
                    <a:extLst>
                      <a:ext uri="{FF2B5EF4-FFF2-40B4-BE49-F238E27FC236}">
                        <a16:creationId xmlns:a16="http://schemas.microsoft.com/office/drawing/2014/main" id="{5FAC95F4-B3D1-8EBD-F5AC-673B90E4DED4}"/>
                      </a:ext>
                    </a:extLst>
                  </p:cNvPr>
                  <p:cNvSpPr txBox="1"/>
                  <p:nvPr/>
                </p:nvSpPr>
                <p:spPr>
                  <a:xfrm>
                    <a:off x="17282635" y="5651304"/>
                    <a:ext cx="678629" cy="56794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sub>
                          </m:sSub>
                        </m:oMath>
                      </m:oMathPara>
                    </a14:m>
                    <a:endParaRPr kumimoji="1" lang="ja-JP" altLang="en-US" sz="34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1" name="テキスト ボックス 20">
                    <a:extLst>
                      <a:ext uri="{FF2B5EF4-FFF2-40B4-BE49-F238E27FC236}">
                        <a16:creationId xmlns:a16="http://schemas.microsoft.com/office/drawing/2014/main" id="{5FAC95F4-B3D1-8EBD-F5AC-673B90E4DE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282635" y="5651304"/>
                    <a:ext cx="678629" cy="567940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 l="-10909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8" name="円/楕円 27">
                <a:extLst>
                  <a:ext uri="{FF2B5EF4-FFF2-40B4-BE49-F238E27FC236}">
                    <a16:creationId xmlns:a16="http://schemas.microsoft.com/office/drawing/2014/main" id="{3E4372E9-4F96-80A7-A504-754DA07EA6C7}"/>
                  </a:ext>
                </a:extLst>
              </p:cNvPr>
              <p:cNvSpPr/>
              <p:nvPr/>
            </p:nvSpPr>
            <p:spPr>
              <a:xfrm rot="10800000">
                <a:off x="18776473" y="6879879"/>
                <a:ext cx="192205" cy="192205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30000"/>
                    </a:schemeClr>
                  </a:gs>
                  <a:gs pos="100000">
                    <a:schemeClr val="accent3"/>
                  </a:gs>
                </a:gsLst>
                <a:path path="circle">
                  <a:fillToRect l="100000" t="100000"/>
                </a:path>
                <a:tileRect r="-100000" b="-100000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9" name="円/楕円 28">
                <a:extLst>
                  <a:ext uri="{FF2B5EF4-FFF2-40B4-BE49-F238E27FC236}">
                    <a16:creationId xmlns:a16="http://schemas.microsoft.com/office/drawing/2014/main" id="{CE3FD9B9-6298-D791-B6AA-DF8AFF9AE4C8}"/>
                  </a:ext>
                </a:extLst>
              </p:cNvPr>
              <p:cNvSpPr/>
              <p:nvPr/>
            </p:nvSpPr>
            <p:spPr>
              <a:xfrm rot="10800000">
                <a:off x="18376929" y="7206270"/>
                <a:ext cx="192205" cy="192205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30000"/>
                    </a:schemeClr>
                  </a:gs>
                  <a:gs pos="100000">
                    <a:schemeClr val="accent3"/>
                  </a:gs>
                </a:gsLst>
                <a:path path="circle">
                  <a:fillToRect l="100000" t="100000"/>
                </a:path>
                <a:tileRect r="-100000" b="-100000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4" name="フリーフォーム 33">
                <a:extLst>
                  <a:ext uri="{FF2B5EF4-FFF2-40B4-BE49-F238E27FC236}">
                    <a16:creationId xmlns:a16="http://schemas.microsoft.com/office/drawing/2014/main" id="{7168828D-3CAF-3439-F90C-B8A72A4DE34E}"/>
                  </a:ext>
                </a:extLst>
              </p:cNvPr>
              <p:cNvSpPr/>
              <p:nvPr/>
            </p:nvSpPr>
            <p:spPr>
              <a:xfrm>
                <a:off x="18321453" y="6334518"/>
                <a:ext cx="1231305" cy="678576"/>
              </a:xfrm>
              <a:custGeom>
                <a:avLst/>
                <a:gdLst>
                  <a:gd name="csX0" fmla="*/ 2577737 w 2577737"/>
                  <a:gd name="csY0" fmla="*/ 0 h 1436914"/>
                  <a:gd name="csX1" fmla="*/ 0 w 2577737"/>
                  <a:gd name="csY1" fmla="*/ 1436914 h 1436914"/>
                  <a:gd name="csX0" fmla="*/ 2577737 w 2577737"/>
                  <a:gd name="csY0" fmla="*/ 0 h 1436914"/>
                  <a:gd name="csX1" fmla="*/ 0 w 2577737"/>
                  <a:gd name="csY1" fmla="*/ 1436914 h 1436914"/>
                  <a:gd name="csX0" fmla="*/ 2577737 w 2577737"/>
                  <a:gd name="csY0" fmla="*/ 0 h 1436914"/>
                  <a:gd name="csX1" fmla="*/ 0 w 2577737"/>
                  <a:gd name="csY1" fmla="*/ 1436914 h 1436914"/>
                  <a:gd name="csX0" fmla="*/ 2631924 w 2631924"/>
                  <a:gd name="csY0" fmla="*/ 0 h 1450461"/>
                  <a:gd name="csX1" fmla="*/ 0 w 2631924"/>
                  <a:gd name="csY1" fmla="*/ 1450461 h 14504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631924" h="1450461">
                    <a:moveTo>
                      <a:pt x="2631924" y="0"/>
                    </a:moveTo>
                    <a:cubicBezTo>
                      <a:pt x="1476586" y="269965"/>
                      <a:pt x="702491" y="858278"/>
                      <a:pt x="0" y="1450461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5" name="フリーフォーム 34">
                <a:extLst>
                  <a:ext uri="{FF2B5EF4-FFF2-40B4-BE49-F238E27FC236}">
                    <a16:creationId xmlns:a16="http://schemas.microsoft.com/office/drawing/2014/main" id="{A609BCBD-8849-D8B6-0C65-812BC34903C6}"/>
                  </a:ext>
                </a:extLst>
              </p:cNvPr>
              <p:cNvSpPr/>
              <p:nvPr/>
            </p:nvSpPr>
            <p:spPr>
              <a:xfrm>
                <a:off x="17980128" y="6864161"/>
                <a:ext cx="330460" cy="149387"/>
              </a:xfrm>
              <a:custGeom>
                <a:avLst/>
                <a:gdLst>
                  <a:gd name="csX0" fmla="*/ 0 w 740228"/>
                  <a:gd name="csY0" fmla="*/ 0 h 339635"/>
                  <a:gd name="csX1" fmla="*/ 740228 w 740228"/>
                  <a:gd name="csY1" fmla="*/ 339635 h 339635"/>
                  <a:gd name="csX0" fmla="*/ 0 w 706361"/>
                  <a:gd name="csY0" fmla="*/ 0 h 319315"/>
                  <a:gd name="csX1" fmla="*/ 706361 w 706361"/>
                  <a:gd name="csY1" fmla="*/ 319315 h 3193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06361" h="319315">
                    <a:moveTo>
                      <a:pt x="0" y="0"/>
                    </a:moveTo>
                    <a:lnTo>
                      <a:pt x="706361" y="319315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6" name="フリーフォーム 35">
                <a:extLst>
                  <a:ext uri="{FF2B5EF4-FFF2-40B4-BE49-F238E27FC236}">
                    <a16:creationId xmlns:a16="http://schemas.microsoft.com/office/drawing/2014/main" id="{52B17E0B-4780-BB78-36B6-9D165B4D16D9}"/>
                  </a:ext>
                </a:extLst>
              </p:cNvPr>
              <p:cNvSpPr/>
              <p:nvPr/>
            </p:nvSpPr>
            <p:spPr>
              <a:xfrm>
                <a:off x="18996467" y="6119657"/>
                <a:ext cx="89535" cy="1227392"/>
              </a:xfrm>
              <a:custGeom>
                <a:avLst/>
                <a:gdLst>
                  <a:gd name="csX0" fmla="*/ 0 w 76912"/>
                  <a:gd name="csY0" fmla="*/ 0 h 2785929"/>
                  <a:gd name="csX1" fmla="*/ 76912 w 76912"/>
                  <a:gd name="csY1" fmla="*/ 2785929 h 2785929"/>
                  <a:gd name="csX0" fmla="*/ 64084 w 140996"/>
                  <a:gd name="csY0" fmla="*/ 0 h 2785929"/>
                  <a:gd name="csX1" fmla="*/ 140996 w 140996"/>
                  <a:gd name="csY1" fmla="*/ 2785929 h 2785929"/>
                  <a:gd name="csX0" fmla="*/ 117045 w 193957"/>
                  <a:gd name="csY0" fmla="*/ 0 h 2785929"/>
                  <a:gd name="csX1" fmla="*/ 193957 w 193957"/>
                  <a:gd name="csY1" fmla="*/ 2785929 h 2785929"/>
                  <a:gd name="csX0" fmla="*/ 191381 w 191381"/>
                  <a:gd name="csY0" fmla="*/ 0 h 2623559"/>
                  <a:gd name="csX1" fmla="*/ 131560 w 191381"/>
                  <a:gd name="csY1" fmla="*/ 2623559 h 26235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91381" h="2623559">
                    <a:moveTo>
                      <a:pt x="191381" y="0"/>
                    </a:moveTo>
                    <a:cubicBezTo>
                      <a:pt x="20464" y="937189"/>
                      <a:pt x="-107722" y="1720554"/>
                      <a:pt x="131560" y="2623559"/>
                    </a:cubicBezTo>
                  </a:path>
                </a:pathLst>
              </a:cu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37" name="直線コネクタ 36">
                <a:extLst>
                  <a:ext uri="{FF2B5EF4-FFF2-40B4-BE49-F238E27FC236}">
                    <a16:creationId xmlns:a16="http://schemas.microsoft.com/office/drawing/2014/main" id="{5F9B339A-1D2D-18CD-4BC1-954925CD76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051235" y="7351166"/>
                <a:ext cx="473037" cy="217873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フリーフォーム 37">
                <a:extLst>
                  <a:ext uri="{FF2B5EF4-FFF2-40B4-BE49-F238E27FC236}">
                    <a16:creationId xmlns:a16="http://schemas.microsoft.com/office/drawing/2014/main" id="{8E47415F-98E6-F519-25BE-3AF52A6ABBD6}"/>
                  </a:ext>
                </a:extLst>
              </p:cNvPr>
              <p:cNvSpPr/>
              <p:nvPr/>
            </p:nvSpPr>
            <p:spPr>
              <a:xfrm>
                <a:off x="18018716" y="7361735"/>
                <a:ext cx="1031404" cy="802514"/>
              </a:xfrm>
              <a:custGeom>
                <a:avLst/>
                <a:gdLst>
                  <a:gd name="csX0" fmla="*/ 2577737 w 2577737"/>
                  <a:gd name="csY0" fmla="*/ 0 h 1436914"/>
                  <a:gd name="csX1" fmla="*/ 0 w 2577737"/>
                  <a:gd name="csY1" fmla="*/ 1436914 h 1436914"/>
                  <a:gd name="csX0" fmla="*/ 2577737 w 2577737"/>
                  <a:gd name="csY0" fmla="*/ 0 h 1436914"/>
                  <a:gd name="csX1" fmla="*/ 0 w 2577737"/>
                  <a:gd name="csY1" fmla="*/ 1436914 h 1436914"/>
                  <a:gd name="csX0" fmla="*/ 2577737 w 2577737"/>
                  <a:gd name="csY0" fmla="*/ 0 h 1436914"/>
                  <a:gd name="csX1" fmla="*/ 0 w 2577737"/>
                  <a:gd name="csY1" fmla="*/ 1436914 h 1436914"/>
                  <a:gd name="csX0" fmla="*/ 2631924 w 2631924"/>
                  <a:gd name="csY0" fmla="*/ 0 h 1450461"/>
                  <a:gd name="csX1" fmla="*/ 0 w 2631924"/>
                  <a:gd name="csY1" fmla="*/ 1450461 h 1450461"/>
                  <a:gd name="csX0" fmla="*/ 2204634 w 2204634"/>
                  <a:gd name="csY0" fmla="*/ 0 h 1715380"/>
                  <a:gd name="csX1" fmla="*/ 0 w 2204634"/>
                  <a:gd name="csY1" fmla="*/ 1715380 h 1715380"/>
                  <a:gd name="csX0" fmla="*/ 2204634 w 2204634"/>
                  <a:gd name="csY0" fmla="*/ 0 h 1715380"/>
                  <a:gd name="csX1" fmla="*/ 0 w 2204634"/>
                  <a:gd name="csY1" fmla="*/ 1715380 h 1715380"/>
                  <a:gd name="csX0" fmla="*/ 2204634 w 2204634"/>
                  <a:gd name="csY0" fmla="*/ 0 h 1715380"/>
                  <a:gd name="csX1" fmla="*/ 0 w 2204634"/>
                  <a:gd name="csY1" fmla="*/ 1715380 h 1715380"/>
                  <a:gd name="csX0" fmla="*/ 2204634 w 2204634"/>
                  <a:gd name="csY0" fmla="*/ 0 h 1715380"/>
                  <a:gd name="csX1" fmla="*/ 0 w 2204634"/>
                  <a:gd name="csY1" fmla="*/ 1715380 h 17153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04634" h="1715380">
                    <a:moveTo>
                      <a:pt x="2204634" y="0"/>
                    </a:moveTo>
                    <a:cubicBezTo>
                      <a:pt x="1220212" y="483610"/>
                      <a:pt x="608487" y="1063376"/>
                      <a:pt x="0" y="1715380"/>
                    </a:cubicBezTo>
                  </a:path>
                </a:pathLst>
              </a:cu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9" name="フリーフォーム 38">
                <a:extLst>
                  <a:ext uri="{FF2B5EF4-FFF2-40B4-BE49-F238E27FC236}">
                    <a16:creationId xmlns:a16="http://schemas.microsoft.com/office/drawing/2014/main" id="{F268AE44-9CF6-21F6-4015-C3F61E237D2D}"/>
                  </a:ext>
                </a:extLst>
              </p:cNvPr>
              <p:cNvSpPr/>
              <p:nvPr/>
            </p:nvSpPr>
            <p:spPr>
              <a:xfrm>
                <a:off x="18232711" y="7018979"/>
                <a:ext cx="77425" cy="1279290"/>
              </a:xfrm>
              <a:custGeom>
                <a:avLst/>
                <a:gdLst>
                  <a:gd name="csX0" fmla="*/ 43543 w 43543"/>
                  <a:gd name="csY0" fmla="*/ 0 h 2734492"/>
                  <a:gd name="csX1" fmla="*/ 0 w 43543"/>
                  <a:gd name="csY1" fmla="*/ 2734492 h 2734492"/>
                  <a:gd name="csX0" fmla="*/ 99663 w 99663"/>
                  <a:gd name="csY0" fmla="*/ 0 h 2734492"/>
                  <a:gd name="csX1" fmla="*/ 56120 w 99663"/>
                  <a:gd name="csY1" fmla="*/ 2734492 h 2734492"/>
                  <a:gd name="csX0" fmla="*/ 165496 w 165496"/>
                  <a:gd name="csY0" fmla="*/ 0 h 2734492"/>
                  <a:gd name="csX1" fmla="*/ 121953 w 165496"/>
                  <a:gd name="csY1" fmla="*/ 2734492 h 273449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65496" h="2734492">
                    <a:moveTo>
                      <a:pt x="165496" y="0"/>
                    </a:moveTo>
                    <a:cubicBezTo>
                      <a:pt x="-75441" y="885372"/>
                      <a:pt x="-20288" y="1831704"/>
                      <a:pt x="121953" y="2734492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1" name="フリーフォーム 30">
                <a:extLst>
                  <a:ext uri="{FF2B5EF4-FFF2-40B4-BE49-F238E27FC236}">
                    <a16:creationId xmlns:a16="http://schemas.microsoft.com/office/drawing/2014/main" id="{F7A28EF7-4820-3AEA-A275-4ECF57437B60}"/>
                  </a:ext>
                </a:extLst>
              </p:cNvPr>
              <p:cNvSpPr/>
              <p:nvPr/>
            </p:nvSpPr>
            <p:spPr>
              <a:xfrm>
                <a:off x="17924216" y="6120535"/>
                <a:ext cx="1635271" cy="2182338"/>
              </a:xfrm>
              <a:custGeom>
                <a:avLst/>
                <a:gdLst>
                  <a:gd name="csX0" fmla="*/ 0 w 3366052"/>
                  <a:gd name="csY0" fmla="*/ 1603513 h 4664765"/>
                  <a:gd name="csX1" fmla="*/ 26504 w 3366052"/>
                  <a:gd name="csY1" fmla="*/ 4412974 h 4664765"/>
                  <a:gd name="csX2" fmla="*/ 649357 w 3366052"/>
                  <a:gd name="csY2" fmla="*/ 4664765 h 4664765"/>
                  <a:gd name="csX3" fmla="*/ 3299791 w 3366052"/>
                  <a:gd name="csY3" fmla="*/ 3101009 h 4664765"/>
                  <a:gd name="csX4" fmla="*/ 3366052 w 3366052"/>
                  <a:gd name="csY4" fmla="*/ 463826 h 4664765"/>
                  <a:gd name="csX5" fmla="*/ 2358887 w 3366052"/>
                  <a:gd name="csY5" fmla="*/ 0 h 4664765"/>
                  <a:gd name="csX6" fmla="*/ 0 w 3366052"/>
                  <a:gd name="csY6" fmla="*/ 1603513 h 4664765"/>
                  <a:gd name="csX0" fmla="*/ 0 w 3366052"/>
                  <a:gd name="csY0" fmla="*/ 1603513 h 4664765"/>
                  <a:gd name="csX1" fmla="*/ 26504 w 3366052"/>
                  <a:gd name="csY1" fmla="*/ 4412974 h 4664765"/>
                  <a:gd name="csX2" fmla="*/ 649357 w 3366052"/>
                  <a:gd name="csY2" fmla="*/ 4664765 h 4664765"/>
                  <a:gd name="csX3" fmla="*/ 3299791 w 3366052"/>
                  <a:gd name="csY3" fmla="*/ 3101009 h 4664765"/>
                  <a:gd name="csX4" fmla="*/ 3366052 w 3366052"/>
                  <a:gd name="csY4" fmla="*/ 463826 h 4664765"/>
                  <a:gd name="csX5" fmla="*/ 2358887 w 3366052"/>
                  <a:gd name="csY5" fmla="*/ 0 h 4664765"/>
                  <a:gd name="csX6" fmla="*/ 0 w 3366052"/>
                  <a:gd name="csY6" fmla="*/ 1603513 h 4664765"/>
                  <a:gd name="csX0" fmla="*/ 0 w 3366052"/>
                  <a:gd name="csY0" fmla="*/ 1603513 h 4664765"/>
                  <a:gd name="csX1" fmla="*/ 26504 w 3366052"/>
                  <a:gd name="csY1" fmla="*/ 4412974 h 4664765"/>
                  <a:gd name="csX2" fmla="*/ 649357 w 3366052"/>
                  <a:gd name="csY2" fmla="*/ 4664765 h 4664765"/>
                  <a:gd name="csX3" fmla="*/ 3299791 w 3366052"/>
                  <a:gd name="csY3" fmla="*/ 3101009 h 4664765"/>
                  <a:gd name="csX4" fmla="*/ 3366052 w 3366052"/>
                  <a:gd name="csY4" fmla="*/ 463826 h 4664765"/>
                  <a:gd name="csX5" fmla="*/ 2358887 w 3366052"/>
                  <a:gd name="csY5" fmla="*/ 0 h 4664765"/>
                  <a:gd name="csX6" fmla="*/ 0 w 3366052"/>
                  <a:gd name="csY6" fmla="*/ 1603513 h 4664765"/>
                  <a:gd name="csX0" fmla="*/ 0 w 3366052"/>
                  <a:gd name="csY0" fmla="*/ 1603513 h 4664765"/>
                  <a:gd name="csX1" fmla="*/ 79513 w 3366052"/>
                  <a:gd name="csY1" fmla="*/ 4386470 h 4664765"/>
                  <a:gd name="csX2" fmla="*/ 649357 w 3366052"/>
                  <a:gd name="csY2" fmla="*/ 4664765 h 4664765"/>
                  <a:gd name="csX3" fmla="*/ 3299791 w 3366052"/>
                  <a:gd name="csY3" fmla="*/ 3101009 h 4664765"/>
                  <a:gd name="csX4" fmla="*/ 3366052 w 3366052"/>
                  <a:gd name="csY4" fmla="*/ 463826 h 4664765"/>
                  <a:gd name="csX5" fmla="*/ 2358887 w 3366052"/>
                  <a:gd name="csY5" fmla="*/ 0 h 4664765"/>
                  <a:gd name="csX6" fmla="*/ 0 w 3366052"/>
                  <a:gd name="csY6" fmla="*/ 1603513 h 4664765"/>
                  <a:gd name="csX0" fmla="*/ 78466 w 3444518"/>
                  <a:gd name="csY0" fmla="*/ 1603513 h 4664765"/>
                  <a:gd name="csX1" fmla="*/ 157979 w 3444518"/>
                  <a:gd name="csY1" fmla="*/ 4386470 h 4664765"/>
                  <a:gd name="csX2" fmla="*/ 727823 w 3444518"/>
                  <a:gd name="csY2" fmla="*/ 4664765 h 4664765"/>
                  <a:gd name="csX3" fmla="*/ 3378257 w 3444518"/>
                  <a:gd name="csY3" fmla="*/ 3101009 h 4664765"/>
                  <a:gd name="csX4" fmla="*/ 3444518 w 3444518"/>
                  <a:gd name="csY4" fmla="*/ 463826 h 4664765"/>
                  <a:gd name="csX5" fmla="*/ 2437353 w 3444518"/>
                  <a:gd name="csY5" fmla="*/ 0 h 4664765"/>
                  <a:gd name="csX6" fmla="*/ 78466 w 3444518"/>
                  <a:gd name="csY6" fmla="*/ 1603513 h 4664765"/>
                  <a:gd name="csX0" fmla="*/ 129353 w 3495405"/>
                  <a:gd name="csY0" fmla="*/ 1603513 h 4664765"/>
                  <a:gd name="csX1" fmla="*/ 208866 w 3495405"/>
                  <a:gd name="csY1" fmla="*/ 4386470 h 4664765"/>
                  <a:gd name="csX2" fmla="*/ 778710 w 3495405"/>
                  <a:gd name="csY2" fmla="*/ 4664765 h 4664765"/>
                  <a:gd name="csX3" fmla="*/ 3429144 w 3495405"/>
                  <a:gd name="csY3" fmla="*/ 3101009 h 4664765"/>
                  <a:gd name="csX4" fmla="*/ 3495405 w 3495405"/>
                  <a:gd name="csY4" fmla="*/ 463826 h 4664765"/>
                  <a:gd name="csX5" fmla="*/ 2488240 w 3495405"/>
                  <a:gd name="csY5" fmla="*/ 0 h 4664765"/>
                  <a:gd name="csX6" fmla="*/ 129353 w 3495405"/>
                  <a:gd name="csY6" fmla="*/ 1603513 h 4664765"/>
                  <a:gd name="csX0" fmla="*/ 129353 w 3495405"/>
                  <a:gd name="csY0" fmla="*/ 1603513 h 4664765"/>
                  <a:gd name="csX1" fmla="*/ 208866 w 3495405"/>
                  <a:gd name="csY1" fmla="*/ 4386470 h 4664765"/>
                  <a:gd name="csX2" fmla="*/ 778710 w 3495405"/>
                  <a:gd name="csY2" fmla="*/ 4664765 h 4664765"/>
                  <a:gd name="csX3" fmla="*/ 3429144 w 3495405"/>
                  <a:gd name="csY3" fmla="*/ 3101009 h 4664765"/>
                  <a:gd name="csX4" fmla="*/ 3495405 w 3495405"/>
                  <a:gd name="csY4" fmla="*/ 463826 h 4664765"/>
                  <a:gd name="csX5" fmla="*/ 2488240 w 3495405"/>
                  <a:gd name="csY5" fmla="*/ 0 h 4664765"/>
                  <a:gd name="csX6" fmla="*/ 129353 w 3495405"/>
                  <a:gd name="csY6" fmla="*/ 1603513 h 4664765"/>
                  <a:gd name="csX0" fmla="*/ 129353 w 3495405"/>
                  <a:gd name="csY0" fmla="*/ 1603513 h 4664765"/>
                  <a:gd name="csX1" fmla="*/ 208866 w 3495405"/>
                  <a:gd name="csY1" fmla="*/ 4386470 h 4664765"/>
                  <a:gd name="csX2" fmla="*/ 778710 w 3495405"/>
                  <a:gd name="csY2" fmla="*/ 4664765 h 4664765"/>
                  <a:gd name="csX3" fmla="*/ 3429144 w 3495405"/>
                  <a:gd name="csY3" fmla="*/ 3101009 h 4664765"/>
                  <a:gd name="csX4" fmla="*/ 3495405 w 3495405"/>
                  <a:gd name="csY4" fmla="*/ 463826 h 4664765"/>
                  <a:gd name="csX5" fmla="*/ 2488240 w 3495405"/>
                  <a:gd name="csY5" fmla="*/ 0 h 4664765"/>
                  <a:gd name="csX6" fmla="*/ 129353 w 3495405"/>
                  <a:gd name="csY6" fmla="*/ 1603513 h 4664765"/>
                  <a:gd name="csX0" fmla="*/ 129353 w 3495405"/>
                  <a:gd name="csY0" fmla="*/ 1603513 h 4664765"/>
                  <a:gd name="csX1" fmla="*/ 208866 w 3495405"/>
                  <a:gd name="csY1" fmla="*/ 4386470 h 4664765"/>
                  <a:gd name="csX2" fmla="*/ 778710 w 3495405"/>
                  <a:gd name="csY2" fmla="*/ 4664765 h 4664765"/>
                  <a:gd name="csX3" fmla="*/ 3429144 w 3495405"/>
                  <a:gd name="csY3" fmla="*/ 3101009 h 4664765"/>
                  <a:gd name="csX4" fmla="*/ 3495405 w 3495405"/>
                  <a:gd name="csY4" fmla="*/ 463826 h 4664765"/>
                  <a:gd name="csX5" fmla="*/ 2488240 w 3495405"/>
                  <a:gd name="csY5" fmla="*/ 0 h 4664765"/>
                  <a:gd name="csX6" fmla="*/ 129353 w 3495405"/>
                  <a:gd name="csY6" fmla="*/ 1603513 h 4664765"/>
                  <a:gd name="csX0" fmla="*/ 129353 w 3495405"/>
                  <a:gd name="csY0" fmla="*/ 1603513 h 4664765"/>
                  <a:gd name="csX1" fmla="*/ 208866 w 3495405"/>
                  <a:gd name="csY1" fmla="*/ 4386470 h 4664765"/>
                  <a:gd name="csX2" fmla="*/ 778710 w 3495405"/>
                  <a:gd name="csY2" fmla="*/ 4664765 h 4664765"/>
                  <a:gd name="csX3" fmla="*/ 3429144 w 3495405"/>
                  <a:gd name="csY3" fmla="*/ 3101009 h 4664765"/>
                  <a:gd name="csX4" fmla="*/ 3495405 w 3495405"/>
                  <a:gd name="csY4" fmla="*/ 463826 h 4664765"/>
                  <a:gd name="csX5" fmla="*/ 2488240 w 3495405"/>
                  <a:gd name="csY5" fmla="*/ 0 h 4664765"/>
                  <a:gd name="csX6" fmla="*/ 129353 w 3495405"/>
                  <a:gd name="csY6" fmla="*/ 1603513 h 4664765"/>
                  <a:gd name="csX0" fmla="*/ 129353 w 3495405"/>
                  <a:gd name="csY0" fmla="*/ 1603513 h 4664765"/>
                  <a:gd name="csX1" fmla="*/ 208866 w 3495405"/>
                  <a:gd name="csY1" fmla="*/ 4386470 h 4664765"/>
                  <a:gd name="csX2" fmla="*/ 778710 w 3495405"/>
                  <a:gd name="csY2" fmla="*/ 4664765 h 4664765"/>
                  <a:gd name="csX3" fmla="*/ 3429144 w 3495405"/>
                  <a:gd name="csY3" fmla="*/ 3101009 h 4664765"/>
                  <a:gd name="csX4" fmla="*/ 3495405 w 3495405"/>
                  <a:gd name="csY4" fmla="*/ 463826 h 4664765"/>
                  <a:gd name="csX5" fmla="*/ 2488240 w 3495405"/>
                  <a:gd name="csY5" fmla="*/ 0 h 4664765"/>
                  <a:gd name="csX6" fmla="*/ 129353 w 3495405"/>
                  <a:gd name="csY6" fmla="*/ 1603513 h 4664765"/>
                  <a:gd name="csX0" fmla="*/ 129353 w 3495405"/>
                  <a:gd name="csY0" fmla="*/ 1603513 h 4664765"/>
                  <a:gd name="csX1" fmla="*/ 208866 w 3495405"/>
                  <a:gd name="csY1" fmla="*/ 4386470 h 4664765"/>
                  <a:gd name="csX2" fmla="*/ 778710 w 3495405"/>
                  <a:gd name="csY2" fmla="*/ 4664765 h 4664765"/>
                  <a:gd name="csX3" fmla="*/ 3429144 w 3495405"/>
                  <a:gd name="csY3" fmla="*/ 3101009 h 4664765"/>
                  <a:gd name="csX4" fmla="*/ 3495405 w 3495405"/>
                  <a:gd name="csY4" fmla="*/ 463826 h 4664765"/>
                  <a:gd name="csX5" fmla="*/ 2488240 w 3495405"/>
                  <a:gd name="csY5" fmla="*/ 0 h 4664765"/>
                  <a:gd name="csX6" fmla="*/ 129353 w 3495405"/>
                  <a:gd name="csY6" fmla="*/ 1603513 h 4664765"/>
                  <a:gd name="csX0" fmla="*/ 129353 w 3495405"/>
                  <a:gd name="csY0" fmla="*/ 1603513 h 4664765"/>
                  <a:gd name="csX1" fmla="*/ 208866 w 3495405"/>
                  <a:gd name="csY1" fmla="*/ 4386470 h 4664765"/>
                  <a:gd name="csX2" fmla="*/ 778710 w 3495405"/>
                  <a:gd name="csY2" fmla="*/ 4664765 h 4664765"/>
                  <a:gd name="csX3" fmla="*/ 3429144 w 3495405"/>
                  <a:gd name="csY3" fmla="*/ 3101009 h 4664765"/>
                  <a:gd name="csX4" fmla="*/ 3495405 w 3495405"/>
                  <a:gd name="csY4" fmla="*/ 463826 h 4664765"/>
                  <a:gd name="csX5" fmla="*/ 2488240 w 3495405"/>
                  <a:gd name="csY5" fmla="*/ 0 h 4664765"/>
                  <a:gd name="csX6" fmla="*/ 129353 w 3495405"/>
                  <a:gd name="csY6" fmla="*/ 1603513 h 4664765"/>
                  <a:gd name="csX0" fmla="*/ 129353 w 3495405"/>
                  <a:gd name="csY0" fmla="*/ 1603513 h 4664765"/>
                  <a:gd name="csX1" fmla="*/ 208866 w 3495405"/>
                  <a:gd name="csY1" fmla="*/ 4386470 h 4664765"/>
                  <a:gd name="csX2" fmla="*/ 778710 w 3495405"/>
                  <a:gd name="csY2" fmla="*/ 4664765 h 4664765"/>
                  <a:gd name="csX3" fmla="*/ 3429144 w 3495405"/>
                  <a:gd name="csY3" fmla="*/ 3101009 h 4664765"/>
                  <a:gd name="csX4" fmla="*/ 3495405 w 3495405"/>
                  <a:gd name="csY4" fmla="*/ 463826 h 4664765"/>
                  <a:gd name="csX5" fmla="*/ 2488240 w 3495405"/>
                  <a:gd name="csY5" fmla="*/ 0 h 4664765"/>
                  <a:gd name="csX6" fmla="*/ 129353 w 3495405"/>
                  <a:gd name="csY6" fmla="*/ 1603513 h 46647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495405" h="4664765">
                    <a:moveTo>
                      <a:pt x="129353" y="1603513"/>
                    </a:moveTo>
                    <a:cubicBezTo>
                      <a:pt x="-3169" y="2504661"/>
                      <a:pt x="-109185" y="3432314"/>
                      <a:pt x="208866" y="4386470"/>
                    </a:cubicBezTo>
                    <a:lnTo>
                      <a:pt x="778710" y="4664765"/>
                    </a:lnTo>
                    <a:cubicBezTo>
                      <a:pt x="1582675" y="4037495"/>
                      <a:pt x="2519162" y="3317462"/>
                      <a:pt x="3429144" y="3101009"/>
                    </a:cubicBezTo>
                    <a:cubicBezTo>
                      <a:pt x="3159683" y="2036417"/>
                      <a:pt x="3420310" y="1329635"/>
                      <a:pt x="3495405" y="463826"/>
                    </a:cubicBezTo>
                    <a:lnTo>
                      <a:pt x="2488240" y="0"/>
                    </a:lnTo>
                    <a:cubicBezTo>
                      <a:pt x="1489909" y="348973"/>
                      <a:pt x="796380" y="976244"/>
                      <a:pt x="129353" y="160351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30000"/>
                    </a:schemeClr>
                  </a:gs>
                  <a:gs pos="100000">
                    <a:srgbClr val="FF0B0B">
                      <a:alpha val="30000"/>
                    </a:srgbClr>
                  </a:gs>
                </a:gsLst>
                <a:lin ang="540000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14" name="直線矢印コネクタ 13">
                <a:extLst>
                  <a:ext uri="{FF2B5EF4-FFF2-40B4-BE49-F238E27FC236}">
                    <a16:creationId xmlns:a16="http://schemas.microsoft.com/office/drawing/2014/main" id="{9175DAED-DD01-0229-DD5C-19F8E19A2011}"/>
                  </a:ext>
                </a:extLst>
              </p:cNvPr>
              <p:cNvCxnSpPr/>
              <p:nvPr/>
            </p:nvCxnSpPr>
            <p:spPr>
              <a:xfrm>
                <a:off x="16996256" y="7984498"/>
                <a:ext cx="2777086" cy="1689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3710370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DE7EE906-A19A-702A-E72B-5F74C22328DC}"/>
              </a:ext>
            </a:extLst>
          </p:cNvPr>
          <p:cNvGrpSpPr/>
          <p:nvPr/>
        </p:nvGrpSpPr>
        <p:grpSpPr>
          <a:xfrm>
            <a:off x="5558881" y="2709391"/>
            <a:ext cx="8119719" cy="6002332"/>
            <a:chOff x="2421890" y="1074420"/>
            <a:chExt cx="5600700" cy="4140200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0C2E901E-1AB2-07D4-AE00-74DC1D40E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21890" y="1074420"/>
              <a:ext cx="5600700" cy="4140200"/>
            </a:xfrm>
            <a:prstGeom prst="rect">
              <a:avLst/>
            </a:prstGeom>
          </p:spPr>
        </p:pic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30561D50-8796-F765-708D-908FF22B61AF}"/>
                </a:ext>
              </a:extLst>
            </p:cNvPr>
            <p:cNvSpPr txBox="1"/>
            <p:nvPr/>
          </p:nvSpPr>
          <p:spPr>
            <a:xfrm>
              <a:off x="5222240" y="3746549"/>
              <a:ext cx="2106571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Neutron transmission</a:t>
              </a:r>
              <a:endParaRPr lang="ja-JP" altLang="en-US" sz="261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083D7528-16C4-71A2-F491-B4432753D0D1}"/>
                </a:ext>
              </a:extLst>
            </p:cNvPr>
            <p:cNvSpPr txBox="1"/>
            <p:nvPr/>
          </p:nvSpPr>
          <p:spPr>
            <a:xfrm>
              <a:off x="5571066" y="2775188"/>
              <a:ext cx="1634439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ja-JP" sz="26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 polarization</a:t>
              </a:r>
              <a:endParaRPr lang="ja-JP" altLang="en-US" sz="261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FEC78F74-32E0-094F-CE6A-DCABE2E8215B}"/>
                </a:ext>
              </a:extLst>
            </p:cNvPr>
            <p:cNvSpPr txBox="1"/>
            <p:nvPr/>
          </p:nvSpPr>
          <p:spPr>
            <a:xfrm>
              <a:off x="5222240" y="1370806"/>
              <a:ext cx="2043547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Neutron polarization</a:t>
              </a:r>
              <a:endParaRPr lang="ja-JP" altLang="en-US" sz="261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8076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E6101-227D-13D6-63F8-620EAE338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EA147F85-8D4F-0482-3E93-A47C19860BFB}"/>
              </a:ext>
            </a:extLst>
          </p:cNvPr>
          <p:cNvGrpSpPr/>
          <p:nvPr/>
        </p:nvGrpSpPr>
        <p:grpSpPr>
          <a:xfrm>
            <a:off x="2264795" y="2649133"/>
            <a:ext cx="8119719" cy="6002332"/>
            <a:chOff x="2421890" y="1074420"/>
            <a:chExt cx="5600700" cy="4140200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2BE5220B-8078-6544-14F1-247DD69D0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21890" y="1074420"/>
              <a:ext cx="5600700" cy="4140200"/>
            </a:xfrm>
            <a:prstGeom prst="rect">
              <a:avLst/>
            </a:prstGeom>
          </p:spPr>
        </p:pic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EBF8A248-26E9-44B3-891C-23AF1DA44DD6}"/>
                </a:ext>
              </a:extLst>
            </p:cNvPr>
            <p:cNvSpPr txBox="1"/>
            <p:nvPr/>
          </p:nvSpPr>
          <p:spPr>
            <a:xfrm>
              <a:off x="5222240" y="3746549"/>
              <a:ext cx="2106571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Neutron transmission</a:t>
              </a:r>
              <a:endParaRPr lang="ja-JP" altLang="en-US" sz="261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53FC679D-E789-F720-600E-A26676809E49}"/>
                </a:ext>
              </a:extLst>
            </p:cNvPr>
            <p:cNvSpPr txBox="1"/>
            <p:nvPr/>
          </p:nvSpPr>
          <p:spPr>
            <a:xfrm>
              <a:off x="5571066" y="2775188"/>
              <a:ext cx="1634439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ja-JP" sz="26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 polarization</a:t>
              </a:r>
              <a:endParaRPr lang="ja-JP" altLang="en-US" sz="261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3ED3B461-1DBC-DF0D-72A1-6C8C99ED776C}"/>
                </a:ext>
              </a:extLst>
            </p:cNvPr>
            <p:cNvSpPr txBox="1"/>
            <p:nvPr/>
          </p:nvSpPr>
          <p:spPr>
            <a:xfrm>
              <a:off x="5222240" y="1370806"/>
              <a:ext cx="2043547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Neutron polarization</a:t>
              </a:r>
              <a:endParaRPr lang="ja-JP" altLang="en-US" sz="261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5" name="図 14">
            <a:extLst>
              <a:ext uri="{FF2B5EF4-FFF2-40B4-BE49-F238E27FC236}">
                <a16:creationId xmlns:a16="http://schemas.microsoft.com/office/drawing/2014/main" id="{1F101ACE-BC43-19E7-24AD-64AA1C049B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3080" y="2756239"/>
            <a:ext cx="8119719" cy="5939425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D5FC43C-E014-5EF1-F469-21EE041CE442}"/>
              </a:ext>
            </a:extLst>
          </p:cNvPr>
          <p:cNvSpPr txBox="1"/>
          <p:nvPr/>
        </p:nvSpPr>
        <p:spPr>
          <a:xfrm>
            <a:off x="14858704" y="6518062"/>
            <a:ext cx="3054042" cy="493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6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Neutron transmission</a:t>
            </a:r>
            <a:endParaRPr lang="ja-JP" altLang="en-US" sz="261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069061B-2E7C-D4B4-8126-82F72348275F}"/>
              </a:ext>
            </a:extLst>
          </p:cNvPr>
          <p:cNvSpPr txBox="1"/>
          <p:nvPr/>
        </p:nvSpPr>
        <p:spPr>
          <a:xfrm>
            <a:off x="14858704" y="5129900"/>
            <a:ext cx="2369560" cy="493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61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ja-JP" sz="26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polarization</a:t>
            </a:r>
            <a:endParaRPr lang="ja-JP" altLang="en-US" sz="261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FDEF68D-3E2D-B807-5182-F07813BC1D58}"/>
              </a:ext>
            </a:extLst>
          </p:cNvPr>
          <p:cNvSpPr txBox="1"/>
          <p:nvPr/>
        </p:nvSpPr>
        <p:spPr>
          <a:xfrm>
            <a:off x="14858704" y="3174217"/>
            <a:ext cx="2962672" cy="493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6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Neutron polarization</a:t>
            </a:r>
            <a:endParaRPr lang="ja-JP" altLang="en-US" sz="261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3160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AE83D55C-F3BE-8DFC-C0A4-04D5227DACD1}"/>
              </a:ext>
            </a:extLst>
          </p:cNvPr>
          <p:cNvGrpSpPr/>
          <p:nvPr/>
        </p:nvGrpSpPr>
        <p:grpSpPr>
          <a:xfrm>
            <a:off x="6748156" y="1298557"/>
            <a:ext cx="6946900" cy="5118100"/>
            <a:chOff x="1986450" y="1298557"/>
            <a:chExt cx="6946900" cy="5118100"/>
          </a:xfrm>
        </p:grpSpPr>
        <p:pic>
          <p:nvPicPr>
            <p:cNvPr id="14" name="図 13">
              <a:extLst>
                <a:ext uri="{FF2B5EF4-FFF2-40B4-BE49-F238E27FC236}">
                  <a16:creationId xmlns:a16="http://schemas.microsoft.com/office/drawing/2014/main" id="{54339DE4-D863-92D7-3D10-FE8BB0107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86450" y="1298557"/>
              <a:ext cx="6946900" cy="5118100"/>
            </a:xfrm>
            <a:prstGeom prst="rect">
              <a:avLst/>
            </a:prstGeom>
          </p:spPr>
        </p:pic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BBD0197C-1DA7-90BE-7257-C14D77701FF9}"/>
                </a:ext>
              </a:extLst>
            </p:cNvPr>
            <p:cNvSpPr txBox="1"/>
            <p:nvPr/>
          </p:nvSpPr>
          <p:spPr>
            <a:xfrm>
              <a:off x="5786368" y="4776943"/>
              <a:ext cx="23807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Neutron transmission</a:t>
              </a:r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4F472883-6A09-6EC5-ABFA-D8FED87031E0}"/>
                </a:ext>
              </a:extLst>
            </p:cNvPr>
            <p:cNvSpPr txBox="1"/>
            <p:nvPr/>
          </p:nvSpPr>
          <p:spPr>
            <a:xfrm>
              <a:off x="5786368" y="3752036"/>
              <a:ext cx="185499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ja-JP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 polarization</a:t>
              </a:r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ACD6E7CD-DD4E-A424-85DC-64DD8D1350EF}"/>
                </a:ext>
              </a:extLst>
            </p:cNvPr>
            <p:cNvSpPr txBox="1"/>
            <p:nvPr/>
          </p:nvSpPr>
          <p:spPr>
            <a:xfrm>
              <a:off x="5786368" y="2297394"/>
              <a:ext cx="23102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Neutron polarization</a:t>
              </a:r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60000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22741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CB42F9DA-7E83-C565-0E9B-221B100D9A28}"/>
              </a:ext>
            </a:extLst>
          </p:cNvPr>
          <p:cNvGrpSpPr/>
          <p:nvPr/>
        </p:nvGrpSpPr>
        <p:grpSpPr>
          <a:xfrm>
            <a:off x="3888062" y="3717157"/>
            <a:ext cx="15485372" cy="5650493"/>
            <a:chOff x="326440" y="1755252"/>
            <a:chExt cx="10681272" cy="3897514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B847F88E-48F3-4375-D3AB-34612564B1CE}"/>
                </a:ext>
              </a:extLst>
            </p:cNvPr>
            <p:cNvSpPr/>
            <p:nvPr/>
          </p:nvSpPr>
          <p:spPr>
            <a:xfrm>
              <a:off x="1083558" y="1755252"/>
              <a:ext cx="360000" cy="28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D907FF93-F01D-C575-493E-D779EB28A2B8}"/>
                </a:ext>
              </a:extLst>
            </p:cNvPr>
            <p:cNvCxnSpPr>
              <a:cxnSpLocks/>
            </p:cNvCxnSpPr>
            <p:nvPr/>
          </p:nvCxnSpPr>
          <p:spPr>
            <a:xfrm>
              <a:off x="1452414" y="3775402"/>
              <a:ext cx="1728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00BE3B94-423D-B9A2-BA70-DC69DF7FC6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2413" y="2615101"/>
              <a:ext cx="1728000" cy="10708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B813715D-C0C3-B8D7-C5A7-BB542B4ACBCB}"/>
                </a:ext>
              </a:extLst>
            </p:cNvPr>
            <p:cNvSpPr txBox="1"/>
            <p:nvPr/>
          </p:nvSpPr>
          <p:spPr>
            <a:xfrm>
              <a:off x="761465" y="4755414"/>
              <a:ext cx="1004193" cy="894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/>
                <a:t>Polarizer</a:t>
              </a:r>
              <a:br>
                <a:rPr lang="en-US" altLang="ja-JP" sz="2610" dirty="0"/>
              </a:br>
              <a:r>
                <a:rPr lang="en-US" altLang="ja-JP" sz="2610" dirty="0"/>
                <a:t>Cu</a:t>
              </a:r>
              <a:r>
                <a:rPr lang="en-US" altLang="ja-JP" sz="2610" baseline="-25000" dirty="0"/>
                <a:t>2</a:t>
              </a:r>
              <a:r>
                <a:rPr lang="en-US" altLang="ja-JP" sz="2610" dirty="0"/>
                <a:t>MnAl</a:t>
              </a:r>
              <a:br>
                <a:rPr lang="en-US" altLang="ja-JP" sz="2610" dirty="0"/>
              </a:br>
              <a:r>
                <a:rPr lang="en-US" altLang="ja-JP" sz="2610" dirty="0"/>
                <a:t>+</a:t>
              </a:r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54CB1CE2-8CAF-0F3F-F808-D0876137947D}"/>
                    </a:ext>
                  </a:extLst>
                </p:cNvPr>
                <p:cNvSpPr txBox="1"/>
                <p:nvPr/>
              </p:nvSpPr>
              <p:spPr>
                <a:xfrm>
                  <a:off x="4112180" y="4757949"/>
                  <a:ext cx="1692112" cy="89481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ja-JP" sz="2610" dirty="0"/>
                    <a:t>Analyzer</a:t>
                  </a:r>
                  <a:br>
                    <a:rPr lang="en-US" altLang="ja-JP" sz="2610" dirty="0"/>
                  </a:br>
                  <a:r>
                    <a:rPr lang="en-US" altLang="ja-JP" sz="2610" i="1" dirty="0"/>
                    <a:t>ex-situ</a:t>
                  </a:r>
                  <a:r>
                    <a:rPr lang="en-US" altLang="ja-JP" sz="2610" dirty="0"/>
                    <a:t> </a:t>
                  </a:r>
                  <a:r>
                    <a:rPr lang="en-US" altLang="ja-JP" sz="2610" baseline="30000" dirty="0"/>
                    <a:t>3</a:t>
                  </a:r>
                  <a:r>
                    <a:rPr lang="en-US" altLang="ja-JP" sz="2610" dirty="0"/>
                    <a:t>He-NSF</a:t>
                  </a:r>
                  <a:br>
                    <a:rPr lang="en-US" altLang="ja-JP" sz="2610" dirty="0"/>
                  </a:br>
                  <a:r>
                    <a:rPr lang="en-US" altLang="ja-JP" sz="2610" dirty="0"/>
                    <a:t>+ (or </a:t>
                  </a:r>
                  <a14:m>
                    <m:oMath xmlns:m="http://schemas.openxmlformats.org/officeDocument/2006/math">
                      <m:r>
                        <a:rPr lang="en-US" altLang="ja-JP" sz="261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US" altLang="ja-JP" sz="2610" dirty="0"/>
                    <a:t>)</a:t>
                  </a:r>
                  <a:endParaRPr lang="ja-JP" altLang="en-US" sz="2610"/>
                </a:p>
              </p:txBody>
            </p:sp>
          </mc:Choice>
          <mc:Fallback xmlns="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54CB1CE2-8CAF-0F3F-F808-D087613794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2180" y="4757949"/>
                  <a:ext cx="1692112" cy="894817"/>
                </a:xfrm>
                <a:prstGeom prst="rect">
                  <a:avLst/>
                </a:prstGeom>
                <a:blipFill>
                  <a:blip r:embed="rId3"/>
                  <a:stretch>
                    <a:fillRect l="-4124" t="-3883" r="-3608" b="-1068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925C73F2-78FA-E00D-2967-47863B831681}"/>
                </a:ext>
              </a:extLst>
            </p:cNvPr>
            <p:cNvCxnSpPr>
              <a:cxnSpLocks/>
            </p:cNvCxnSpPr>
            <p:nvPr/>
          </p:nvCxnSpPr>
          <p:spPr>
            <a:xfrm>
              <a:off x="3566039" y="2290119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49AD8DAD-E689-1824-04DF-2E3DB439AEF6}"/>
                </a:ext>
              </a:extLst>
            </p:cNvPr>
            <p:cNvCxnSpPr>
              <a:cxnSpLocks/>
            </p:cNvCxnSpPr>
            <p:nvPr/>
          </p:nvCxnSpPr>
          <p:spPr>
            <a:xfrm>
              <a:off x="3566039" y="2893540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EEAC64A1-2B10-35F6-AD2E-088E03E59141}"/>
                </a:ext>
              </a:extLst>
            </p:cNvPr>
            <p:cNvCxnSpPr>
              <a:cxnSpLocks/>
            </p:cNvCxnSpPr>
            <p:nvPr/>
          </p:nvCxnSpPr>
          <p:spPr>
            <a:xfrm>
              <a:off x="3552380" y="3496961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1754B160-000D-B641-8470-891A833F96A0}"/>
                </a:ext>
              </a:extLst>
            </p:cNvPr>
            <p:cNvCxnSpPr>
              <a:cxnSpLocks/>
            </p:cNvCxnSpPr>
            <p:nvPr/>
          </p:nvCxnSpPr>
          <p:spPr>
            <a:xfrm>
              <a:off x="3552380" y="4100382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60ABD1B1-D301-42E1-B8C9-CE7531BB9EA4}"/>
                </a:ext>
              </a:extLst>
            </p:cNvPr>
            <p:cNvSpPr txBox="1"/>
            <p:nvPr/>
          </p:nvSpPr>
          <p:spPr>
            <a:xfrm>
              <a:off x="2928440" y="4757949"/>
              <a:ext cx="888095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/>
                <a:t>Sample</a:t>
              </a:r>
              <a:endParaRPr lang="ja-JP" altLang="en-US" sz="261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0AD7DE5A-0F1E-6703-1443-CA634B5441EC}"/>
                </a:ext>
              </a:extLst>
            </p:cNvPr>
            <p:cNvSpPr txBox="1"/>
            <p:nvPr/>
          </p:nvSpPr>
          <p:spPr>
            <a:xfrm>
              <a:off x="6509062" y="4757949"/>
              <a:ext cx="1000876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/>
                <a:t>Detector</a:t>
              </a:r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B224442B-21EB-38D7-4617-CB29DEF7945A}"/>
                    </a:ext>
                  </a:extLst>
                </p:cNvPr>
                <p:cNvSpPr txBox="1"/>
                <p:nvPr/>
              </p:nvSpPr>
              <p:spPr>
                <a:xfrm>
                  <a:off x="1573553" y="2430435"/>
                  <a:ext cx="723549" cy="39221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/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/>
                        </m:sSub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B224442B-21EB-38D7-4617-CB29DEF794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3553" y="2430435"/>
                  <a:ext cx="723549" cy="392212"/>
                </a:xfrm>
                <a:prstGeom prst="rect">
                  <a:avLst/>
                </a:prstGeom>
                <a:blipFill>
                  <a:blip r:embed="rId4"/>
                  <a:stretch>
                    <a:fillRect l="-15663" b="-434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8362FB15-A343-7B03-AEA7-64D320516FC5}"/>
                    </a:ext>
                  </a:extLst>
                </p:cNvPr>
                <p:cNvSpPr txBox="1"/>
                <p:nvPr/>
              </p:nvSpPr>
              <p:spPr>
                <a:xfrm>
                  <a:off x="1567331" y="3580028"/>
                  <a:ext cx="1311382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8362FB15-A343-7B03-AEA7-64D320516F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7331" y="3580028"/>
                  <a:ext cx="1311382" cy="362094"/>
                </a:xfrm>
                <a:prstGeom prst="rect">
                  <a:avLst/>
                </a:prstGeom>
                <a:blipFill>
                  <a:blip r:embed="rId5"/>
                  <a:stretch>
                    <a:fillRect l="-5960" r="-5960" b="-1190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279F0C65-68C0-6F2F-D0EA-17CFACB3DEE7}"/>
                </a:ext>
              </a:extLst>
            </p:cNvPr>
            <p:cNvGrpSpPr/>
            <p:nvPr/>
          </p:nvGrpSpPr>
          <p:grpSpPr>
            <a:xfrm>
              <a:off x="3184210" y="1755252"/>
              <a:ext cx="368276" cy="2880000"/>
              <a:chOff x="4287796" y="1755252"/>
              <a:chExt cx="368276" cy="2880000"/>
            </a:xfrm>
          </p:grpSpPr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236A4B6E-D3C4-D0A5-3260-86476C58B0A3}"/>
                  </a:ext>
                </a:extLst>
              </p:cNvPr>
              <p:cNvSpPr/>
              <p:nvPr/>
            </p:nvSpPr>
            <p:spPr>
              <a:xfrm>
                <a:off x="4287796" y="1755252"/>
                <a:ext cx="360000" cy="2880000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29" name="直線矢印コネクタ 28">
                <a:extLst>
                  <a:ext uri="{FF2B5EF4-FFF2-40B4-BE49-F238E27FC236}">
                    <a16:creationId xmlns:a16="http://schemas.microsoft.com/office/drawing/2014/main" id="{300CB76F-2038-A1E0-6145-F59EA5EB1D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87802" y="2290119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矢印コネクタ 30">
                <a:extLst>
                  <a:ext uri="{FF2B5EF4-FFF2-40B4-BE49-F238E27FC236}">
                    <a16:creationId xmlns:a16="http://schemas.microsoft.com/office/drawing/2014/main" id="{3E0BC761-3B87-EB11-2F70-1C2A3BB1E3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3079" y="2608921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線矢印コネクタ 31">
                <a:extLst>
                  <a:ext uri="{FF2B5EF4-FFF2-40B4-BE49-F238E27FC236}">
                    <a16:creationId xmlns:a16="http://schemas.microsoft.com/office/drawing/2014/main" id="{3849CAD9-A6D9-5A77-71EE-6140488075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90801" y="3468037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線矢印コネクタ 32">
                <a:extLst>
                  <a:ext uri="{FF2B5EF4-FFF2-40B4-BE49-F238E27FC236}">
                    <a16:creationId xmlns:a16="http://schemas.microsoft.com/office/drawing/2014/main" id="{B826BFAD-4947-E5CC-96B0-9AF60B4209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6078" y="3786839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14373DC3-5887-B971-764B-8581154ED891}"/>
                    </a:ext>
                  </a:extLst>
                </p:cNvPr>
                <p:cNvSpPr txBox="1"/>
                <p:nvPr/>
              </p:nvSpPr>
              <p:spPr>
                <a:xfrm>
                  <a:off x="3707769" y="2105454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14373DC3-5887-B971-764B-8581154ED8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7769" y="2105454"/>
                  <a:ext cx="723549" cy="3407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BE989CA8-533B-3A9A-5DC3-9393E1981F56}"/>
                    </a:ext>
                  </a:extLst>
                </p:cNvPr>
                <p:cNvSpPr txBox="1"/>
                <p:nvPr/>
              </p:nvSpPr>
              <p:spPr>
                <a:xfrm>
                  <a:off x="3701901" y="2705053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+−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BE989CA8-533B-3A9A-5DC3-9393E1981F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1901" y="2705053"/>
                  <a:ext cx="723549" cy="3407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B4CED75B-AED1-129C-0989-F0B5AFDA4100}"/>
                    </a:ext>
                  </a:extLst>
                </p:cNvPr>
                <p:cNvSpPr txBox="1"/>
                <p:nvPr/>
              </p:nvSpPr>
              <p:spPr>
                <a:xfrm>
                  <a:off x="3701901" y="3304652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−+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B4CED75B-AED1-129C-0989-F0B5AFDA41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1901" y="3304652"/>
                  <a:ext cx="723549" cy="3407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6856EC8B-30B5-1046-CFEE-035F9E97AFEE}"/>
                    </a:ext>
                  </a:extLst>
                </p:cNvPr>
                <p:cNvSpPr txBox="1"/>
                <p:nvPr/>
              </p:nvSpPr>
              <p:spPr>
                <a:xfrm>
                  <a:off x="3701901" y="3927155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−−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6856EC8B-30B5-1046-CFEE-035F9E97AF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1901" y="3927155"/>
                  <a:ext cx="723549" cy="3407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EC278C09-04D6-D8A7-1644-4932956D38BB}"/>
                    </a:ext>
                  </a:extLst>
                </p:cNvPr>
                <p:cNvSpPr txBox="1"/>
                <p:nvPr/>
              </p:nvSpPr>
              <p:spPr>
                <a:xfrm>
                  <a:off x="5254179" y="2098041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EC278C09-04D6-D8A7-1644-4932956D38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4179" y="2098041"/>
                  <a:ext cx="723549" cy="340731"/>
                </a:xfrm>
                <a:prstGeom prst="rect">
                  <a:avLst/>
                </a:prstGeom>
                <a:blipFill>
                  <a:blip r:embed="rId10"/>
                  <a:stretch>
                    <a:fillRect l="-10714" r="-1190"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1A8E31FE-63B4-C05E-30C8-AEE8F52CBC8E}"/>
                </a:ext>
              </a:extLst>
            </p:cNvPr>
            <p:cNvSpPr/>
            <p:nvPr/>
          </p:nvSpPr>
          <p:spPr>
            <a:xfrm>
              <a:off x="4728846" y="1755252"/>
              <a:ext cx="360000" cy="28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55CD3C87-E144-F978-4249-9E60AB967415}"/>
                </a:ext>
              </a:extLst>
            </p:cNvPr>
            <p:cNvSpPr/>
            <p:nvPr/>
          </p:nvSpPr>
          <p:spPr>
            <a:xfrm>
              <a:off x="6829498" y="1755252"/>
              <a:ext cx="360000" cy="28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テキスト ボックス 47">
                  <a:extLst>
                    <a:ext uri="{FF2B5EF4-FFF2-40B4-BE49-F238E27FC236}">
                      <a16:creationId xmlns:a16="http://schemas.microsoft.com/office/drawing/2014/main" id="{E93EC44A-5ACD-E89F-5B41-95C7D8CD727D}"/>
                    </a:ext>
                  </a:extLst>
                </p:cNvPr>
                <p:cNvSpPr txBox="1"/>
                <p:nvPr/>
              </p:nvSpPr>
              <p:spPr>
                <a:xfrm>
                  <a:off x="5254179" y="3298472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48" name="テキスト ボックス 47">
                  <a:extLst>
                    <a:ext uri="{FF2B5EF4-FFF2-40B4-BE49-F238E27FC236}">
                      <a16:creationId xmlns:a16="http://schemas.microsoft.com/office/drawing/2014/main" id="{E93EC44A-5ACD-E89F-5B41-95C7D8CD72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4179" y="3298472"/>
                  <a:ext cx="723549" cy="340731"/>
                </a:xfrm>
                <a:prstGeom prst="rect">
                  <a:avLst/>
                </a:prstGeom>
                <a:blipFill>
                  <a:blip r:embed="rId11"/>
                  <a:stretch>
                    <a:fillRect l="-10714" r="-1190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テキスト ボックス 48">
                  <a:extLst>
                    <a:ext uri="{FF2B5EF4-FFF2-40B4-BE49-F238E27FC236}">
                      <a16:creationId xmlns:a16="http://schemas.microsoft.com/office/drawing/2014/main" id="{7570FEE1-C262-791C-8D9C-91FE1714F34F}"/>
                    </a:ext>
                  </a:extLst>
                </p:cNvPr>
                <p:cNvSpPr txBox="1"/>
                <p:nvPr/>
              </p:nvSpPr>
              <p:spPr>
                <a:xfrm>
                  <a:off x="5254179" y="3919538"/>
                  <a:ext cx="1309973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49" name="テキスト ボックス 48">
                  <a:extLst>
                    <a:ext uri="{FF2B5EF4-FFF2-40B4-BE49-F238E27FC236}">
                      <a16:creationId xmlns:a16="http://schemas.microsoft.com/office/drawing/2014/main" id="{7570FEE1-C262-791C-8D9C-91FE1714F3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4179" y="3919538"/>
                  <a:ext cx="1309973" cy="340731"/>
                </a:xfrm>
                <a:prstGeom prst="rect">
                  <a:avLst/>
                </a:prstGeom>
                <a:blipFill>
                  <a:blip r:embed="rId12"/>
                  <a:stretch>
                    <a:fillRect l="-5960" r="-5298" b="-1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テキスト ボックス 49">
                  <a:extLst>
                    <a:ext uri="{FF2B5EF4-FFF2-40B4-BE49-F238E27FC236}">
                      <a16:creationId xmlns:a16="http://schemas.microsoft.com/office/drawing/2014/main" id="{0C640FB4-AB5C-836E-7A18-0EF6C15808BF}"/>
                    </a:ext>
                  </a:extLst>
                </p:cNvPr>
                <p:cNvSpPr txBox="1"/>
                <p:nvPr/>
              </p:nvSpPr>
              <p:spPr>
                <a:xfrm>
                  <a:off x="5254179" y="2712696"/>
                  <a:ext cx="1309973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50" name="テキスト ボックス 49">
                  <a:extLst>
                    <a:ext uri="{FF2B5EF4-FFF2-40B4-BE49-F238E27FC236}">
                      <a16:creationId xmlns:a16="http://schemas.microsoft.com/office/drawing/2014/main" id="{0C640FB4-AB5C-836E-7A18-0EF6C15808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4179" y="2712696"/>
                  <a:ext cx="1309973" cy="340731"/>
                </a:xfrm>
                <a:prstGeom prst="rect">
                  <a:avLst/>
                </a:prstGeom>
                <a:blipFill>
                  <a:blip r:embed="rId13"/>
                  <a:stretch>
                    <a:fillRect l="-5960" r="-5298" b="-1463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直線矢印コネクタ 58">
              <a:extLst>
                <a:ext uri="{FF2B5EF4-FFF2-40B4-BE49-F238E27FC236}">
                  <a16:creationId xmlns:a16="http://schemas.microsoft.com/office/drawing/2014/main" id="{69DCA230-107B-7879-CC0D-2A1A9A9F19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440" y="2615101"/>
              <a:ext cx="720000" cy="10708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AA40B86E-1240-8039-CA96-939417BE6C2C}"/>
                    </a:ext>
                  </a:extLst>
                </p:cNvPr>
                <p:cNvSpPr txBox="1"/>
                <p:nvPr/>
              </p:nvSpPr>
              <p:spPr>
                <a:xfrm>
                  <a:off x="493925" y="2447790"/>
                  <a:ext cx="337978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AA40B86E-1240-8039-CA96-939417BE6C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925" y="2447790"/>
                  <a:ext cx="337978" cy="340731"/>
                </a:xfrm>
                <a:prstGeom prst="rect">
                  <a:avLst/>
                </a:prstGeom>
                <a:blipFill>
                  <a:blip r:embed="rId14"/>
                  <a:stretch>
                    <a:fillRect l="-2051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F45D9F06-0A38-31C8-7746-67ABAC3FA09D}"/>
                    </a:ext>
                  </a:extLst>
                </p:cNvPr>
                <p:cNvSpPr txBox="1"/>
                <p:nvPr/>
              </p:nvSpPr>
              <p:spPr>
                <a:xfrm>
                  <a:off x="7226616" y="2087333"/>
                  <a:ext cx="1803921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F45D9F06-0A38-31C8-7746-67ABAC3FA0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6616" y="2087333"/>
                  <a:ext cx="1803921" cy="362094"/>
                </a:xfrm>
                <a:prstGeom prst="rect">
                  <a:avLst/>
                </a:prstGeom>
                <a:blipFill>
                  <a:blip r:embed="rId15"/>
                  <a:stretch>
                    <a:fillRect l="-971" r="-2913" b="-71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18A698A8-FC3C-E96D-DC8C-28480C162AF4}"/>
                    </a:ext>
                  </a:extLst>
                </p:cNvPr>
                <p:cNvSpPr txBox="1"/>
                <p:nvPr/>
              </p:nvSpPr>
              <p:spPr>
                <a:xfrm>
                  <a:off x="7219528" y="2683637"/>
                  <a:ext cx="2550449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+−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(1−</m:t>
                        </m:r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18A698A8-FC3C-E96D-DC8C-28480C162A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9528" y="2683637"/>
                  <a:ext cx="2550449" cy="362094"/>
                </a:xfrm>
                <a:prstGeom prst="rect">
                  <a:avLst/>
                </a:prstGeom>
                <a:blipFill>
                  <a:blip r:embed="rId16"/>
                  <a:stretch>
                    <a:fillRect b="-1162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7E59A3A8-A74C-014F-0494-C522D7320F7B}"/>
                    </a:ext>
                  </a:extLst>
                </p:cNvPr>
                <p:cNvSpPr txBox="1"/>
                <p:nvPr/>
              </p:nvSpPr>
              <p:spPr>
                <a:xfrm>
                  <a:off x="7226616" y="3277056"/>
                  <a:ext cx="2550449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−+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7E59A3A8-A74C-014F-0494-C522D7320F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6616" y="3277056"/>
                  <a:ext cx="2550449" cy="362094"/>
                </a:xfrm>
                <a:prstGeom prst="rect">
                  <a:avLst/>
                </a:prstGeom>
                <a:blipFill>
                  <a:blip r:embed="rId17"/>
                  <a:stretch>
                    <a:fillRect l="-687" b="-1428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テキスト ボックス 62">
                  <a:extLst>
                    <a:ext uri="{FF2B5EF4-FFF2-40B4-BE49-F238E27FC236}">
                      <a16:creationId xmlns:a16="http://schemas.microsoft.com/office/drawing/2014/main" id="{2C6CDC6A-E630-CB61-358E-D2822D875F1C}"/>
                    </a:ext>
                  </a:extLst>
                </p:cNvPr>
                <p:cNvSpPr txBox="1"/>
                <p:nvPr/>
              </p:nvSpPr>
              <p:spPr>
                <a:xfrm>
                  <a:off x="7226615" y="3898122"/>
                  <a:ext cx="3217547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−−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(1−</m:t>
                        </m:r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63" name="テキスト ボックス 62">
                  <a:extLst>
                    <a:ext uri="{FF2B5EF4-FFF2-40B4-BE49-F238E27FC236}">
                      <a16:creationId xmlns:a16="http://schemas.microsoft.com/office/drawing/2014/main" id="{2C6CDC6A-E630-CB61-358E-D2822D875F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6615" y="3898122"/>
                  <a:ext cx="3217547" cy="362094"/>
                </a:xfrm>
                <a:prstGeom prst="rect">
                  <a:avLst/>
                </a:prstGeom>
                <a:blipFill>
                  <a:blip r:embed="rId18"/>
                  <a:stretch>
                    <a:fillRect l="-543" b="-1428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右中かっこ 2">
              <a:extLst>
                <a:ext uri="{FF2B5EF4-FFF2-40B4-BE49-F238E27FC236}">
                  <a16:creationId xmlns:a16="http://schemas.microsoft.com/office/drawing/2014/main" id="{85A2AFEA-4D04-A4A4-5788-C3F460028147}"/>
                </a:ext>
              </a:extLst>
            </p:cNvPr>
            <p:cNvSpPr/>
            <p:nvPr/>
          </p:nvSpPr>
          <p:spPr>
            <a:xfrm>
              <a:off x="10026866" y="1771646"/>
              <a:ext cx="567981" cy="2880000"/>
            </a:xfrm>
            <a:prstGeom prst="rightBrace">
              <a:avLst>
                <a:gd name="adj1" fmla="val 33333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E67A6D27-7B35-16A2-73BD-FC17C799351C}"/>
                    </a:ext>
                  </a:extLst>
                </p:cNvPr>
                <p:cNvSpPr txBox="1"/>
                <p:nvPr/>
              </p:nvSpPr>
              <p:spPr>
                <a:xfrm>
                  <a:off x="10669734" y="3036533"/>
                  <a:ext cx="337978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E67A6D27-7B35-16A2-73BD-FC17C79935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69734" y="3036533"/>
                  <a:ext cx="337978" cy="340731"/>
                </a:xfrm>
                <a:prstGeom prst="rect">
                  <a:avLst/>
                </a:prstGeom>
                <a:blipFill>
                  <a:blip r:embed="rId19"/>
                  <a:stretch>
                    <a:fillRect l="-30769" r="-512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" name="直線矢印コネクタ 1">
              <a:extLst>
                <a:ext uri="{FF2B5EF4-FFF2-40B4-BE49-F238E27FC236}">
                  <a16:creationId xmlns:a16="http://schemas.microsoft.com/office/drawing/2014/main" id="{9A3AD0EC-9DA0-88E5-DFE5-C01365382F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6414" y="3775402"/>
              <a:ext cx="720000" cy="10708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テキスト ボックス 3">
                  <a:extLst>
                    <a:ext uri="{FF2B5EF4-FFF2-40B4-BE49-F238E27FC236}">
                      <a16:creationId xmlns:a16="http://schemas.microsoft.com/office/drawing/2014/main" id="{785AB2D3-AAA6-A89E-BD44-1B7043ED5755}"/>
                    </a:ext>
                  </a:extLst>
                </p:cNvPr>
                <p:cNvSpPr txBox="1"/>
                <p:nvPr/>
              </p:nvSpPr>
              <p:spPr>
                <a:xfrm>
                  <a:off x="493925" y="3580028"/>
                  <a:ext cx="337978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4" name="テキスト ボックス 3">
                  <a:extLst>
                    <a:ext uri="{FF2B5EF4-FFF2-40B4-BE49-F238E27FC236}">
                      <a16:creationId xmlns:a16="http://schemas.microsoft.com/office/drawing/2014/main" id="{785AB2D3-AAA6-A89E-BD44-1B7043ED57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925" y="3580028"/>
                  <a:ext cx="337978" cy="340731"/>
                </a:xfrm>
                <a:prstGeom prst="rect">
                  <a:avLst/>
                </a:prstGeom>
                <a:blipFill>
                  <a:blip r:embed="rId20"/>
                  <a:stretch>
                    <a:fillRect l="-2051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876509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F4D08-6ECF-3675-E7B6-EF9157927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77854FB0-D83F-87A3-EED0-9E91C12622D1}"/>
              </a:ext>
            </a:extLst>
          </p:cNvPr>
          <p:cNvGrpSpPr/>
          <p:nvPr/>
        </p:nvGrpSpPr>
        <p:grpSpPr>
          <a:xfrm>
            <a:off x="3899335" y="3717157"/>
            <a:ext cx="15263937" cy="5650493"/>
            <a:chOff x="1277194" y="1769540"/>
            <a:chExt cx="10528534" cy="3897514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29427171-152C-4C98-9D98-A577869EFF1C}"/>
                </a:ext>
              </a:extLst>
            </p:cNvPr>
            <p:cNvSpPr/>
            <p:nvPr/>
          </p:nvSpPr>
          <p:spPr>
            <a:xfrm>
              <a:off x="2026537" y="1769540"/>
              <a:ext cx="360000" cy="28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E2128AA5-E3FB-14B6-A1E9-BEE9E523A4EF}"/>
                </a:ext>
              </a:extLst>
            </p:cNvPr>
            <p:cNvCxnSpPr>
              <a:cxnSpLocks/>
            </p:cNvCxnSpPr>
            <p:nvPr/>
          </p:nvCxnSpPr>
          <p:spPr>
            <a:xfrm>
              <a:off x="2395393" y="3789690"/>
              <a:ext cx="1728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AA11003D-7B27-0D37-2D3A-672BF69AAF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95392" y="2629389"/>
              <a:ext cx="1728000" cy="10708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0B9836FB-F6D8-7FE3-75C4-4F50D8C149AD}"/>
                </a:ext>
              </a:extLst>
            </p:cNvPr>
            <p:cNvSpPr txBox="1"/>
            <p:nvPr/>
          </p:nvSpPr>
          <p:spPr>
            <a:xfrm>
              <a:off x="1704442" y="4769702"/>
              <a:ext cx="1004193" cy="894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/>
                <a:t>Polarizer</a:t>
              </a:r>
              <a:br>
                <a:rPr lang="en-US" altLang="ja-JP" sz="2610" dirty="0"/>
              </a:br>
              <a:r>
                <a:rPr lang="en-US" altLang="ja-JP" sz="2610" dirty="0"/>
                <a:t>Cu</a:t>
              </a:r>
              <a:r>
                <a:rPr lang="en-US" altLang="ja-JP" sz="2610" baseline="-25000" dirty="0"/>
                <a:t>2</a:t>
              </a:r>
              <a:r>
                <a:rPr lang="en-US" altLang="ja-JP" sz="2610" dirty="0"/>
                <a:t>MnAl</a:t>
              </a:r>
              <a:br>
                <a:rPr lang="en-US" altLang="ja-JP" sz="2610" dirty="0"/>
              </a:br>
              <a:r>
                <a:rPr lang="en-US" altLang="ja-JP" sz="2610" dirty="0"/>
                <a:t>+</a:t>
              </a:r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D9F9109A-C382-9C10-4ADB-C635AAD153C4}"/>
                    </a:ext>
                  </a:extLst>
                </p:cNvPr>
                <p:cNvSpPr txBox="1"/>
                <p:nvPr/>
              </p:nvSpPr>
              <p:spPr>
                <a:xfrm>
                  <a:off x="5055159" y="4772237"/>
                  <a:ext cx="1692112" cy="89481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ja-JP" sz="2610" dirty="0"/>
                    <a:t>Analyzer</a:t>
                  </a:r>
                  <a:br>
                    <a:rPr lang="en-US" altLang="ja-JP" sz="2610" dirty="0"/>
                  </a:br>
                  <a:r>
                    <a:rPr lang="en-US" altLang="ja-JP" sz="2610" i="1" dirty="0"/>
                    <a:t>ex-situ</a:t>
                  </a:r>
                  <a:r>
                    <a:rPr lang="en-US" altLang="ja-JP" sz="2610" dirty="0"/>
                    <a:t> </a:t>
                  </a:r>
                  <a:r>
                    <a:rPr lang="en-US" altLang="ja-JP" sz="2610" baseline="30000" dirty="0"/>
                    <a:t>3</a:t>
                  </a:r>
                  <a:r>
                    <a:rPr lang="en-US" altLang="ja-JP" sz="2610" dirty="0"/>
                    <a:t>He-NSF</a:t>
                  </a:r>
                  <a:br>
                    <a:rPr lang="en-US" altLang="ja-JP" sz="2610" dirty="0"/>
                  </a:br>
                  <a:r>
                    <a:rPr lang="en-US" altLang="ja-JP" sz="2610" dirty="0"/>
                    <a:t>+ (or </a:t>
                  </a:r>
                  <a14:m>
                    <m:oMath xmlns:m="http://schemas.openxmlformats.org/officeDocument/2006/math">
                      <m:r>
                        <a:rPr lang="en-US" altLang="ja-JP" sz="261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US" altLang="ja-JP" sz="2610" dirty="0"/>
                    <a:t>)</a:t>
                  </a:r>
                  <a:endParaRPr lang="ja-JP" altLang="en-US" sz="2610"/>
                </a:p>
              </p:txBody>
            </p:sp>
          </mc:Choice>
          <mc:Fallback xmlns="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D9F9109A-C382-9C10-4ADB-C635AAD153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5159" y="4772237"/>
                  <a:ext cx="1692112" cy="894817"/>
                </a:xfrm>
                <a:prstGeom prst="rect">
                  <a:avLst/>
                </a:prstGeom>
                <a:blipFill>
                  <a:blip r:embed="rId3"/>
                  <a:stretch>
                    <a:fillRect l="-4124" t="-3883" r="-3608" b="-1068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BDCC75E9-EC38-07F0-5573-67EF685D596C}"/>
                </a:ext>
              </a:extLst>
            </p:cNvPr>
            <p:cNvCxnSpPr>
              <a:cxnSpLocks/>
            </p:cNvCxnSpPr>
            <p:nvPr/>
          </p:nvCxnSpPr>
          <p:spPr>
            <a:xfrm>
              <a:off x="4509018" y="2304407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3EDB027E-8FAF-E824-A9AA-B2775713BC27}"/>
                </a:ext>
              </a:extLst>
            </p:cNvPr>
            <p:cNvCxnSpPr>
              <a:cxnSpLocks/>
            </p:cNvCxnSpPr>
            <p:nvPr/>
          </p:nvCxnSpPr>
          <p:spPr>
            <a:xfrm>
              <a:off x="4509018" y="2907828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0D49C663-18E6-B0DB-836B-A79CEB92D48D}"/>
                </a:ext>
              </a:extLst>
            </p:cNvPr>
            <p:cNvCxnSpPr>
              <a:cxnSpLocks/>
            </p:cNvCxnSpPr>
            <p:nvPr/>
          </p:nvCxnSpPr>
          <p:spPr>
            <a:xfrm>
              <a:off x="4495359" y="3511249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3B68E40F-C7E0-6362-8DF5-6DA5EAF37EA0}"/>
                </a:ext>
              </a:extLst>
            </p:cNvPr>
            <p:cNvCxnSpPr>
              <a:cxnSpLocks/>
            </p:cNvCxnSpPr>
            <p:nvPr/>
          </p:nvCxnSpPr>
          <p:spPr>
            <a:xfrm>
              <a:off x="4495359" y="4114670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25377292-3F37-4AAC-239F-67695EFD326C}"/>
                </a:ext>
              </a:extLst>
            </p:cNvPr>
            <p:cNvSpPr txBox="1"/>
            <p:nvPr/>
          </p:nvSpPr>
          <p:spPr>
            <a:xfrm>
              <a:off x="3871420" y="4772237"/>
              <a:ext cx="888095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/>
                <a:t>Sample</a:t>
              </a:r>
              <a:endParaRPr lang="ja-JP" altLang="en-US" sz="261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889725CF-4954-74AE-B8ED-3D71DF54DBF9}"/>
                </a:ext>
              </a:extLst>
            </p:cNvPr>
            <p:cNvSpPr txBox="1"/>
            <p:nvPr/>
          </p:nvSpPr>
          <p:spPr>
            <a:xfrm>
              <a:off x="7452039" y="4772237"/>
              <a:ext cx="1000876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/>
                <a:t>Detector</a:t>
              </a:r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202CDD44-3344-7CCF-011B-42A4C124A50B}"/>
                    </a:ext>
                  </a:extLst>
                </p:cNvPr>
                <p:cNvSpPr txBox="1"/>
                <p:nvPr/>
              </p:nvSpPr>
              <p:spPr>
                <a:xfrm>
                  <a:off x="2516532" y="2444723"/>
                  <a:ext cx="723549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202CDD44-3344-7CCF-011B-42A4C124A5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6532" y="2444723"/>
                  <a:ext cx="723549" cy="362094"/>
                </a:xfrm>
                <a:prstGeom prst="rect">
                  <a:avLst/>
                </a:prstGeom>
                <a:blipFill>
                  <a:blip r:embed="rId4"/>
                  <a:stretch>
                    <a:fillRect l="-4819" b="-71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7A9FF203-34F3-D7BF-E001-D4015ACCC08E}"/>
                    </a:ext>
                  </a:extLst>
                </p:cNvPr>
                <p:cNvSpPr txBox="1"/>
                <p:nvPr/>
              </p:nvSpPr>
              <p:spPr>
                <a:xfrm>
                  <a:off x="2510309" y="3594316"/>
                  <a:ext cx="1396933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7A9FF203-34F3-D7BF-E001-D4015ACCC0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0309" y="3594316"/>
                  <a:ext cx="1396933" cy="362094"/>
                </a:xfrm>
                <a:prstGeom prst="rect">
                  <a:avLst/>
                </a:prstGeom>
                <a:blipFill>
                  <a:blip r:embed="rId5"/>
                  <a:stretch>
                    <a:fillRect b="-1190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FCC78BBE-8B9B-38EB-90CA-CD3D78E42C09}"/>
                </a:ext>
              </a:extLst>
            </p:cNvPr>
            <p:cNvGrpSpPr/>
            <p:nvPr/>
          </p:nvGrpSpPr>
          <p:grpSpPr>
            <a:xfrm>
              <a:off x="4127189" y="1769540"/>
              <a:ext cx="368276" cy="2880000"/>
              <a:chOff x="4287796" y="1755252"/>
              <a:chExt cx="368276" cy="2880000"/>
            </a:xfrm>
          </p:grpSpPr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B2E710C7-5433-4BE5-BFA0-3B92A4685772}"/>
                  </a:ext>
                </a:extLst>
              </p:cNvPr>
              <p:cNvSpPr/>
              <p:nvPr/>
            </p:nvSpPr>
            <p:spPr>
              <a:xfrm>
                <a:off x="4287796" y="1755252"/>
                <a:ext cx="360000" cy="2880000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29" name="直線矢印コネクタ 28">
                <a:extLst>
                  <a:ext uri="{FF2B5EF4-FFF2-40B4-BE49-F238E27FC236}">
                    <a16:creationId xmlns:a16="http://schemas.microsoft.com/office/drawing/2014/main" id="{30335D88-83D4-B639-C0BC-2D8ED2FE60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87802" y="2290119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矢印コネクタ 30">
                <a:extLst>
                  <a:ext uri="{FF2B5EF4-FFF2-40B4-BE49-F238E27FC236}">
                    <a16:creationId xmlns:a16="http://schemas.microsoft.com/office/drawing/2014/main" id="{1079BFF9-9D11-A08F-8818-8929691B24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3079" y="2608921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線矢印コネクタ 31">
                <a:extLst>
                  <a:ext uri="{FF2B5EF4-FFF2-40B4-BE49-F238E27FC236}">
                    <a16:creationId xmlns:a16="http://schemas.microsoft.com/office/drawing/2014/main" id="{2EA88450-3217-199F-56B1-A46D780ECA7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90801" y="3468037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線矢印コネクタ 32">
                <a:extLst>
                  <a:ext uri="{FF2B5EF4-FFF2-40B4-BE49-F238E27FC236}">
                    <a16:creationId xmlns:a16="http://schemas.microsoft.com/office/drawing/2014/main" id="{B9B7E1BD-16B4-8B9A-2E9D-CBA6134234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6078" y="3786839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3CE45CEC-AA60-F8A5-6F77-3E97682511EC}"/>
                    </a:ext>
                  </a:extLst>
                </p:cNvPr>
                <p:cNvSpPr txBox="1"/>
                <p:nvPr/>
              </p:nvSpPr>
              <p:spPr>
                <a:xfrm>
                  <a:off x="4650748" y="2119742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3CE45CEC-AA60-F8A5-6F77-3E97682511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0748" y="2119742"/>
                  <a:ext cx="723549" cy="3407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33138C78-9300-EC80-FD5D-19F5240F01CC}"/>
                    </a:ext>
                  </a:extLst>
                </p:cNvPr>
                <p:cNvSpPr txBox="1"/>
                <p:nvPr/>
              </p:nvSpPr>
              <p:spPr>
                <a:xfrm>
                  <a:off x="4644880" y="2719341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+−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33138C78-9300-EC80-FD5D-19F5240F01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4880" y="2719341"/>
                  <a:ext cx="723549" cy="3407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52DA666D-A3E7-83DD-B8FE-DA869E3ECF4B}"/>
                    </a:ext>
                  </a:extLst>
                </p:cNvPr>
                <p:cNvSpPr txBox="1"/>
                <p:nvPr/>
              </p:nvSpPr>
              <p:spPr>
                <a:xfrm>
                  <a:off x="4644880" y="3318940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−+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52DA666D-A3E7-83DD-B8FE-DA869E3ECF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4880" y="3318940"/>
                  <a:ext cx="723549" cy="3407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1B3D7008-6CE2-0F09-34F6-8FE3C66E728E}"/>
                    </a:ext>
                  </a:extLst>
                </p:cNvPr>
                <p:cNvSpPr txBox="1"/>
                <p:nvPr/>
              </p:nvSpPr>
              <p:spPr>
                <a:xfrm>
                  <a:off x="4644880" y="3941443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−−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1B3D7008-6CE2-0F09-34F6-8FE3C66E72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4880" y="3941443"/>
                  <a:ext cx="723549" cy="3407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AA5FF9A6-231B-0770-64EC-494082E2E695}"/>
                    </a:ext>
                  </a:extLst>
                </p:cNvPr>
                <p:cNvSpPr txBox="1"/>
                <p:nvPr/>
              </p:nvSpPr>
              <p:spPr>
                <a:xfrm>
                  <a:off x="6061855" y="2112329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AA5FF9A6-231B-0770-64EC-494082E2E6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1855" y="2112329"/>
                  <a:ext cx="723549" cy="340731"/>
                </a:xfrm>
                <a:prstGeom prst="rect">
                  <a:avLst/>
                </a:prstGeom>
                <a:blipFill>
                  <a:blip r:embed="rId10"/>
                  <a:stretch>
                    <a:fillRect l="-4762"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AE99601E-76B2-2C2F-BD39-B3D94E75EF7F}"/>
                </a:ext>
              </a:extLst>
            </p:cNvPr>
            <p:cNvSpPr/>
            <p:nvPr/>
          </p:nvSpPr>
          <p:spPr>
            <a:xfrm>
              <a:off x="5671825" y="1769540"/>
              <a:ext cx="360000" cy="28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0180EFFA-E442-1145-6A66-93E814151EF6}"/>
                </a:ext>
              </a:extLst>
            </p:cNvPr>
            <p:cNvSpPr/>
            <p:nvPr/>
          </p:nvSpPr>
          <p:spPr>
            <a:xfrm>
              <a:off x="7772477" y="1769540"/>
              <a:ext cx="360000" cy="28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テキスト ボックス 47">
                  <a:extLst>
                    <a:ext uri="{FF2B5EF4-FFF2-40B4-BE49-F238E27FC236}">
                      <a16:creationId xmlns:a16="http://schemas.microsoft.com/office/drawing/2014/main" id="{838DE999-E50F-DBB4-628B-646968876ADD}"/>
                    </a:ext>
                  </a:extLst>
                </p:cNvPr>
                <p:cNvSpPr txBox="1"/>
                <p:nvPr/>
              </p:nvSpPr>
              <p:spPr>
                <a:xfrm>
                  <a:off x="6061855" y="3312760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48" name="テキスト ボックス 47">
                  <a:extLst>
                    <a:ext uri="{FF2B5EF4-FFF2-40B4-BE49-F238E27FC236}">
                      <a16:creationId xmlns:a16="http://schemas.microsoft.com/office/drawing/2014/main" id="{838DE999-E50F-DBB4-628B-646968876A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1855" y="3312760"/>
                  <a:ext cx="723549" cy="340731"/>
                </a:xfrm>
                <a:prstGeom prst="rect">
                  <a:avLst/>
                </a:prstGeom>
                <a:blipFill>
                  <a:blip r:embed="rId11"/>
                  <a:stretch>
                    <a:fillRect l="-4762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直線矢印コネクタ 58">
              <a:extLst>
                <a:ext uri="{FF2B5EF4-FFF2-40B4-BE49-F238E27FC236}">
                  <a16:creationId xmlns:a16="http://schemas.microsoft.com/office/drawing/2014/main" id="{1F22C2BE-0FDF-9F54-A90E-137D1F1543D1}"/>
                </a:ext>
              </a:extLst>
            </p:cNvPr>
            <p:cNvCxnSpPr>
              <a:cxnSpLocks/>
              <a:stCxn id="5" idx="1"/>
            </p:cNvCxnSpPr>
            <p:nvPr/>
          </p:nvCxnSpPr>
          <p:spPr>
            <a:xfrm flipV="1">
              <a:off x="2026537" y="2639139"/>
              <a:ext cx="324819" cy="570401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ACCCD8EA-2E5A-399D-47D3-0981FA74EAE1}"/>
                    </a:ext>
                  </a:extLst>
                </p:cNvPr>
                <p:cNvSpPr txBox="1"/>
                <p:nvPr/>
              </p:nvSpPr>
              <p:spPr>
                <a:xfrm>
                  <a:off x="8169595" y="2101621"/>
                  <a:ext cx="1803921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ACCCD8EA-2E5A-399D-47D3-0981FA74EA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9595" y="2101621"/>
                  <a:ext cx="1803921" cy="362094"/>
                </a:xfrm>
                <a:prstGeom prst="rect">
                  <a:avLst/>
                </a:prstGeom>
                <a:blipFill>
                  <a:blip r:embed="rId12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30F47D1F-6751-A39E-3C95-AE274AA3EF46}"/>
                    </a:ext>
                  </a:extLst>
                </p:cNvPr>
                <p:cNvSpPr txBox="1"/>
                <p:nvPr/>
              </p:nvSpPr>
              <p:spPr>
                <a:xfrm>
                  <a:off x="8162507" y="2697925"/>
                  <a:ext cx="2550449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+−</m:t>
                            </m:r>
                          </m:sup>
                        </m:sSup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 (1−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30F47D1F-6751-A39E-3C95-AE274AA3EF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2507" y="2697925"/>
                  <a:ext cx="2550449" cy="362094"/>
                </a:xfrm>
                <a:prstGeom prst="rect">
                  <a:avLst/>
                </a:prstGeom>
                <a:blipFill>
                  <a:blip r:embed="rId13"/>
                  <a:stretch>
                    <a:fillRect b="-1395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A3596202-CEAD-B3AC-C523-69AECB054C93}"/>
                    </a:ext>
                  </a:extLst>
                </p:cNvPr>
                <p:cNvSpPr txBox="1"/>
                <p:nvPr/>
              </p:nvSpPr>
              <p:spPr>
                <a:xfrm>
                  <a:off x="8169595" y="3291344"/>
                  <a:ext cx="2550449" cy="38195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−+</m:t>
                            </m:r>
                          </m:sup>
                        </m:sSup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A3596202-CEAD-B3AC-C523-69AECB054C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9595" y="3291344"/>
                  <a:ext cx="2550449" cy="381951"/>
                </a:xfrm>
                <a:prstGeom prst="rect">
                  <a:avLst/>
                </a:prstGeom>
                <a:blipFill>
                  <a:blip r:embed="rId14"/>
                  <a:stretch>
                    <a:fillRect l="-687" b="-444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テキスト ボックス 62">
                  <a:extLst>
                    <a:ext uri="{FF2B5EF4-FFF2-40B4-BE49-F238E27FC236}">
                      <a16:creationId xmlns:a16="http://schemas.microsoft.com/office/drawing/2014/main" id="{7CDC6E86-4CB5-1826-C3C7-74DE1D9D147E}"/>
                    </a:ext>
                  </a:extLst>
                </p:cNvPr>
                <p:cNvSpPr txBox="1"/>
                <p:nvPr/>
              </p:nvSpPr>
              <p:spPr>
                <a:xfrm>
                  <a:off x="8169594" y="3912410"/>
                  <a:ext cx="3217547" cy="38195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−−</m:t>
                            </m:r>
                          </m:sup>
                        </m:sSup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 (1−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63" name="テキスト ボックス 62">
                  <a:extLst>
                    <a:ext uri="{FF2B5EF4-FFF2-40B4-BE49-F238E27FC236}">
                      <a16:creationId xmlns:a16="http://schemas.microsoft.com/office/drawing/2014/main" id="{7CDC6E86-4CB5-1826-C3C7-74DE1D9D14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9594" y="3912410"/>
                  <a:ext cx="3217547" cy="381951"/>
                </a:xfrm>
                <a:prstGeom prst="rect">
                  <a:avLst/>
                </a:prstGeom>
                <a:blipFill>
                  <a:blip r:embed="rId15"/>
                  <a:stretch>
                    <a:fillRect l="-543" b="-1590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右中かっこ 2">
              <a:extLst>
                <a:ext uri="{FF2B5EF4-FFF2-40B4-BE49-F238E27FC236}">
                  <a16:creationId xmlns:a16="http://schemas.microsoft.com/office/drawing/2014/main" id="{91F08892-CB5C-04FF-DAB8-C29CC76E2CE4}"/>
                </a:ext>
              </a:extLst>
            </p:cNvPr>
            <p:cNvSpPr/>
            <p:nvPr/>
          </p:nvSpPr>
          <p:spPr>
            <a:xfrm>
              <a:off x="10824882" y="1785934"/>
              <a:ext cx="567981" cy="2880000"/>
            </a:xfrm>
            <a:prstGeom prst="rightBrace">
              <a:avLst>
                <a:gd name="adj1" fmla="val 33333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7F5028AC-CBD0-5573-5989-9329D139EED6}"/>
                    </a:ext>
                  </a:extLst>
                </p:cNvPr>
                <p:cNvSpPr txBox="1"/>
                <p:nvPr/>
              </p:nvSpPr>
              <p:spPr>
                <a:xfrm>
                  <a:off x="11467750" y="3050821"/>
                  <a:ext cx="337978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7F5028AC-CBD0-5573-5989-9329D139EE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67750" y="3050821"/>
                  <a:ext cx="337978" cy="340731"/>
                </a:xfrm>
                <a:prstGeom prst="rect">
                  <a:avLst/>
                </a:prstGeom>
                <a:blipFill>
                  <a:blip r:embed="rId16"/>
                  <a:stretch>
                    <a:fillRect l="-30769" r="-769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" name="直線矢印コネクタ 1">
              <a:extLst>
                <a:ext uri="{FF2B5EF4-FFF2-40B4-BE49-F238E27FC236}">
                  <a16:creationId xmlns:a16="http://schemas.microsoft.com/office/drawing/2014/main" id="{446B5791-0584-3FD4-831E-8BEB7C2944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7194" y="3235487"/>
              <a:ext cx="720000" cy="10708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7C4AD651-5B96-0635-4055-594E645D22C0}"/>
                    </a:ext>
                  </a:extLst>
                </p:cNvPr>
                <p:cNvSpPr txBox="1"/>
                <p:nvPr/>
              </p:nvSpPr>
              <p:spPr>
                <a:xfrm>
                  <a:off x="6061855" y="2722340"/>
                  <a:ext cx="1452257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61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7C4AD651-5B96-0635-4055-594E645D22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1855" y="2722340"/>
                  <a:ext cx="1452257" cy="340731"/>
                </a:xfrm>
                <a:prstGeom prst="rect">
                  <a:avLst/>
                </a:prstGeom>
                <a:blipFill>
                  <a:blip r:embed="rId17"/>
                  <a:stretch>
                    <a:fillRect b="-1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D7473E53-9C15-42D0-0562-8C2097C9B576}"/>
                    </a:ext>
                  </a:extLst>
                </p:cNvPr>
                <p:cNvSpPr txBox="1"/>
                <p:nvPr/>
              </p:nvSpPr>
              <p:spPr>
                <a:xfrm>
                  <a:off x="6061855" y="3935904"/>
                  <a:ext cx="1452257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61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D7473E53-9C15-42D0-0562-8C2097C9B5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1855" y="3935904"/>
                  <a:ext cx="1452257" cy="340731"/>
                </a:xfrm>
                <a:prstGeom prst="rect">
                  <a:avLst/>
                </a:prstGeom>
                <a:blipFill>
                  <a:blip r:embed="rId18"/>
                  <a:stretch>
                    <a:fillRect b="-1794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60804D3E-1636-598B-1A1F-BD335A9C6F53}"/>
                </a:ext>
              </a:extLst>
            </p:cNvPr>
            <p:cNvCxnSpPr>
              <a:cxnSpLocks/>
            </p:cNvCxnSpPr>
            <p:nvPr/>
          </p:nvCxnSpPr>
          <p:spPr>
            <a:xfrm>
              <a:off x="2034312" y="3212225"/>
              <a:ext cx="324819" cy="570401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268AA1AB-50EE-001E-AB65-F59729D48C47}"/>
                    </a:ext>
                  </a:extLst>
                </p:cNvPr>
                <p:cNvSpPr txBox="1"/>
                <p:nvPr/>
              </p:nvSpPr>
              <p:spPr>
                <a:xfrm>
                  <a:off x="1484804" y="3050821"/>
                  <a:ext cx="291143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268AA1AB-50EE-001E-AB65-F59729D48C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4804" y="3050821"/>
                  <a:ext cx="291143" cy="340731"/>
                </a:xfrm>
                <a:prstGeom prst="rect">
                  <a:avLst/>
                </a:prstGeom>
                <a:blipFill>
                  <a:blip r:embed="rId19"/>
                  <a:stretch>
                    <a:fillRect l="-26471" r="-294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320713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72B25-46C2-8440-AE26-28BAA31E8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6D3A2DA6-06E5-C1B3-B9ED-CAF11C85600F}"/>
              </a:ext>
            </a:extLst>
          </p:cNvPr>
          <p:cNvGrpSpPr/>
          <p:nvPr/>
        </p:nvGrpSpPr>
        <p:grpSpPr>
          <a:xfrm>
            <a:off x="5130403" y="3297740"/>
            <a:ext cx="11097798" cy="5741288"/>
            <a:chOff x="368697" y="3297740"/>
            <a:chExt cx="11097798" cy="5741288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E65D435C-CA69-7FD9-F527-A853395994A3}"/>
                </a:ext>
              </a:extLst>
            </p:cNvPr>
            <p:cNvSpPr/>
            <p:nvPr/>
          </p:nvSpPr>
          <p:spPr>
            <a:xfrm>
              <a:off x="1455072" y="3297740"/>
              <a:ext cx="521917" cy="4175333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0A272B17-0B1C-040B-E09D-CAB7538FCA60}"/>
                </a:ext>
              </a:extLst>
            </p:cNvPr>
            <p:cNvCxnSpPr>
              <a:cxnSpLocks/>
            </p:cNvCxnSpPr>
            <p:nvPr/>
          </p:nvCxnSpPr>
          <p:spPr>
            <a:xfrm>
              <a:off x="1989829" y="6226490"/>
              <a:ext cx="250520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56668515-5FEE-5886-A3D1-875870DEB7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9827" y="4544322"/>
              <a:ext cx="2505203" cy="15524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373A810E-A4B1-1A06-B75D-A7A129BF4CB0}"/>
                </a:ext>
              </a:extLst>
            </p:cNvPr>
            <p:cNvSpPr txBox="1"/>
            <p:nvPr/>
          </p:nvSpPr>
          <p:spPr>
            <a:xfrm>
              <a:off x="964064" y="7647280"/>
              <a:ext cx="1503938" cy="13880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>
                  <a:latin typeface="Helvetica" pitchFamily="2" charset="0"/>
                </a:rPr>
                <a:t>Polarizer</a:t>
              </a:r>
              <a:br>
                <a:rPr lang="en-US" altLang="ja-JP" sz="2610" dirty="0">
                  <a:latin typeface="Helvetica" pitchFamily="2" charset="0"/>
                </a:rPr>
              </a:br>
              <a:r>
                <a:rPr lang="en-US" altLang="ja-JP" sz="2610" dirty="0">
                  <a:latin typeface="Helvetica" pitchFamily="2" charset="0"/>
                </a:rPr>
                <a:t>Heusler</a:t>
              </a:r>
              <a:br>
                <a:rPr lang="en-US" altLang="ja-JP" sz="2610" dirty="0">
                  <a:latin typeface="Helvetica" pitchFamily="2" charset="0"/>
                </a:rPr>
              </a:br>
              <a:r>
                <a:rPr lang="en-US" altLang="ja-JP" sz="3200" dirty="0">
                  <a:latin typeface="Helvetica" pitchFamily="2" charset="0"/>
                </a:rPr>
                <a:t>+</a:t>
              </a:r>
              <a:endParaRPr lang="ja-JP" altLang="en-US" sz="3200">
                <a:latin typeface="Helvetica" pitchFamily="2" charset="0"/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023913F3-3157-A816-EFB8-DE8B8C733E80}"/>
                </a:ext>
              </a:extLst>
            </p:cNvPr>
            <p:cNvSpPr txBox="1"/>
            <p:nvPr/>
          </p:nvSpPr>
          <p:spPr>
            <a:xfrm>
              <a:off x="5774674" y="7650956"/>
              <a:ext cx="2595582" cy="13880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>
                  <a:latin typeface="Helvetica" pitchFamily="2" charset="0"/>
                </a:rPr>
                <a:t>Analyzer</a:t>
              </a:r>
              <a:br>
                <a:rPr lang="en-US" altLang="ja-JP" sz="2610" dirty="0">
                  <a:latin typeface="Helvetica" pitchFamily="2" charset="0"/>
                </a:rPr>
              </a:br>
              <a:r>
                <a:rPr lang="en-US" altLang="ja-JP" sz="2610" i="1" dirty="0">
                  <a:latin typeface="Helvetica" pitchFamily="2" charset="0"/>
                </a:rPr>
                <a:t>ex-situ</a:t>
              </a:r>
              <a:r>
                <a:rPr lang="en-US" altLang="ja-JP" sz="2610" dirty="0">
                  <a:latin typeface="Helvetica" pitchFamily="2" charset="0"/>
                </a:rPr>
                <a:t> </a:t>
              </a:r>
              <a:r>
                <a:rPr lang="en-US" altLang="ja-JP" sz="2610" baseline="30000" dirty="0">
                  <a:latin typeface="Helvetica" pitchFamily="2" charset="0"/>
                </a:rPr>
                <a:t>3</a:t>
              </a:r>
              <a:r>
                <a:rPr lang="en-US" altLang="ja-JP" sz="2610" dirty="0">
                  <a:latin typeface="Helvetica" pitchFamily="2" charset="0"/>
                </a:rPr>
                <a:t>He-NSF</a:t>
              </a:r>
              <a:br>
                <a:rPr lang="en-US" altLang="ja-JP" sz="2610" dirty="0">
                  <a:latin typeface="Helvetica" pitchFamily="2" charset="0"/>
                </a:rPr>
              </a:br>
              <a:r>
                <a:rPr lang="en-US" altLang="ja-JP" sz="3200" dirty="0">
                  <a:latin typeface="Helvetica" pitchFamily="2" charset="0"/>
                </a:rPr>
                <a:t>+</a:t>
              </a:r>
              <a:endParaRPr lang="ja-JP" altLang="en-US" sz="3200">
                <a:latin typeface="Helvetica" pitchFamily="2" charset="0"/>
              </a:endParaRPr>
            </a:p>
          </p:txBody>
        </p: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18FECB02-7E56-0164-5434-BB9E38E24BE9}"/>
                </a:ext>
              </a:extLst>
            </p:cNvPr>
            <p:cNvCxnSpPr>
              <a:cxnSpLocks/>
            </p:cNvCxnSpPr>
            <p:nvPr/>
          </p:nvCxnSpPr>
          <p:spPr>
            <a:xfrm>
              <a:off x="5054099" y="4073173"/>
              <a:ext cx="469725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11FD0654-434C-0B63-C0FF-F07F71564DFE}"/>
                </a:ext>
              </a:extLst>
            </p:cNvPr>
            <p:cNvCxnSpPr>
              <a:cxnSpLocks/>
            </p:cNvCxnSpPr>
            <p:nvPr/>
          </p:nvCxnSpPr>
          <p:spPr>
            <a:xfrm>
              <a:off x="5054099" y="4947994"/>
              <a:ext cx="469725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5AC35246-CD63-145D-61DB-958D93FC0A87}"/>
                </a:ext>
              </a:extLst>
            </p:cNvPr>
            <p:cNvCxnSpPr>
              <a:cxnSpLocks/>
            </p:cNvCxnSpPr>
            <p:nvPr/>
          </p:nvCxnSpPr>
          <p:spPr>
            <a:xfrm>
              <a:off x="5034297" y="5822815"/>
              <a:ext cx="469725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3D49454C-8644-309B-F365-1BBB2BB6356C}"/>
                </a:ext>
              </a:extLst>
            </p:cNvPr>
            <p:cNvCxnSpPr>
              <a:cxnSpLocks/>
            </p:cNvCxnSpPr>
            <p:nvPr/>
          </p:nvCxnSpPr>
          <p:spPr>
            <a:xfrm>
              <a:off x="5034297" y="6697636"/>
              <a:ext cx="469725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AB5640B7-E354-5A53-99BD-4C64B8B79E82}"/>
                </a:ext>
              </a:extLst>
            </p:cNvPr>
            <p:cNvSpPr txBox="1"/>
            <p:nvPr/>
          </p:nvSpPr>
          <p:spPr>
            <a:xfrm>
              <a:off x="4114501" y="7650956"/>
              <a:ext cx="1317990" cy="493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>
                  <a:latin typeface="Helvetica" pitchFamily="2" charset="0"/>
                </a:rPr>
                <a:t>Sample</a:t>
              </a:r>
              <a:endParaRPr lang="ja-JP" altLang="en-US" sz="2610">
                <a:latin typeface="Helvetica" pitchFamily="2" charset="0"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B3DD2A0F-4417-E6B0-A131-6213455FB2A5}"/>
                </a:ext>
              </a:extLst>
            </p:cNvPr>
            <p:cNvSpPr txBox="1"/>
            <p:nvPr/>
          </p:nvSpPr>
          <p:spPr>
            <a:xfrm>
              <a:off x="9320803" y="7650956"/>
              <a:ext cx="1451040" cy="493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>
                  <a:latin typeface="Helvetica" pitchFamily="2" charset="0"/>
                </a:rPr>
                <a:t>Detector</a:t>
              </a:r>
              <a:endParaRPr lang="ja-JP" altLang="en-US" sz="2610">
                <a:latin typeface="Helvetica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B566E81A-AD1F-3B8F-89E8-3BE451C26890}"/>
                    </a:ext>
                  </a:extLst>
                </p:cNvPr>
                <p:cNvSpPr txBox="1"/>
                <p:nvPr/>
              </p:nvSpPr>
              <p:spPr>
                <a:xfrm>
                  <a:off x="2165452" y="4276599"/>
                  <a:ext cx="1048980" cy="55643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B566E81A-AD1F-3B8F-89E8-3BE451C268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5452" y="4276599"/>
                  <a:ext cx="1048980" cy="556434"/>
                </a:xfrm>
                <a:prstGeom prst="rect">
                  <a:avLst/>
                </a:prstGeom>
                <a:blipFill>
                  <a:blip r:embed="rId4"/>
                  <a:stretch>
                    <a:fillRect l="-8434" b="-888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81C5E5C3-445E-0BA6-1162-3CC4605E9DDA}"/>
                    </a:ext>
                  </a:extLst>
                </p:cNvPr>
                <p:cNvSpPr txBox="1"/>
                <p:nvPr/>
              </p:nvSpPr>
              <p:spPr>
                <a:xfrm>
                  <a:off x="2156429" y="5943243"/>
                  <a:ext cx="2124195" cy="55643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81C5E5C3-445E-0BA6-1162-3CC4605E9D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6429" y="5943243"/>
                  <a:ext cx="2124195" cy="556434"/>
                </a:xfrm>
                <a:prstGeom prst="rect">
                  <a:avLst/>
                </a:prstGeom>
                <a:blipFill>
                  <a:blip r:embed="rId5"/>
                  <a:stretch>
                    <a:fillRect l="-595" r="-595" b="-1363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6C91BF27-1149-826B-8CC5-56490A74466E}"/>
                </a:ext>
              </a:extLst>
            </p:cNvPr>
            <p:cNvGrpSpPr/>
            <p:nvPr/>
          </p:nvGrpSpPr>
          <p:grpSpPr>
            <a:xfrm>
              <a:off x="4500535" y="3297740"/>
              <a:ext cx="533916" cy="4175333"/>
              <a:chOff x="4287796" y="1755252"/>
              <a:chExt cx="368276" cy="2880000"/>
            </a:xfrm>
          </p:grpSpPr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75E32CF3-0FF4-02BB-9662-B16F5A1D81F4}"/>
                  </a:ext>
                </a:extLst>
              </p:cNvPr>
              <p:cNvSpPr/>
              <p:nvPr/>
            </p:nvSpPr>
            <p:spPr>
              <a:xfrm>
                <a:off x="4287796" y="1755252"/>
                <a:ext cx="360000" cy="2880000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29" name="直線矢印コネクタ 28">
                <a:extLst>
                  <a:ext uri="{FF2B5EF4-FFF2-40B4-BE49-F238E27FC236}">
                    <a16:creationId xmlns:a16="http://schemas.microsoft.com/office/drawing/2014/main" id="{E4A12D7C-EB22-C203-E746-239B7F1D16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87802" y="2290119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矢印コネクタ 30">
                <a:extLst>
                  <a:ext uri="{FF2B5EF4-FFF2-40B4-BE49-F238E27FC236}">
                    <a16:creationId xmlns:a16="http://schemas.microsoft.com/office/drawing/2014/main" id="{A74B3765-F24B-CCDA-EE67-138E0F0709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3079" y="2608921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線矢印コネクタ 31">
                <a:extLst>
                  <a:ext uri="{FF2B5EF4-FFF2-40B4-BE49-F238E27FC236}">
                    <a16:creationId xmlns:a16="http://schemas.microsoft.com/office/drawing/2014/main" id="{E43C2932-1F96-2004-FF5F-D543EF6F6C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90801" y="3468037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線矢印コネクタ 32">
                <a:extLst>
                  <a:ext uri="{FF2B5EF4-FFF2-40B4-BE49-F238E27FC236}">
                    <a16:creationId xmlns:a16="http://schemas.microsoft.com/office/drawing/2014/main" id="{E32D5ED1-CD3D-4C4A-BFBF-6D980A10DB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6078" y="3786839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80AC92D1-F7E4-CD76-F982-04A209FD2370}"/>
                    </a:ext>
                  </a:extLst>
                </p:cNvPr>
                <p:cNvSpPr txBox="1"/>
                <p:nvPr/>
              </p:nvSpPr>
              <p:spPr>
                <a:xfrm>
                  <a:off x="5259575" y="3805452"/>
                  <a:ext cx="104898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80AC92D1-F7E4-CD76-F982-04A209FD23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9575" y="3805452"/>
                  <a:ext cx="1048980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120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1C3B647E-1A24-31F3-7026-CA23E35CC0B8}"/>
                    </a:ext>
                  </a:extLst>
                </p:cNvPr>
                <p:cNvSpPr txBox="1"/>
                <p:nvPr/>
              </p:nvSpPr>
              <p:spPr>
                <a:xfrm>
                  <a:off x="5251068" y="4674732"/>
                  <a:ext cx="104898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+−</m:t>
                            </m:r>
                          </m:sup>
                        </m:s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1C3B647E-1A24-31F3-7026-CA23E35CC0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1068" y="4674732"/>
                  <a:ext cx="1048980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119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A75BEA0C-501E-2F95-1D56-C537CF575A6D}"/>
                    </a:ext>
                  </a:extLst>
                </p:cNvPr>
                <p:cNvSpPr txBox="1"/>
                <p:nvPr/>
              </p:nvSpPr>
              <p:spPr>
                <a:xfrm>
                  <a:off x="5251068" y="5544011"/>
                  <a:ext cx="104898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−+</m:t>
                            </m:r>
                          </m:sup>
                        </m:s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A75BEA0C-501E-2F95-1D56-C537CF575A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1068" y="5544011"/>
                  <a:ext cx="1048980" cy="523220"/>
                </a:xfrm>
                <a:prstGeom prst="rect">
                  <a:avLst/>
                </a:prstGeom>
                <a:blipFill>
                  <a:blip r:embed="rId8"/>
                  <a:stretch>
                    <a:fillRect l="-119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A776A225-EB01-4DAA-76AB-68C1A6B9214B}"/>
                    </a:ext>
                  </a:extLst>
                </p:cNvPr>
                <p:cNvSpPr txBox="1"/>
                <p:nvPr/>
              </p:nvSpPr>
              <p:spPr>
                <a:xfrm>
                  <a:off x="5251068" y="6446497"/>
                  <a:ext cx="104898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−−</m:t>
                            </m:r>
                          </m:sup>
                        </m:s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A776A225-EB01-4DAA-76AB-68C1A6B921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1068" y="6446497"/>
                  <a:ext cx="1048980" cy="523220"/>
                </a:xfrm>
                <a:prstGeom prst="rect">
                  <a:avLst/>
                </a:prstGeom>
                <a:blipFill>
                  <a:blip r:embed="rId9"/>
                  <a:stretch>
                    <a:fillRect l="-119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716AB448-DC77-6C55-67EA-9D3DC591B3DB}"/>
                    </a:ext>
                  </a:extLst>
                </p:cNvPr>
                <p:cNvSpPr txBox="1"/>
                <p:nvPr/>
              </p:nvSpPr>
              <p:spPr>
                <a:xfrm>
                  <a:off x="7387001" y="3794705"/>
                  <a:ext cx="104898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716AB448-DC77-6C55-67EA-9D3DC591B3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7001" y="3794705"/>
                  <a:ext cx="1048980" cy="523220"/>
                </a:xfrm>
                <a:prstGeom prst="rect">
                  <a:avLst/>
                </a:prstGeom>
                <a:blipFill>
                  <a:blip r:embed="rId10"/>
                  <a:stretch>
                    <a:fillRect l="-8333" b="-1190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A856A97D-8D3B-85EB-FE6D-F66A74063BFB}"/>
                </a:ext>
              </a:extLst>
            </p:cNvPr>
            <p:cNvSpPr/>
            <p:nvPr/>
          </p:nvSpPr>
          <p:spPr>
            <a:xfrm>
              <a:off x="6739902" y="3297740"/>
              <a:ext cx="521917" cy="4175333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C088094D-4FF0-54CF-0D6D-539AED83A46E}"/>
                </a:ext>
              </a:extLst>
            </p:cNvPr>
            <p:cNvSpPr/>
            <p:nvPr/>
          </p:nvSpPr>
          <p:spPr>
            <a:xfrm>
              <a:off x="9785365" y="3297740"/>
              <a:ext cx="521917" cy="4175333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テキスト ボックス 47">
                  <a:extLst>
                    <a:ext uri="{FF2B5EF4-FFF2-40B4-BE49-F238E27FC236}">
                      <a16:creationId xmlns:a16="http://schemas.microsoft.com/office/drawing/2014/main" id="{33E0FD94-C1A0-9A95-ED3F-D9AE49263AD8}"/>
                    </a:ext>
                  </a:extLst>
                </p:cNvPr>
                <p:cNvSpPr txBox="1"/>
                <p:nvPr/>
              </p:nvSpPr>
              <p:spPr>
                <a:xfrm>
                  <a:off x="7387001" y="5535052"/>
                  <a:ext cx="104898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48" name="テキスト ボックス 47">
                  <a:extLst>
                    <a:ext uri="{FF2B5EF4-FFF2-40B4-BE49-F238E27FC236}">
                      <a16:creationId xmlns:a16="http://schemas.microsoft.com/office/drawing/2014/main" id="{33E0FD94-C1A0-9A95-ED3F-D9AE49263A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7001" y="5535052"/>
                  <a:ext cx="1048980" cy="523220"/>
                </a:xfrm>
                <a:prstGeom prst="rect">
                  <a:avLst/>
                </a:prstGeom>
                <a:blipFill>
                  <a:blip r:embed="rId11"/>
                  <a:stretch>
                    <a:fillRect l="-8333" b="-697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直線矢印コネクタ 58">
              <a:extLst>
                <a:ext uri="{FF2B5EF4-FFF2-40B4-BE49-F238E27FC236}">
                  <a16:creationId xmlns:a16="http://schemas.microsoft.com/office/drawing/2014/main" id="{09FB0759-48B3-20E0-E436-A9C7969EA568}"/>
                </a:ext>
              </a:extLst>
            </p:cNvPr>
            <p:cNvCxnSpPr>
              <a:cxnSpLocks/>
              <a:stCxn id="5" idx="1"/>
            </p:cNvCxnSpPr>
            <p:nvPr/>
          </p:nvCxnSpPr>
          <p:spPr>
            <a:xfrm flipV="1">
              <a:off x="1455072" y="4558457"/>
              <a:ext cx="470913" cy="826949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右中かっこ 2">
              <a:extLst>
                <a:ext uri="{FF2B5EF4-FFF2-40B4-BE49-F238E27FC236}">
                  <a16:creationId xmlns:a16="http://schemas.microsoft.com/office/drawing/2014/main" id="{2FD6EAD8-6894-23A9-188E-B0C120C81F48}"/>
                </a:ext>
              </a:extLst>
            </p:cNvPr>
            <p:cNvSpPr/>
            <p:nvPr/>
          </p:nvSpPr>
          <p:spPr>
            <a:xfrm>
              <a:off x="10346006" y="3321508"/>
              <a:ext cx="521919" cy="4175333"/>
            </a:xfrm>
            <a:prstGeom prst="rightBrace">
              <a:avLst>
                <a:gd name="adj1" fmla="val 33333"/>
                <a:gd name="adj2" fmla="val 50429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3586D2C5-1823-6F8A-EDAF-38812101F6CF}"/>
                    </a:ext>
                  </a:extLst>
                </p:cNvPr>
                <p:cNvSpPr txBox="1"/>
                <p:nvPr/>
              </p:nvSpPr>
              <p:spPr>
                <a:xfrm>
                  <a:off x="10976505" y="5155301"/>
                  <a:ext cx="489990" cy="53970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obs</m:t>
                            </m:r>
                          </m:sub>
                          <m:sup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b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3586D2C5-1823-6F8A-EDAF-38812101F6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6505" y="5155301"/>
                  <a:ext cx="489990" cy="539700"/>
                </a:xfrm>
                <a:prstGeom prst="rect">
                  <a:avLst/>
                </a:prstGeom>
                <a:blipFill>
                  <a:blip r:embed="rId12"/>
                  <a:stretch>
                    <a:fillRect l="-41026" r="-17949" b="-697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" name="直線矢印コネクタ 1">
              <a:extLst>
                <a:ext uri="{FF2B5EF4-FFF2-40B4-BE49-F238E27FC236}">
                  <a16:creationId xmlns:a16="http://schemas.microsoft.com/office/drawing/2014/main" id="{95160985-535F-3265-412E-0DDE867A38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697" y="5423024"/>
              <a:ext cx="1043835" cy="15524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FF970215-46A0-D948-6D39-4C867897946E}"/>
                    </a:ext>
                  </a:extLst>
                </p:cNvPr>
                <p:cNvSpPr txBox="1"/>
                <p:nvPr/>
              </p:nvSpPr>
              <p:spPr>
                <a:xfrm>
                  <a:off x="7387001" y="4679079"/>
                  <a:ext cx="2105439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80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FF970215-46A0-D948-6D39-4C86789794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7001" y="4679079"/>
                  <a:ext cx="2105439" cy="523220"/>
                </a:xfrm>
                <a:prstGeom prst="rect">
                  <a:avLst/>
                </a:prstGeom>
                <a:blipFill>
                  <a:blip r:embed="rId13"/>
                  <a:stretch>
                    <a:fillRect l="-1198" r="-599" b="-1904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0C54CB2-BA22-D2AF-3732-CDB282BA3140}"/>
                    </a:ext>
                  </a:extLst>
                </p:cNvPr>
                <p:cNvSpPr txBox="1"/>
                <p:nvPr/>
              </p:nvSpPr>
              <p:spPr>
                <a:xfrm>
                  <a:off x="7387001" y="6438466"/>
                  <a:ext cx="2105439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80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0C54CB2-BA22-D2AF-3732-CDB282BA31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7001" y="6438466"/>
                  <a:ext cx="2105439" cy="523220"/>
                </a:xfrm>
                <a:prstGeom prst="rect">
                  <a:avLst/>
                </a:prstGeom>
                <a:blipFill>
                  <a:blip r:embed="rId14"/>
                  <a:stretch>
                    <a:fillRect l="-1198" r="-599" b="-1627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8C5BD1C6-F504-19EA-8D1B-947439930770}"/>
                </a:ext>
              </a:extLst>
            </p:cNvPr>
            <p:cNvCxnSpPr>
              <a:cxnSpLocks/>
            </p:cNvCxnSpPr>
            <p:nvPr/>
          </p:nvCxnSpPr>
          <p:spPr>
            <a:xfrm>
              <a:off x="1466344" y="5389299"/>
              <a:ext cx="470913" cy="826949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0762EF33-B3C8-673A-1E43-E3BB7FAA7ECA}"/>
                    </a:ext>
                  </a:extLst>
                </p:cNvPr>
                <p:cNvSpPr txBox="1"/>
                <p:nvPr/>
              </p:nvSpPr>
              <p:spPr>
                <a:xfrm>
                  <a:off x="669684" y="5155301"/>
                  <a:ext cx="42209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0762EF33-B3C8-673A-1E43-E3BB7FAA7E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684" y="5155301"/>
                  <a:ext cx="422090" cy="523220"/>
                </a:xfrm>
                <a:prstGeom prst="rect">
                  <a:avLst/>
                </a:prstGeom>
                <a:blipFill>
                  <a:blip r:embed="rId15"/>
                  <a:stretch>
                    <a:fillRect l="-32353" r="-588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496178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CDFEF-3F45-C27D-1F32-073D74A30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AB52C2B6-2B01-8F00-A98C-4AC7B1FB804F}"/>
              </a:ext>
            </a:extLst>
          </p:cNvPr>
          <p:cNvGrpSpPr/>
          <p:nvPr/>
        </p:nvGrpSpPr>
        <p:grpSpPr>
          <a:xfrm>
            <a:off x="5315824" y="3060234"/>
            <a:ext cx="10876751" cy="5741288"/>
            <a:chOff x="5315824" y="3060234"/>
            <a:chExt cx="10876751" cy="5741288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3B10F62E-8EE0-6237-C694-CED23AC85810}"/>
                </a:ext>
              </a:extLst>
            </p:cNvPr>
            <p:cNvSpPr/>
            <p:nvPr/>
          </p:nvSpPr>
          <p:spPr>
            <a:xfrm>
              <a:off x="5977952" y="3060234"/>
              <a:ext cx="521917" cy="4175333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11BA3230-5AED-A45F-ACEA-3E8BE9ACD46B}"/>
                </a:ext>
              </a:extLst>
            </p:cNvPr>
            <p:cNvCxnSpPr>
              <a:cxnSpLocks/>
            </p:cNvCxnSpPr>
            <p:nvPr/>
          </p:nvCxnSpPr>
          <p:spPr>
            <a:xfrm>
              <a:off x="5808663" y="5988984"/>
              <a:ext cx="3409200" cy="0"/>
            </a:xfrm>
            <a:prstGeom prst="straightConnector1">
              <a:avLst/>
            </a:prstGeom>
            <a:ln w="28575">
              <a:solidFill>
                <a:srgbClr val="0404FF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4E3A44B6-14E3-54AE-0FD0-4E56A4B85B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8663" y="4306816"/>
              <a:ext cx="3412447" cy="21146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791F2F3B-9C27-9058-CAD4-DFC83A9A8E07}"/>
                </a:ext>
              </a:extLst>
            </p:cNvPr>
            <p:cNvSpPr txBox="1"/>
            <p:nvPr/>
          </p:nvSpPr>
          <p:spPr>
            <a:xfrm>
              <a:off x="5486944" y="7409774"/>
              <a:ext cx="1503938" cy="13880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>
                  <a:latin typeface="Helvetica" pitchFamily="2" charset="0"/>
                </a:rPr>
                <a:t>Polarizer</a:t>
              </a:r>
              <a:br>
                <a:rPr lang="en-US" altLang="ja-JP" sz="2610" dirty="0">
                  <a:latin typeface="Helvetica" pitchFamily="2" charset="0"/>
                </a:rPr>
              </a:br>
              <a:r>
                <a:rPr lang="en-US" altLang="ja-JP" sz="2610" dirty="0">
                  <a:latin typeface="Helvetica" pitchFamily="2" charset="0"/>
                </a:rPr>
                <a:t>Heusler</a:t>
              </a:r>
              <a:br>
                <a:rPr lang="en-US" altLang="ja-JP" sz="2610" dirty="0">
                  <a:latin typeface="Helvetica" pitchFamily="2" charset="0"/>
                </a:rPr>
              </a:br>
              <a:r>
                <a:rPr lang="en-US" altLang="ja-JP" sz="3200" dirty="0">
                  <a:latin typeface="Helvetica" pitchFamily="2" charset="0"/>
                </a:rPr>
                <a:t>+</a:t>
              </a:r>
              <a:endParaRPr lang="ja-JP" altLang="en-US" sz="3200">
                <a:latin typeface="Helvetica" pitchFamily="2" charset="0"/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33892737-3B1F-FFA3-C377-5FBE93CCCE9D}"/>
                </a:ext>
              </a:extLst>
            </p:cNvPr>
            <p:cNvSpPr txBox="1"/>
            <p:nvPr/>
          </p:nvSpPr>
          <p:spPr>
            <a:xfrm>
              <a:off x="10280624" y="7413450"/>
              <a:ext cx="2595582" cy="13880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>
                  <a:latin typeface="Helvetica" pitchFamily="2" charset="0"/>
                </a:rPr>
                <a:t>Analyzer</a:t>
              </a:r>
              <a:br>
                <a:rPr lang="en-US" altLang="ja-JP" sz="2610" dirty="0">
                  <a:latin typeface="Helvetica" pitchFamily="2" charset="0"/>
                </a:rPr>
              </a:br>
              <a:r>
                <a:rPr lang="en-US" altLang="ja-JP" sz="2610" i="1" dirty="0">
                  <a:latin typeface="Helvetica" pitchFamily="2" charset="0"/>
                </a:rPr>
                <a:t>ex-situ</a:t>
              </a:r>
              <a:r>
                <a:rPr lang="en-US" altLang="ja-JP" sz="2610" dirty="0">
                  <a:latin typeface="Helvetica" pitchFamily="2" charset="0"/>
                </a:rPr>
                <a:t> </a:t>
              </a:r>
              <a:r>
                <a:rPr lang="en-US" altLang="ja-JP" sz="2610" baseline="30000" dirty="0">
                  <a:latin typeface="Helvetica" pitchFamily="2" charset="0"/>
                </a:rPr>
                <a:t>3</a:t>
              </a:r>
              <a:r>
                <a:rPr lang="en-US" altLang="ja-JP" sz="2610" dirty="0">
                  <a:latin typeface="Helvetica" pitchFamily="2" charset="0"/>
                </a:rPr>
                <a:t>He-NSF</a:t>
              </a:r>
              <a:br>
                <a:rPr lang="en-US" altLang="ja-JP" sz="2610" dirty="0">
                  <a:latin typeface="Helvetica" pitchFamily="2" charset="0"/>
                </a:rPr>
              </a:br>
              <a:r>
                <a:rPr lang="en-US" altLang="ja-JP" sz="3200" dirty="0">
                  <a:latin typeface="Helvetica" pitchFamily="2" charset="0"/>
                </a:rPr>
                <a:t>+</a:t>
              </a:r>
              <a:endParaRPr lang="ja-JP" altLang="en-US" sz="3200">
                <a:latin typeface="Helvetica" pitchFamily="2" charset="0"/>
              </a:endParaRPr>
            </a:p>
          </p:txBody>
        </p: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03B8EBE7-BC92-6381-0FD1-CB5EC43687A3}"/>
                </a:ext>
              </a:extLst>
            </p:cNvPr>
            <p:cNvCxnSpPr>
              <a:cxnSpLocks/>
            </p:cNvCxnSpPr>
            <p:nvPr/>
          </p:nvCxnSpPr>
          <p:spPr>
            <a:xfrm>
              <a:off x="9780179" y="3835667"/>
              <a:ext cx="4697256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405AC267-C749-3A77-D121-1A5512054F6B}"/>
                </a:ext>
              </a:extLst>
            </p:cNvPr>
            <p:cNvCxnSpPr>
              <a:cxnSpLocks/>
            </p:cNvCxnSpPr>
            <p:nvPr/>
          </p:nvCxnSpPr>
          <p:spPr>
            <a:xfrm>
              <a:off x="9780179" y="4710488"/>
              <a:ext cx="4697256" cy="0"/>
            </a:xfrm>
            <a:prstGeom prst="straightConnector1">
              <a:avLst/>
            </a:prstGeom>
            <a:ln w="28575">
              <a:solidFill>
                <a:srgbClr val="0404FF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ED577761-9838-CFEE-EE68-3353C95BA0CF}"/>
                </a:ext>
              </a:extLst>
            </p:cNvPr>
            <p:cNvCxnSpPr>
              <a:cxnSpLocks/>
            </p:cNvCxnSpPr>
            <p:nvPr/>
          </p:nvCxnSpPr>
          <p:spPr>
            <a:xfrm>
              <a:off x="9760377" y="5585309"/>
              <a:ext cx="4697256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96DB3935-4520-B582-3312-351C2B7BDBDB}"/>
                </a:ext>
              </a:extLst>
            </p:cNvPr>
            <p:cNvCxnSpPr>
              <a:cxnSpLocks/>
            </p:cNvCxnSpPr>
            <p:nvPr/>
          </p:nvCxnSpPr>
          <p:spPr>
            <a:xfrm>
              <a:off x="9760377" y="6460130"/>
              <a:ext cx="4697256" cy="0"/>
            </a:xfrm>
            <a:prstGeom prst="straightConnector1">
              <a:avLst/>
            </a:prstGeom>
            <a:ln w="28575">
              <a:solidFill>
                <a:srgbClr val="0404FF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993C2EF0-A559-5D39-7104-2E2983D02425}"/>
                </a:ext>
              </a:extLst>
            </p:cNvPr>
            <p:cNvSpPr txBox="1"/>
            <p:nvPr/>
          </p:nvSpPr>
          <p:spPr>
            <a:xfrm>
              <a:off x="8840581" y="7413450"/>
              <a:ext cx="1317990" cy="493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>
                  <a:latin typeface="Helvetica" pitchFamily="2" charset="0"/>
                </a:rPr>
                <a:t>Sample</a:t>
              </a:r>
              <a:endParaRPr lang="ja-JP" altLang="en-US" sz="2610">
                <a:latin typeface="Helvetica" pitchFamily="2" charset="0"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9DAC1939-0B58-CE8A-3D77-AFA1642A0D17}"/>
                </a:ext>
              </a:extLst>
            </p:cNvPr>
            <p:cNvSpPr txBox="1"/>
            <p:nvPr/>
          </p:nvSpPr>
          <p:spPr>
            <a:xfrm>
              <a:off x="14046883" y="7413450"/>
              <a:ext cx="1451040" cy="493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>
                  <a:latin typeface="Helvetica" pitchFamily="2" charset="0"/>
                </a:rPr>
                <a:t>Detector</a:t>
              </a:r>
              <a:endParaRPr lang="ja-JP" altLang="en-US" sz="2610">
                <a:latin typeface="Helvetica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5968B10C-C7F8-3382-4503-9C681615CF19}"/>
                    </a:ext>
                  </a:extLst>
                </p:cNvPr>
                <p:cNvSpPr txBox="1"/>
                <p:nvPr/>
              </p:nvSpPr>
              <p:spPr>
                <a:xfrm>
                  <a:off x="6666511" y="4039093"/>
                  <a:ext cx="1202590" cy="56156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5968B10C-C7F8-3382-4503-9C681615CF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6511" y="4039093"/>
                  <a:ext cx="1202590" cy="561564"/>
                </a:xfrm>
                <a:prstGeom prst="rect">
                  <a:avLst/>
                </a:prstGeom>
                <a:blipFill>
                  <a:blip r:embed="rId3"/>
                  <a:stretch>
                    <a:fillRect l="-11579" r="-3158" b="-666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E14C42B4-00BA-385B-48E1-33DD3D8920CA}"/>
                    </a:ext>
                  </a:extLst>
                </p:cNvPr>
                <p:cNvSpPr txBox="1"/>
                <p:nvPr/>
              </p:nvSpPr>
              <p:spPr>
                <a:xfrm>
                  <a:off x="6669203" y="5705737"/>
                  <a:ext cx="2311287" cy="56156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(1−</m:t>
                        </m:r>
                        <m:sSubSup>
                          <m:sSubSup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E14C42B4-00BA-385B-48E1-33DD3D8920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9203" y="5705737"/>
                  <a:ext cx="2311287" cy="561564"/>
                </a:xfrm>
                <a:prstGeom prst="rect">
                  <a:avLst/>
                </a:prstGeom>
                <a:blipFill>
                  <a:blip r:embed="rId4"/>
                  <a:stretch>
                    <a:fillRect l="-1639" r="-1093" b="-1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261247EF-3350-23EA-CA5C-31ABF6705C43}"/>
                </a:ext>
              </a:extLst>
            </p:cNvPr>
            <p:cNvGrpSpPr/>
            <p:nvPr/>
          </p:nvGrpSpPr>
          <p:grpSpPr>
            <a:xfrm>
              <a:off x="9226615" y="3060234"/>
              <a:ext cx="533916" cy="4175333"/>
              <a:chOff x="4287796" y="1755252"/>
              <a:chExt cx="368276" cy="2880000"/>
            </a:xfrm>
          </p:grpSpPr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D5DF35F3-9B1E-C019-ED9B-84F32C36E577}"/>
                  </a:ext>
                </a:extLst>
              </p:cNvPr>
              <p:cNvSpPr/>
              <p:nvPr/>
            </p:nvSpPr>
            <p:spPr>
              <a:xfrm>
                <a:off x="4287796" y="1755252"/>
                <a:ext cx="360000" cy="2880000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29" name="直線矢印コネクタ 28">
                <a:extLst>
                  <a:ext uri="{FF2B5EF4-FFF2-40B4-BE49-F238E27FC236}">
                    <a16:creationId xmlns:a16="http://schemas.microsoft.com/office/drawing/2014/main" id="{BFBA6156-005E-B82D-C15F-51056D838BD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87802" y="2290119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矢印コネクタ 30">
                <a:extLst>
                  <a:ext uri="{FF2B5EF4-FFF2-40B4-BE49-F238E27FC236}">
                    <a16:creationId xmlns:a16="http://schemas.microsoft.com/office/drawing/2014/main" id="{CD185A1F-23B0-7F9E-46F3-9989912920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3079" y="2608921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線矢印コネクタ 31">
                <a:extLst>
                  <a:ext uri="{FF2B5EF4-FFF2-40B4-BE49-F238E27FC236}">
                    <a16:creationId xmlns:a16="http://schemas.microsoft.com/office/drawing/2014/main" id="{9F5A9A23-1A61-A93F-6257-383FAA0986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90801" y="3468037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線矢印コネクタ 32">
                <a:extLst>
                  <a:ext uri="{FF2B5EF4-FFF2-40B4-BE49-F238E27FC236}">
                    <a16:creationId xmlns:a16="http://schemas.microsoft.com/office/drawing/2014/main" id="{EDD455D9-3650-DDE5-BF6E-A307E2E1DF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6078" y="3786839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451855FB-C330-C7E1-6D6D-0B4B15C42665}"/>
                    </a:ext>
                  </a:extLst>
                </p:cNvPr>
                <p:cNvSpPr txBox="1"/>
                <p:nvPr/>
              </p:nvSpPr>
              <p:spPr>
                <a:xfrm>
                  <a:off x="9985655" y="3567946"/>
                  <a:ext cx="104898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451855FB-C330-C7E1-6D6D-0B4B15C426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85655" y="3567946"/>
                  <a:ext cx="1048980" cy="523220"/>
                </a:xfrm>
                <a:prstGeom prst="rect">
                  <a:avLst/>
                </a:prstGeom>
                <a:blipFill>
                  <a:blip r:embed="rId5"/>
                  <a:stretch>
                    <a:fillRect l="-120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35238C29-F431-7E34-DBD0-90A810D8F2B2}"/>
                    </a:ext>
                  </a:extLst>
                </p:cNvPr>
                <p:cNvSpPr txBox="1"/>
                <p:nvPr/>
              </p:nvSpPr>
              <p:spPr>
                <a:xfrm>
                  <a:off x="9977148" y="4437226"/>
                  <a:ext cx="104898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+−</m:t>
                            </m:r>
                          </m:sup>
                        </m:s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35238C29-F431-7E34-DBD0-90A810D8F2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7148" y="4437226"/>
                  <a:ext cx="1048980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6104052F-2A06-6722-B553-06CAEEB4EF59}"/>
                    </a:ext>
                  </a:extLst>
                </p:cNvPr>
                <p:cNvSpPr txBox="1"/>
                <p:nvPr/>
              </p:nvSpPr>
              <p:spPr>
                <a:xfrm>
                  <a:off x="9977148" y="5306505"/>
                  <a:ext cx="104898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−+</m:t>
                            </m:r>
                          </m:sup>
                        </m:s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6104052F-2A06-6722-B553-06CAEEB4EF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7148" y="5306505"/>
                  <a:ext cx="1048980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8F0C59E9-EA50-D24C-057B-68AFBED69601}"/>
                    </a:ext>
                  </a:extLst>
                </p:cNvPr>
                <p:cNvSpPr txBox="1"/>
                <p:nvPr/>
              </p:nvSpPr>
              <p:spPr>
                <a:xfrm>
                  <a:off x="9977148" y="6208991"/>
                  <a:ext cx="104898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−−</m:t>
                            </m:r>
                          </m:sup>
                        </m:s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8F0C59E9-EA50-D24C-057B-68AFBED696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7148" y="6208991"/>
                  <a:ext cx="1048980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7831346C-7CD4-AA57-D3D2-D8157B2B4851}"/>
                    </a:ext>
                  </a:extLst>
                </p:cNvPr>
                <p:cNvSpPr txBox="1"/>
                <p:nvPr/>
              </p:nvSpPr>
              <p:spPr>
                <a:xfrm>
                  <a:off x="11940113" y="3557199"/>
                  <a:ext cx="1224202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7831346C-7CD4-AA57-D3D2-D8157B2B48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40113" y="3557199"/>
                  <a:ext cx="1224202" cy="523220"/>
                </a:xfrm>
                <a:prstGeom prst="rect">
                  <a:avLst/>
                </a:prstGeom>
                <a:blipFill>
                  <a:blip r:embed="rId9"/>
                  <a:stretch>
                    <a:fillRect l="-10309" r="-2062" b="-952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5E93FD35-E263-615B-DC5C-BE27B6D7FEBA}"/>
                </a:ext>
              </a:extLst>
            </p:cNvPr>
            <p:cNvSpPr/>
            <p:nvPr/>
          </p:nvSpPr>
          <p:spPr>
            <a:xfrm>
              <a:off x="11245852" y="3060234"/>
              <a:ext cx="521917" cy="4175333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FED460C6-0412-3599-306A-67A0BF1315A9}"/>
                </a:ext>
              </a:extLst>
            </p:cNvPr>
            <p:cNvSpPr/>
            <p:nvPr/>
          </p:nvSpPr>
          <p:spPr>
            <a:xfrm>
              <a:off x="14511445" y="3060234"/>
              <a:ext cx="521917" cy="4175333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テキスト ボックス 47">
                  <a:extLst>
                    <a:ext uri="{FF2B5EF4-FFF2-40B4-BE49-F238E27FC236}">
                      <a16:creationId xmlns:a16="http://schemas.microsoft.com/office/drawing/2014/main" id="{C530F307-E5A4-098A-6688-A3940DB906AE}"/>
                    </a:ext>
                  </a:extLst>
                </p:cNvPr>
                <p:cNvSpPr txBox="1"/>
                <p:nvPr/>
              </p:nvSpPr>
              <p:spPr>
                <a:xfrm>
                  <a:off x="11940113" y="5297546"/>
                  <a:ext cx="1224202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48" name="テキスト ボックス 47">
                  <a:extLst>
                    <a:ext uri="{FF2B5EF4-FFF2-40B4-BE49-F238E27FC236}">
                      <a16:creationId xmlns:a16="http://schemas.microsoft.com/office/drawing/2014/main" id="{C530F307-E5A4-098A-6688-A3940DB906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40113" y="5297546"/>
                  <a:ext cx="1224202" cy="523220"/>
                </a:xfrm>
                <a:prstGeom prst="rect">
                  <a:avLst/>
                </a:prstGeom>
                <a:blipFill>
                  <a:blip r:embed="rId10"/>
                  <a:stretch>
                    <a:fillRect l="-10309" r="-2062" b="-952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右中かっこ 2">
              <a:extLst>
                <a:ext uri="{FF2B5EF4-FFF2-40B4-BE49-F238E27FC236}">
                  <a16:creationId xmlns:a16="http://schemas.microsoft.com/office/drawing/2014/main" id="{698C8E37-E40C-FB1B-7E63-56F02F77ECA5}"/>
                </a:ext>
              </a:extLst>
            </p:cNvPr>
            <p:cNvSpPr/>
            <p:nvPr/>
          </p:nvSpPr>
          <p:spPr>
            <a:xfrm>
              <a:off x="15072086" y="3084002"/>
              <a:ext cx="521919" cy="4175333"/>
            </a:xfrm>
            <a:prstGeom prst="rightBrace">
              <a:avLst>
                <a:gd name="adj1" fmla="val 33333"/>
                <a:gd name="adj2" fmla="val 50429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CBCB5D4F-9748-3B13-2FF5-58165486558D}"/>
                    </a:ext>
                  </a:extLst>
                </p:cNvPr>
                <p:cNvSpPr txBox="1"/>
                <p:nvPr/>
              </p:nvSpPr>
              <p:spPr>
                <a:xfrm>
                  <a:off x="15702585" y="4917795"/>
                  <a:ext cx="489990" cy="53970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obs</m:t>
                            </m:r>
                          </m:sub>
                          <m:sup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b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CBCB5D4F-9748-3B13-2FF5-5816548655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02585" y="4917795"/>
                  <a:ext cx="489990" cy="539700"/>
                </a:xfrm>
                <a:prstGeom prst="rect">
                  <a:avLst/>
                </a:prstGeom>
                <a:blipFill>
                  <a:blip r:embed="rId11"/>
                  <a:stretch>
                    <a:fillRect l="-41026" r="-20513" b="-697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A3A4DC5B-7C03-918D-563C-FB815D425C16}"/>
                    </a:ext>
                  </a:extLst>
                </p:cNvPr>
                <p:cNvSpPr txBox="1"/>
                <p:nvPr/>
              </p:nvSpPr>
              <p:spPr>
                <a:xfrm>
                  <a:off x="11940113" y="4441573"/>
                  <a:ext cx="2312274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800" b="0" i="0" smtClean="0">
                            <a:latin typeface="Cambria Math" panose="02040503050406030204" pitchFamily="18" charset="0"/>
                          </a:rPr>
                          <m:t>(1</m:t>
                        </m:r>
                        <m:r>
                          <a:rPr lang="en-US" altLang="ja-JP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8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A3A4DC5B-7C03-918D-563C-FB815D425C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40113" y="4441573"/>
                  <a:ext cx="2312274" cy="523220"/>
                </a:xfrm>
                <a:prstGeom prst="rect">
                  <a:avLst/>
                </a:prstGeom>
                <a:blipFill>
                  <a:blip r:embed="rId12"/>
                  <a:stretch>
                    <a:fillRect l="-2186" r="-1639" b="-1904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6EFA0000-9A44-F407-788E-EC1E50479C2A}"/>
                    </a:ext>
                  </a:extLst>
                </p:cNvPr>
                <p:cNvSpPr txBox="1"/>
                <p:nvPr/>
              </p:nvSpPr>
              <p:spPr>
                <a:xfrm>
                  <a:off x="11940113" y="6200960"/>
                  <a:ext cx="2312274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800">
                            <a:latin typeface="Cambria Math" panose="02040503050406030204" pitchFamily="18" charset="0"/>
                          </a:rPr>
                          <m:t>(1</m:t>
                        </m:r>
                        <m:r>
                          <a:rPr lang="en-US" altLang="ja-JP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80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6EFA0000-9A44-F407-788E-EC1E50479C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40113" y="6200960"/>
                  <a:ext cx="2312274" cy="523220"/>
                </a:xfrm>
                <a:prstGeom prst="rect">
                  <a:avLst/>
                </a:prstGeom>
                <a:blipFill>
                  <a:blip r:embed="rId13"/>
                  <a:stretch>
                    <a:fillRect l="-2186" r="-1639" b="-1904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4FFA3525-83EF-D5C7-51BC-173723E3EAFB}"/>
                    </a:ext>
                  </a:extLst>
                </p:cNvPr>
                <p:cNvSpPr txBox="1"/>
                <p:nvPr/>
              </p:nvSpPr>
              <p:spPr>
                <a:xfrm>
                  <a:off x="5315824" y="4047204"/>
                  <a:ext cx="42209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oMath>
                    </m:oMathPara>
                  </a14:m>
                  <a:endParaRPr lang="ja-JP" altLang="en-US" sz="2800" i="1"/>
                </a:p>
              </p:txBody>
            </p:sp>
          </mc:Choice>
          <mc:Fallback xmlns="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4FFA3525-83EF-D5C7-51BC-173723E3EA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824" y="4047204"/>
                  <a:ext cx="422090" cy="523220"/>
                </a:xfrm>
                <a:prstGeom prst="rect">
                  <a:avLst/>
                </a:prstGeom>
                <a:blipFill>
                  <a:blip r:embed="rId14"/>
                  <a:stretch>
                    <a:fillRect l="-44118" r="-1470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CBB1D73C-5862-EB3D-2214-6BB62FDDA595}"/>
                    </a:ext>
                  </a:extLst>
                </p:cNvPr>
                <p:cNvSpPr txBox="1"/>
                <p:nvPr/>
              </p:nvSpPr>
              <p:spPr>
                <a:xfrm>
                  <a:off x="5321530" y="5713848"/>
                  <a:ext cx="42209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ja-JP" altLang="en-US" sz="280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oMath>
                    </m:oMathPara>
                  </a14:m>
                  <a:endParaRPr lang="ja-JP" altLang="en-US" sz="2800" i="1"/>
                </a:p>
              </p:txBody>
            </p:sp>
          </mc:Choice>
          <mc:Fallback xmlns="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CBB1D73C-5862-EB3D-2214-6BB62FDDA5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1530" y="5713848"/>
                  <a:ext cx="422090" cy="523220"/>
                </a:xfrm>
                <a:prstGeom prst="rect">
                  <a:avLst/>
                </a:prstGeom>
                <a:blipFill>
                  <a:blip r:embed="rId15"/>
                  <a:stretch>
                    <a:fillRect l="-44118" r="-588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347891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8F55A-DABB-589F-E6E6-488019CF7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4F783360-4EA7-D728-0FF3-99107EF31A0D}"/>
              </a:ext>
            </a:extLst>
          </p:cNvPr>
          <p:cNvGrpSpPr/>
          <p:nvPr/>
        </p:nvGrpSpPr>
        <p:grpSpPr>
          <a:xfrm>
            <a:off x="5315824" y="3060234"/>
            <a:ext cx="10876751" cy="5741288"/>
            <a:chOff x="5315824" y="3060234"/>
            <a:chExt cx="10876751" cy="5741288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FA5C5648-18D5-1F54-20F4-4E106E31ED90}"/>
                </a:ext>
              </a:extLst>
            </p:cNvPr>
            <p:cNvSpPr/>
            <p:nvPr/>
          </p:nvSpPr>
          <p:spPr>
            <a:xfrm>
              <a:off x="5977952" y="3060234"/>
              <a:ext cx="521917" cy="4175333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4F52E3A3-D2F2-D1DC-B96E-746332FD502E}"/>
                </a:ext>
              </a:extLst>
            </p:cNvPr>
            <p:cNvCxnSpPr>
              <a:cxnSpLocks/>
            </p:cNvCxnSpPr>
            <p:nvPr/>
          </p:nvCxnSpPr>
          <p:spPr>
            <a:xfrm>
              <a:off x="5808663" y="5988984"/>
              <a:ext cx="3409200" cy="0"/>
            </a:xfrm>
            <a:prstGeom prst="straightConnector1">
              <a:avLst/>
            </a:prstGeom>
            <a:ln w="28575">
              <a:solidFill>
                <a:srgbClr val="0404FF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C323B31B-4255-1815-6B58-6F3A1115DF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8663" y="4306816"/>
              <a:ext cx="3412447" cy="21146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E6E0EC38-17F0-78FE-4A79-C24127C239A3}"/>
                </a:ext>
              </a:extLst>
            </p:cNvPr>
            <p:cNvSpPr txBox="1"/>
            <p:nvPr/>
          </p:nvSpPr>
          <p:spPr>
            <a:xfrm>
              <a:off x="5486944" y="7409774"/>
              <a:ext cx="1503938" cy="13880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>
                  <a:latin typeface="Helvetica" pitchFamily="2" charset="0"/>
                </a:rPr>
                <a:t>Polarizer</a:t>
              </a:r>
              <a:br>
                <a:rPr lang="en-US" altLang="ja-JP" sz="2610" dirty="0">
                  <a:latin typeface="Helvetica" pitchFamily="2" charset="0"/>
                </a:rPr>
              </a:br>
              <a:r>
                <a:rPr lang="en-US" altLang="ja-JP" sz="2610" dirty="0">
                  <a:latin typeface="Helvetica" pitchFamily="2" charset="0"/>
                </a:rPr>
                <a:t>Heusler</a:t>
              </a:r>
              <a:br>
                <a:rPr lang="en-US" altLang="ja-JP" sz="2610" dirty="0">
                  <a:latin typeface="Helvetica" pitchFamily="2" charset="0"/>
                </a:rPr>
              </a:br>
              <a:r>
                <a:rPr lang="en-US" altLang="ja-JP" sz="3200" dirty="0">
                  <a:latin typeface="Helvetica" pitchFamily="2" charset="0"/>
                </a:rPr>
                <a:t>+</a:t>
              </a:r>
              <a:endParaRPr lang="ja-JP" altLang="en-US" sz="3200">
                <a:latin typeface="Helvetica" pitchFamily="2" charset="0"/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6BAC5AC0-6D02-CA2B-5588-51EA4BF3C830}"/>
                </a:ext>
              </a:extLst>
            </p:cNvPr>
            <p:cNvSpPr txBox="1"/>
            <p:nvPr/>
          </p:nvSpPr>
          <p:spPr>
            <a:xfrm>
              <a:off x="10280624" y="7413450"/>
              <a:ext cx="2595582" cy="13880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>
                  <a:latin typeface="Helvetica" pitchFamily="2" charset="0"/>
                </a:rPr>
                <a:t>Analyzer</a:t>
              </a:r>
              <a:br>
                <a:rPr lang="en-US" altLang="ja-JP" sz="2610" dirty="0">
                  <a:latin typeface="Helvetica" pitchFamily="2" charset="0"/>
                </a:rPr>
              </a:br>
              <a:r>
                <a:rPr lang="en-US" altLang="ja-JP" sz="2610" i="1" dirty="0">
                  <a:latin typeface="Helvetica" pitchFamily="2" charset="0"/>
                </a:rPr>
                <a:t>ex-situ</a:t>
              </a:r>
              <a:r>
                <a:rPr lang="en-US" altLang="ja-JP" sz="2610" dirty="0">
                  <a:latin typeface="Helvetica" pitchFamily="2" charset="0"/>
                </a:rPr>
                <a:t> </a:t>
              </a:r>
              <a:r>
                <a:rPr lang="en-US" altLang="ja-JP" sz="2610" baseline="30000" dirty="0">
                  <a:latin typeface="Helvetica" pitchFamily="2" charset="0"/>
                </a:rPr>
                <a:t>3</a:t>
              </a:r>
              <a:r>
                <a:rPr lang="en-US" altLang="ja-JP" sz="2610" dirty="0">
                  <a:latin typeface="Helvetica" pitchFamily="2" charset="0"/>
                </a:rPr>
                <a:t>He-NSF</a:t>
              </a:r>
              <a:br>
                <a:rPr lang="en-US" altLang="ja-JP" sz="2610" dirty="0">
                  <a:latin typeface="Helvetica" pitchFamily="2" charset="0"/>
                </a:rPr>
              </a:br>
              <a:r>
                <a:rPr lang="en-US" altLang="ja-JP" sz="3200" dirty="0">
                  <a:latin typeface="Helvetica" pitchFamily="2" charset="0"/>
                </a:rPr>
                <a:t>+</a:t>
              </a:r>
              <a:endParaRPr lang="ja-JP" altLang="en-US" sz="3200">
                <a:latin typeface="Helvetica" pitchFamily="2" charset="0"/>
              </a:endParaRPr>
            </a:p>
          </p:txBody>
        </p: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7ED0B434-AD5F-4BE9-F66C-3858E574F018}"/>
                </a:ext>
              </a:extLst>
            </p:cNvPr>
            <p:cNvCxnSpPr>
              <a:cxnSpLocks/>
            </p:cNvCxnSpPr>
            <p:nvPr/>
          </p:nvCxnSpPr>
          <p:spPr>
            <a:xfrm>
              <a:off x="9780179" y="3835667"/>
              <a:ext cx="4697256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06C99FBF-22B5-036D-FB48-A60CA7DBBA02}"/>
                </a:ext>
              </a:extLst>
            </p:cNvPr>
            <p:cNvCxnSpPr>
              <a:cxnSpLocks/>
            </p:cNvCxnSpPr>
            <p:nvPr/>
          </p:nvCxnSpPr>
          <p:spPr>
            <a:xfrm>
              <a:off x="9780179" y="4710488"/>
              <a:ext cx="4697256" cy="0"/>
            </a:xfrm>
            <a:prstGeom prst="straightConnector1">
              <a:avLst/>
            </a:prstGeom>
            <a:ln w="28575">
              <a:solidFill>
                <a:srgbClr val="0404FF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23F88598-CABB-2AB1-9638-98D8E7D0AE17}"/>
                </a:ext>
              </a:extLst>
            </p:cNvPr>
            <p:cNvCxnSpPr>
              <a:cxnSpLocks/>
            </p:cNvCxnSpPr>
            <p:nvPr/>
          </p:nvCxnSpPr>
          <p:spPr>
            <a:xfrm>
              <a:off x="9760377" y="5585309"/>
              <a:ext cx="4697256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E4AE6348-5545-FE6F-9E73-AFC630994374}"/>
                </a:ext>
              </a:extLst>
            </p:cNvPr>
            <p:cNvCxnSpPr>
              <a:cxnSpLocks/>
            </p:cNvCxnSpPr>
            <p:nvPr/>
          </p:nvCxnSpPr>
          <p:spPr>
            <a:xfrm>
              <a:off x="9760377" y="6460130"/>
              <a:ext cx="4697256" cy="0"/>
            </a:xfrm>
            <a:prstGeom prst="straightConnector1">
              <a:avLst/>
            </a:prstGeom>
            <a:ln w="28575">
              <a:solidFill>
                <a:srgbClr val="0404FF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43E8648F-5B0F-B712-AD3F-12DCBC27641C}"/>
                </a:ext>
              </a:extLst>
            </p:cNvPr>
            <p:cNvSpPr txBox="1"/>
            <p:nvPr/>
          </p:nvSpPr>
          <p:spPr>
            <a:xfrm>
              <a:off x="8840581" y="7413450"/>
              <a:ext cx="1317990" cy="493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>
                  <a:latin typeface="Helvetica" pitchFamily="2" charset="0"/>
                </a:rPr>
                <a:t>Sample</a:t>
              </a:r>
              <a:endParaRPr lang="ja-JP" altLang="en-US" sz="2610">
                <a:latin typeface="Helvetica" pitchFamily="2" charset="0"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819BDCA7-AD6B-72E3-8EDF-974C93835D24}"/>
                </a:ext>
              </a:extLst>
            </p:cNvPr>
            <p:cNvSpPr txBox="1"/>
            <p:nvPr/>
          </p:nvSpPr>
          <p:spPr>
            <a:xfrm>
              <a:off x="14046883" y="7413450"/>
              <a:ext cx="1451040" cy="493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>
                  <a:latin typeface="Helvetica" pitchFamily="2" charset="0"/>
                </a:rPr>
                <a:t>Detector</a:t>
              </a:r>
              <a:endParaRPr lang="ja-JP" altLang="en-US" sz="2610">
                <a:latin typeface="Helvetica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988B1FE1-1DA1-EF5A-3EEE-7CC87E1793CC}"/>
                    </a:ext>
                  </a:extLst>
                </p:cNvPr>
                <p:cNvSpPr txBox="1"/>
                <p:nvPr/>
              </p:nvSpPr>
              <p:spPr>
                <a:xfrm>
                  <a:off x="6666511" y="4039093"/>
                  <a:ext cx="1202590" cy="56156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ja-JP" altLang="en-US" sz="2800" i="1"/>
                </a:p>
              </p:txBody>
            </p:sp>
          </mc:Choice>
          <mc:Fallback xmlns="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988B1FE1-1DA1-EF5A-3EEE-7CC87E1793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6511" y="4039093"/>
                  <a:ext cx="1202590" cy="561564"/>
                </a:xfrm>
                <a:prstGeom prst="rect">
                  <a:avLst/>
                </a:prstGeom>
                <a:blipFill>
                  <a:blip r:embed="rId3"/>
                  <a:stretch>
                    <a:fillRect l="-9474" b="-666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365D6EF9-E496-3CD0-E5E5-5E8716E5A987}"/>
                    </a:ext>
                  </a:extLst>
                </p:cNvPr>
                <p:cNvSpPr txBox="1"/>
                <p:nvPr/>
              </p:nvSpPr>
              <p:spPr>
                <a:xfrm>
                  <a:off x="6666511" y="5705737"/>
                  <a:ext cx="2311287" cy="56156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365D6EF9-E496-3CD0-E5E5-5E8716E5A9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6511" y="5705737"/>
                  <a:ext cx="2311287" cy="561564"/>
                </a:xfrm>
                <a:prstGeom prst="rect">
                  <a:avLst/>
                </a:prstGeom>
                <a:blipFill>
                  <a:blip r:embed="rId4"/>
                  <a:stretch>
                    <a:fillRect l="-1093" b="-1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A06FAA0A-A134-1C6F-F83F-13C761237387}"/>
                </a:ext>
              </a:extLst>
            </p:cNvPr>
            <p:cNvGrpSpPr/>
            <p:nvPr/>
          </p:nvGrpSpPr>
          <p:grpSpPr>
            <a:xfrm>
              <a:off x="9226615" y="3060234"/>
              <a:ext cx="533916" cy="4175333"/>
              <a:chOff x="4287796" y="1755252"/>
              <a:chExt cx="368276" cy="2880000"/>
            </a:xfrm>
          </p:grpSpPr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1BBB6B81-F8E8-85EB-3E73-243533EB4A7E}"/>
                  </a:ext>
                </a:extLst>
              </p:cNvPr>
              <p:cNvSpPr/>
              <p:nvPr/>
            </p:nvSpPr>
            <p:spPr>
              <a:xfrm>
                <a:off x="4287796" y="1755252"/>
                <a:ext cx="360000" cy="2880000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29" name="直線矢印コネクタ 28">
                <a:extLst>
                  <a:ext uri="{FF2B5EF4-FFF2-40B4-BE49-F238E27FC236}">
                    <a16:creationId xmlns:a16="http://schemas.microsoft.com/office/drawing/2014/main" id="{B2EC30B2-30E4-084B-3584-493F5ACC605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87802" y="2290119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矢印コネクタ 30">
                <a:extLst>
                  <a:ext uri="{FF2B5EF4-FFF2-40B4-BE49-F238E27FC236}">
                    <a16:creationId xmlns:a16="http://schemas.microsoft.com/office/drawing/2014/main" id="{0EE9327A-0E49-EF70-ECDB-D5BA38F10E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3079" y="2608921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線矢印コネクタ 31">
                <a:extLst>
                  <a:ext uri="{FF2B5EF4-FFF2-40B4-BE49-F238E27FC236}">
                    <a16:creationId xmlns:a16="http://schemas.microsoft.com/office/drawing/2014/main" id="{57988F22-5E8D-FFC9-7A56-5B4D9233CD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90801" y="3468037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線矢印コネクタ 32">
                <a:extLst>
                  <a:ext uri="{FF2B5EF4-FFF2-40B4-BE49-F238E27FC236}">
                    <a16:creationId xmlns:a16="http://schemas.microsoft.com/office/drawing/2014/main" id="{8DACD938-5C64-2A35-0817-4CEDCFE63B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6078" y="3786839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6172F6BF-6CE5-ACEF-A937-F01A1B83E6B0}"/>
                    </a:ext>
                  </a:extLst>
                </p:cNvPr>
                <p:cNvSpPr txBox="1"/>
                <p:nvPr/>
              </p:nvSpPr>
              <p:spPr>
                <a:xfrm>
                  <a:off x="9985655" y="3567946"/>
                  <a:ext cx="104898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6172F6BF-6CE5-ACEF-A937-F01A1B83E6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85655" y="3567946"/>
                  <a:ext cx="1048980" cy="523220"/>
                </a:xfrm>
                <a:prstGeom prst="rect">
                  <a:avLst/>
                </a:prstGeom>
                <a:blipFill>
                  <a:blip r:embed="rId5"/>
                  <a:stretch>
                    <a:fillRect l="-120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67ADBD95-91AF-3B42-6752-F6B6460A7564}"/>
                    </a:ext>
                  </a:extLst>
                </p:cNvPr>
                <p:cNvSpPr txBox="1"/>
                <p:nvPr/>
              </p:nvSpPr>
              <p:spPr>
                <a:xfrm>
                  <a:off x="9977148" y="4437226"/>
                  <a:ext cx="104898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+−</m:t>
                            </m:r>
                          </m:sup>
                        </m:s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67ADBD95-91AF-3B42-6752-F6B6460A75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7148" y="4437226"/>
                  <a:ext cx="1048980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B8C8EF7B-97B3-F4A8-F587-03694440A393}"/>
                    </a:ext>
                  </a:extLst>
                </p:cNvPr>
                <p:cNvSpPr txBox="1"/>
                <p:nvPr/>
              </p:nvSpPr>
              <p:spPr>
                <a:xfrm>
                  <a:off x="9977148" y="5306505"/>
                  <a:ext cx="104898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−+</m:t>
                            </m:r>
                          </m:sup>
                        </m:s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B8C8EF7B-97B3-F4A8-F587-03694440A3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7148" y="5306505"/>
                  <a:ext cx="1048980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4C51A85C-4533-4C18-3B36-5680E3CC2AB3}"/>
                    </a:ext>
                  </a:extLst>
                </p:cNvPr>
                <p:cNvSpPr txBox="1"/>
                <p:nvPr/>
              </p:nvSpPr>
              <p:spPr>
                <a:xfrm>
                  <a:off x="9977148" y="6208991"/>
                  <a:ext cx="104898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−−</m:t>
                            </m:r>
                          </m:sup>
                        </m:s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4C51A85C-4533-4C18-3B36-5680E3CC2A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7148" y="6208991"/>
                  <a:ext cx="1048980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9548FCCD-0ADD-8511-D46B-C5C8945F79BC}"/>
                    </a:ext>
                  </a:extLst>
                </p:cNvPr>
                <p:cNvSpPr txBox="1"/>
                <p:nvPr/>
              </p:nvSpPr>
              <p:spPr>
                <a:xfrm>
                  <a:off x="11940113" y="3557199"/>
                  <a:ext cx="1224202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9548FCCD-0ADD-8511-D46B-C5C8945F79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40113" y="3557199"/>
                  <a:ext cx="1224202" cy="523220"/>
                </a:xfrm>
                <a:prstGeom prst="rect">
                  <a:avLst/>
                </a:prstGeom>
                <a:blipFill>
                  <a:blip r:embed="rId9"/>
                  <a:stretch>
                    <a:fillRect l="-8247" b="-952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1B4455EF-2A12-839B-6409-D10578B5A169}"/>
                </a:ext>
              </a:extLst>
            </p:cNvPr>
            <p:cNvSpPr/>
            <p:nvPr/>
          </p:nvSpPr>
          <p:spPr>
            <a:xfrm>
              <a:off x="11245852" y="3060234"/>
              <a:ext cx="521917" cy="4175333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615413FC-089B-9455-746F-DBF2CBE28104}"/>
                </a:ext>
              </a:extLst>
            </p:cNvPr>
            <p:cNvSpPr/>
            <p:nvPr/>
          </p:nvSpPr>
          <p:spPr>
            <a:xfrm>
              <a:off x="14511445" y="3060234"/>
              <a:ext cx="521917" cy="4175333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テキスト ボックス 47">
                  <a:extLst>
                    <a:ext uri="{FF2B5EF4-FFF2-40B4-BE49-F238E27FC236}">
                      <a16:creationId xmlns:a16="http://schemas.microsoft.com/office/drawing/2014/main" id="{660A4236-C4DD-3400-1499-BE0B6E5983FD}"/>
                    </a:ext>
                  </a:extLst>
                </p:cNvPr>
                <p:cNvSpPr txBox="1"/>
                <p:nvPr/>
              </p:nvSpPr>
              <p:spPr>
                <a:xfrm>
                  <a:off x="11940113" y="5297546"/>
                  <a:ext cx="1224202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48" name="テキスト ボックス 47">
                  <a:extLst>
                    <a:ext uri="{FF2B5EF4-FFF2-40B4-BE49-F238E27FC236}">
                      <a16:creationId xmlns:a16="http://schemas.microsoft.com/office/drawing/2014/main" id="{660A4236-C4DD-3400-1499-BE0B6E5983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40113" y="5297546"/>
                  <a:ext cx="1224202" cy="523220"/>
                </a:xfrm>
                <a:prstGeom prst="rect">
                  <a:avLst/>
                </a:prstGeom>
                <a:blipFill>
                  <a:blip r:embed="rId10"/>
                  <a:stretch>
                    <a:fillRect l="-8247" b="-952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右中かっこ 2">
              <a:extLst>
                <a:ext uri="{FF2B5EF4-FFF2-40B4-BE49-F238E27FC236}">
                  <a16:creationId xmlns:a16="http://schemas.microsoft.com/office/drawing/2014/main" id="{5E5984BB-DC11-F3DB-B043-CD35F3A36CA7}"/>
                </a:ext>
              </a:extLst>
            </p:cNvPr>
            <p:cNvSpPr/>
            <p:nvPr/>
          </p:nvSpPr>
          <p:spPr>
            <a:xfrm>
              <a:off x="15072086" y="3084002"/>
              <a:ext cx="521919" cy="4175333"/>
            </a:xfrm>
            <a:prstGeom prst="rightBrace">
              <a:avLst>
                <a:gd name="adj1" fmla="val 33333"/>
                <a:gd name="adj2" fmla="val 50429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78C9890E-D31B-3864-BD2E-30EB701116C6}"/>
                    </a:ext>
                  </a:extLst>
                </p:cNvPr>
                <p:cNvSpPr txBox="1"/>
                <p:nvPr/>
              </p:nvSpPr>
              <p:spPr>
                <a:xfrm>
                  <a:off x="15702585" y="4917795"/>
                  <a:ext cx="489990" cy="53970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obs</m:t>
                            </m:r>
                          </m:sub>
                          <m:sup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b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78C9890E-D31B-3864-BD2E-30EB701116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02585" y="4917795"/>
                  <a:ext cx="489990" cy="539700"/>
                </a:xfrm>
                <a:prstGeom prst="rect">
                  <a:avLst/>
                </a:prstGeom>
                <a:blipFill>
                  <a:blip r:embed="rId11"/>
                  <a:stretch>
                    <a:fillRect l="-41026" r="-20513" b="-697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E032D1ED-1BFD-6779-0938-1AC56C695A41}"/>
                    </a:ext>
                  </a:extLst>
                </p:cNvPr>
                <p:cNvSpPr txBox="1"/>
                <p:nvPr/>
              </p:nvSpPr>
              <p:spPr>
                <a:xfrm>
                  <a:off x="11940113" y="4441573"/>
                  <a:ext cx="2312274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800" b="0" i="0" smtClean="0">
                            <a:latin typeface="Cambria Math" panose="02040503050406030204" pitchFamily="18" charset="0"/>
                          </a:rPr>
                          <m:t>(1</m:t>
                        </m:r>
                        <m:r>
                          <a:rPr lang="en-US" altLang="ja-JP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8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E032D1ED-1BFD-6779-0938-1AC56C695A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40113" y="4441573"/>
                  <a:ext cx="2312274" cy="523220"/>
                </a:xfrm>
                <a:prstGeom prst="rect">
                  <a:avLst/>
                </a:prstGeom>
                <a:blipFill>
                  <a:blip r:embed="rId12"/>
                  <a:stretch>
                    <a:fillRect l="-1093" r="-546" b="-1904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3661B86-F16F-5307-A17F-9FBDB15A628A}"/>
                    </a:ext>
                  </a:extLst>
                </p:cNvPr>
                <p:cNvSpPr txBox="1"/>
                <p:nvPr/>
              </p:nvSpPr>
              <p:spPr>
                <a:xfrm>
                  <a:off x="11940113" y="6200960"/>
                  <a:ext cx="2312274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800">
                            <a:latin typeface="Cambria Math" panose="02040503050406030204" pitchFamily="18" charset="0"/>
                          </a:rPr>
                          <m:t>(1</m:t>
                        </m:r>
                        <m:r>
                          <a:rPr lang="en-US" altLang="ja-JP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80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3661B86-F16F-5307-A17F-9FBDB15A62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40113" y="6200960"/>
                  <a:ext cx="2312274" cy="523220"/>
                </a:xfrm>
                <a:prstGeom prst="rect">
                  <a:avLst/>
                </a:prstGeom>
                <a:blipFill>
                  <a:blip r:embed="rId13"/>
                  <a:stretch>
                    <a:fillRect l="-1093" r="-546" b="-1904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2AD056C3-3F96-B40F-9F71-7C7C550E1411}"/>
                    </a:ext>
                  </a:extLst>
                </p:cNvPr>
                <p:cNvSpPr txBox="1"/>
                <p:nvPr/>
              </p:nvSpPr>
              <p:spPr>
                <a:xfrm>
                  <a:off x="5315824" y="4047204"/>
                  <a:ext cx="42209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oMath>
                    </m:oMathPara>
                  </a14:m>
                  <a:endParaRPr lang="ja-JP" altLang="en-US" sz="2800" i="1"/>
                </a:p>
              </p:txBody>
            </p:sp>
          </mc:Choice>
          <mc:Fallback xmlns="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2AD056C3-3F96-B40F-9F71-7C7C550E14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824" y="4047204"/>
                  <a:ext cx="422090" cy="523220"/>
                </a:xfrm>
                <a:prstGeom prst="rect">
                  <a:avLst/>
                </a:prstGeom>
                <a:blipFill>
                  <a:blip r:embed="rId14"/>
                  <a:stretch>
                    <a:fillRect l="-44118" r="-1470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D58C56F4-05CB-54C5-7684-5EBF0E9EB66E}"/>
                    </a:ext>
                  </a:extLst>
                </p:cNvPr>
                <p:cNvSpPr txBox="1"/>
                <p:nvPr/>
              </p:nvSpPr>
              <p:spPr>
                <a:xfrm>
                  <a:off x="5321530" y="5713848"/>
                  <a:ext cx="42209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ja-JP" altLang="en-US" sz="280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oMath>
                    </m:oMathPara>
                  </a14:m>
                  <a:endParaRPr lang="ja-JP" altLang="en-US" sz="2800" i="1"/>
                </a:p>
              </p:txBody>
            </p:sp>
          </mc:Choice>
          <mc:Fallback xmlns="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D58C56F4-05CB-54C5-7684-5EBF0E9EB6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1530" y="5713848"/>
                  <a:ext cx="422090" cy="523220"/>
                </a:xfrm>
                <a:prstGeom prst="rect">
                  <a:avLst/>
                </a:prstGeom>
                <a:blipFill>
                  <a:blip r:embed="rId15"/>
                  <a:stretch>
                    <a:fillRect l="-44118" r="-588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107406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E4599-E0EE-0C0F-2DE0-B5BB61FED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07FC898-78EB-9AA2-B3E0-AA4B0C45CC1F}"/>
              </a:ext>
            </a:extLst>
          </p:cNvPr>
          <p:cNvSpPr/>
          <p:nvPr/>
        </p:nvSpPr>
        <p:spPr>
          <a:xfrm>
            <a:off x="6181152" y="3060234"/>
            <a:ext cx="521917" cy="417533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04EACC29-DB10-A8E5-F583-CC33E499A147}"/>
              </a:ext>
            </a:extLst>
          </p:cNvPr>
          <p:cNvCxnSpPr>
            <a:cxnSpLocks/>
          </p:cNvCxnSpPr>
          <p:nvPr/>
        </p:nvCxnSpPr>
        <p:spPr>
          <a:xfrm>
            <a:off x="5808663" y="5988984"/>
            <a:ext cx="3409200" cy="0"/>
          </a:xfrm>
          <a:prstGeom prst="straightConnector1">
            <a:avLst/>
          </a:prstGeom>
          <a:ln w="28575">
            <a:solidFill>
              <a:srgbClr val="0404FF"/>
            </a:solidFill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6B0817E7-E688-E519-D7BA-5F2985F2FE1F}"/>
              </a:ext>
            </a:extLst>
          </p:cNvPr>
          <p:cNvCxnSpPr>
            <a:cxnSpLocks/>
          </p:cNvCxnSpPr>
          <p:nvPr/>
        </p:nvCxnSpPr>
        <p:spPr>
          <a:xfrm flipV="1">
            <a:off x="5808663" y="4306816"/>
            <a:ext cx="3412447" cy="21146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7DCDE6E-B8AA-A0FF-8492-F89F9D6C50C6}"/>
              </a:ext>
            </a:extLst>
          </p:cNvPr>
          <p:cNvSpPr txBox="1"/>
          <p:nvPr/>
        </p:nvSpPr>
        <p:spPr>
          <a:xfrm>
            <a:off x="5690144" y="7409774"/>
            <a:ext cx="1503938" cy="1388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610" dirty="0">
                <a:latin typeface="Helvetica" pitchFamily="2" charset="0"/>
              </a:rPr>
              <a:t>Polarizer</a:t>
            </a:r>
            <a:br>
              <a:rPr lang="en-US" altLang="ja-JP" sz="2610" dirty="0">
                <a:latin typeface="Helvetica" pitchFamily="2" charset="0"/>
              </a:rPr>
            </a:br>
            <a:r>
              <a:rPr lang="en-US" altLang="ja-JP" sz="2610" dirty="0">
                <a:latin typeface="Helvetica" pitchFamily="2" charset="0"/>
              </a:rPr>
              <a:t>Heusler</a:t>
            </a:r>
            <a:br>
              <a:rPr lang="en-US" altLang="ja-JP" sz="2610" dirty="0">
                <a:latin typeface="Helvetica" pitchFamily="2" charset="0"/>
              </a:rPr>
            </a:br>
            <a:r>
              <a:rPr lang="en-US" altLang="ja-JP" sz="3200" dirty="0">
                <a:latin typeface="Helvetica" pitchFamily="2" charset="0"/>
              </a:rPr>
              <a:t>+</a:t>
            </a:r>
            <a:endParaRPr lang="ja-JP" altLang="en-US" sz="3200">
              <a:latin typeface="Helvetica" pitchFamily="2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E5048A7-48C5-6107-4D0B-5D2786DACF3F}"/>
              </a:ext>
            </a:extLst>
          </p:cNvPr>
          <p:cNvSpPr txBox="1"/>
          <p:nvPr/>
        </p:nvSpPr>
        <p:spPr>
          <a:xfrm>
            <a:off x="10500754" y="7413450"/>
            <a:ext cx="2595582" cy="1388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610" dirty="0">
                <a:latin typeface="Helvetica" pitchFamily="2" charset="0"/>
              </a:rPr>
              <a:t>Analyzer</a:t>
            </a:r>
            <a:br>
              <a:rPr lang="en-US" altLang="ja-JP" sz="2610" dirty="0">
                <a:latin typeface="Helvetica" pitchFamily="2" charset="0"/>
              </a:rPr>
            </a:br>
            <a:r>
              <a:rPr lang="en-US" altLang="ja-JP" sz="2610" i="1" dirty="0">
                <a:latin typeface="Helvetica" pitchFamily="2" charset="0"/>
              </a:rPr>
              <a:t>ex-situ</a:t>
            </a:r>
            <a:r>
              <a:rPr lang="en-US" altLang="ja-JP" sz="2610" dirty="0">
                <a:latin typeface="Helvetica" pitchFamily="2" charset="0"/>
              </a:rPr>
              <a:t> </a:t>
            </a:r>
            <a:r>
              <a:rPr lang="en-US" altLang="ja-JP" sz="2610" baseline="30000" dirty="0">
                <a:latin typeface="Helvetica" pitchFamily="2" charset="0"/>
              </a:rPr>
              <a:t>3</a:t>
            </a:r>
            <a:r>
              <a:rPr lang="en-US" altLang="ja-JP" sz="2610" dirty="0">
                <a:latin typeface="Helvetica" pitchFamily="2" charset="0"/>
              </a:rPr>
              <a:t>He-NSF</a:t>
            </a:r>
            <a:br>
              <a:rPr lang="en-US" altLang="ja-JP" sz="2610" dirty="0">
                <a:latin typeface="Helvetica" pitchFamily="2" charset="0"/>
              </a:rPr>
            </a:br>
            <a:r>
              <a:rPr lang="en-US" altLang="ja-JP" sz="3200" dirty="0">
                <a:latin typeface="Helvetica" pitchFamily="2" charset="0"/>
              </a:rPr>
              <a:t>+</a:t>
            </a:r>
            <a:endParaRPr lang="ja-JP" altLang="en-US" sz="3200">
              <a:latin typeface="Helvetica" pitchFamily="2" charset="0"/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3430B4D3-B965-E18B-F210-94502F59D738}"/>
              </a:ext>
            </a:extLst>
          </p:cNvPr>
          <p:cNvCxnSpPr>
            <a:cxnSpLocks/>
          </p:cNvCxnSpPr>
          <p:nvPr/>
        </p:nvCxnSpPr>
        <p:spPr>
          <a:xfrm>
            <a:off x="9780179" y="3835667"/>
            <a:ext cx="4697256" cy="0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A00A19DB-53E8-C7C8-D7F0-428DA40BD0F4}"/>
              </a:ext>
            </a:extLst>
          </p:cNvPr>
          <p:cNvCxnSpPr>
            <a:cxnSpLocks/>
          </p:cNvCxnSpPr>
          <p:nvPr/>
        </p:nvCxnSpPr>
        <p:spPr>
          <a:xfrm>
            <a:off x="9780179" y="4710488"/>
            <a:ext cx="4697256" cy="0"/>
          </a:xfrm>
          <a:prstGeom prst="straightConnector1">
            <a:avLst/>
          </a:prstGeom>
          <a:ln w="28575">
            <a:solidFill>
              <a:srgbClr val="0404FF"/>
            </a:solidFill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BE5B622A-6842-9CE4-266E-73155568FA96}"/>
              </a:ext>
            </a:extLst>
          </p:cNvPr>
          <p:cNvCxnSpPr>
            <a:cxnSpLocks/>
          </p:cNvCxnSpPr>
          <p:nvPr/>
        </p:nvCxnSpPr>
        <p:spPr>
          <a:xfrm>
            <a:off x="9760377" y="5585309"/>
            <a:ext cx="4697256" cy="0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9E4AB5BA-A47C-2202-CE08-14ADED80BB47}"/>
              </a:ext>
            </a:extLst>
          </p:cNvPr>
          <p:cNvCxnSpPr>
            <a:cxnSpLocks/>
          </p:cNvCxnSpPr>
          <p:nvPr/>
        </p:nvCxnSpPr>
        <p:spPr>
          <a:xfrm>
            <a:off x="9760377" y="6460130"/>
            <a:ext cx="4697256" cy="0"/>
          </a:xfrm>
          <a:prstGeom prst="straightConnector1">
            <a:avLst/>
          </a:prstGeom>
          <a:ln w="28575">
            <a:solidFill>
              <a:srgbClr val="0404FF"/>
            </a:solidFill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085B947-7C27-8876-68E9-CADADA8BEA4E}"/>
              </a:ext>
            </a:extLst>
          </p:cNvPr>
          <p:cNvSpPr txBox="1"/>
          <p:nvPr/>
        </p:nvSpPr>
        <p:spPr>
          <a:xfrm>
            <a:off x="8840581" y="7413450"/>
            <a:ext cx="1317990" cy="493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610" dirty="0">
                <a:latin typeface="Helvetica" pitchFamily="2" charset="0"/>
              </a:rPr>
              <a:t>Sample</a:t>
            </a:r>
            <a:endParaRPr lang="ja-JP" altLang="en-US" sz="2610">
              <a:latin typeface="Helvetica" pitchFamily="2" charset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76C8E9E-BB1E-2153-3EB7-158F73D7FA72}"/>
              </a:ext>
            </a:extLst>
          </p:cNvPr>
          <p:cNvSpPr txBox="1"/>
          <p:nvPr/>
        </p:nvSpPr>
        <p:spPr>
          <a:xfrm>
            <a:off x="14046883" y="7413450"/>
            <a:ext cx="1451040" cy="493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610" dirty="0">
                <a:latin typeface="Helvetica" pitchFamily="2" charset="0"/>
              </a:rPr>
              <a:t>Detector</a:t>
            </a:r>
            <a:endParaRPr lang="ja-JP" altLang="en-US" sz="2610">
              <a:latin typeface="Helvetica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A90EF34B-F172-C6C9-ED44-0C4C066B9A0E}"/>
                  </a:ext>
                </a:extLst>
              </p:cNvPr>
              <p:cNvSpPr txBox="1"/>
              <p:nvPr/>
            </p:nvSpPr>
            <p:spPr>
              <a:xfrm>
                <a:off x="6891531" y="4039093"/>
                <a:ext cx="2083827" cy="55643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ja-JP" sz="2800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ja-JP" sz="2800" b="0" i="1" smtClean="0">
                          <a:latin typeface="Cambria Math" panose="02040503050406030204" pitchFamily="18" charset="0"/>
                        </a:rPr>
                        <m:t>(1+</m:t>
                      </m:r>
                      <m:sSub>
                        <m:sSub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ja-JP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2800"/>
              </a:p>
            </p:txBody>
          </p:sp>
        </mc:Choice>
        <mc:Fallback xmlns="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A90EF34B-F172-C6C9-ED44-0C4C066B9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1531" y="4039093"/>
                <a:ext cx="2083827" cy="556434"/>
              </a:xfrm>
              <a:prstGeom prst="rect">
                <a:avLst/>
              </a:prstGeom>
              <a:blipFill>
                <a:blip r:embed="rId3"/>
                <a:stretch>
                  <a:fillRect l="-606" r="-606" b="-1363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6540DE1B-A5DE-85DA-DA35-D3C5B168D828}"/>
                  </a:ext>
                </a:extLst>
              </p:cNvPr>
              <p:cNvSpPr txBox="1"/>
              <p:nvPr/>
            </p:nvSpPr>
            <p:spPr>
              <a:xfrm>
                <a:off x="6745933" y="5705737"/>
                <a:ext cx="2303635" cy="55643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ja-JP" sz="2800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ja-JP" sz="2800" i="1"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ja-JP" sz="2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2800"/>
              </a:p>
            </p:txBody>
          </p:sp>
        </mc:Choice>
        <mc:Fallback xmlns="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6540DE1B-A5DE-85DA-DA35-D3C5B168D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933" y="5705737"/>
                <a:ext cx="2303635" cy="556434"/>
              </a:xfrm>
              <a:prstGeom prst="rect">
                <a:avLst/>
              </a:prstGeom>
              <a:blipFill>
                <a:blip r:embed="rId4"/>
                <a:stretch>
                  <a:fillRect b="-159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67D0667B-D034-C54D-2C3F-D4D5AB6B6800}"/>
              </a:ext>
            </a:extLst>
          </p:cNvPr>
          <p:cNvGrpSpPr/>
          <p:nvPr/>
        </p:nvGrpSpPr>
        <p:grpSpPr>
          <a:xfrm>
            <a:off x="9226615" y="3060234"/>
            <a:ext cx="533916" cy="4175333"/>
            <a:chOff x="4287796" y="1755252"/>
            <a:chExt cx="368276" cy="2880000"/>
          </a:xfrm>
        </p:grpSpPr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24A83B81-6B76-D602-09FD-B6C6749ECC60}"/>
                </a:ext>
              </a:extLst>
            </p:cNvPr>
            <p:cNvSpPr/>
            <p:nvPr/>
          </p:nvSpPr>
          <p:spPr>
            <a:xfrm>
              <a:off x="4287796" y="1755252"/>
              <a:ext cx="360000" cy="28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29" name="直線矢印コネクタ 28">
              <a:extLst>
                <a:ext uri="{FF2B5EF4-FFF2-40B4-BE49-F238E27FC236}">
                  <a16:creationId xmlns:a16="http://schemas.microsoft.com/office/drawing/2014/main" id="{9A488328-97A4-F893-8FF1-B33FF56758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87802" y="2290119"/>
              <a:ext cx="359994" cy="324982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矢印コネクタ 30">
              <a:extLst>
                <a:ext uri="{FF2B5EF4-FFF2-40B4-BE49-F238E27FC236}">
                  <a16:creationId xmlns:a16="http://schemas.microsoft.com/office/drawing/2014/main" id="{A55A821B-0B32-C620-E90B-56ED507ED321}"/>
                </a:ext>
              </a:extLst>
            </p:cNvPr>
            <p:cNvCxnSpPr>
              <a:cxnSpLocks/>
            </p:cNvCxnSpPr>
            <p:nvPr/>
          </p:nvCxnSpPr>
          <p:spPr>
            <a:xfrm>
              <a:off x="4293079" y="2608921"/>
              <a:ext cx="359994" cy="324982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矢印コネクタ 31">
              <a:extLst>
                <a:ext uri="{FF2B5EF4-FFF2-40B4-BE49-F238E27FC236}">
                  <a16:creationId xmlns:a16="http://schemas.microsoft.com/office/drawing/2014/main" id="{E44B363D-EFBB-2848-227F-9334D86F43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90801" y="3468037"/>
              <a:ext cx="359994" cy="324982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矢印コネクタ 32">
              <a:extLst>
                <a:ext uri="{FF2B5EF4-FFF2-40B4-BE49-F238E27FC236}">
                  <a16:creationId xmlns:a16="http://schemas.microsoft.com/office/drawing/2014/main" id="{70CD9746-E6EC-826F-BF07-2B55458DF8D2}"/>
                </a:ext>
              </a:extLst>
            </p:cNvPr>
            <p:cNvCxnSpPr>
              <a:cxnSpLocks/>
            </p:cNvCxnSpPr>
            <p:nvPr/>
          </p:nvCxnSpPr>
          <p:spPr>
            <a:xfrm>
              <a:off x="4296078" y="3786839"/>
              <a:ext cx="359994" cy="324982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1640953E-34C2-3F17-3138-A44D4646043D}"/>
                  </a:ext>
                </a:extLst>
              </p:cNvPr>
              <p:cNvSpPr txBox="1"/>
              <p:nvPr/>
            </p:nvSpPr>
            <p:spPr>
              <a:xfrm>
                <a:off x="9985655" y="3567946"/>
                <a:ext cx="1048980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ja-JP" sz="2800" i="1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++</m:t>
                          </m:r>
                        </m:sup>
                      </m:sSup>
                    </m:oMath>
                  </m:oMathPara>
                </a14:m>
                <a:endParaRPr lang="ja-JP" altLang="en-US" sz="2800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1640953E-34C2-3F17-3138-A44D46460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5655" y="3567946"/>
                <a:ext cx="1048980" cy="523220"/>
              </a:xfrm>
              <a:prstGeom prst="rect">
                <a:avLst/>
              </a:prstGeom>
              <a:blipFill>
                <a:blip r:embed="rId5"/>
                <a:stretch>
                  <a:fillRect l="-120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304AAEA9-6A2E-BF2A-CEB9-5EDA00869ADB}"/>
                  </a:ext>
                </a:extLst>
              </p:cNvPr>
              <p:cNvSpPr txBox="1"/>
              <p:nvPr/>
            </p:nvSpPr>
            <p:spPr>
              <a:xfrm>
                <a:off x="9977148" y="4437226"/>
                <a:ext cx="1048980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ja-JP" sz="2800" i="1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+−</m:t>
                          </m:r>
                        </m:sup>
                      </m:sSup>
                    </m:oMath>
                  </m:oMathPara>
                </a14:m>
                <a:endParaRPr lang="ja-JP" altLang="en-US" sz="2800"/>
              </a:p>
            </p:txBody>
          </p:sp>
        </mc:Choice>
        <mc:Fallback xmlns="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304AAEA9-6A2E-BF2A-CEB9-5EDA00869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7148" y="4437226"/>
                <a:ext cx="104898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113961F5-0C0F-03BC-457D-B985BCAA07D2}"/>
                  </a:ext>
                </a:extLst>
              </p:cNvPr>
              <p:cNvSpPr txBox="1"/>
              <p:nvPr/>
            </p:nvSpPr>
            <p:spPr>
              <a:xfrm>
                <a:off x="9977148" y="5306505"/>
                <a:ext cx="1048980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ja-JP" sz="2800" i="1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−+</m:t>
                          </m:r>
                        </m:sup>
                      </m:sSup>
                    </m:oMath>
                  </m:oMathPara>
                </a14:m>
                <a:endParaRPr lang="ja-JP" altLang="en-US" sz="2800"/>
              </a:p>
            </p:txBody>
          </p:sp>
        </mc:Choice>
        <mc:Fallback xmlns="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113961F5-0C0F-03BC-457D-B985BCAA0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7148" y="5306505"/>
                <a:ext cx="104898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B9431E87-A208-9C5D-FEA4-D26DED1581E0}"/>
                  </a:ext>
                </a:extLst>
              </p:cNvPr>
              <p:cNvSpPr txBox="1"/>
              <p:nvPr/>
            </p:nvSpPr>
            <p:spPr>
              <a:xfrm>
                <a:off x="9977148" y="6208991"/>
                <a:ext cx="1048980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ja-JP" sz="2800" i="1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−−</m:t>
                          </m:r>
                        </m:sup>
                      </m:sSup>
                    </m:oMath>
                  </m:oMathPara>
                </a14:m>
                <a:endParaRPr lang="ja-JP" altLang="en-US" sz="2800"/>
              </a:p>
            </p:txBody>
          </p:sp>
        </mc:Choice>
        <mc:Fallback xmlns="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B9431E87-A208-9C5D-FEA4-D26DED158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7148" y="6208991"/>
                <a:ext cx="104898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F9E46214-691E-80F6-8126-59EBE04EC789}"/>
                  </a:ext>
                </a:extLst>
              </p:cNvPr>
              <p:cNvSpPr txBox="1"/>
              <p:nvPr/>
            </p:nvSpPr>
            <p:spPr>
              <a:xfrm>
                <a:off x="12113081" y="3557199"/>
                <a:ext cx="2185830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ja-JP" sz="2800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altLang="ja-JP" sz="2800" b="0" i="1" smtClean="0">
                          <a:latin typeface="Cambria Math" panose="02040503050406030204" pitchFamily="18" charset="0"/>
                        </a:rPr>
                        <m:t>(1+</m:t>
                      </m:r>
                      <m:sSub>
                        <m:sSub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altLang="ja-JP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2800"/>
              </a:p>
            </p:txBody>
          </p:sp>
        </mc:Choice>
        <mc:Fallback xmlns="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F9E46214-691E-80F6-8126-59EBE04EC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3081" y="3557199"/>
                <a:ext cx="2185830" cy="523220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0A69AE81-BF1C-D082-5BFF-1825CF101B47}"/>
              </a:ext>
            </a:extLst>
          </p:cNvPr>
          <p:cNvSpPr/>
          <p:nvPr/>
        </p:nvSpPr>
        <p:spPr>
          <a:xfrm>
            <a:off x="11465982" y="3060234"/>
            <a:ext cx="521917" cy="417533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5F41EF41-5E6B-31F5-23E9-50E9366936AC}"/>
              </a:ext>
            </a:extLst>
          </p:cNvPr>
          <p:cNvSpPr/>
          <p:nvPr/>
        </p:nvSpPr>
        <p:spPr>
          <a:xfrm>
            <a:off x="14511445" y="3060234"/>
            <a:ext cx="521917" cy="417533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テキスト ボックス 47">
                <a:extLst>
                  <a:ext uri="{FF2B5EF4-FFF2-40B4-BE49-F238E27FC236}">
                    <a16:creationId xmlns:a16="http://schemas.microsoft.com/office/drawing/2014/main" id="{078B8D21-0CEA-555B-C5F0-3BD9DECA2755}"/>
                  </a:ext>
                </a:extLst>
              </p:cNvPr>
              <p:cNvSpPr txBox="1"/>
              <p:nvPr/>
            </p:nvSpPr>
            <p:spPr>
              <a:xfrm>
                <a:off x="12113081" y="5297546"/>
                <a:ext cx="2185830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ja-JP" sz="2800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altLang="ja-JP" sz="2800" b="0" i="1" smtClean="0">
                          <a:latin typeface="Cambria Math" panose="02040503050406030204" pitchFamily="18" charset="0"/>
                        </a:rPr>
                        <m:t>(1+</m:t>
                      </m:r>
                      <m:sSub>
                        <m:sSub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altLang="ja-JP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2800"/>
              </a:p>
            </p:txBody>
          </p:sp>
        </mc:Choice>
        <mc:Fallback xmlns="">
          <p:sp>
            <p:nvSpPr>
              <p:cNvPr id="48" name="テキスト ボックス 47">
                <a:extLst>
                  <a:ext uri="{FF2B5EF4-FFF2-40B4-BE49-F238E27FC236}">
                    <a16:creationId xmlns:a16="http://schemas.microsoft.com/office/drawing/2014/main" id="{078B8D21-0CEA-555B-C5F0-3BD9DECA2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3081" y="5297546"/>
                <a:ext cx="2185830" cy="523220"/>
              </a:xfrm>
              <a:prstGeom prst="rect">
                <a:avLst/>
              </a:prstGeom>
              <a:blipFill>
                <a:blip r:embed="rId10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右中かっこ 2">
            <a:extLst>
              <a:ext uri="{FF2B5EF4-FFF2-40B4-BE49-F238E27FC236}">
                <a16:creationId xmlns:a16="http://schemas.microsoft.com/office/drawing/2014/main" id="{A67A7F8F-8F6C-60AB-CB72-FBB74217AC91}"/>
              </a:ext>
            </a:extLst>
          </p:cNvPr>
          <p:cNvSpPr/>
          <p:nvPr/>
        </p:nvSpPr>
        <p:spPr>
          <a:xfrm>
            <a:off x="15072086" y="3084002"/>
            <a:ext cx="521919" cy="4175333"/>
          </a:xfrm>
          <a:prstGeom prst="rightBrace">
            <a:avLst>
              <a:gd name="adj1" fmla="val 33333"/>
              <a:gd name="adj2" fmla="val 50429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1016291E-B31E-8401-FCF2-69CB7E553BD3}"/>
                  </a:ext>
                </a:extLst>
              </p:cNvPr>
              <p:cNvSpPr txBox="1"/>
              <p:nvPr/>
            </p:nvSpPr>
            <p:spPr>
              <a:xfrm>
                <a:off x="15702585" y="4917795"/>
                <a:ext cx="489990" cy="53970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  <m:t>obs</m:t>
                          </m:r>
                        </m:sub>
                        <m:sup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  <m:t>++</m:t>
                          </m:r>
                        </m:sup>
                      </m:sSubSup>
                    </m:oMath>
                  </m:oMathPara>
                </a14:m>
                <a:endParaRPr lang="ja-JP" altLang="en-US" sz="280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1016291E-B31E-8401-FCF2-69CB7E553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02585" y="4917795"/>
                <a:ext cx="489990" cy="539700"/>
              </a:xfrm>
              <a:prstGeom prst="rect">
                <a:avLst/>
              </a:prstGeom>
              <a:blipFill>
                <a:blip r:embed="rId11"/>
                <a:stretch>
                  <a:fillRect l="-41026" r="-20513" b="-697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3DC7E2E4-3067-6822-21C4-692AEDE6A88F}"/>
                  </a:ext>
                </a:extLst>
              </p:cNvPr>
              <p:cNvSpPr txBox="1"/>
              <p:nvPr/>
            </p:nvSpPr>
            <p:spPr>
              <a:xfrm>
                <a:off x="12113081" y="4441573"/>
                <a:ext cx="2105439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ja-JP" sz="2800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sSub>
                        <m:sSub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altLang="ja-JP" sz="28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2800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3DC7E2E4-3067-6822-21C4-692AEDE6A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3081" y="4441573"/>
                <a:ext cx="2105439" cy="523220"/>
              </a:xfrm>
              <a:prstGeom prst="rect">
                <a:avLst/>
              </a:prstGeom>
              <a:blipFill>
                <a:blip r:embed="rId12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66D31F47-3884-724D-F86F-E065F0E9A325}"/>
                  </a:ext>
                </a:extLst>
              </p:cNvPr>
              <p:cNvSpPr txBox="1"/>
              <p:nvPr/>
            </p:nvSpPr>
            <p:spPr>
              <a:xfrm>
                <a:off x="12113081" y="6200960"/>
                <a:ext cx="2105439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ja-JP" sz="2800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sSub>
                        <m:sSub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altLang="ja-JP" sz="28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280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66D31F47-3884-724D-F86F-E065F0E9A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3081" y="6200960"/>
                <a:ext cx="2105439" cy="523220"/>
              </a:xfrm>
              <a:prstGeom prst="rect">
                <a:avLst/>
              </a:prstGeom>
              <a:blipFill>
                <a:blip r:embed="rId13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CDEB3BBD-6F18-6AF3-8797-393D063B444D}"/>
                  </a:ext>
                </a:extLst>
              </p:cNvPr>
              <p:cNvSpPr txBox="1"/>
              <p:nvPr/>
            </p:nvSpPr>
            <p:spPr>
              <a:xfrm>
                <a:off x="5332761" y="4047204"/>
                <a:ext cx="422090" cy="54021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ja-JP" altLang="en-US" sz="2800"/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CDEB3BBD-6F18-6AF3-8797-393D063B4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2761" y="4047204"/>
                <a:ext cx="422090" cy="540212"/>
              </a:xfrm>
              <a:prstGeom prst="rect">
                <a:avLst/>
              </a:prstGeom>
              <a:blipFill>
                <a:blip r:embed="rId14"/>
                <a:stretch>
                  <a:fillRect l="-38235" r="-88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8DAFA55F-6E4F-660D-BE1B-C632F64F54B1}"/>
                  </a:ext>
                </a:extLst>
              </p:cNvPr>
              <p:cNvSpPr txBox="1"/>
              <p:nvPr/>
            </p:nvSpPr>
            <p:spPr>
              <a:xfrm>
                <a:off x="5338467" y="5713848"/>
                <a:ext cx="422090" cy="54021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ja-JP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</m:oMath>
                  </m:oMathPara>
                </a14:m>
                <a:endParaRPr lang="ja-JP" altLang="en-US" sz="2800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8DAFA55F-6E4F-660D-BE1B-C632F64F5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8467" y="5713848"/>
                <a:ext cx="422090" cy="540212"/>
              </a:xfrm>
              <a:prstGeom prst="rect">
                <a:avLst/>
              </a:prstGeom>
              <a:blipFill>
                <a:blip r:embed="rId15"/>
                <a:stretch>
                  <a:fillRect l="-3823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51676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11F0D-AA0B-1D9C-1444-C43420E2D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DD40AE20-69A5-2047-4D02-AF49F6BE1BEC}"/>
              </a:ext>
            </a:extLst>
          </p:cNvPr>
          <p:cNvGrpSpPr/>
          <p:nvPr/>
        </p:nvGrpSpPr>
        <p:grpSpPr>
          <a:xfrm>
            <a:off x="4349087" y="534662"/>
            <a:ext cx="11024349" cy="5741288"/>
            <a:chOff x="442146" y="3297740"/>
            <a:chExt cx="11024349" cy="5741288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1B0478D5-2CAA-D375-007E-33A24429D126}"/>
                </a:ext>
              </a:extLst>
            </p:cNvPr>
            <p:cNvSpPr/>
            <p:nvPr/>
          </p:nvSpPr>
          <p:spPr>
            <a:xfrm>
              <a:off x="1455072" y="3297740"/>
              <a:ext cx="521917" cy="4175333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ECD615CB-4968-DF35-C330-0F5F8EF7F918}"/>
                </a:ext>
              </a:extLst>
            </p:cNvPr>
            <p:cNvCxnSpPr>
              <a:cxnSpLocks/>
            </p:cNvCxnSpPr>
            <p:nvPr/>
          </p:nvCxnSpPr>
          <p:spPr>
            <a:xfrm>
              <a:off x="1989829" y="6226490"/>
              <a:ext cx="250520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EBB6EF69-BBC8-6511-DDF0-3E7D2E0F54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9827" y="4544322"/>
              <a:ext cx="2505203" cy="15524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6D143D5D-BD34-D4A0-F5AA-3F25D8527884}"/>
                </a:ext>
              </a:extLst>
            </p:cNvPr>
            <p:cNvSpPr txBox="1"/>
            <p:nvPr/>
          </p:nvSpPr>
          <p:spPr>
            <a:xfrm>
              <a:off x="964064" y="7647280"/>
              <a:ext cx="1503938" cy="13880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>
                  <a:latin typeface="Helvetica" pitchFamily="2" charset="0"/>
                </a:rPr>
                <a:t>Polarizer</a:t>
              </a:r>
              <a:br>
                <a:rPr lang="en-US" altLang="ja-JP" sz="2610" dirty="0">
                  <a:latin typeface="Helvetica" pitchFamily="2" charset="0"/>
                </a:rPr>
              </a:br>
              <a:r>
                <a:rPr lang="en-US" altLang="ja-JP" sz="2610" dirty="0">
                  <a:latin typeface="Helvetica" pitchFamily="2" charset="0"/>
                </a:rPr>
                <a:t>Heusler</a:t>
              </a:r>
              <a:br>
                <a:rPr lang="en-US" altLang="ja-JP" sz="2610" dirty="0">
                  <a:latin typeface="Helvetica" pitchFamily="2" charset="0"/>
                </a:rPr>
              </a:br>
              <a:r>
                <a:rPr lang="en-US" altLang="ja-JP" sz="3200" dirty="0">
                  <a:latin typeface="Helvetica" pitchFamily="2" charset="0"/>
                </a:rPr>
                <a:t>+</a:t>
              </a:r>
              <a:endParaRPr lang="ja-JP" altLang="en-US" sz="3200">
                <a:latin typeface="Helvetica" pitchFamily="2" charset="0"/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45FF7618-3B49-5560-DD05-B70EAFC57BBD}"/>
                </a:ext>
              </a:extLst>
            </p:cNvPr>
            <p:cNvSpPr txBox="1"/>
            <p:nvPr/>
          </p:nvSpPr>
          <p:spPr>
            <a:xfrm>
              <a:off x="5774674" y="7650956"/>
              <a:ext cx="2595582" cy="13880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>
                  <a:latin typeface="Helvetica" pitchFamily="2" charset="0"/>
                </a:rPr>
                <a:t>Analyzer</a:t>
              </a:r>
              <a:br>
                <a:rPr lang="en-US" altLang="ja-JP" sz="2610" dirty="0">
                  <a:latin typeface="Helvetica" pitchFamily="2" charset="0"/>
                </a:rPr>
              </a:br>
              <a:r>
                <a:rPr lang="en-US" altLang="ja-JP" sz="2610" i="1" dirty="0">
                  <a:latin typeface="Helvetica" pitchFamily="2" charset="0"/>
                </a:rPr>
                <a:t>ex-situ</a:t>
              </a:r>
              <a:r>
                <a:rPr lang="en-US" altLang="ja-JP" sz="2610" dirty="0">
                  <a:latin typeface="Helvetica" pitchFamily="2" charset="0"/>
                </a:rPr>
                <a:t> </a:t>
              </a:r>
              <a:r>
                <a:rPr lang="en-US" altLang="ja-JP" sz="2610" baseline="30000" dirty="0">
                  <a:latin typeface="Helvetica" pitchFamily="2" charset="0"/>
                </a:rPr>
                <a:t>3</a:t>
              </a:r>
              <a:r>
                <a:rPr lang="en-US" altLang="ja-JP" sz="2610" dirty="0">
                  <a:latin typeface="Helvetica" pitchFamily="2" charset="0"/>
                </a:rPr>
                <a:t>He-NSF</a:t>
              </a:r>
              <a:br>
                <a:rPr lang="en-US" altLang="ja-JP" sz="2610" dirty="0">
                  <a:latin typeface="Helvetica" pitchFamily="2" charset="0"/>
                </a:rPr>
              </a:br>
              <a:r>
                <a:rPr lang="en-US" altLang="ja-JP" sz="3200" dirty="0">
                  <a:latin typeface="Helvetica" pitchFamily="2" charset="0"/>
                </a:rPr>
                <a:t>+</a:t>
              </a:r>
              <a:endParaRPr lang="ja-JP" altLang="en-US" sz="3200">
                <a:latin typeface="Helvetica" pitchFamily="2" charset="0"/>
              </a:endParaRPr>
            </a:p>
          </p:txBody>
        </p: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5A7FB68C-214A-45F9-344A-298655ED9A6F}"/>
                </a:ext>
              </a:extLst>
            </p:cNvPr>
            <p:cNvCxnSpPr>
              <a:cxnSpLocks/>
            </p:cNvCxnSpPr>
            <p:nvPr/>
          </p:nvCxnSpPr>
          <p:spPr>
            <a:xfrm>
              <a:off x="5054099" y="4073173"/>
              <a:ext cx="469725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AFD2ACF3-F443-AEEE-77BC-89A3F5B1D9D6}"/>
                </a:ext>
              </a:extLst>
            </p:cNvPr>
            <p:cNvCxnSpPr>
              <a:cxnSpLocks/>
            </p:cNvCxnSpPr>
            <p:nvPr/>
          </p:nvCxnSpPr>
          <p:spPr>
            <a:xfrm>
              <a:off x="5054099" y="4947994"/>
              <a:ext cx="469725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18DEA88A-0643-B44B-74DF-448338A46995}"/>
                </a:ext>
              </a:extLst>
            </p:cNvPr>
            <p:cNvCxnSpPr>
              <a:cxnSpLocks/>
            </p:cNvCxnSpPr>
            <p:nvPr/>
          </p:nvCxnSpPr>
          <p:spPr>
            <a:xfrm>
              <a:off x="5034297" y="5822815"/>
              <a:ext cx="469725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318A956F-66CB-6CBA-E07C-755EF92763BB}"/>
                </a:ext>
              </a:extLst>
            </p:cNvPr>
            <p:cNvCxnSpPr>
              <a:cxnSpLocks/>
            </p:cNvCxnSpPr>
            <p:nvPr/>
          </p:nvCxnSpPr>
          <p:spPr>
            <a:xfrm>
              <a:off x="5034297" y="6697636"/>
              <a:ext cx="469725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592B9E1E-6F28-956F-9A62-006B5215609D}"/>
                </a:ext>
              </a:extLst>
            </p:cNvPr>
            <p:cNvSpPr txBox="1"/>
            <p:nvPr/>
          </p:nvSpPr>
          <p:spPr>
            <a:xfrm>
              <a:off x="4114501" y="7650956"/>
              <a:ext cx="1317990" cy="493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>
                  <a:latin typeface="Helvetica" pitchFamily="2" charset="0"/>
                </a:rPr>
                <a:t>Sample</a:t>
              </a:r>
              <a:endParaRPr lang="ja-JP" altLang="en-US" sz="2610">
                <a:latin typeface="Helvetica" pitchFamily="2" charset="0"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FFF7168D-A01A-4537-A57D-456BED05955F}"/>
                </a:ext>
              </a:extLst>
            </p:cNvPr>
            <p:cNvSpPr txBox="1"/>
            <p:nvPr/>
          </p:nvSpPr>
          <p:spPr>
            <a:xfrm>
              <a:off x="9320803" y="7650956"/>
              <a:ext cx="1451040" cy="493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>
                  <a:latin typeface="Helvetica" pitchFamily="2" charset="0"/>
                </a:rPr>
                <a:t>Detector</a:t>
              </a:r>
              <a:endParaRPr lang="ja-JP" altLang="en-US" sz="2610">
                <a:latin typeface="Helvetica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312C94D4-D399-6D90-F006-FF5BBEA8C076}"/>
                    </a:ext>
                  </a:extLst>
                </p:cNvPr>
                <p:cNvSpPr txBox="1"/>
                <p:nvPr/>
              </p:nvSpPr>
              <p:spPr>
                <a:xfrm>
                  <a:off x="2165452" y="4276599"/>
                  <a:ext cx="1048980" cy="56156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  <m:sup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312C94D4-D399-6D90-F006-FF5BBEA8C0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5452" y="4276599"/>
                  <a:ext cx="1048980" cy="561564"/>
                </a:xfrm>
                <a:prstGeom prst="rect">
                  <a:avLst/>
                </a:prstGeom>
                <a:blipFill>
                  <a:blip r:embed="rId3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F437A441-692E-340D-536E-B3A1834EDED8}"/>
                    </a:ext>
                  </a:extLst>
                </p:cNvPr>
                <p:cNvSpPr txBox="1"/>
                <p:nvPr/>
              </p:nvSpPr>
              <p:spPr>
                <a:xfrm>
                  <a:off x="2193606" y="5962289"/>
                  <a:ext cx="1048980" cy="56156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  <m:sup>
                            <m:r>
                              <a:rPr lang="en-US" altLang="ja-JP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F437A441-692E-340D-536E-B3A1834EDE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3606" y="5962289"/>
                  <a:ext cx="1048980" cy="561564"/>
                </a:xfrm>
                <a:prstGeom prst="rect">
                  <a:avLst/>
                </a:prstGeom>
                <a:blipFill>
                  <a:blip r:embed="rId4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36440E63-6E64-7E85-F97F-24789031A474}"/>
                </a:ext>
              </a:extLst>
            </p:cNvPr>
            <p:cNvGrpSpPr/>
            <p:nvPr/>
          </p:nvGrpSpPr>
          <p:grpSpPr>
            <a:xfrm>
              <a:off x="4500535" y="3297740"/>
              <a:ext cx="533916" cy="4175333"/>
              <a:chOff x="4287796" y="1755252"/>
              <a:chExt cx="368276" cy="2880000"/>
            </a:xfrm>
          </p:grpSpPr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35FEC519-5B07-314E-4280-83BB194ECAFD}"/>
                  </a:ext>
                </a:extLst>
              </p:cNvPr>
              <p:cNvSpPr/>
              <p:nvPr/>
            </p:nvSpPr>
            <p:spPr>
              <a:xfrm>
                <a:off x="4287796" y="1755252"/>
                <a:ext cx="360000" cy="2880000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29" name="直線矢印コネクタ 28">
                <a:extLst>
                  <a:ext uri="{FF2B5EF4-FFF2-40B4-BE49-F238E27FC236}">
                    <a16:creationId xmlns:a16="http://schemas.microsoft.com/office/drawing/2014/main" id="{E8EE0898-E195-84F2-9320-F161A76446A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87802" y="2290119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矢印コネクタ 30">
                <a:extLst>
                  <a:ext uri="{FF2B5EF4-FFF2-40B4-BE49-F238E27FC236}">
                    <a16:creationId xmlns:a16="http://schemas.microsoft.com/office/drawing/2014/main" id="{343EA3BB-237B-0207-3745-E65BDCC1F4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3079" y="2608921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線矢印コネクタ 31">
                <a:extLst>
                  <a:ext uri="{FF2B5EF4-FFF2-40B4-BE49-F238E27FC236}">
                    <a16:creationId xmlns:a16="http://schemas.microsoft.com/office/drawing/2014/main" id="{DCDFBACD-3A56-F870-1CFE-9B02CC9147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90801" y="3468037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線矢印コネクタ 32">
                <a:extLst>
                  <a:ext uri="{FF2B5EF4-FFF2-40B4-BE49-F238E27FC236}">
                    <a16:creationId xmlns:a16="http://schemas.microsoft.com/office/drawing/2014/main" id="{58FAFA3D-44F8-701E-ED1B-DC3AB19209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6078" y="3786839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B0887F1B-1531-B9E7-5BF8-EB7517CE1EF4}"/>
                    </a:ext>
                  </a:extLst>
                </p:cNvPr>
                <p:cNvSpPr txBox="1"/>
                <p:nvPr/>
              </p:nvSpPr>
              <p:spPr>
                <a:xfrm>
                  <a:off x="5259575" y="3805452"/>
                  <a:ext cx="104898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80AC92D1-F7E4-CD76-F982-04A209FD23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9575" y="3805452"/>
                  <a:ext cx="1048980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120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B14402FA-1DE3-D1A1-1E5B-84207B2013E8}"/>
                    </a:ext>
                  </a:extLst>
                </p:cNvPr>
                <p:cNvSpPr txBox="1"/>
                <p:nvPr/>
              </p:nvSpPr>
              <p:spPr>
                <a:xfrm>
                  <a:off x="5251068" y="4674732"/>
                  <a:ext cx="104898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+−</m:t>
                            </m:r>
                          </m:sup>
                        </m:s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1C3B647E-1A24-31F3-7026-CA23E35CC0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1068" y="4674732"/>
                  <a:ext cx="1048980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119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EA15C5BC-A2B7-903A-1534-0EFE87357432}"/>
                    </a:ext>
                  </a:extLst>
                </p:cNvPr>
                <p:cNvSpPr txBox="1"/>
                <p:nvPr/>
              </p:nvSpPr>
              <p:spPr>
                <a:xfrm>
                  <a:off x="5251068" y="5544011"/>
                  <a:ext cx="104898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−+</m:t>
                            </m:r>
                          </m:sup>
                        </m:s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A75BEA0C-501E-2F95-1D56-C537CF575A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1068" y="5544011"/>
                  <a:ext cx="1048980" cy="523220"/>
                </a:xfrm>
                <a:prstGeom prst="rect">
                  <a:avLst/>
                </a:prstGeom>
                <a:blipFill>
                  <a:blip r:embed="rId8"/>
                  <a:stretch>
                    <a:fillRect l="-119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3DE2BABD-546A-C0CE-2448-4DEBD731E701}"/>
                    </a:ext>
                  </a:extLst>
                </p:cNvPr>
                <p:cNvSpPr txBox="1"/>
                <p:nvPr/>
              </p:nvSpPr>
              <p:spPr>
                <a:xfrm>
                  <a:off x="5251068" y="6446497"/>
                  <a:ext cx="104898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−−</m:t>
                            </m:r>
                          </m:sup>
                        </m:s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A776A225-EB01-4DAA-76AB-68C1A6B921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1068" y="6446497"/>
                  <a:ext cx="1048980" cy="523220"/>
                </a:xfrm>
                <a:prstGeom prst="rect">
                  <a:avLst/>
                </a:prstGeom>
                <a:blipFill>
                  <a:blip r:embed="rId9"/>
                  <a:stretch>
                    <a:fillRect l="-119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5147459C-B9AC-207B-628C-33041EC94896}"/>
                    </a:ext>
                  </a:extLst>
                </p:cNvPr>
                <p:cNvSpPr txBox="1"/>
                <p:nvPr/>
              </p:nvSpPr>
              <p:spPr>
                <a:xfrm>
                  <a:off x="7387001" y="3794705"/>
                  <a:ext cx="1048980" cy="56156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  <m:sup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5147459C-B9AC-207B-628C-33041EC948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7001" y="3794705"/>
                  <a:ext cx="1048980" cy="561564"/>
                </a:xfrm>
                <a:prstGeom prst="rect">
                  <a:avLst/>
                </a:prstGeom>
                <a:blipFill>
                  <a:blip r:embed="rId10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6AB7D45A-0801-584F-F919-52F34EBE57BD}"/>
                </a:ext>
              </a:extLst>
            </p:cNvPr>
            <p:cNvSpPr/>
            <p:nvPr/>
          </p:nvSpPr>
          <p:spPr>
            <a:xfrm>
              <a:off x="6739902" y="3297740"/>
              <a:ext cx="521917" cy="4175333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161B4C7A-F8FB-0EE3-B01A-CC34529C2056}"/>
                </a:ext>
              </a:extLst>
            </p:cNvPr>
            <p:cNvSpPr/>
            <p:nvPr/>
          </p:nvSpPr>
          <p:spPr>
            <a:xfrm>
              <a:off x="9785365" y="3297740"/>
              <a:ext cx="521917" cy="4175333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テキスト ボックス 47">
                  <a:extLst>
                    <a:ext uri="{FF2B5EF4-FFF2-40B4-BE49-F238E27FC236}">
                      <a16:creationId xmlns:a16="http://schemas.microsoft.com/office/drawing/2014/main" id="{1A920E99-E1C0-4259-3528-5DD21C709FC9}"/>
                    </a:ext>
                  </a:extLst>
                </p:cNvPr>
                <p:cNvSpPr txBox="1"/>
                <p:nvPr/>
              </p:nvSpPr>
              <p:spPr>
                <a:xfrm>
                  <a:off x="7387001" y="5535052"/>
                  <a:ext cx="1048980" cy="56156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  <m:sup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48" name="テキスト ボックス 47">
                  <a:extLst>
                    <a:ext uri="{FF2B5EF4-FFF2-40B4-BE49-F238E27FC236}">
                      <a16:creationId xmlns:a16="http://schemas.microsoft.com/office/drawing/2014/main" id="{1A920E99-E1C0-4259-3528-5DD21C709F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7001" y="5535052"/>
                  <a:ext cx="1048980" cy="561564"/>
                </a:xfrm>
                <a:prstGeom prst="rect">
                  <a:avLst/>
                </a:prstGeom>
                <a:blipFill>
                  <a:blip r:embed="rId11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右中かっこ 2">
              <a:extLst>
                <a:ext uri="{FF2B5EF4-FFF2-40B4-BE49-F238E27FC236}">
                  <a16:creationId xmlns:a16="http://schemas.microsoft.com/office/drawing/2014/main" id="{87D0F6A5-E4F3-8DE5-3865-EBFA65A859E8}"/>
                </a:ext>
              </a:extLst>
            </p:cNvPr>
            <p:cNvSpPr/>
            <p:nvPr/>
          </p:nvSpPr>
          <p:spPr>
            <a:xfrm>
              <a:off x="10346006" y="3321508"/>
              <a:ext cx="521919" cy="4175333"/>
            </a:xfrm>
            <a:prstGeom prst="rightBrace">
              <a:avLst>
                <a:gd name="adj1" fmla="val 33333"/>
                <a:gd name="adj2" fmla="val 50429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C413BE40-6E06-3953-4DF6-FD6FBA0AB281}"/>
                    </a:ext>
                  </a:extLst>
                </p:cNvPr>
                <p:cNvSpPr txBox="1"/>
                <p:nvPr/>
              </p:nvSpPr>
              <p:spPr>
                <a:xfrm>
                  <a:off x="10976505" y="5155301"/>
                  <a:ext cx="489990" cy="53970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obs</m:t>
                            </m:r>
                          </m:sub>
                          <m:sup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b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3586D2C5-1823-6F8A-EDAF-38812101F6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6505" y="5155301"/>
                  <a:ext cx="489990" cy="539700"/>
                </a:xfrm>
                <a:prstGeom prst="rect">
                  <a:avLst/>
                </a:prstGeom>
                <a:blipFill>
                  <a:blip r:embed="rId12"/>
                  <a:stretch>
                    <a:fillRect l="-41026" r="-17949" b="-697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" name="直線矢印コネクタ 1">
              <a:extLst>
                <a:ext uri="{FF2B5EF4-FFF2-40B4-BE49-F238E27FC236}">
                  <a16:creationId xmlns:a16="http://schemas.microsoft.com/office/drawing/2014/main" id="{BF0BE140-2291-4BAD-B055-B703235A68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2146" y="4583170"/>
              <a:ext cx="1043835" cy="15524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3F58C410-6113-1F89-3EFC-839E3968E8CE}"/>
                    </a:ext>
                  </a:extLst>
                </p:cNvPr>
                <p:cNvSpPr txBox="1"/>
                <p:nvPr/>
              </p:nvSpPr>
              <p:spPr>
                <a:xfrm>
                  <a:off x="7387001" y="4679079"/>
                  <a:ext cx="983255" cy="56156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  <m:sup>
                            <m:r>
                              <a:rPr lang="en-US" altLang="ja-JP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3F58C410-6113-1F89-3EFC-839E3968E8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7001" y="4679079"/>
                  <a:ext cx="983255" cy="561564"/>
                </a:xfrm>
                <a:prstGeom prst="rect">
                  <a:avLst/>
                </a:prstGeom>
                <a:blipFill>
                  <a:blip r:embed="rId13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9C7DC7F2-6052-385A-1F5D-D7597BD5CA5F}"/>
                    </a:ext>
                  </a:extLst>
                </p:cNvPr>
                <p:cNvSpPr txBox="1"/>
                <p:nvPr/>
              </p:nvSpPr>
              <p:spPr>
                <a:xfrm>
                  <a:off x="7387001" y="6438466"/>
                  <a:ext cx="983255" cy="56156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  <m:sup>
                            <m:r>
                              <a:rPr lang="en-US" altLang="ja-JP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9C7DC7F2-6052-385A-1F5D-D7597BD5CA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7001" y="6438466"/>
                  <a:ext cx="983255" cy="561564"/>
                </a:xfrm>
                <a:prstGeom prst="rect">
                  <a:avLst/>
                </a:prstGeom>
                <a:blipFill>
                  <a:blip r:embed="rId14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B86B9CD2-DF0F-5079-308E-2BF9DBBC4724}"/>
              </a:ext>
            </a:extLst>
          </p:cNvPr>
          <p:cNvCxnSpPr>
            <a:cxnSpLocks/>
          </p:cNvCxnSpPr>
          <p:nvPr/>
        </p:nvCxnSpPr>
        <p:spPr>
          <a:xfrm flipV="1">
            <a:off x="4279680" y="3479993"/>
            <a:ext cx="1043835" cy="15524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07D67082-5201-01D7-E616-8556E56C5765}"/>
                  </a:ext>
                </a:extLst>
              </p:cNvPr>
              <p:cNvSpPr txBox="1"/>
              <p:nvPr/>
            </p:nvSpPr>
            <p:spPr>
              <a:xfrm>
                <a:off x="3313614" y="1558482"/>
                <a:ext cx="1048980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ja-JP" altLang="en-US" sz="2800"/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07D67082-5201-01D7-E616-8556E56C5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3614" y="1558482"/>
                <a:ext cx="1048980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57D5C05B-C495-3CBD-8BD5-B5B5DCB2D7E2}"/>
                  </a:ext>
                </a:extLst>
              </p:cNvPr>
              <p:cNvSpPr txBox="1"/>
              <p:nvPr/>
            </p:nvSpPr>
            <p:spPr>
              <a:xfrm>
                <a:off x="3245775" y="3233907"/>
                <a:ext cx="1048980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lang="en-US" altLang="ja-JP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ja-JP" altLang="en-US" sz="280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57D5C05B-C495-3CBD-8BD5-B5B5DCB2D7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5775" y="3233907"/>
                <a:ext cx="1048980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75760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6DFA2CEF-DB88-10BD-7605-D7606481D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992" y="1151733"/>
            <a:ext cx="8027658" cy="957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0559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図 17">
            <a:extLst>
              <a:ext uri="{FF2B5EF4-FFF2-40B4-BE49-F238E27FC236}">
                <a16:creationId xmlns:a16="http://schemas.microsoft.com/office/drawing/2014/main" id="{111B3F16-A672-9CFD-125D-8A73C5CCDE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27" r="4188" b="4274"/>
          <a:stretch>
            <a:fillRect/>
          </a:stretch>
        </p:blipFill>
        <p:spPr>
          <a:xfrm>
            <a:off x="9422943" y="1865552"/>
            <a:ext cx="7302114" cy="8541401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1ED337C8-AA03-1090-58D9-EE201B31E1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599" r="5822" b="4615"/>
          <a:stretch>
            <a:fillRect/>
          </a:stretch>
        </p:blipFill>
        <p:spPr>
          <a:xfrm>
            <a:off x="2296263" y="1865551"/>
            <a:ext cx="7126681" cy="8429892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65F0B03-2038-634A-A64D-CB9B97313BD9}"/>
              </a:ext>
            </a:extLst>
          </p:cNvPr>
          <p:cNvSpPr txBox="1"/>
          <p:nvPr/>
        </p:nvSpPr>
        <p:spPr>
          <a:xfrm>
            <a:off x="10374510" y="2035510"/>
            <a:ext cx="1822935" cy="8956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610" dirty="0">
                <a:latin typeface="Helvetica" pitchFamily="2" charset="0"/>
              </a:rPr>
              <a:t>(b)</a:t>
            </a:r>
            <a:br>
              <a:rPr lang="en-US" altLang="ja-JP" sz="2610" dirty="0">
                <a:latin typeface="Helvetica" pitchFamily="2" charset="0"/>
              </a:rPr>
            </a:br>
            <a:r>
              <a:rPr lang="en-US" altLang="ja-JP" sz="2610" dirty="0">
                <a:latin typeface="Helvetica" pitchFamily="2" charset="0"/>
              </a:rPr>
              <a:t>#Frame2-3</a:t>
            </a:r>
            <a:endParaRPr lang="ja-JP" altLang="en-US" sz="2610">
              <a:latin typeface="Helvetica" pitchFamily="2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23BE19B-C8F2-CA5A-0012-9F8C04484A3B}"/>
              </a:ext>
            </a:extLst>
          </p:cNvPr>
          <p:cNvSpPr txBox="1"/>
          <p:nvPr/>
        </p:nvSpPr>
        <p:spPr>
          <a:xfrm>
            <a:off x="10374510" y="5982731"/>
            <a:ext cx="1822935" cy="8956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610" dirty="0">
                <a:latin typeface="Helvetica" pitchFamily="2" charset="0"/>
              </a:rPr>
              <a:t>(c)</a:t>
            </a:r>
            <a:br>
              <a:rPr lang="en-US" altLang="ja-JP" sz="2610" dirty="0">
                <a:latin typeface="Helvetica" pitchFamily="2" charset="0"/>
              </a:rPr>
            </a:br>
            <a:r>
              <a:rPr lang="en-US" altLang="ja-JP" sz="2610" dirty="0">
                <a:latin typeface="Helvetica" pitchFamily="2" charset="0"/>
              </a:rPr>
              <a:t>#Frame5-6</a:t>
            </a:r>
            <a:endParaRPr lang="ja-JP" altLang="en-US" sz="2610">
              <a:latin typeface="Helvetica" pitchFamily="2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DB9BD8D-ED43-2D9D-EE22-8F9D7381DF75}"/>
              </a:ext>
            </a:extLst>
          </p:cNvPr>
          <p:cNvSpPr txBox="1"/>
          <p:nvPr/>
        </p:nvSpPr>
        <p:spPr>
          <a:xfrm>
            <a:off x="-2522604" y="4359557"/>
            <a:ext cx="473206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#1</a:t>
            </a:r>
            <a:endParaRPr lang="ja-JP" altLang="en-US" sz="2030">
              <a:solidFill>
                <a:schemeClr val="accent4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9DCD260-5C6D-8D78-2865-DC9DC25E3AF9}"/>
              </a:ext>
            </a:extLst>
          </p:cNvPr>
          <p:cNvSpPr txBox="1"/>
          <p:nvPr/>
        </p:nvSpPr>
        <p:spPr>
          <a:xfrm>
            <a:off x="-1644027" y="4359557"/>
            <a:ext cx="473206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#2</a:t>
            </a:r>
            <a:endParaRPr lang="ja-JP" altLang="en-US" sz="2030">
              <a:solidFill>
                <a:schemeClr val="accent4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B78FF56-7FAA-A116-2D5C-1A6B4E681022}"/>
              </a:ext>
            </a:extLst>
          </p:cNvPr>
          <p:cNvSpPr txBox="1"/>
          <p:nvPr/>
        </p:nvSpPr>
        <p:spPr>
          <a:xfrm>
            <a:off x="-765449" y="4359557"/>
            <a:ext cx="473206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#3</a:t>
            </a:r>
            <a:endParaRPr lang="ja-JP" altLang="en-US" sz="2030">
              <a:solidFill>
                <a:schemeClr val="accent4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7079304-52C0-CFD1-91D9-E8F02E438C09}"/>
              </a:ext>
            </a:extLst>
          </p:cNvPr>
          <p:cNvSpPr txBox="1"/>
          <p:nvPr/>
        </p:nvSpPr>
        <p:spPr>
          <a:xfrm>
            <a:off x="6026565" y="4359555"/>
            <a:ext cx="473206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#4</a:t>
            </a:r>
            <a:endParaRPr lang="ja-JP" altLang="en-US" sz="2030">
              <a:solidFill>
                <a:schemeClr val="accent4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991D2184-8BA3-36DB-260A-87EE9D99EF7E}"/>
              </a:ext>
            </a:extLst>
          </p:cNvPr>
          <p:cNvSpPr txBox="1"/>
          <p:nvPr/>
        </p:nvSpPr>
        <p:spPr>
          <a:xfrm>
            <a:off x="6905142" y="4359555"/>
            <a:ext cx="473206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#5</a:t>
            </a:r>
            <a:endParaRPr lang="ja-JP" altLang="en-US" sz="2030">
              <a:solidFill>
                <a:schemeClr val="accent4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57A7D94-DD1C-EA2B-B4CB-BE89C21F0F73}"/>
              </a:ext>
            </a:extLst>
          </p:cNvPr>
          <p:cNvSpPr txBox="1"/>
          <p:nvPr/>
        </p:nvSpPr>
        <p:spPr>
          <a:xfrm>
            <a:off x="7783719" y="4359554"/>
            <a:ext cx="473206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#6</a:t>
            </a:r>
            <a:endParaRPr lang="ja-JP" altLang="en-US" sz="2030">
              <a:solidFill>
                <a:schemeClr val="accent4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A616093-EAD2-D103-7C3C-EF935C686BEC}"/>
              </a:ext>
            </a:extLst>
          </p:cNvPr>
          <p:cNvSpPr txBox="1"/>
          <p:nvPr/>
        </p:nvSpPr>
        <p:spPr>
          <a:xfrm>
            <a:off x="8662296" y="4359552"/>
            <a:ext cx="473206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#7</a:t>
            </a:r>
            <a:endParaRPr lang="ja-JP" altLang="en-US" sz="2030">
              <a:solidFill>
                <a:schemeClr val="accent4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262902B-4D33-01B2-6A45-D46486E3C0E2}"/>
              </a:ext>
            </a:extLst>
          </p:cNvPr>
          <p:cNvSpPr txBox="1"/>
          <p:nvPr/>
        </p:nvSpPr>
        <p:spPr>
          <a:xfrm>
            <a:off x="-2683505" y="1633989"/>
            <a:ext cx="502061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rgbClr val="0000FF"/>
                </a:solidFill>
                <a:latin typeface="Helvetica" pitchFamily="2" charset="0"/>
              </a:rPr>
              <a:t>1Å</a:t>
            </a:r>
            <a:endParaRPr lang="ja-JP" altLang="en-US" sz="2030">
              <a:solidFill>
                <a:srgbClr val="0000FF"/>
              </a:solidFill>
              <a:latin typeface="Helvetica" pitchFamily="2" charset="0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07679B6-6056-FD0C-7EAA-7633D0BF55A6}"/>
              </a:ext>
            </a:extLst>
          </p:cNvPr>
          <p:cNvSpPr txBox="1"/>
          <p:nvPr/>
        </p:nvSpPr>
        <p:spPr>
          <a:xfrm>
            <a:off x="-2322303" y="1633989"/>
            <a:ext cx="502061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rgbClr val="0000FF"/>
                </a:solidFill>
                <a:latin typeface="Helvetica" pitchFamily="2" charset="0"/>
              </a:rPr>
              <a:t>3Å</a:t>
            </a:r>
            <a:endParaRPr lang="ja-JP" altLang="en-US" sz="2030">
              <a:solidFill>
                <a:srgbClr val="0000FF"/>
              </a:solidFill>
              <a:latin typeface="Helvetica" pitchFamily="2" charset="0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5C5F190A-661E-C45E-3E49-44AFB07DFA89}"/>
              </a:ext>
            </a:extLst>
          </p:cNvPr>
          <p:cNvSpPr txBox="1"/>
          <p:nvPr/>
        </p:nvSpPr>
        <p:spPr>
          <a:xfrm>
            <a:off x="-2522603" y="4004775"/>
            <a:ext cx="934871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Frame</a:t>
            </a:r>
            <a:endParaRPr lang="ja-JP" altLang="en-US" sz="2030">
              <a:solidFill>
                <a:schemeClr val="accent4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5BF6969-6180-E366-88B1-51123C6B0101}"/>
              </a:ext>
            </a:extLst>
          </p:cNvPr>
          <p:cNvSpPr txBox="1"/>
          <p:nvPr/>
        </p:nvSpPr>
        <p:spPr>
          <a:xfrm>
            <a:off x="-3273634" y="8305580"/>
            <a:ext cx="1656223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rgbClr val="0000FF"/>
                </a:solidFill>
                <a:latin typeface="Helvetica" pitchFamily="2" charset="0"/>
              </a:rPr>
              <a:t>Kicker signal</a:t>
            </a:r>
            <a:endParaRPr lang="ja-JP" altLang="en-US" sz="2030">
              <a:solidFill>
                <a:srgbClr val="0000FF"/>
              </a:solidFill>
              <a:latin typeface="Helvetica" pitchFamily="2" charset="0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80C1E3EB-3BB3-9B17-B718-07B05D5D9264}"/>
              </a:ext>
            </a:extLst>
          </p:cNvPr>
          <p:cNvSpPr txBox="1"/>
          <p:nvPr/>
        </p:nvSpPr>
        <p:spPr>
          <a:xfrm>
            <a:off x="6572449" y="6920488"/>
            <a:ext cx="2305439" cy="717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rgbClr val="FF0000"/>
                </a:solidFill>
                <a:latin typeface="Helvetica" pitchFamily="2" charset="0"/>
              </a:rPr>
              <a:t>Magnetic field of </a:t>
            </a:r>
            <a:br>
              <a:rPr lang="en-US" altLang="ja-JP" sz="2030" dirty="0">
                <a:solidFill>
                  <a:srgbClr val="FF0000"/>
                </a:solidFill>
                <a:latin typeface="Helvetica" pitchFamily="2" charset="0"/>
              </a:rPr>
            </a:br>
            <a:r>
              <a:rPr lang="en-US" altLang="ja-JP" sz="2030" dirty="0">
                <a:solidFill>
                  <a:srgbClr val="FF0000"/>
                </a:solidFill>
                <a:latin typeface="Helvetica" pitchFamily="2" charset="0"/>
              </a:rPr>
              <a:t>long pulse magnet</a:t>
            </a:r>
            <a:endParaRPr lang="ja-JP" altLang="en-US" sz="2030">
              <a:solidFill>
                <a:srgbClr val="FF0000"/>
              </a:solidFill>
              <a:latin typeface="Helvetica" pitchFamily="2" charset="0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FE5BA487-13EE-44CE-D73A-6976B2760E79}"/>
              </a:ext>
            </a:extLst>
          </p:cNvPr>
          <p:cNvSpPr txBox="1"/>
          <p:nvPr/>
        </p:nvSpPr>
        <p:spPr>
          <a:xfrm>
            <a:off x="6572448" y="5325491"/>
            <a:ext cx="2254143" cy="36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40" dirty="0">
                <a:latin typeface="Helvetica" pitchFamily="2" charset="0"/>
              </a:rPr>
              <a:t>Phase transition field</a:t>
            </a:r>
            <a:endParaRPr lang="ja-JP" altLang="en-US" sz="1740">
              <a:latin typeface="Helvetica" pitchFamily="2" charset="0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A2C201F-BCEE-DCB4-2C4D-5D87F0B435F7}"/>
              </a:ext>
            </a:extLst>
          </p:cNvPr>
          <p:cNvSpPr txBox="1"/>
          <p:nvPr/>
        </p:nvSpPr>
        <p:spPr>
          <a:xfrm>
            <a:off x="6701520" y="2632881"/>
            <a:ext cx="2364750" cy="62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40" dirty="0">
                <a:latin typeface="Helvetica" pitchFamily="2" charset="0"/>
              </a:rPr>
              <a:t>Sample position</a:t>
            </a:r>
            <a:br>
              <a:rPr lang="en-US" altLang="ja-JP" sz="1740" dirty="0">
                <a:latin typeface="Helvetica" pitchFamily="2" charset="0"/>
              </a:rPr>
            </a:br>
            <a:r>
              <a:rPr lang="en-US" altLang="ja-JP" sz="1740" dirty="0">
                <a:latin typeface="Helvetica" pitchFamily="2" charset="0"/>
              </a:rPr>
              <a:t>from spallation source</a:t>
            </a:r>
            <a:endParaRPr lang="ja-JP" altLang="en-US" sz="1740">
              <a:latin typeface="Helvetica" pitchFamily="2" charset="0"/>
            </a:endParaRP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715E6A69-83F3-5D73-BA9D-0247A0C8F89E}"/>
              </a:ext>
            </a:extLst>
          </p:cNvPr>
          <p:cNvCxnSpPr>
            <a:cxnSpLocks/>
          </p:cNvCxnSpPr>
          <p:nvPr/>
        </p:nvCxnSpPr>
        <p:spPr>
          <a:xfrm>
            <a:off x="6572449" y="2521590"/>
            <a:ext cx="208733" cy="30838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293923D5-FCC4-CC2C-85E3-9F4B7132781C}"/>
              </a:ext>
            </a:extLst>
          </p:cNvPr>
          <p:cNvCxnSpPr>
            <a:cxnSpLocks/>
          </p:cNvCxnSpPr>
          <p:nvPr/>
        </p:nvCxnSpPr>
        <p:spPr>
          <a:xfrm flipH="1">
            <a:off x="6486575" y="5537717"/>
            <a:ext cx="180113" cy="39271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30" name="グループ化 129">
            <a:extLst>
              <a:ext uri="{FF2B5EF4-FFF2-40B4-BE49-F238E27FC236}">
                <a16:creationId xmlns:a16="http://schemas.microsoft.com/office/drawing/2014/main" id="{14E8DBC1-577B-BAC6-BA20-1753A5B3AFA4}"/>
              </a:ext>
            </a:extLst>
          </p:cNvPr>
          <p:cNvGrpSpPr/>
          <p:nvPr/>
        </p:nvGrpSpPr>
        <p:grpSpPr>
          <a:xfrm>
            <a:off x="13520910" y="6214854"/>
            <a:ext cx="2795958" cy="1422703"/>
            <a:chOff x="7913825" y="3492365"/>
            <a:chExt cx="1928555" cy="981331"/>
          </a:xfrm>
        </p:grpSpPr>
        <p:grpSp>
          <p:nvGrpSpPr>
            <p:cNvPr id="84" name="グループ化 83">
              <a:extLst>
                <a:ext uri="{FF2B5EF4-FFF2-40B4-BE49-F238E27FC236}">
                  <a16:creationId xmlns:a16="http://schemas.microsoft.com/office/drawing/2014/main" id="{02971D01-25C4-4ACD-5EB6-71A43335D874}"/>
                </a:ext>
              </a:extLst>
            </p:cNvPr>
            <p:cNvGrpSpPr/>
            <p:nvPr/>
          </p:nvGrpSpPr>
          <p:grpSpPr>
            <a:xfrm>
              <a:off x="8306018" y="3492365"/>
              <a:ext cx="1272536" cy="667212"/>
              <a:chOff x="7854462" y="3429000"/>
              <a:chExt cx="1766275" cy="939800"/>
            </a:xfrm>
          </p:grpSpPr>
          <p:cxnSp>
            <p:nvCxnSpPr>
              <p:cNvPr id="72" name="直線コネクタ 71">
                <a:extLst>
                  <a:ext uri="{FF2B5EF4-FFF2-40B4-BE49-F238E27FC236}">
                    <a16:creationId xmlns:a16="http://schemas.microsoft.com/office/drawing/2014/main" id="{E00A6D4C-A772-33FD-B01D-C74F135D051B}"/>
                  </a:ext>
                </a:extLst>
              </p:cNvPr>
              <p:cNvCxnSpPr/>
              <p:nvPr/>
            </p:nvCxnSpPr>
            <p:spPr>
              <a:xfrm flipH="1">
                <a:off x="7854462" y="3898900"/>
                <a:ext cx="135508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6" name="グループ化 65">
                <a:extLst>
                  <a:ext uri="{FF2B5EF4-FFF2-40B4-BE49-F238E27FC236}">
                    <a16:creationId xmlns:a16="http://schemas.microsoft.com/office/drawing/2014/main" id="{F15719C9-279E-21CA-B4E4-BE11D4C2094D}"/>
                  </a:ext>
                </a:extLst>
              </p:cNvPr>
              <p:cNvGrpSpPr/>
              <p:nvPr/>
            </p:nvGrpSpPr>
            <p:grpSpPr>
              <a:xfrm>
                <a:off x="7971301" y="3429000"/>
                <a:ext cx="1444618" cy="939800"/>
                <a:chOff x="1892300" y="1651000"/>
                <a:chExt cx="2889236" cy="1879600"/>
              </a:xfrm>
            </p:grpSpPr>
            <p:grpSp>
              <p:nvGrpSpPr>
                <p:cNvPr id="41" name="グループ化 40">
                  <a:extLst>
                    <a:ext uri="{FF2B5EF4-FFF2-40B4-BE49-F238E27FC236}">
                      <a16:creationId xmlns:a16="http://schemas.microsoft.com/office/drawing/2014/main" id="{94936738-DBD0-6269-75D7-2E80E66FAE28}"/>
                    </a:ext>
                  </a:extLst>
                </p:cNvPr>
                <p:cNvGrpSpPr/>
                <p:nvPr/>
              </p:nvGrpSpPr>
              <p:grpSpPr>
                <a:xfrm>
                  <a:off x="1892300" y="1651000"/>
                  <a:ext cx="825500" cy="1879600"/>
                  <a:chOff x="1892300" y="1651000"/>
                  <a:chExt cx="825500" cy="1879600"/>
                </a:xfrm>
              </p:grpSpPr>
              <p:sp>
                <p:nvSpPr>
                  <p:cNvPr id="42" name="円/楕円 41">
                    <a:extLst>
                      <a:ext uri="{FF2B5EF4-FFF2-40B4-BE49-F238E27FC236}">
                        <a16:creationId xmlns:a16="http://schemas.microsoft.com/office/drawing/2014/main" id="{9D5B5760-0769-031D-85ED-34CB18FD0E76}"/>
                      </a:ext>
                    </a:extLst>
                  </p:cNvPr>
                  <p:cNvSpPr/>
                  <p:nvPr/>
                </p:nvSpPr>
                <p:spPr>
                  <a:xfrm>
                    <a:off x="1892300" y="1651000"/>
                    <a:ext cx="825500" cy="1879600"/>
                  </a:xfrm>
                  <a:prstGeom prst="ellipse">
                    <a:avLst/>
                  </a:prstGeom>
                  <a:solidFill>
                    <a:srgbClr val="FFFFFF">
                      <a:alpha val="80000"/>
                    </a:srgb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cxnSp>
                <p:nvCxnSpPr>
                  <p:cNvPr id="43" name="直線コネクタ 42">
                    <a:extLst>
                      <a:ext uri="{FF2B5EF4-FFF2-40B4-BE49-F238E27FC236}">
                        <a16:creationId xmlns:a16="http://schemas.microsoft.com/office/drawing/2014/main" id="{535C26A5-DBC1-D495-83A3-686C0857214F}"/>
                      </a:ext>
                    </a:extLst>
                  </p:cNvPr>
                  <p:cNvCxnSpPr>
                    <a:cxnSpLocks/>
                    <a:stCxn id="42" idx="0"/>
                    <a:endCxn id="42" idx="4"/>
                  </p:cNvCxnSpPr>
                  <p:nvPr/>
                </p:nvCxnSpPr>
                <p:spPr>
                  <a:xfrm>
                    <a:off x="2305050" y="1651000"/>
                    <a:ext cx="0" cy="1879600"/>
                  </a:xfrm>
                  <a:prstGeom prst="line">
                    <a:avLst/>
                  </a:prstGeom>
                  <a:ln w="9525">
                    <a:noFill/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直線コネクタ 43">
                    <a:extLst>
                      <a:ext uri="{FF2B5EF4-FFF2-40B4-BE49-F238E27FC236}">
                        <a16:creationId xmlns:a16="http://schemas.microsoft.com/office/drawing/2014/main" id="{F6A13398-BD6D-E71E-C54C-E87204446A25}"/>
                      </a:ext>
                    </a:extLst>
                  </p:cNvPr>
                  <p:cNvCxnSpPr>
                    <a:cxnSpLocks/>
                    <a:stCxn id="42" idx="6"/>
                    <a:endCxn id="42" idx="2"/>
                  </p:cNvCxnSpPr>
                  <p:nvPr/>
                </p:nvCxnSpPr>
                <p:spPr>
                  <a:xfrm flipH="1">
                    <a:off x="1892300" y="2590800"/>
                    <a:ext cx="825500" cy="0"/>
                  </a:xfrm>
                  <a:prstGeom prst="line">
                    <a:avLst/>
                  </a:prstGeom>
                  <a:ln w="9525">
                    <a:noFill/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直線矢印コネクタ 44">
                    <a:extLst>
                      <a:ext uri="{FF2B5EF4-FFF2-40B4-BE49-F238E27FC236}">
                        <a16:creationId xmlns:a16="http://schemas.microsoft.com/office/drawing/2014/main" id="{967FE876-54DB-51CA-C469-EC96A3D510A9}"/>
                      </a:ext>
                    </a:extLst>
                  </p:cNvPr>
                  <p:cNvCxnSpPr>
                    <a:cxnSpLocks/>
                    <a:endCxn id="42" idx="0"/>
                  </p:cNvCxnSpPr>
                  <p:nvPr/>
                </p:nvCxnSpPr>
                <p:spPr>
                  <a:xfrm flipV="1">
                    <a:off x="2305050" y="1651000"/>
                    <a:ext cx="0" cy="939800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6" name="グループ化 45">
                  <a:extLst>
                    <a:ext uri="{FF2B5EF4-FFF2-40B4-BE49-F238E27FC236}">
                      <a16:creationId xmlns:a16="http://schemas.microsoft.com/office/drawing/2014/main" id="{A89CEA06-26D2-04CC-0352-951C8139C736}"/>
                    </a:ext>
                  </a:extLst>
                </p:cNvPr>
                <p:cNvGrpSpPr/>
                <p:nvPr/>
              </p:nvGrpSpPr>
              <p:grpSpPr>
                <a:xfrm>
                  <a:off x="2408234" y="1651000"/>
                  <a:ext cx="825500" cy="1879600"/>
                  <a:chOff x="1892300" y="1651000"/>
                  <a:chExt cx="825500" cy="1879600"/>
                </a:xfrm>
              </p:grpSpPr>
              <p:sp>
                <p:nvSpPr>
                  <p:cNvPr id="47" name="円/楕円 46">
                    <a:extLst>
                      <a:ext uri="{FF2B5EF4-FFF2-40B4-BE49-F238E27FC236}">
                        <a16:creationId xmlns:a16="http://schemas.microsoft.com/office/drawing/2014/main" id="{B8AFA4B3-098D-502B-CD77-5EDC1550684C}"/>
                      </a:ext>
                    </a:extLst>
                  </p:cNvPr>
                  <p:cNvSpPr/>
                  <p:nvPr/>
                </p:nvSpPr>
                <p:spPr>
                  <a:xfrm>
                    <a:off x="1892300" y="1651000"/>
                    <a:ext cx="825500" cy="1879600"/>
                  </a:xfrm>
                  <a:prstGeom prst="ellipse">
                    <a:avLst/>
                  </a:prstGeom>
                  <a:solidFill>
                    <a:srgbClr val="FFFFFF">
                      <a:alpha val="80000"/>
                    </a:srgb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cxnSp>
                <p:nvCxnSpPr>
                  <p:cNvPr id="48" name="直線コネクタ 47">
                    <a:extLst>
                      <a:ext uri="{FF2B5EF4-FFF2-40B4-BE49-F238E27FC236}">
                        <a16:creationId xmlns:a16="http://schemas.microsoft.com/office/drawing/2014/main" id="{5CAECFD4-62B5-8B80-358E-90E48C10336A}"/>
                      </a:ext>
                    </a:extLst>
                  </p:cNvPr>
                  <p:cNvCxnSpPr>
                    <a:cxnSpLocks/>
                    <a:stCxn id="47" idx="0"/>
                    <a:endCxn id="47" idx="4"/>
                  </p:cNvCxnSpPr>
                  <p:nvPr/>
                </p:nvCxnSpPr>
                <p:spPr>
                  <a:xfrm>
                    <a:off x="2305050" y="1651000"/>
                    <a:ext cx="0" cy="1879600"/>
                  </a:xfrm>
                  <a:prstGeom prst="line">
                    <a:avLst/>
                  </a:prstGeom>
                  <a:ln w="9525">
                    <a:noFill/>
                    <a:prstDash val="solid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直線コネクタ 48">
                    <a:extLst>
                      <a:ext uri="{FF2B5EF4-FFF2-40B4-BE49-F238E27FC236}">
                        <a16:creationId xmlns:a16="http://schemas.microsoft.com/office/drawing/2014/main" id="{260B98AF-8177-E7E5-9567-B3383461A1BE}"/>
                      </a:ext>
                    </a:extLst>
                  </p:cNvPr>
                  <p:cNvCxnSpPr>
                    <a:cxnSpLocks/>
                    <a:stCxn id="47" idx="6"/>
                    <a:endCxn id="47" idx="2"/>
                  </p:cNvCxnSpPr>
                  <p:nvPr/>
                </p:nvCxnSpPr>
                <p:spPr>
                  <a:xfrm flipH="1">
                    <a:off x="1892300" y="2590800"/>
                    <a:ext cx="825500" cy="0"/>
                  </a:xfrm>
                  <a:prstGeom prst="line">
                    <a:avLst/>
                  </a:prstGeom>
                  <a:ln w="9525">
                    <a:noFill/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直線矢印コネクタ 49">
                    <a:extLst>
                      <a:ext uri="{FF2B5EF4-FFF2-40B4-BE49-F238E27FC236}">
                        <a16:creationId xmlns:a16="http://schemas.microsoft.com/office/drawing/2014/main" id="{004D18E2-9E12-7A30-A823-D682551B4E9F}"/>
                      </a:ext>
                    </a:extLst>
                  </p:cNvPr>
                  <p:cNvCxnSpPr>
                    <a:cxnSpLocks/>
                    <a:endCxn id="47" idx="7"/>
                  </p:cNvCxnSpPr>
                  <p:nvPr/>
                </p:nvCxnSpPr>
                <p:spPr>
                  <a:xfrm flipV="1">
                    <a:off x="2305050" y="1926261"/>
                    <a:ext cx="291858" cy="664539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1" name="グループ化 50">
                  <a:extLst>
                    <a:ext uri="{FF2B5EF4-FFF2-40B4-BE49-F238E27FC236}">
                      <a16:creationId xmlns:a16="http://schemas.microsoft.com/office/drawing/2014/main" id="{632ADB75-0E38-F06F-73CA-25C30DD2B5C7}"/>
                    </a:ext>
                  </a:extLst>
                </p:cNvPr>
                <p:cNvGrpSpPr/>
                <p:nvPr/>
              </p:nvGrpSpPr>
              <p:grpSpPr>
                <a:xfrm>
                  <a:off x="2924168" y="1651000"/>
                  <a:ext cx="825500" cy="1879600"/>
                  <a:chOff x="1892300" y="1651000"/>
                  <a:chExt cx="825500" cy="1879600"/>
                </a:xfrm>
              </p:grpSpPr>
              <p:sp>
                <p:nvSpPr>
                  <p:cNvPr id="52" name="円/楕円 51">
                    <a:extLst>
                      <a:ext uri="{FF2B5EF4-FFF2-40B4-BE49-F238E27FC236}">
                        <a16:creationId xmlns:a16="http://schemas.microsoft.com/office/drawing/2014/main" id="{40C58F76-25A4-33D3-FB83-AF89B34274DF}"/>
                      </a:ext>
                    </a:extLst>
                  </p:cNvPr>
                  <p:cNvSpPr/>
                  <p:nvPr/>
                </p:nvSpPr>
                <p:spPr>
                  <a:xfrm>
                    <a:off x="1892300" y="1651000"/>
                    <a:ext cx="825500" cy="1879600"/>
                  </a:xfrm>
                  <a:prstGeom prst="ellipse">
                    <a:avLst/>
                  </a:prstGeom>
                  <a:solidFill>
                    <a:srgbClr val="FFFFFF">
                      <a:alpha val="80000"/>
                    </a:srgb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cxnSp>
                <p:nvCxnSpPr>
                  <p:cNvPr id="53" name="直線コネクタ 52">
                    <a:extLst>
                      <a:ext uri="{FF2B5EF4-FFF2-40B4-BE49-F238E27FC236}">
                        <a16:creationId xmlns:a16="http://schemas.microsoft.com/office/drawing/2014/main" id="{052A1ED1-DAA1-D5BE-4E2E-B31066806847}"/>
                      </a:ext>
                    </a:extLst>
                  </p:cNvPr>
                  <p:cNvCxnSpPr>
                    <a:cxnSpLocks/>
                    <a:stCxn id="52" idx="0"/>
                    <a:endCxn id="52" idx="4"/>
                  </p:cNvCxnSpPr>
                  <p:nvPr/>
                </p:nvCxnSpPr>
                <p:spPr>
                  <a:xfrm>
                    <a:off x="2305050" y="1651000"/>
                    <a:ext cx="0" cy="1879600"/>
                  </a:xfrm>
                  <a:prstGeom prst="line">
                    <a:avLst/>
                  </a:prstGeom>
                  <a:ln w="9525">
                    <a:noFill/>
                    <a:prstDash val="solid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直線コネクタ 53">
                    <a:extLst>
                      <a:ext uri="{FF2B5EF4-FFF2-40B4-BE49-F238E27FC236}">
                        <a16:creationId xmlns:a16="http://schemas.microsoft.com/office/drawing/2014/main" id="{CBD2D822-9E1E-F048-F91D-5970B2A04B62}"/>
                      </a:ext>
                    </a:extLst>
                  </p:cNvPr>
                  <p:cNvCxnSpPr>
                    <a:cxnSpLocks/>
                    <a:stCxn id="52" idx="6"/>
                    <a:endCxn id="52" idx="2"/>
                  </p:cNvCxnSpPr>
                  <p:nvPr/>
                </p:nvCxnSpPr>
                <p:spPr>
                  <a:xfrm flipH="1">
                    <a:off x="1892300" y="2590800"/>
                    <a:ext cx="825500" cy="0"/>
                  </a:xfrm>
                  <a:prstGeom prst="line">
                    <a:avLst/>
                  </a:prstGeom>
                  <a:ln w="9525">
                    <a:noFill/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直線矢印コネクタ 54">
                    <a:extLst>
                      <a:ext uri="{FF2B5EF4-FFF2-40B4-BE49-F238E27FC236}">
                        <a16:creationId xmlns:a16="http://schemas.microsoft.com/office/drawing/2014/main" id="{594D6E03-45E6-E1F1-BF04-2A0BF1253620}"/>
                      </a:ext>
                    </a:extLst>
                  </p:cNvPr>
                  <p:cNvCxnSpPr>
                    <a:cxnSpLocks/>
                    <a:endCxn id="52" idx="5"/>
                  </p:cNvCxnSpPr>
                  <p:nvPr/>
                </p:nvCxnSpPr>
                <p:spPr>
                  <a:xfrm>
                    <a:off x="2305050" y="2590800"/>
                    <a:ext cx="291858" cy="664539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6" name="グループ化 55">
                  <a:extLst>
                    <a:ext uri="{FF2B5EF4-FFF2-40B4-BE49-F238E27FC236}">
                      <a16:creationId xmlns:a16="http://schemas.microsoft.com/office/drawing/2014/main" id="{BDA066CB-5578-F0D9-12FC-64103ECA44E4}"/>
                    </a:ext>
                  </a:extLst>
                </p:cNvPr>
                <p:cNvGrpSpPr/>
                <p:nvPr/>
              </p:nvGrpSpPr>
              <p:grpSpPr>
                <a:xfrm>
                  <a:off x="3440102" y="1651000"/>
                  <a:ext cx="825500" cy="1879600"/>
                  <a:chOff x="1892300" y="1651000"/>
                  <a:chExt cx="825500" cy="1879600"/>
                </a:xfrm>
              </p:grpSpPr>
              <p:sp>
                <p:nvSpPr>
                  <p:cNvPr id="57" name="円/楕円 56">
                    <a:extLst>
                      <a:ext uri="{FF2B5EF4-FFF2-40B4-BE49-F238E27FC236}">
                        <a16:creationId xmlns:a16="http://schemas.microsoft.com/office/drawing/2014/main" id="{09ECE4C2-AA98-BB74-6825-65A4B325E46B}"/>
                      </a:ext>
                    </a:extLst>
                  </p:cNvPr>
                  <p:cNvSpPr/>
                  <p:nvPr/>
                </p:nvSpPr>
                <p:spPr>
                  <a:xfrm>
                    <a:off x="1892300" y="1651000"/>
                    <a:ext cx="825500" cy="1879600"/>
                  </a:xfrm>
                  <a:prstGeom prst="ellipse">
                    <a:avLst/>
                  </a:prstGeom>
                  <a:solidFill>
                    <a:srgbClr val="FFFFFF">
                      <a:alpha val="80000"/>
                    </a:srgb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cxnSp>
                <p:nvCxnSpPr>
                  <p:cNvPr id="58" name="直線コネクタ 57">
                    <a:extLst>
                      <a:ext uri="{FF2B5EF4-FFF2-40B4-BE49-F238E27FC236}">
                        <a16:creationId xmlns:a16="http://schemas.microsoft.com/office/drawing/2014/main" id="{74621BC1-C09D-7166-11EF-655D9134BD43}"/>
                      </a:ext>
                    </a:extLst>
                  </p:cNvPr>
                  <p:cNvCxnSpPr>
                    <a:cxnSpLocks/>
                    <a:stCxn id="57" idx="0"/>
                    <a:endCxn id="57" idx="4"/>
                  </p:cNvCxnSpPr>
                  <p:nvPr/>
                </p:nvCxnSpPr>
                <p:spPr>
                  <a:xfrm>
                    <a:off x="2305050" y="1651000"/>
                    <a:ext cx="0" cy="1879600"/>
                  </a:xfrm>
                  <a:prstGeom prst="line">
                    <a:avLst/>
                  </a:prstGeom>
                  <a:ln w="9525">
                    <a:noFill/>
                    <a:prstDash val="solid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直線コネクタ 58">
                    <a:extLst>
                      <a:ext uri="{FF2B5EF4-FFF2-40B4-BE49-F238E27FC236}">
                        <a16:creationId xmlns:a16="http://schemas.microsoft.com/office/drawing/2014/main" id="{98CC0141-5876-2848-8205-A7B407D01156}"/>
                      </a:ext>
                    </a:extLst>
                  </p:cNvPr>
                  <p:cNvCxnSpPr>
                    <a:cxnSpLocks/>
                    <a:stCxn id="57" idx="6"/>
                    <a:endCxn id="57" idx="2"/>
                  </p:cNvCxnSpPr>
                  <p:nvPr/>
                </p:nvCxnSpPr>
                <p:spPr>
                  <a:xfrm flipH="1">
                    <a:off x="1892300" y="2590800"/>
                    <a:ext cx="825500" cy="0"/>
                  </a:xfrm>
                  <a:prstGeom prst="line">
                    <a:avLst/>
                  </a:prstGeom>
                  <a:ln w="9525">
                    <a:noFill/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直線矢印コネクタ 59">
                    <a:extLst>
                      <a:ext uri="{FF2B5EF4-FFF2-40B4-BE49-F238E27FC236}">
                        <a16:creationId xmlns:a16="http://schemas.microsoft.com/office/drawing/2014/main" id="{776DA987-2C96-A4FF-56A0-46D3CB52A03C}"/>
                      </a:ext>
                    </a:extLst>
                  </p:cNvPr>
                  <p:cNvCxnSpPr>
                    <a:cxnSpLocks/>
                    <a:endCxn id="57" idx="3"/>
                  </p:cNvCxnSpPr>
                  <p:nvPr/>
                </p:nvCxnSpPr>
                <p:spPr>
                  <a:xfrm flipH="1">
                    <a:off x="2013192" y="2590800"/>
                    <a:ext cx="291858" cy="664539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1" name="グループ化 60">
                  <a:extLst>
                    <a:ext uri="{FF2B5EF4-FFF2-40B4-BE49-F238E27FC236}">
                      <a16:creationId xmlns:a16="http://schemas.microsoft.com/office/drawing/2014/main" id="{DAF38352-CF51-A95C-7586-65CF28BF3432}"/>
                    </a:ext>
                  </a:extLst>
                </p:cNvPr>
                <p:cNvGrpSpPr/>
                <p:nvPr/>
              </p:nvGrpSpPr>
              <p:grpSpPr>
                <a:xfrm>
                  <a:off x="3956036" y="1651000"/>
                  <a:ext cx="825500" cy="1879600"/>
                  <a:chOff x="1892300" y="1651000"/>
                  <a:chExt cx="825500" cy="1879600"/>
                </a:xfrm>
              </p:grpSpPr>
              <p:sp>
                <p:nvSpPr>
                  <p:cNvPr id="62" name="円/楕円 61">
                    <a:extLst>
                      <a:ext uri="{FF2B5EF4-FFF2-40B4-BE49-F238E27FC236}">
                        <a16:creationId xmlns:a16="http://schemas.microsoft.com/office/drawing/2014/main" id="{6D0B72E6-4FA6-3380-0E33-A00B0D142BF8}"/>
                      </a:ext>
                    </a:extLst>
                  </p:cNvPr>
                  <p:cNvSpPr/>
                  <p:nvPr/>
                </p:nvSpPr>
                <p:spPr>
                  <a:xfrm>
                    <a:off x="1892300" y="1651000"/>
                    <a:ext cx="825500" cy="1879600"/>
                  </a:xfrm>
                  <a:prstGeom prst="ellipse">
                    <a:avLst/>
                  </a:prstGeom>
                  <a:solidFill>
                    <a:srgbClr val="FFFFFF">
                      <a:alpha val="80000"/>
                    </a:srgb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cxnSp>
                <p:nvCxnSpPr>
                  <p:cNvPr id="63" name="直線コネクタ 62">
                    <a:extLst>
                      <a:ext uri="{FF2B5EF4-FFF2-40B4-BE49-F238E27FC236}">
                        <a16:creationId xmlns:a16="http://schemas.microsoft.com/office/drawing/2014/main" id="{CB25F6A3-6B1B-8269-2AC3-40A55140CDE4}"/>
                      </a:ext>
                    </a:extLst>
                  </p:cNvPr>
                  <p:cNvCxnSpPr>
                    <a:cxnSpLocks/>
                    <a:stCxn id="62" idx="0"/>
                    <a:endCxn id="62" idx="4"/>
                  </p:cNvCxnSpPr>
                  <p:nvPr/>
                </p:nvCxnSpPr>
                <p:spPr>
                  <a:xfrm>
                    <a:off x="2305050" y="1651000"/>
                    <a:ext cx="0" cy="1879600"/>
                  </a:xfrm>
                  <a:prstGeom prst="line">
                    <a:avLst/>
                  </a:prstGeom>
                  <a:ln w="9525">
                    <a:noFill/>
                    <a:prstDash val="solid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直線コネクタ 63">
                    <a:extLst>
                      <a:ext uri="{FF2B5EF4-FFF2-40B4-BE49-F238E27FC236}">
                        <a16:creationId xmlns:a16="http://schemas.microsoft.com/office/drawing/2014/main" id="{103A9DCC-F6D0-50B1-17E1-7D108240B18F}"/>
                      </a:ext>
                    </a:extLst>
                  </p:cNvPr>
                  <p:cNvCxnSpPr>
                    <a:cxnSpLocks/>
                    <a:stCxn id="62" idx="6"/>
                    <a:endCxn id="62" idx="2"/>
                  </p:cNvCxnSpPr>
                  <p:nvPr/>
                </p:nvCxnSpPr>
                <p:spPr>
                  <a:xfrm flipH="1">
                    <a:off x="1892300" y="2590800"/>
                    <a:ext cx="825500" cy="0"/>
                  </a:xfrm>
                  <a:prstGeom prst="line">
                    <a:avLst/>
                  </a:prstGeom>
                  <a:ln w="9525">
                    <a:noFill/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直線矢印コネクタ 64">
                    <a:extLst>
                      <a:ext uri="{FF2B5EF4-FFF2-40B4-BE49-F238E27FC236}">
                        <a16:creationId xmlns:a16="http://schemas.microsoft.com/office/drawing/2014/main" id="{7B0C2818-AEA2-7005-7B24-E8A7C92FDDC0}"/>
                      </a:ext>
                    </a:extLst>
                  </p:cNvPr>
                  <p:cNvCxnSpPr>
                    <a:cxnSpLocks/>
                    <a:endCxn id="62" idx="1"/>
                  </p:cNvCxnSpPr>
                  <p:nvPr/>
                </p:nvCxnSpPr>
                <p:spPr>
                  <a:xfrm flipH="1" flipV="1">
                    <a:off x="2013192" y="1926261"/>
                    <a:ext cx="291858" cy="664539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67" name="直線矢印コネクタ 66">
                <a:extLst>
                  <a:ext uri="{FF2B5EF4-FFF2-40B4-BE49-F238E27FC236}">
                    <a16:creationId xmlns:a16="http://schemas.microsoft.com/office/drawing/2014/main" id="{B526424E-C23A-1754-A6DA-8FB750D6FB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48619" y="3898900"/>
                <a:ext cx="372118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5" name="テキスト ボックス 84">
              <a:extLst>
                <a:ext uri="{FF2B5EF4-FFF2-40B4-BE49-F238E27FC236}">
                  <a16:creationId xmlns:a16="http://schemas.microsoft.com/office/drawing/2014/main" id="{CD9A7EBC-650D-B926-8A39-CB8E01F75CD7}"/>
                </a:ext>
              </a:extLst>
            </p:cNvPr>
            <p:cNvSpPr txBox="1"/>
            <p:nvPr/>
          </p:nvSpPr>
          <p:spPr>
            <a:xfrm>
              <a:off x="7913825" y="4194530"/>
              <a:ext cx="1928555" cy="279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30" dirty="0">
                  <a:latin typeface="Helvetica" pitchFamily="2" charset="0"/>
                </a:rPr>
                <a:t>Non-collinear structure</a:t>
              </a:r>
              <a:endParaRPr lang="ja-JP" altLang="en-US" sz="2030">
                <a:latin typeface="Helvetica" pitchFamily="2" charset="0"/>
              </a:endParaRPr>
            </a:p>
          </p:txBody>
        </p:sp>
      </p:grp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7E5A0D73-8D81-46AE-2FE6-89DB43970331}"/>
              </a:ext>
            </a:extLst>
          </p:cNvPr>
          <p:cNvSpPr txBox="1"/>
          <p:nvPr/>
        </p:nvSpPr>
        <p:spPr>
          <a:xfrm>
            <a:off x="9018984" y="1892552"/>
            <a:ext cx="595035" cy="493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610" dirty="0">
                <a:latin typeface="Helvetica" pitchFamily="2" charset="0"/>
              </a:rPr>
              <a:t>(a)</a:t>
            </a:r>
            <a:endParaRPr lang="ja-JP" altLang="en-US" sz="2610">
              <a:latin typeface="Helvetica" pitchFamily="2" charset="0"/>
            </a:endParaRPr>
          </a:p>
        </p:txBody>
      </p:sp>
      <p:grpSp>
        <p:nvGrpSpPr>
          <p:cNvPr id="129" name="グループ化 128">
            <a:extLst>
              <a:ext uri="{FF2B5EF4-FFF2-40B4-BE49-F238E27FC236}">
                <a16:creationId xmlns:a16="http://schemas.microsoft.com/office/drawing/2014/main" id="{3543EC39-541F-8B19-20A9-4927475DA74E}"/>
              </a:ext>
            </a:extLst>
          </p:cNvPr>
          <p:cNvGrpSpPr/>
          <p:nvPr/>
        </p:nvGrpSpPr>
        <p:grpSpPr>
          <a:xfrm>
            <a:off x="13761803" y="2160274"/>
            <a:ext cx="2291013" cy="1691767"/>
            <a:chOff x="8079980" y="695657"/>
            <a:chExt cx="1580261" cy="1166922"/>
          </a:xfrm>
        </p:grpSpPr>
        <p:sp>
          <p:nvSpPr>
            <p:cNvPr id="86" name="テキスト ボックス 85">
              <a:extLst>
                <a:ext uri="{FF2B5EF4-FFF2-40B4-BE49-F238E27FC236}">
                  <a16:creationId xmlns:a16="http://schemas.microsoft.com/office/drawing/2014/main" id="{CEEC7002-E31A-24E9-7095-5A2CA0526739}"/>
                </a:ext>
              </a:extLst>
            </p:cNvPr>
            <p:cNvSpPr txBox="1"/>
            <p:nvPr/>
          </p:nvSpPr>
          <p:spPr>
            <a:xfrm>
              <a:off x="8079980" y="1583413"/>
              <a:ext cx="1580261" cy="279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30" dirty="0">
                  <a:latin typeface="Helvetica" pitchFamily="2" charset="0"/>
                </a:rPr>
                <a:t>Collinear structure</a:t>
              </a:r>
              <a:endParaRPr lang="ja-JP" altLang="en-US" sz="2030">
                <a:latin typeface="Helvetica" pitchFamily="2" charset="0"/>
              </a:endParaRPr>
            </a:p>
          </p:txBody>
        </p:sp>
        <p:grpSp>
          <p:nvGrpSpPr>
            <p:cNvPr id="92" name="グループ化 91">
              <a:extLst>
                <a:ext uri="{FF2B5EF4-FFF2-40B4-BE49-F238E27FC236}">
                  <a16:creationId xmlns:a16="http://schemas.microsoft.com/office/drawing/2014/main" id="{4C5F6D02-EDDF-EE7B-1C0A-B21961B82840}"/>
                </a:ext>
              </a:extLst>
            </p:cNvPr>
            <p:cNvGrpSpPr/>
            <p:nvPr/>
          </p:nvGrpSpPr>
          <p:grpSpPr>
            <a:xfrm>
              <a:off x="8306151" y="695657"/>
              <a:ext cx="1229574" cy="888749"/>
              <a:chOff x="5985394" y="1336431"/>
              <a:chExt cx="3940484" cy="2289907"/>
            </a:xfrm>
            <a:solidFill>
              <a:schemeClr val="bg1">
                <a:lumMod val="65000"/>
              </a:schemeClr>
            </a:solidFill>
          </p:grpSpPr>
          <p:cxnSp>
            <p:nvCxnSpPr>
              <p:cNvPr id="93" name="カギ線コネクタ 92">
                <a:extLst>
                  <a:ext uri="{FF2B5EF4-FFF2-40B4-BE49-F238E27FC236}">
                    <a16:creationId xmlns:a16="http://schemas.microsoft.com/office/drawing/2014/main" id="{54CDB21E-1B45-E488-C730-237A24CCC2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57942" y="1336431"/>
                <a:ext cx="2484000" cy="2289907"/>
              </a:xfrm>
              <a:prstGeom prst="bentConnector3">
                <a:avLst>
                  <a:gd name="adj1" fmla="val 75606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上矢印 93">
                <a:extLst>
                  <a:ext uri="{FF2B5EF4-FFF2-40B4-BE49-F238E27FC236}">
                    <a16:creationId xmlns:a16="http://schemas.microsoft.com/office/drawing/2014/main" id="{35DD79A2-B951-09EA-7930-48D59ED82806}"/>
                  </a:ext>
                </a:extLst>
              </p:cNvPr>
              <p:cNvSpPr/>
              <p:nvPr/>
            </p:nvSpPr>
            <p:spPr>
              <a:xfrm>
                <a:off x="6150707" y="1402118"/>
                <a:ext cx="484632" cy="1078523"/>
              </a:xfrm>
              <a:prstGeom prst="upArrow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95" name="上矢印 94">
                <a:extLst>
                  <a:ext uri="{FF2B5EF4-FFF2-40B4-BE49-F238E27FC236}">
                    <a16:creationId xmlns:a16="http://schemas.microsoft.com/office/drawing/2014/main" id="{6D6F0576-9F0B-59EB-FB27-48D7A3678B2B}"/>
                  </a:ext>
                </a:extLst>
              </p:cNvPr>
              <p:cNvSpPr/>
              <p:nvPr/>
            </p:nvSpPr>
            <p:spPr>
              <a:xfrm>
                <a:off x="6717245" y="1402117"/>
                <a:ext cx="484632" cy="1078523"/>
              </a:xfrm>
              <a:prstGeom prst="upArrow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96" name="上矢印 95">
                <a:extLst>
                  <a:ext uri="{FF2B5EF4-FFF2-40B4-BE49-F238E27FC236}">
                    <a16:creationId xmlns:a16="http://schemas.microsoft.com/office/drawing/2014/main" id="{97BDC94A-C13A-DF62-135B-15ED5386D911}"/>
                  </a:ext>
                </a:extLst>
              </p:cNvPr>
              <p:cNvSpPr/>
              <p:nvPr/>
            </p:nvSpPr>
            <p:spPr>
              <a:xfrm>
                <a:off x="7315199" y="1402115"/>
                <a:ext cx="484632" cy="1078523"/>
              </a:xfrm>
              <a:prstGeom prst="upArrow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97" name="上矢印 96">
                <a:extLst>
                  <a:ext uri="{FF2B5EF4-FFF2-40B4-BE49-F238E27FC236}">
                    <a16:creationId xmlns:a16="http://schemas.microsoft.com/office/drawing/2014/main" id="{E8EB98FE-F2F2-DC02-31E8-DE449A8B7CD8}"/>
                  </a:ext>
                </a:extLst>
              </p:cNvPr>
              <p:cNvSpPr/>
              <p:nvPr/>
            </p:nvSpPr>
            <p:spPr>
              <a:xfrm rot="10800000">
                <a:off x="7969047" y="2499173"/>
                <a:ext cx="484632" cy="1078523"/>
              </a:xfrm>
              <a:prstGeom prst="upArrow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98" name="直線矢印コネクタ 97">
                <a:extLst>
                  <a:ext uri="{FF2B5EF4-FFF2-40B4-BE49-F238E27FC236}">
                    <a16:creationId xmlns:a16="http://schemas.microsoft.com/office/drawing/2014/main" id="{6AE9A925-1746-47DF-3A21-B61733AB48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85394" y="2480638"/>
                <a:ext cx="3940484" cy="1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カギ線コネクタ 98">
                <a:extLst>
                  <a:ext uri="{FF2B5EF4-FFF2-40B4-BE49-F238E27FC236}">
                    <a16:creationId xmlns:a16="http://schemas.microsoft.com/office/drawing/2014/main" id="{E892F62E-DAA9-BB3B-BF9F-0581C91743AB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8470092" y="1336431"/>
                <a:ext cx="1296000" cy="2289160"/>
              </a:xfrm>
              <a:prstGeom prst="bentConnector3">
                <a:avLst>
                  <a:gd name="adj1" fmla="val 50000"/>
                </a:avLst>
              </a:prstGeom>
              <a:grpFill/>
              <a:ln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上矢印 99">
                <a:extLst>
                  <a:ext uri="{FF2B5EF4-FFF2-40B4-BE49-F238E27FC236}">
                    <a16:creationId xmlns:a16="http://schemas.microsoft.com/office/drawing/2014/main" id="{68B22792-698B-880C-9EA5-34870C4162CC}"/>
                  </a:ext>
                </a:extLst>
              </p:cNvPr>
              <p:cNvSpPr/>
              <p:nvPr/>
            </p:nvSpPr>
            <p:spPr>
              <a:xfrm rot="10800000">
                <a:off x="8535586" y="2499172"/>
                <a:ext cx="484632" cy="1078523"/>
              </a:xfrm>
              <a:prstGeom prst="upArrow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756536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9CE573E1-40E2-B12C-0A3D-AB676A6B2101}"/>
              </a:ext>
            </a:extLst>
          </p:cNvPr>
          <p:cNvGrpSpPr/>
          <p:nvPr/>
        </p:nvGrpSpPr>
        <p:grpSpPr>
          <a:xfrm>
            <a:off x="-3356338" y="3594400"/>
            <a:ext cx="1196784" cy="2724985"/>
            <a:chOff x="1892300" y="1651000"/>
            <a:chExt cx="825500" cy="1879600"/>
          </a:xfrm>
        </p:grpSpPr>
        <p:sp>
          <p:nvSpPr>
            <p:cNvPr id="4" name="円/楕円 3">
              <a:extLst>
                <a:ext uri="{FF2B5EF4-FFF2-40B4-BE49-F238E27FC236}">
                  <a16:creationId xmlns:a16="http://schemas.microsoft.com/office/drawing/2014/main" id="{4EF3A4F3-D4D5-B360-19B5-0A69E82DC8CD}"/>
                </a:ext>
              </a:extLst>
            </p:cNvPr>
            <p:cNvSpPr/>
            <p:nvPr/>
          </p:nvSpPr>
          <p:spPr>
            <a:xfrm>
              <a:off x="1892300" y="1651000"/>
              <a:ext cx="825500" cy="1879600"/>
            </a:xfrm>
            <a:prstGeom prst="ellipse">
              <a:avLst/>
            </a:prstGeom>
            <a:solidFill>
              <a:srgbClr val="FFFFFF">
                <a:alpha val="3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D1B964F2-2DDB-5FFE-3D80-C647766C7FA0}"/>
                </a:ext>
              </a:extLst>
            </p:cNvPr>
            <p:cNvCxnSpPr>
              <a:cxnSpLocks/>
              <a:stCxn id="4" idx="0"/>
              <a:endCxn id="4" idx="4"/>
            </p:cNvCxnSpPr>
            <p:nvPr/>
          </p:nvCxnSpPr>
          <p:spPr>
            <a:xfrm>
              <a:off x="2305050" y="1651000"/>
              <a:ext cx="0" cy="1879600"/>
            </a:xfrm>
            <a:prstGeom prst="line">
              <a:avLst/>
            </a:prstGeom>
            <a:ln w="9525">
              <a:noFill/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5C38E61E-E67C-BB10-7729-F8D7904050EA}"/>
                </a:ext>
              </a:extLst>
            </p:cNvPr>
            <p:cNvCxnSpPr>
              <a:cxnSpLocks/>
              <a:stCxn id="4" idx="6"/>
              <a:endCxn id="4" idx="2"/>
            </p:cNvCxnSpPr>
            <p:nvPr/>
          </p:nvCxnSpPr>
          <p:spPr>
            <a:xfrm flipH="1">
              <a:off x="1892300" y="2590800"/>
              <a:ext cx="825500" cy="0"/>
            </a:xfrm>
            <a:prstGeom prst="line">
              <a:avLst/>
            </a:prstGeom>
            <a:ln w="9525">
              <a:noFill/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135F19F6-0C92-85B2-CB7F-C7C45C4DD9C1}"/>
                </a:ext>
              </a:extLst>
            </p:cNvPr>
            <p:cNvCxnSpPr>
              <a:cxnSpLocks/>
              <a:endCxn id="4" idx="0"/>
            </p:cNvCxnSpPr>
            <p:nvPr/>
          </p:nvCxnSpPr>
          <p:spPr>
            <a:xfrm flipV="1">
              <a:off x="2305050" y="1651000"/>
              <a:ext cx="0" cy="939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548DB3A-1E5E-C65C-C5BC-13F84210AEBF}"/>
              </a:ext>
            </a:extLst>
          </p:cNvPr>
          <p:cNvGrpSpPr/>
          <p:nvPr/>
        </p:nvGrpSpPr>
        <p:grpSpPr>
          <a:xfrm>
            <a:off x="-2608352" y="3594400"/>
            <a:ext cx="1196784" cy="2724985"/>
            <a:chOff x="1892300" y="1651000"/>
            <a:chExt cx="825500" cy="1879600"/>
          </a:xfrm>
        </p:grpSpPr>
        <p:sp>
          <p:nvSpPr>
            <p:cNvPr id="23" name="円/楕円 22">
              <a:extLst>
                <a:ext uri="{FF2B5EF4-FFF2-40B4-BE49-F238E27FC236}">
                  <a16:creationId xmlns:a16="http://schemas.microsoft.com/office/drawing/2014/main" id="{A473807E-0273-3E1C-1249-67A8A3F105A8}"/>
                </a:ext>
              </a:extLst>
            </p:cNvPr>
            <p:cNvSpPr/>
            <p:nvPr/>
          </p:nvSpPr>
          <p:spPr>
            <a:xfrm>
              <a:off x="1892300" y="1651000"/>
              <a:ext cx="825500" cy="1879600"/>
            </a:xfrm>
            <a:prstGeom prst="ellips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2DAC6CB4-46F9-4759-5D45-E5A6BC3AC4F6}"/>
                </a:ext>
              </a:extLst>
            </p:cNvPr>
            <p:cNvCxnSpPr>
              <a:cxnSpLocks/>
              <a:stCxn id="23" idx="0"/>
              <a:endCxn id="23" idx="4"/>
            </p:cNvCxnSpPr>
            <p:nvPr/>
          </p:nvCxnSpPr>
          <p:spPr>
            <a:xfrm>
              <a:off x="2305050" y="1651000"/>
              <a:ext cx="0" cy="1879600"/>
            </a:xfrm>
            <a:prstGeom prst="line">
              <a:avLst/>
            </a:prstGeom>
            <a:ln w="9525">
              <a:noFill/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1F3A69B5-1756-B90A-17E0-A721D285EA0B}"/>
                </a:ext>
              </a:extLst>
            </p:cNvPr>
            <p:cNvCxnSpPr>
              <a:cxnSpLocks/>
              <a:stCxn id="23" idx="6"/>
              <a:endCxn id="23" idx="2"/>
            </p:cNvCxnSpPr>
            <p:nvPr/>
          </p:nvCxnSpPr>
          <p:spPr>
            <a:xfrm flipH="1">
              <a:off x="1892300" y="2590800"/>
              <a:ext cx="825500" cy="0"/>
            </a:xfrm>
            <a:prstGeom prst="line">
              <a:avLst/>
            </a:prstGeom>
            <a:ln w="9525">
              <a:noFill/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矢印コネクタ 25">
              <a:extLst>
                <a:ext uri="{FF2B5EF4-FFF2-40B4-BE49-F238E27FC236}">
                  <a16:creationId xmlns:a16="http://schemas.microsoft.com/office/drawing/2014/main" id="{C0C12010-A623-3FC4-603E-6B218380228B}"/>
                </a:ext>
              </a:extLst>
            </p:cNvPr>
            <p:cNvCxnSpPr>
              <a:cxnSpLocks/>
              <a:endCxn id="23" idx="7"/>
            </p:cNvCxnSpPr>
            <p:nvPr/>
          </p:nvCxnSpPr>
          <p:spPr>
            <a:xfrm flipV="1">
              <a:off x="2305050" y="1926261"/>
              <a:ext cx="291858" cy="6645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B64E52AE-2379-C5F9-443F-5E20E035278F}"/>
              </a:ext>
            </a:extLst>
          </p:cNvPr>
          <p:cNvGrpSpPr/>
          <p:nvPr/>
        </p:nvGrpSpPr>
        <p:grpSpPr>
          <a:xfrm>
            <a:off x="-1860368" y="3594400"/>
            <a:ext cx="1196784" cy="2724985"/>
            <a:chOff x="1892300" y="1651000"/>
            <a:chExt cx="825500" cy="1879600"/>
          </a:xfrm>
        </p:grpSpPr>
        <p:sp>
          <p:nvSpPr>
            <p:cNvPr id="46" name="円/楕円 45">
              <a:extLst>
                <a:ext uri="{FF2B5EF4-FFF2-40B4-BE49-F238E27FC236}">
                  <a16:creationId xmlns:a16="http://schemas.microsoft.com/office/drawing/2014/main" id="{01AADD03-92C5-6992-83C9-E6571C1504F7}"/>
                </a:ext>
              </a:extLst>
            </p:cNvPr>
            <p:cNvSpPr/>
            <p:nvPr/>
          </p:nvSpPr>
          <p:spPr>
            <a:xfrm>
              <a:off x="1892300" y="1651000"/>
              <a:ext cx="825500" cy="1879600"/>
            </a:xfrm>
            <a:prstGeom prst="ellips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894C4084-D97F-12B6-70DC-D26B2DF8B5ED}"/>
                </a:ext>
              </a:extLst>
            </p:cNvPr>
            <p:cNvCxnSpPr>
              <a:cxnSpLocks/>
              <a:stCxn id="46" idx="0"/>
              <a:endCxn id="46" idx="4"/>
            </p:cNvCxnSpPr>
            <p:nvPr/>
          </p:nvCxnSpPr>
          <p:spPr>
            <a:xfrm>
              <a:off x="2305050" y="1651000"/>
              <a:ext cx="0" cy="1879600"/>
            </a:xfrm>
            <a:prstGeom prst="line">
              <a:avLst/>
            </a:prstGeom>
            <a:ln w="9525">
              <a:noFill/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コネクタ 47">
              <a:extLst>
                <a:ext uri="{FF2B5EF4-FFF2-40B4-BE49-F238E27FC236}">
                  <a16:creationId xmlns:a16="http://schemas.microsoft.com/office/drawing/2014/main" id="{249692BC-BAD9-17A3-C5EA-2E90520B73D3}"/>
                </a:ext>
              </a:extLst>
            </p:cNvPr>
            <p:cNvCxnSpPr>
              <a:cxnSpLocks/>
              <a:stCxn id="46" idx="6"/>
              <a:endCxn id="46" idx="2"/>
            </p:cNvCxnSpPr>
            <p:nvPr/>
          </p:nvCxnSpPr>
          <p:spPr>
            <a:xfrm flipH="1">
              <a:off x="1892300" y="2590800"/>
              <a:ext cx="825500" cy="0"/>
            </a:xfrm>
            <a:prstGeom prst="line">
              <a:avLst/>
            </a:prstGeom>
            <a:ln w="9525">
              <a:noFill/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矢印コネクタ 48">
              <a:extLst>
                <a:ext uri="{FF2B5EF4-FFF2-40B4-BE49-F238E27FC236}">
                  <a16:creationId xmlns:a16="http://schemas.microsoft.com/office/drawing/2014/main" id="{14557FB4-6F03-60C6-617A-56599813B0C3}"/>
                </a:ext>
              </a:extLst>
            </p:cNvPr>
            <p:cNvCxnSpPr>
              <a:cxnSpLocks/>
              <a:endCxn id="46" idx="5"/>
            </p:cNvCxnSpPr>
            <p:nvPr/>
          </p:nvCxnSpPr>
          <p:spPr>
            <a:xfrm>
              <a:off x="2305050" y="2590800"/>
              <a:ext cx="291858" cy="6645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FC6B695A-50A6-02FB-7D4B-28B084273D84}"/>
              </a:ext>
            </a:extLst>
          </p:cNvPr>
          <p:cNvGrpSpPr/>
          <p:nvPr/>
        </p:nvGrpSpPr>
        <p:grpSpPr>
          <a:xfrm>
            <a:off x="4801055" y="3594400"/>
            <a:ext cx="1196784" cy="2724985"/>
            <a:chOff x="1892300" y="1651000"/>
            <a:chExt cx="825500" cy="1879600"/>
          </a:xfrm>
        </p:grpSpPr>
        <p:sp>
          <p:nvSpPr>
            <p:cNvPr id="52" name="円/楕円 51">
              <a:extLst>
                <a:ext uri="{FF2B5EF4-FFF2-40B4-BE49-F238E27FC236}">
                  <a16:creationId xmlns:a16="http://schemas.microsoft.com/office/drawing/2014/main" id="{14C36BBB-6983-77A3-9114-56B358ED009C}"/>
                </a:ext>
              </a:extLst>
            </p:cNvPr>
            <p:cNvSpPr/>
            <p:nvPr/>
          </p:nvSpPr>
          <p:spPr>
            <a:xfrm>
              <a:off x="1892300" y="1651000"/>
              <a:ext cx="825500" cy="1879600"/>
            </a:xfrm>
            <a:prstGeom prst="ellips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53" name="直線コネクタ 52">
              <a:extLst>
                <a:ext uri="{FF2B5EF4-FFF2-40B4-BE49-F238E27FC236}">
                  <a16:creationId xmlns:a16="http://schemas.microsoft.com/office/drawing/2014/main" id="{0A070D66-CCB6-B840-EF17-A41124F35BF1}"/>
                </a:ext>
              </a:extLst>
            </p:cNvPr>
            <p:cNvCxnSpPr>
              <a:cxnSpLocks/>
              <a:stCxn id="52" idx="0"/>
              <a:endCxn id="52" idx="4"/>
            </p:cNvCxnSpPr>
            <p:nvPr/>
          </p:nvCxnSpPr>
          <p:spPr>
            <a:xfrm>
              <a:off x="2305050" y="1651000"/>
              <a:ext cx="0" cy="1879600"/>
            </a:xfrm>
            <a:prstGeom prst="line">
              <a:avLst/>
            </a:prstGeom>
            <a:ln w="9525">
              <a:noFill/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コネクタ 53">
              <a:extLst>
                <a:ext uri="{FF2B5EF4-FFF2-40B4-BE49-F238E27FC236}">
                  <a16:creationId xmlns:a16="http://schemas.microsoft.com/office/drawing/2014/main" id="{A7EAA228-217A-0F86-DE75-F257F4BD0195}"/>
                </a:ext>
              </a:extLst>
            </p:cNvPr>
            <p:cNvCxnSpPr>
              <a:cxnSpLocks/>
              <a:stCxn id="52" idx="6"/>
              <a:endCxn id="52" idx="2"/>
            </p:cNvCxnSpPr>
            <p:nvPr/>
          </p:nvCxnSpPr>
          <p:spPr>
            <a:xfrm flipH="1">
              <a:off x="1892300" y="2590800"/>
              <a:ext cx="825500" cy="0"/>
            </a:xfrm>
            <a:prstGeom prst="line">
              <a:avLst/>
            </a:prstGeom>
            <a:ln w="9525">
              <a:noFill/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矢印コネクタ 54">
              <a:extLst>
                <a:ext uri="{FF2B5EF4-FFF2-40B4-BE49-F238E27FC236}">
                  <a16:creationId xmlns:a16="http://schemas.microsoft.com/office/drawing/2014/main" id="{94E7B397-2374-8C01-B312-C570D684B23E}"/>
                </a:ext>
              </a:extLst>
            </p:cNvPr>
            <p:cNvCxnSpPr>
              <a:cxnSpLocks/>
              <a:endCxn id="52" idx="3"/>
            </p:cNvCxnSpPr>
            <p:nvPr/>
          </p:nvCxnSpPr>
          <p:spPr>
            <a:xfrm flipH="1">
              <a:off x="2013192" y="2590800"/>
              <a:ext cx="291858" cy="6645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グループ化 56">
            <a:extLst>
              <a:ext uri="{FF2B5EF4-FFF2-40B4-BE49-F238E27FC236}">
                <a16:creationId xmlns:a16="http://schemas.microsoft.com/office/drawing/2014/main" id="{0AC2AF51-86D7-8CB3-6F7F-4F6DE6F24578}"/>
              </a:ext>
            </a:extLst>
          </p:cNvPr>
          <p:cNvGrpSpPr/>
          <p:nvPr/>
        </p:nvGrpSpPr>
        <p:grpSpPr>
          <a:xfrm>
            <a:off x="5549038" y="3594400"/>
            <a:ext cx="1196784" cy="2724985"/>
            <a:chOff x="1892300" y="1651000"/>
            <a:chExt cx="825500" cy="1879600"/>
          </a:xfrm>
        </p:grpSpPr>
        <p:sp>
          <p:nvSpPr>
            <p:cNvPr id="58" name="円/楕円 57">
              <a:extLst>
                <a:ext uri="{FF2B5EF4-FFF2-40B4-BE49-F238E27FC236}">
                  <a16:creationId xmlns:a16="http://schemas.microsoft.com/office/drawing/2014/main" id="{2136681B-CE0C-F17C-6FF1-3D48C9735BA2}"/>
                </a:ext>
              </a:extLst>
            </p:cNvPr>
            <p:cNvSpPr/>
            <p:nvPr/>
          </p:nvSpPr>
          <p:spPr>
            <a:xfrm>
              <a:off x="1892300" y="1651000"/>
              <a:ext cx="825500" cy="1879600"/>
            </a:xfrm>
            <a:prstGeom prst="ellips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59" name="直線コネクタ 58">
              <a:extLst>
                <a:ext uri="{FF2B5EF4-FFF2-40B4-BE49-F238E27FC236}">
                  <a16:creationId xmlns:a16="http://schemas.microsoft.com/office/drawing/2014/main" id="{E32F4FCE-69CA-DF92-FBE0-1A833CC9195E}"/>
                </a:ext>
              </a:extLst>
            </p:cNvPr>
            <p:cNvCxnSpPr>
              <a:cxnSpLocks/>
              <a:stCxn id="58" idx="0"/>
              <a:endCxn id="58" idx="4"/>
            </p:cNvCxnSpPr>
            <p:nvPr/>
          </p:nvCxnSpPr>
          <p:spPr>
            <a:xfrm>
              <a:off x="2305050" y="1651000"/>
              <a:ext cx="0" cy="1879600"/>
            </a:xfrm>
            <a:prstGeom prst="line">
              <a:avLst/>
            </a:prstGeom>
            <a:ln w="9525">
              <a:noFill/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コネクタ 59">
              <a:extLst>
                <a:ext uri="{FF2B5EF4-FFF2-40B4-BE49-F238E27FC236}">
                  <a16:creationId xmlns:a16="http://schemas.microsoft.com/office/drawing/2014/main" id="{3E3159A4-7192-7C60-85E4-80532FE1CF97}"/>
                </a:ext>
              </a:extLst>
            </p:cNvPr>
            <p:cNvCxnSpPr>
              <a:cxnSpLocks/>
              <a:stCxn id="58" idx="6"/>
              <a:endCxn id="58" idx="2"/>
            </p:cNvCxnSpPr>
            <p:nvPr/>
          </p:nvCxnSpPr>
          <p:spPr>
            <a:xfrm flipH="1">
              <a:off x="1892300" y="2590800"/>
              <a:ext cx="825500" cy="0"/>
            </a:xfrm>
            <a:prstGeom prst="line">
              <a:avLst/>
            </a:prstGeom>
            <a:ln w="9525">
              <a:noFill/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矢印コネクタ 60">
              <a:extLst>
                <a:ext uri="{FF2B5EF4-FFF2-40B4-BE49-F238E27FC236}">
                  <a16:creationId xmlns:a16="http://schemas.microsoft.com/office/drawing/2014/main" id="{ABF1698E-5B24-24B0-5D05-9DF2E76357BB}"/>
                </a:ext>
              </a:extLst>
            </p:cNvPr>
            <p:cNvCxnSpPr>
              <a:cxnSpLocks/>
              <a:endCxn id="58" idx="1"/>
            </p:cNvCxnSpPr>
            <p:nvPr/>
          </p:nvCxnSpPr>
          <p:spPr>
            <a:xfrm flipH="1" flipV="1">
              <a:off x="2013192" y="1926261"/>
              <a:ext cx="291858" cy="6645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グループ化 84">
            <a:extLst>
              <a:ext uri="{FF2B5EF4-FFF2-40B4-BE49-F238E27FC236}">
                <a16:creationId xmlns:a16="http://schemas.microsoft.com/office/drawing/2014/main" id="{3F866971-8B0A-8CF4-24B0-7D0BE4CD82F8}"/>
              </a:ext>
            </a:extLst>
          </p:cNvPr>
          <p:cNvGrpSpPr/>
          <p:nvPr/>
        </p:nvGrpSpPr>
        <p:grpSpPr>
          <a:xfrm>
            <a:off x="10725134" y="3089251"/>
            <a:ext cx="5712790" cy="3319835"/>
            <a:chOff x="5985394" y="1336431"/>
            <a:chExt cx="3940484" cy="2289907"/>
          </a:xfrm>
        </p:grpSpPr>
        <p:cxnSp>
          <p:nvCxnSpPr>
            <p:cNvPr id="66" name="カギ線コネクタ 65">
              <a:extLst>
                <a:ext uri="{FF2B5EF4-FFF2-40B4-BE49-F238E27FC236}">
                  <a16:creationId xmlns:a16="http://schemas.microsoft.com/office/drawing/2014/main" id="{507633C8-001A-8836-3C7A-13954A74FCFA}"/>
                </a:ext>
              </a:extLst>
            </p:cNvPr>
            <p:cNvCxnSpPr>
              <a:cxnSpLocks/>
            </p:cNvCxnSpPr>
            <p:nvPr/>
          </p:nvCxnSpPr>
          <p:spPr>
            <a:xfrm>
              <a:off x="6057942" y="1336431"/>
              <a:ext cx="2484000" cy="2289907"/>
            </a:xfrm>
            <a:prstGeom prst="bentConnector3">
              <a:avLst>
                <a:gd name="adj1" fmla="val 75606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上矢印 67">
              <a:extLst>
                <a:ext uri="{FF2B5EF4-FFF2-40B4-BE49-F238E27FC236}">
                  <a16:creationId xmlns:a16="http://schemas.microsoft.com/office/drawing/2014/main" id="{B100C1E2-882D-F6C6-D174-2F664F40776C}"/>
                </a:ext>
              </a:extLst>
            </p:cNvPr>
            <p:cNvSpPr/>
            <p:nvPr/>
          </p:nvSpPr>
          <p:spPr>
            <a:xfrm>
              <a:off x="6150707" y="1402118"/>
              <a:ext cx="484632" cy="1078523"/>
            </a:xfrm>
            <a:prstGeom prst="up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>
                <a:solidFill>
                  <a:schemeClr val="tx1"/>
                </a:solidFill>
              </a:endParaRPr>
            </a:p>
          </p:txBody>
        </p:sp>
        <p:sp>
          <p:nvSpPr>
            <p:cNvPr id="69" name="上矢印 68">
              <a:extLst>
                <a:ext uri="{FF2B5EF4-FFF2-40B4-BE49-F238E27FC236}">
                  <a16:creationId xmlns:a16="http://schemas.microsoft.com/office/drawing/2014/main" id="{0E9C96FE-0D5D-B3D1-6D30-83230CE6363C}"/>
                </a:ext>
              </a:extLst>
            </p:cNvPr>
            <p:cNvSpPr/>
            <p:nvPr/>
          </p:nvSpPr>
          <p:spPr>
            <a:xfrm>
              <a:off x="6717245" y="1402117"/>
              <a:ext cx="484632" cy="1078523"/>
            </a:xfrm>
            <a:prstGeom prst="up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>
                <a:solidFill>
                  <a:schemeClr val="tx1"/>
                </a:solidFill>
              </a:endParaRPr>
            </a:p>
          </p:txBody>
        </p:sp>
        <p:sp>
          <p:nvSpPr>
            <p:cNvPr id="72" name="上矢印 71">
              <a:extLst>
                <a:ext uri="{FF2B5EF4-FFF2-40B4-BE49-F238E27FC236}">
                  <a16:creationId xmlns:a16="http://schemas.microsoft.com/office/drawing/2014/main" id="{04CEEBFA-88A8-0431-E5AE-EBAD1EE4CEE2}"/>
                </a:ext>
              </a:extLst>
            </p:cNvPr>
            <p:cNvSpPr/>
            <p:nvPr/>
          </p:nvSpPr>
          <p:spPr>
            <a:xfrm>
              <a:off x="7315199" y="1402115"/>
              <a:ext cx="484632" cy="1078523"/>
            </a:xfrm>
            <a:prstGeom prst="up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>
                <a:solidFill>
                  <a:schemeClr val="tx1"/>
                </a:solidFill>
              </a:endParaRPr>
            </a:p>
          </p:txBody>
        </p:sp>
        <p:sp>
          <p:nvSpPr>
            <p:cNvPr id="73" name="上矢印 72">
              <a:extLst>
                <a:ext uri="{FF2B5EF4-FFF2-40B4-BE49-F238E27FC236}">
                  <a16:creationId xmlns:a16="http://schemas.microsoft.com/office/drawing/2014/main" id="{9EC8353C-C798-71B3-1B1A-0EE93744CE30}"/>
                </a:ext>
              </a:extLst>
            </p:cNvPr>
            <p:cNvSpPr/>
            <p:nvPr/>
          </p:nvSpPr>
          <p:spPr>
            <a:xfrm rot="10800000">
              <a:off x="7969047" y="2499173"/>
              <a:ext cx="484632" cy="1078523"/>
            </a:xfrm>
            <a:prstGeom prst="up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>
                <a:solidFill>
                  <a:schemeClr val="tx1"/>
                </a:solidFill>
              </a:endParaRPr>
            </a:p>
          </p:txBody>
        </p:sp>
        <p:cxnSp>
          <p:nvCxnSpPr>
            <p:cNvPr id="81" name="直線矢印コネクタ 80">
              <a:extLst>
                <a:ext uri="{FF2B5EF4-FFF2-40B4-BE49-F238E27FC236}">
                  <a16:creationId xmlns:a16="http://schemas.microsoft.com/office/drawing/2014/main" id="{5346DA3A-30B2-7F95-F373-EFAED82866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5394" y="2480638"/>
              <a:ext cx="3940484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カギ線コネクタ 81">
              <a:extLst>
                <a:ext uri="{FF2B5EF4-FFF2-40B4-BE49-F238E27FC236}">
                  <a16:creationId xmlns:a16="http://schemas.microsoft.com/office/drawing/2014/main" id="{1BC37781-41A9-F5E4-97DC-96AD56FCBB6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470092" y="1336431"/>
              <a:ext cx="1296000" cy="2289160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上矢印 82">
              <a:extLst>
                <a:ext uri="{FF2B5EF4-FFF2-40B4-BE49-F238E27FC236}">
                  <a16:creationId xmlns:a16="http://schemas.microsoft.com/office/drawing/2014/main" id="{2C83EA5B-4681-6210-5C29-97212B6EBDAC}"/>
                </a:ext>
              </a:extLst>
            </p:cNvPr>
            <p:cNvSpPr/>
            <p:nvPr/>
          </p:nvSpPr>
          <p:spPr>
            <a:xfrm rot="10800000">
              <a:off x="8535586" y="2499172"/>
              <a:ext cx="484632" cy="1078523"/>
            </a:xfrm>
            <a:prstGeom prst="up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18796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E1D4A4A0-7D06-EECC-0C9D-DB4550821F14}"/>
              </a:ext>
            </a:extLst>
          </p:cNvPr>
          <p:cNvGrpSpPr/>
          <p:nvPr/>
        </p:nvGrpSpPr>
        <p:grpSpPr>
          <a:xfrm>
            <a:off x="5068298" y="1805729"/>
            <a:ext cx="9113970" cy="8873140"/>
            <a:chOff x="2083505" y="451104"/>
            <a:chExt cx="6286500" cy="6120384"/>
          </a:xfrm>
        </p:grpSpPr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1EFC321D-9288-B213-7E23-E0628F3616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4559" b="2046"/>
            <a:stretch>
              <a:fillRect/>
            </a:stretch>
          </p:blipFill>
          <p:spPr>
            <a:xfrm>
              <a:off x="2083505" y="451104"/>
              <a:ext cx="6286500" cy="6120384"/>
            </a:xfrm>
            <a:prstGeom prst="rect">
              <a:avLst/>
            </a:prstGeom>
          </p:spPr>
        </p:pic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6A0D6D5C-4A17-DD0F-C4FE-DF0BDBEDCCB9}"/>
                </a:ext>
              </a:extLst>
            </p:cNvPr>
            <p:cNvSpPr txBox="1"/>
            <p:nvPr/>
          </p:nvSpPr>
          <p:spPr>
            <a:xfrm>
              <a:off x="3714701" y="712178"/>
              <a:ext cx="173505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Sliced plane (a)</a:t>
              </a:r>
              <a:endParaRPr lang="ja-JP" altLang="en-US" sz="2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1E0C56FC-CF28-CB39-1C5D-95B4DEEC9472}"/>
                </a:ext>
              </a:extLst>
            </p:cNvPr>
            <p:cNvSpPr txBox="1"/>
            <p:nvPr/>
          </p:nvSpPr>
          <p:spPr>
            <a:xfrm>
              <a:off x="2303779" y="2741027"/>
              <a:ext cx="1749432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Sliced plane (b)</a:t>
              </a:r>
              <a:endParaRPr lang="ja-JP" altLang="en-US" sz="2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6B5A6B62-B777-B306-2464-FBA33FBD469C}"/>
                </a:ext>
              </a:extLst>
            </p:cNvPr>
            <p:cNvSpPr txBox="1"/>
            <p:nvPr/>
          </p:nvSpPr>
          <p:spPr>
            <a:xfrm>
              <a:off x="4641757" y="1603511"/>
              <a:ext cx="2106571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Measured Q region</a:t>
              </a:r>
              <a:endParaRPr lang="ja-JP" altLang="en-US" sz="2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746B864D-AF8E-A331-BE51-0635A3E4BF23}"/>
                </a:ext>
              </a:extLst>
            </p:cNvPr>
            <p:cNvSpPr txBox="1"/>
            <p:nvPr/>
          </p:nvSpPr>
          <p:spPr>
            <a:xfrm>
              <a:off x="3421619" y="4287614"/>
              <a:ext cx="1442049" cy="6793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Reciprocal </a:t>
              </a:r>
              <a:b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lattice points</a:t>
              </a:r>
              <a:endParaRPr lang="ja-JP" altLang="en-US" sz="2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13D0D581-377A-4A3D-9166-790FDA466E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26474" y="1078093"/>
              <a:ext cx="248356" cy="2935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F48599B1-97AE-1239-E48E-CF077A423F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78399" y="2003621"/>
              <a:ext cx="248356" cy="2935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4D71BA81-534E-E3F4-A921-501BE99406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5674" y="3088800"/>
              <a:ext cx="109126" cy="3962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57349C00-61C4-6C15-2899-6FA3E32C53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06430" y="4444401"/>
              <a:ext cx="215189" cy="1971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452105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C6341C1F-FB7D-587A-35AB-718AE3C9D970}"/>
              </a:ext>
            </a:extLst>
          </p:cNvPr>
          <p:cNvGrpSpPr/>
          <p:nvPr/>
        </p:nvGrpSpPr>
        <p:grpSpPr>
          <a:xfrm>
            <a:off x="5933276" y="2592204"/>
            <a:ext cx="8821366" cy="6548430"/>
            <a:chOff x="2680137" y="993588"/>
            <a:chExt cx="6084672" cy="4516880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030DD1CD-D1E2-6DB0-ED13-37A0E3E77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3477" t="30316" r="30100" b="35489"/>
            <a:stretch>
              <a:fillRect/>
            </a:stretch>
          </p:blipFill>
          <p:spPr>
            <a:xfrm>
              <a:off x="2680137" y="1347531"/>
              <a:ext cx="5912070" cy="416293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3E6DDD13-2B9B-1AC9-5F9F-37FE2E2A7584}"/>
                    </a:ext>
                  </a:extLst>
                </p:cNvPr>
                <p:cNvSpPr txBox="1"/>
                <p:nvPr/>
              </p:nvSpPr>
              <p:spPr>
                <a:xfrm>
                  <a:off x="6096000" y="4840853"/>
                  <a:ext cx="416670" cy="37151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9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9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ja-JP" sz="29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ja-JP" altLang="en-US" sz="2900" b="1"/>
                </a:p>
              </p:txBody>
            </p:sp>
          </mc:Choice>
          <mc:Fallback xmlns="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3E6DDD13-2B9B-1AC9-5F9F-37FE2E2A75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4840853"/>
                  <a:ext cx="416670" cy="371514"/>
                </a:xfrm>
                <a:prstGeom prst="rect">
                  <a:avLst/>
                </a:prstGeom>
                <a:blipFill>
                  <a:blip r:embed="rId3"/>
                  <a:stretch>
                    <a:fillRect b="-232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642FD9A2-999F-EF1A-047C-8C504590C8B5}"/>
                    </a:ext>
                  </a:extLst>
                </p:cNvPr>
                <p:cNvSpPr txBox="1"/>
                <p:nvPr/>
              </p:nvSpPr>
              <p:spPr>
                <a:xfrm>
                  <a:off x="6989380" y="2801846"/>
                  <a:ext cx="452052" cy="4006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9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9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ja-JP" sz="2900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sub>
                        </m:sSub>
                      </m:oMath>
                    </m:oMathPara>
                  </a14:m>
                  <a:endParaRPr lang="ja-JP" altLang="en-US" sz="2900" b="1"/>
                </a:p>
              </p:txBody>
            </p:sp>
          </mc:Choice>
          <mc:Fallback xmlns="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642FD9A2-999F-EF1A-047C-8C504590C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9380" y="2801846"/>
                  <a:ext cx="452052" cy="400661"/>
                </a:xfrm>
                <a:prstGeom prst="rect">
                  <a:avLst/>
                </a:prstGeom>
                <a:blipFill>
                  <a:blip r:embed="rId4"/>
                  <a:stretch>
                    <a:fillRect b="-148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3C90597B-7E5E-F576-C9C3-C2909A9D7899}"/>
                    </a:ext>
                  </a:extLst>
                </p:cNvPr>
                <p:cNvSpPr txBox="1"/>
                <p:nvPr/>
              </p:nvSpPr>
              <p:spPr>
                <a:xfrm>
                  <a:off x="5472538" y="3165655"/>
                  <a:ext cx="367312" cy="37151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ja-JP" sz="2900" b="1" i="1">
                            <a:solidFill>
                              <a:srgbClr val="FD3232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</m:oMath>
                    </m:oMathPara>
                  </a14:m>
                  <a:endParaRPr lang="ja-JP" altLang="en-US" sz="2900" b="1">
                    <a:solidFill>
                      <a:srgbClr val="FD3232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3C90597B-7E5E-F576-C9C3-C2909A9D78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2538" y="3165655"/>
                  <a:ext cx="367312" cy="371514"/>
                </a:xfrm>
                <a:prstGeom prst="rect">
                  <a:avLst/>
                </a:prstGeom>
                <a:blipFill>
                  <a:blip r:embed="rId5"/>
                  <a:stretch>
                    <a:fillRect l="-4545" r="-4545" b="-1395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07CC36DE-A24D-7D14-1FD7-51D99823B355}"/>
                </a:ext>
              </a:extLst>
            </p:cNvPr>
            <p:cNvSpPr txBox="1"/>
            <p:nvPr/>
          </p:nvSpPr>
          <p:spPr>
            <a:xfrm>
              <a:off x="7025730" y="1152416"/>
              <a:ext cx="1561508" cy="556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Two-dimensional</a:t>
              </a:r>
              <a:b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detector</a:t>
              </a:r>
              <a:endParaRPr lang="ja-JP" altLang="en-US" sz="232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32467F13-B773-28CE-A82D-D9CD776E44D7}"/>
                </a:ext>
              </a:extLst>
            </p:cNvPr>
            <p:cNvSpPr txBox="1"/>
            <p:nvPr/>
          </p:nvSpPr>
          <p:spPr>
            <a:xfrm>
              <a:off x="4392627" y="1970849"/>
              <a:ext cx="1134665" cy="556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Measurable </a:t>
              </a:r>
              <a:b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 region</a:t>
              </a:r>
              <a:endParaRPr lang="ja-JP" altLang="en-US" sz="232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9503389F-8BAA-FBB8-AEBC-2EBB9D177476}"/>
                </a:ext>
              </a:extLst>
            </p:cNvPr>
            <p:cNvSpPr txBox="1"/>
            <p:nvPr/>
          </p:nvSpPr>
          <p:spPr>
            <a:xfrm>
              <a:off x="3066182" y="993588"/>
              <a:ext cx="1183316" cy="556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Reciprocal </a:t>
              </a:r>
              <a:b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lattice points</a:t>
              </a:r>
              <a:endParaRPr lang="ja-JP" altLang="en-US" sz="232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B8253C48-E730-E9CD-DAFA-27B6EB4297BE}"/>
                </a:ext>
              </a:extLst>
            </p:cNvPr>
            <p:cNvSpPr txBox="1"/>
            <p:nvPr/>
          </p:nvSpPr>
          <p:spPr>
            <a:xfrm>
              <a:off x="5572590" y="2678735"/>
              <a:ext cx="742143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Sample</a:t>
              </a:r>
              <a:endParaRPr lang="ja-JP" altLang="en-US" sz="232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02D69FAC-8ECE-09D8-B315-0227FC11D8C7}"/>
                </a:ext>
              </a:extLst>
            </p:cNvPr>
            <p:cNvSpPr txBox="1"/>
            <p:nvPr/>
          </p:nvSpPr>
          <p:spPr>
            <a:xfrm>
              <a:off x="6126467" y="3940599"/>
              <a:ext cx="1958409" cy="556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 neutron spin filter</a:t>
              </a:r>
              <a:b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(Spin analyzer)</a:t>
              </a:r>
              <a:endParaRPr lang="ja-JP" altLang="en-US" sz="232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DA43D3C5-0816-F896-DE76-45324A6A27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3822" y="1253067"/>
              <a:ext cx="248356" cy="2935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04ACB00D-42EB-D524-A1C9-3E56C93F50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34582" y="2328779"/>
              <a:ext cx="248356" cy="2935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60A76959-A9C3-13E7-E4B1-C838C29188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65202" y="1531845"/>
              <a:ext cx="248356" cy="2935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9D878277-1008-EA91-33FA-C2AC4A00889C}"/>
                </a:ext>
              </a:extLst>
            </p:cNvPr>
            <p:cNvCxnSpPr>
              <a:cxnSpLocks/>
            </p:cNvCxnSpPr>
            <p:nvPr/>
          </p:nvCxnSpPr>
          <p:spPr>
            <a:xfrm>
              <a:off x="6517628" y="3589694"/>
              <a:ext cx="261469" cy="277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764AC20D-D4E6-D64B-7711-25331EBCF4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34841" y="3016456"/>
              <a:ext cx="48398" cy="6817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E4EFBB7C-1193-9D3C-6641-8C1916C513A9}"/>
                </a:ext>
              </a:extLst>
            </p:cNvPr>
            <p:cNvSpPr txBox="1"/>
            <p:nvPr/>
          </p:nvSpPr>
          <p:spPr>
            <a:xfrm>
              <a:off x="4658171" y="5179399"/>
              <a:ext cx="2294540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Incident polarized neutron</a:t>
              </a:r>
              <a:endParaRPr lang="ja-JP" altLang="en-US" sz="232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円/楕円 1">
              <a:extLst>
                <a:ext uri="{FF2B5EF4-FFF2-40B4-BE49-F238E27FC236}">
                  <a16:creationId xmlns:a16="http://schemas.microsoft.com/office/drawing/2014/main" id="{58150A27-8E00-99AE-02DD-B1CC153E4C8A}"/>
                </a:ext>
              </a:extLst>
            </p:cNvPr>
            <p:cNvSpPr/>
            <p:nvPr/>
          </p:nvSpPr>
          <p:spPr>
            <a:xfrm>
              <a:off x="6839601" y="2037956"/>
              <a:ext cx="1260915" cy="1260915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4" name="直線コネクタ 3">
              <a:extLst>
                <a:ext uri="{FF2B5EF4-FFF2-40B4-BE49-F238E27FC236}">
                  <a16:creationId xmlns:a16="http://schemas.microsoft.com/office/drawing/2014/main" id="{70B1CE84-7CE5-C7B4-645E-39D5737A00B9}"/>
                </a:ext>
              </a:extLst>
            </p:cNvPr>
            <p:cNvCxnSpPr>
              <a:endCxn id="2" idx="2"/>
            </p:cNvCxnSpPr>
            <p:nvPr/>
          </p:nvCxnSpPr>
          <p:spPr>
            <a:xfrm flipV="1">
              <a:off x="6112481" y="2668414"/>
              <a:ext cx="727120" cy="921541"/>
            </a:xfrm>
            <a:prstGeom prst="line">
              <a:avLst/>
            </a:prstGeom>
            <a:ln>
              <a:solidFill>
                <a:schemeClr val="tx2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2A0EB052-DCD6-0F46-57D7-242253D7A324}"/>
                </a:ext>
              </a:extLst>
            </p:cNvPr>
            <p:cNvCxnSpPr>
              <a:cxnSpLocks/>
              <a:endCxn id="2" idx="6"/>
            </p:cNvCxnSpPr>
            <p:nvPr/>
          </p:nvCxnSpPr>
          <p:spPr>
            <a:xfrm flipV="1">
              <a:off x="6125226" y="2668414"/>
              <a:ext cx="1975290" cy="1030045"/>
            </a:xfrm>
            <a:prstGeom prst="line">
              <a:avLst/>
            </a:prstGeom>
            <a:ln>
              <a:solidFill>
                <a:schemeClr val="tx2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99D0A785-3987-D743-2175-8620E3C320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9337" y="3049753"/>
              <a:ext cx="204686" cy="3075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D28A2D5C-3F12-BF9E-A756-F0BD9EA2D5D8}"/>
                </a:ext>
              </a:extLst>
            </p:cNvPr>
            <p:cNvSpPr txBox="1"/>
            <p:nvPr/>
          </p:nvSpPr>
          <p:spPr>
            <a:xfrm>
              <a:off x="6881588" y="3272992"/>
              <a:ext cx="1883221" cy="556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Polarization analysis </a:t>
              </a:r>
              <a:b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region</a:t>
              </a:r>
              <a:endParaRPr lang="ja-JP" altLang="en-US" sz="232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円/楕円 29">
              <a:extLst>
                <a:ext uri="{FF2B5EF4-FFF2-40B4-BE49-F238E27FC236}">
                  <a16:creationId xmlns:a16="http://schemas.microsoft.com/office/drawing/2014/main" id="{7D2C9876-9334-4530-9AD9-A1EF56616BFE}"/>
                </a:ext>
              </a:extLst>
            </p:cNvPr>
            <p:cNvSpPr/>
            <p:nvPr/>
          </p:nvSpPr>
          <p:spPr>
            <a:xfrm>
              <a:off x="4371923" y="2878179"/>
              <a:ext cx="1050888" cy="1050888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</p:grpSp>
    </p:spTree>
    <p:extLst>
      <p:ext uri="{BB962C8B-B14F-4D97-AF65-F5344CB8AC3E}">
        <p14:creationId xmlns:p14="http://schemas.microsoft.com/office/powerpoint/2010/main" val="26897234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42D1D535-AD22-0D04-A847-8DCB47912F0A}"/>
              </a:ext>
            </a:extLst>
          </p:cNvPr>
          <p:cNvGrpSpPr/>
          <p:nvPr/>
        </p:nvGrpSpPr>
        <p:grpSpPr>
          <a:xfrm>
            <a:off x="3728915" y="2004843"/>
            <a:ext cx="13069214" cy="8021503"/>
            <a:chOff x="1159645" y="588446"/>
            <a:chExt cx="9014690" cy="5532954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5E3CE7A2-1906-18DF-77D5-8DE1267A96A6}"/>
                </a:ext>
              </a:extLst>
            </p:cNvPr>
            <p:cNvGrpSpPr/>
            <p:nvPr/>
          </p:nvGrpSpPr>
          <p:grpSpPr>
            <a:xfrm>
              <a:off x="1159645" y="736600"/>
              <a:ext cx="9014690" cy="5384800"/>
              <a:chOff x="164690" y="736600"/>
              <a:chExt cx="9014690" cy="5384800"/>
            </a:xfrm>
          </p:grpSpPr>
          <p:grpSp>
            <p:nvGrpSpPr>
              <p:cNvPr id="9" name="グループ化 8">
                <a:extLst>
                  <a:ext uri="{FF2B5EF4-FFF2-40B4-BE49-F238E27FC236}">
                    <a16:creationId xmlns:a16="http://schemas.microsoft.com/office/drawing/2014/main" id="{2ACCA119-C495-C444-93EA-55AE66C69F91}"/>
                  </a:ext>
                </a:extLst>
              </p:cNvPr>
              <p:cNvGrpSpPr/>
              <p:nvPr/>
            </p:nvGrpSpPr>
            <p:grpSpPr>
              <a:xfrm>
                <a:off x="4679186" y="736600"/>
                <a:ext cx="4500194" cy="5384800"/>
                <a:chOff x="756115" y="736600"/>
                <a:chExt cx="4500194" cy="5384800"/>
              </a:xfrm>
            </p:grpSpPr>
            <p:pic>
              <p:nvPicPr>
                <p:cNvPr id="5" name="図 4">
                  <a:extLst>
                    <a:ext uri="{FF2B5EF4-FFF2-40B4-BE49-F238E27FC236}">
                      <a16:creationId xmlns:a16="http://schemas.microsoft.com/office/drawing/2014/main" id="{0586F6A2-47E9-869B-5D11-E89AA4E8F1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r="6214"/>
                <a:stretch>
                  <a:fillRect/>
                </a:stretch>
              </p:blipFill>
              <p:spPr>
                <a:xfrm>
                  <a:off x="756115" y="736600"/>
                  <a:ext cx="4252191" cy="5384800"/>
                </a:xfrm>
                <a:prstGeom prst="rect">
                  <a:avLst/>
                </a:prstGeom>
              </p:spPr>
            </p:pic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D78E28A8-CBAE-8E12-87C2-EF0789FE3A0E}"/>
                    </a:ext>
                  </a:extLst>
                </p:cNvPr>
                <p:cNvSpPr txBox="1"/>
                <p:nvPr/>
              </p:nvSpPr>
              <p:spPr>
                <a:xfrm rot="16200000">
                  <a:off x="4315849" y="3258636"/>
                  <a:ext cx="1540190" cy="3407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610" dirty="0"/>
                    <a:t>Intensity (</a:t>
                  </a:r>
                  <a:r>
                    <a:rPr lang="en-US" altLang="ja-JP" sz="2610" dirty="0" err="1"/>
                    <a:t>a.u</a:t>
                  </a:r>
                  <a:r>
                    <a:rPr lang="en-US" altLang="ja-JP" sz="2610" dirty="0"/>
                    <a:t>.)</a:t>
                  </a:r>
                  <a:endParaRPr lang="ja-JP" altLang="en-US" sz="2610"/>
                </a:p>
              </p:txBody>
            </p:sp>
          </p:grpSp>
          <p:grpSp>
            <p:nvGrpSpPr>
              <p:cNvPr id="12" name="グループ化 11">
                <a:extLst>
                  <a:ext uri="{FF2B5EF4-FFF2-40B4-BE49-F238E27FC236}">
                    <a16:creationId xmlns:a16="http://schemas.microsoft.com/office/drawing/2014/main" id="{10A34C08-7311-544D-5973-9AB402154C3F}"/>
                  </a:ext>
                </a:extLst>
              </p:cNvPr>
              <p:cNvGrpSpPr/>
              <p:nvPr/>
            </p:nvGrpSpPr>
            <p:grpSpPr>
              <a:xfrm>
                <a:off x="164690" y="736600"/>
                <a:ext cx="4607221" cy="5384800"/>
                <a:chOff x="164690" y="736600"/>
                <a:chExt cx="4607221" cy="5384800"/>
              </a:xfrm>
            </p:grpSpPr>
            <p:pic>
              <p:nvPicPr>
                <p:cNvPr id="7" name="図 6">
                  <a:extLst>
                    <a:ext uri="{FF2B5EF4-FFF2-40B4-BE49-F238E27FC236}">
                      <a16:creationId xmlns:a16="http://schemas.microsoft.com/office/drawing/2014/main" id="{A2D1F48D-CBD3-2916-AF73-E44F266169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r="5418"/>
                <a:stretch>
                  <a:fillRect/>
                </a:stretch>
              </p:blipFill>
              <p:spPr>
                <a:xfrm>
                  <a:off x="164690" y="736600"/>
                  <a:ext cx="4252191" cy="5384800"/>
                </a:xfrm>
                <a:prstGeom prst="rect">
                  <a:avLst/>
                </a:prstGeom>
              </p:spPr>
            </p:pic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CA4F2CEF-D124-7C50-C512-4FF63DD178C5}"/>
                    </a:ext>
                  </a:extLst>
                </p:cNvPr>
                <p:cNvSpPr txBox="1"/>
                <p:nvPr/>
              </p:nvSpPr>
              <p:spPr>
                <a:xfrm rot="16200000">
                  <a:off x="3831451" y="3258636"/>
                  <a:ext cx="1540190" cy="3407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610" dirty="0"/>
                    <a:t>Intensity (</a:t>
                  </a:r>
                  <a:r>
                    <a:rPr lang="en-US" altLang="ja-JP" sz="2610" dirty="0" err="1"/>
                    <a:t>a.u</a:t>
                  </a:r>
                  <a:r>
                    <a:rPr lang="en-US" altLang="ja-JP" sz="2610" dirty="0"/>
                    <a:t>.)</a:t>
                  </a:r>
                  <a:endParaRPr lang="ja-JP" altLang="en-US" sz="2610"/>
                </a:p>
              </p:txBody>
            </p:sp>
          </p:grpSp>
        </p:grp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EC42F7D0-AC14-4CA7-FBE6-C631805DCD80}"/>
                </a:ext>
              </a:extLst>
            </p:cNvPr>
            <p:cNvSpPr txBox="1"/>
            <p:nvPr/>
          </p:nvSpPr>
          <p:spPr>
            <a:xfrm>
              <a:off x="1802966" y="588446"/>
              <a:ext cx="1634793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/>
                <a:t>(a) Unpolarized</a:t>
              </a:r>
              <a:endParaRPr lang="ja-JP" altLang="en-US" sz="2610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42B0A1FB-1D3C-116E-7808-256C36AD0A4C}"/>
                </a:ext>
              </a:extLst>
            </p:cNvPr>
            <p:cNvSpPr txBox="1"/>
            <p:nvPr/>
          </p:nvSpPr>
          <p:spPr>
            <a:xfrm>
              <a:off x="6335683" y="588446"/>
              <a:ext cx="1353593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/>
                <a:t>(b) Polarized</a:t>
              </a:r>
              <a:endParaRPr lang="ja-JP" altLang="en-US" sz="2610"/>
            </a:p>
          </p:txBody>
        </p:sp>
      </p:grpSp>
    </p:spTree>
    <p:extLst>
      <p:ext uri="{BB962C8B-B14F-4D97-AF65-F5344CB8AC3E}">
        <p14:creationId xmlns:p14="http://schemas.microsoft.com/office/powerpoint/2010/main" val="30501975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B002AA5-582E-50E7-C34A-CA134B09A9B4}"/>
              </a:ext>
            </a:extLst>
          </p:cNvPr>
          <p:cNvGrpSpPr/>
          <p:nvPr/>
        </p:nvGrpSpPr>
        <p:grpSpPr>
          <a:xfrm>
            <a:off x="4300612" y="2480973"/>
            <a:ext cx="11518102" cy="5074171"/>
            <a:chOff x="1553980" y="916863"/>
            <a:chExt cx="7944787" cy="3499987"/>
          </a:xfrm>
        </p:grpSpPr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245564A0-D3FD-6120-BED2-2955DF8A8369}"/>
                </a:ext>
              </a:extLst>
            </p:cNvPr>
            <p:cNvGrpSpPr/>
            <p:nvPr/>
          </p:nvGrpSpPr>
          <p:grpSpPr>
            <a:xfrm>
              <a:off x="1553980" y="1086787"/>
              <a:ext cx="7944787" cy="3330063"/>
              <a:chOff x="0" y="736600"/>
              <a:chExt cx="11142262" cy="4670287"/>
            </a:xfrm>
          </p:grpSpPr>
          <p:grpSp>
            <p:nvGrpSpPr>
              <p:cNvPr id="8" name="グループ化 7">
                <a:extLst>
                  <a:ext uri="{FF2B5EF4-FFF2-40B4-BE49-F238E27FC236}">
                    <a16:creationId xmlns:a16="http://schemas.microsoft.com/office/drawing/2014/main" id="{F0FD4645-9695-1C81-6199-58D8ECF384C7}"/>
                  </a:ext>
                </a:extLst>
              </p:cNvPr>
              <p:cNvGrpSpPr/>
              <p:nvPr/>
            </p:nvGrpSpPr>
            <p:grpSpPr>
              <a:xfrm>
                <a:off x="0" y="736600"/>
                <a:ext cx="7533964" cy="4670287"/>
                <a:chOff x="257892" y="736600"/>
                <a:chExt cx="8686595" cy="5384800"/>
              </a:xfrm>
            </p:grpSpPr>
            <p:pic>
              <p:nvPicPr>
                <p:cNvPr id="5" name="図 4">
                  <a:extLst>
                    <a:ext uri="{FF2B5EF4-FFF2-40B4-BE49-F238E27FC236}">
                      <a16:creationId xmlns:a16="http://schemas.microsoft.com/office/drawing/2014/main" id="{D7A567F1-CBE2-0F4A-06D1-019D2A01F9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397887" y="736600"/>
                  <a:ext cx="4546600" cy="5384800"/>
                </a:xfrm>
                <a:prstGeom prst="rect">
                  <a:avLst/>
                </a:prstGeom>
              </p:spPr>
            </p:pic>
            <p:pic>
              <p:nvPicPr>
                <p:cNvPr id="7" name="図 6">
                  <a:extLst>
                    <a:ext uri="{FF2B5EF4-FFF2-40B4-BE49-F238E27FC236}">
                      <a16:creationId xmlns:a16="http://schemas.microsoft.com/office/drawing/2014/main" id="{0162F9A2-ED34-FD11-6B96-1A6CC51A2B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57892" y="736600"/>
                  <a:ext cx="4508500" cy="5384800"/>
                </a:xfrm>
                <a:prstGeom prst="rect">
                  <a:avLst/>
                </a:prstGeom>
              </p:spPr>
            </p:pic>
          </p:grpSp>
          <p:pic>
            <p:nvPicPr>
              <p:cNvPr id="9" name="図 8">
                <a:extLst>
                  <a:ext uri="{FF2B5EF4-FFF2-40B4-BE49-F238E27FC236}">
                    <a16:creationId xmlns:a16="http://schemas.microsoft.com/office/drawing/2014/main" id="{71CE6347-3762-3978-012C-EA7EB85757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33965" y="778330"/>
                <a:ext cx="3608297" cy="2164978"/>
              </a:xfrm>
              <a:prstGeom prst="rect">
                <a:avLst/>
              </a:prstGeom>
            </p:spPr>
          </p:pic>
          <p:pic>
            <p:nvPicPr>
              <p:cNvPr id="11" name="図 10">
                <a:extLst>
                  <a:ext uri="{FF2B5EF4-FFF2-40B4-BE49-F238E27FC236}">
                    <a16:creationId xmlns:a16="http://schemas.microsoft.com/office/drawing/2014/main" id="{803534A5-D5DB-AEAF-AA2A-BCFFCE84AE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33964" y="3071743"/>
                <a:ext cx="3608297" cy="2164978"/>
              </a:xfrm>
              <a:prstGeom prst="rect">
                <a:avLst/>
              </a:prstGeom>
            </p:spPr>
          </p:pic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3333BE67-8CC6-69CB-3EF3-005B78833A5D}"/>
                  </a:ext>
                </a:extLst>
              </p:cNvPr>
              <p:cNvSpPr/>
              <p:nvPr/>
            </p:nvSpPr>
            <p:spPr>
              <a:xfrm>
                <a:off x="4452079" y="2338466"/>
                <a:ext cx="1963711" cy="839449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A7D940FB-1536-B793-58C6-208279359BE2}"/>
                  </a:ext>
                </a:extLst>
              </p:cNvPr>
              <p:cNvSpPr/>
              <p:nvPr/>
            </p:nvSpPr>
            <p:spPr>
              <a:xfrm>
                <a:off x="4452078" y="3314783"/>
                <a:ext cx="1963711" cy="839449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</p:grp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2DFAA1ED-773A-5FB9-9D6A-4BC6CE71F9B8}"/>
                </a:ext>
              </a:extLst>
            </p:cNvPr>
            <p:cNvSpPr txBox="1"/>
            <p:nvPr/>
          </p:nvSpPr>
          <p:spPr>
            <a:xfrm>
              <a:off x="1960500" y="916863"/>
              <a:ext cx="1302244" cy="279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30" dirty="0"/>
                <a:t>(c) Unpolarized</a:t>
              </a:r>
              <a:endParaRPr lang="ja-JP" altLang="en-US" sz="2030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BA745A7D-5E8C-76BC-3750-6229C5183CA0}"/>
                </a:ext>
              </a:extLst>
            </p:cNvPr>
            <p:cNvSpPr txBox="1"/>
            <p:nvPr/>
          </p:nvSpPr>
          <p:spPr>
            <a:xfrm>
              <a:off x="4514360" y="916864"/>
              <a:ext cx="1083184" cy="279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30" dirty="0"/>
                <a:t>(d) Polarized</a:t>
              </a:r>
              <a:endParaRPr lang="ja-JP" altLang="en-US" sz="2030"/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5E6B882B-4E26-D5FD-FBB7-995C228ECF13}"/>
                </a:ext>
              </a:extLst>
            </p:cNvPr>
            <p:cNvSpPr txBox="1"/>
            <p:nvPr/>
          </p:nvSpPr>
          <p:spPr>
            <a:xfrm>
              <a:off x="4649195" y="2212933"/>
              <a:ext cx="328612" cy="279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30" dirty="0"/>
                <a:t>(e)</a:t>
              </a:r>
              <a:endParaRPr lang="ja-JP" altLang="en-US" sz="2030"/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4B3C1ECB-7840-8D07-2CDC-3DC06D38B274}"/>
                </a:ext>
              </a:extLst>
            </p:cNvPr>
            <p:cNvSpPr txBox="1"/>
            <p:nvPr/>
          </p:nvSpPr>
          <p:spPr>
            <a:xfrm>
              <a:off x="4637973" y="2906574"/>
              <a:ext cx="291284" cy="279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30" dirty="0"/>
                <a:t>(f)</a:t>
              </a:r>
              <a:endParaRPr lang="ja-JP" altLang="en-US" sz="2030"/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B3724550-BA9F-9173-1C78-A0B04A2AAC00}"/>
                </a:ext>
              </a:extLst>
            </p:cNvPr>
            <p:cNvSpPr txBox="1"/>
            <p:nvPr/>
          </p:nvSpPr>
          <p:spPr>
            <a:xfrm>
              <a:off x="7053624" y="916865"/>
              <a:ext cx="980973" cy="279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30" dirty="0"/>
                <a:t>(e) Line cut</a:t>
              </a:r>
              <a:endParaRPr lang="ja-JP" altLang="en-US" sz="2030"/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265347DB-1327-653D-F849-5E014A0F7996}"/>
                </a:ext>
              </a:extLst>
            </p:cNvPr>
            <p:cNvSpPr txBox="1"/>
            <p:nvPr/>
          </p:nvSpPr>
          <p:spPr>
            <a:xfrm>
              <a:off x="7053624" y="2575076"/>
              <a:ext cx="943645" cy="279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30" dirty="0"/>
                <a:t>(f) Line cut</a:t>
              </a:r>
              <a:endParaRPr lang="ja-JP" altLang="en-US" sz="2030"/>
            </a:p>
          </p:txBody>
        </p:sp>
      </p:grpSp>
    </p:spTree>
    <p:extLst>
      <p:ext uri="{BB962C8B-B14F-4D97-AF65-F5344CB8AC3E}">
        <p14:creationId xmlns:p14="http://schemas.microsoft.com/office/powerpoint/2010/main" val="23740879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22F2A-D2FC-3387-F198-C62ADFF4F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7170DA2E-3C98-FB50-8D47-288C01BD41EB}"/>
              </a:ext>
            </a:extLst>
          </p:cNvPr>
          <p:cNvGrpSpPr/>
          <p:nvPr/>
        </p:nvGrpSpPr>
        <p:grpSpPr>
          <a:xfrm>
            <a:off x="5991223" y="6784290"/>
            <a:ext cx="11518102" cy="4827821"/>
            <a:chOff x="0" y="736600"/>
            <a:chExt cx="11142262" cy="4670287"/>
          </a:xfrm>
        </p:grpSpPr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A7F8A326-289E-4195-BDA3-0966C384FDCF}"/>
                </a:ext>
              </a:extLst>
            </p:cNvPr>
            <p:cNvGrpSpPr/>
            <p:nvPr/>
          </p:nvGrpSpPr>
          <p:grpSpPr>
            <a:xfrm>
              <a:off x="0" y="736600"/>
              <a:ext cx="7533964" cy="4670287"/>
              <a:chOff x="257892" y="736600"/>
              <a:chExt cx="8686595" cy="5384800"/>
            </a:xfrm>
          </p:grpSpPr>
          <p:pic>
            <p:nvPicPr>
              <p:cNvPr id="5" name="図 4">
                <a:extLst>
                  <a:ext uri="{FF2B5EF4-FFF2-40B4-BE49-F238E27FC236}">
                    <a16:creationId xmlns:a16="http://schemas.microsoft.com/office/drawing/2014/main" id="{95A87911-F7D3-F11A-3D2F-6818B02FC5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7887" y="736600"/>
                <a:ext cx="4546600" cy="5384800"/>
              </a:xfrm>
              <a:prstGeom prst="rect">
                <a:avLst/>
              </a:prstGeom>
            </p:spPr>
          </p:pic>
          <p:pic>
            <p:nvPicPr>
              <p:cNvPr id="7" name="図 6">
                <a:extLst>
                  <a:ext uri="{FF2B5EF4-FFF2-40B4-BE49-F238E27FC236}">
                    <a16:creationId xmlns:a16="http://schemas.microsoft.com/office/drawing/2014/main" id="{E77ADE8C-992C-9C3C-E640-60EC3BA06C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7892" y="736600"/>
                <a:ext cx="4508500" cy="5384800"/>
              </a:xfrm>
              <a:prstGeom prst="rect">
                <a:avLst/>
              </a:prstGeom>
            </p:spPr>
          </p:pic>
        </p:grpSp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B00F5C4B-867B-25FA-2260-D0BFDF4D28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33965" y="778330"/>
              <a:ext cx="3608297" cy="2164978"/>
            </a:xfrm>
            <a:prstGeom prst="rect">
              <a:avLst/>
            </a:prstGeom>
          </p:spPr>
        </p:pic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A8FCB9B5-6AE8-50AC-E2C8-2594E4853B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33964" y="3071743"/>
              <a:ext cx="3608297" cy="2164978"/>
            </a:xfrm>
            <a:prstGeom prst="rect">
              <a:avLst/>
            </a:prstGeom>
          </p:spPr>
        </p:pic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E5458AC2-3ABA-5B84-662A-92A0747C8EED}"/>
                </a:ext>
              </a:extLst>
            </p:cNvPr>
            <p:cNvSpPr/>
            <p:nvPr/>
          </p:nvSpPr>
          <p:spPr>
            <a:xfrm>
              <a:off x="4452079" y="2338466"/>
              <a:ext cx="1963711" cy="839449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70F3FBB3-A440-79C3-15EC-C0BFF9921CFB}"/>
                </a:ext>
              </a:extLst>
            </p:cNvPr>
            <p:cNvSpPr/>
            <p:nvPr/>
          </p:nvSpPr>
          <p:spPr>
            <a:xfrm>
              <a:off x="4452078" y="3314783"/>
              <a:ext cx="1963711" cy="839449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</p:grp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9D8502CA-BDC5-2F19-B9BE-B9E374BE9AB7}"/>
              </a:ext>
            </a:extLst>
          </p:cNvPr>
          <p:cNvGrpSpPr/>
          <p:nvPr/>
        </p:nvGrpSpPr>
        <p:grpSpPr>
          <a:xfrm>
            <a:off x="13323283" y="1845299"/>
            <a:ext cx="4073462" cy="4554449"/>
            <a:chOff x="164690" y="736600"/>
            <a:chExt cx="4723246" cy="5384800"/>
          </a:xfrm>
        </p:grpSpPr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616E73E6-9CD7-C109-1E05-D327B0808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5418"/>
            <a:stretch>
              <a:fillRect/>
            </a:stretch>
          </p:blipFill>
          <p:spPr>
            <a:xfrm>
              <a:off x="164690" y="736600"/>
              <a:ext cx="4252191" cy="5384800"/>
            </a:xfrm>
            <a:prstGeom prst="rect">
              <a:avLst/>
            </a:prstGeom>
          </p:spPr>
        </p:pic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CC34EB1C-2618-DDC3-960C-D6F3EBB14401}"/>
                </a:ext>
              </a:extLst>
            </p:cNvPr>
            <p:cNvSpPr txBox="1"/>
            <p:nvPr/>
          </p:nvSpPr>
          <p:spPr>
            <a:xfrm rot="16200000">
              <a:off x="3281538" y="3142613"/>
              <a:ext cx="2640017" cy="5727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/>
                <a:t>Intensity (</a:t>
              </a:r>
              <a:r>
                <a:rPr lang="en-US" altLang="ja-JP" sz="2610" dirty="0" err="1"/>
                <a:t>a.u</a:t>
              </a:r>
              <a:r>
                <a:rPr lang="en-US" altLang="ja-JP" sz="2610" dirty="0"/>
                <a:t>.)</a:t>
              </a:r>
              <a:endParaRPr lang="ja-JP" altLang="en-US" sz="2610"/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E512CD46-FF4D-8676-8412-CCA018F252F3}"/>
              </a:ext>
            </a:extLst>
          </p:cNvPr>
          <p:cNvGrpSpPr/>
          <p:nvPr/>
        </p:nvGrpSpPr>
        <p:grpSpPr>
          <a:xfrm>
            <a:off x="6173837" y="1259995"/>
            <a:ext cx="5931849" cy="5725050"/>
            <a:chOff x="2083505" y="451104"/>
            <a:chExt cx="6286500" cy="6120384"/>
          </a:xfrm>
        </p:grpSpPr>
        <p:pic>
          <p:nvPicPr>
            <p:cNvPr id="18" name="図 17">
              <a:extLst>
                <a:ext uri="{FF2B5EF4-FFF2-40B4-BE49-F238E27FC236}">
                  <a16:creationId xmlns:a16="http://schemas.microsoft.com/office/drawing/2014/main" id="{AD5A1E95-7F93-F356-15B5-031523FE3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4559" b="2046"/>
            <a:stretch>
              <a:fillRect/>
            </a:stretch>
          </p:blipFill>
          <p:spPr>
            <a:xfrm>
              <a:off x="2083505" y="451104"/>
              <a:ext cx="6286500" cy="6120384"/>
            </a:xfrm>
            <a:prstGeom prst="rect">
              <a:avLst/>
            </a:prstGeom>
          </p:spPr>
        </p:pic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A7F33C16-87F4-96E7-8418-A19A84B12D78}"/>
                </a:ext>
              </a:extLst>
            </p:cNvPr>
            <p:cNvSpPr txBox="1"/>
            <p:nvPr/>
          </p:nvSpPr>
          <p:spPr>
            <a:xfrm>
              <a:off x="3714702" y="712178"/>
              <a:ext cx="2665824" cy="5758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Sliced plane (a)</a:t>
              </a:r>
              <a:endParaRPr lang="ja-JP" altLang="en-US" sz="2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12753202-460A-BABD-9943-F7A797C809FE}"/>
                </a:ext>
              </a:extLst>
            </p:cNvPr>
            <p:cNvSpPr txBox="1"/>
            <p:nvPr/>
          </p:nvSpPr>
          <p:spPr>
            <a:xfrm>
              <a:off x="2303781" y="2741028"/>
              <a:ext cx="2687910" cy="5758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Sliced plane (b)</a:t>
              </a:r>
              <a:endParaRPr lang="ja-JP" altLang="en-US" sz="2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42A08713-167F-999F-1A0E-9F47836B19E0}"/>
                </a:ext>
              </a:extLst>
            </p:cNvPr>
            <p:cNvSpPr txBox="1"/>
            <p:nvPr/>
          </p:nvSpPr>
          <p:spPr>
            <a:xfrm>
              <a:off x="4641758" y="1603511"/>
              <a:ext cx="3236635" cy="5758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Measured Q region</a:t>
              </a:r>
              <a:endParaRPr lang="ja-JP" altLang="en-US" sz="2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AE3478A0-F280-2F84-E120-68C869D52FE0}"/>
                </a:ext>
              </a:extLst>
            </p:cNvPr>
            <p:cNvSpPr txBox="1"/>
            <p:nvPr/>
          </p:nvSpPr>
          <p:spPr>
            <a:xfrm>
              <a:off x="3421619" y="4287615"/>
              <a:ext cx="2215631" cy="10528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Reciprocal </a:t>
              </a:r>
              <a:b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lattice points</a:t>
              </a:r>
              <a:endParaRPr lang="ja-JP" altLang="en-US" sz="2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5DC7FA5D-C44E-AC1D-30F5-600404E2E9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26474" y="1078093"/>
              <a:ext cx="248356" cy="2935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99483B08-35A1-D3FC-32F8-7E60B27482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78399" y="2003621"/>
              <a:ext cx="248356" cy="2935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23749461-0698-946D-2DA2-E3007BE79B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5674" y="3088800"/>
              <a:ext cx="109126" cy="3962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コネクタ 25">
              <a:extLst>
                <a:ext uri="{FF2B5EF4-FFF2-40B4-BE49-F238E27FC236}">
                  <a16:creationId xmlns:a16="http://schemas.microsoft.com/office/drawing/2014/main" id="{3D356E5F-5932-01A1-A741-9705949B73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06430" y="4444401"/>
              <a:ext cx="215189" cy="1971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473851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07276-654F-FBE0-21D1-4DE7F4B7A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FAA7F14-74DB-F129-D2F7-724EE0961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012" y="1525914"/>
            <a:ext cx="8748698" cy="524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2984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6291EF65-A34E-20BC-79ED-E3124D9B1CB7}"/>
              </a:ext>
            </a:extLst>
          </p:cNvPr>
          <p:cNvGrpSpPr/>
          <p:nvPr/>
        </p:nvGrpSpPr>
        <p:grpSpPr>
          <a:xfrm>
            <a:off x="2269348" y="2198018"/>
            <a:ext cx="16775765" cy="5570150"/>
            <a:chOff x="152886" y="721693"/>
            <a:chExt cx="11571340" cy="3842096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1FFDABD2-9076-7AA4-0088-675593EA2C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0968" y="721693"/>
              <a:ext cx="5515132" cy="3819459"/>
            </a:xfrm>
            <a:prstGeom prst="rect">
              <a:avLst/>
            </a:prstGeom>
          </p:spPr>
        </p:pic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33A06580-1DE3-B340-A32E-1ACD6564D72E}"/>
                </a:ext>
              </a:extLst>
            </p:cNvPr>
            <p:cNvSpPr txBox="1"/>
            <p:nvPr/>
          </p:nvSpPr>
          <p:spPr>
            <a:xfrm rot="16200000">
              <a:off x="-289082" y="2205284"/>
              <a:ext cx="1147712" cy="263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885" dirty="0"/>
                <a:t>Intensity (</a:t>
              </a:r>
              <a:r>
                <a:rPr lang="en-US" altLang="ja-JP" sz="1885" dirty="0" err="1"/>
                <a:t>a.u</a:t>
              </a:r>
              <a:r>
                <a:rPr lang="en-US" altLang="ja-JP" sz="1885" dirty="0"/>
                <a:t>.)</a:t>
              </a:r>
              <a:endParaRPr lang="ja-JP" altLang="en-US" sz="1885"/>
            </a:p>
          </p:txBody>
        </p:sp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91D8EBFC-BD9E-F97A-4404-1982070CB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209094" y="721693"/>
              <a:ext cx="5515132" cy="3842096"/>
            </a:xfrm>
            <a:prstGeom prst="rect">
              <a:avLst/>
            </a:prstGeom>
          </p:spPr>
        </p:pic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0EB4ACBC-614D-BB1B-32E5-C4A7435B35BB}"/>
                </a:ext>
              </a:extLst>
            </p:cNvPr>
            <p:cNvSpPr txBox="1"/>
            <p:nvPr/>
          </p:nvSpPr>
          <p:spPr>
            <a:xfrm rot="16200000">
              <a:off x="5548417" y="2205284"/>
              <a:ext cx="1147712" cy="263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885" dirty="0"/>
                <a:t>Intensity (</a:t>
              </a:r>
              <a:r>
                <a:rPr lang="en-US" altLang="ja-JP" sz="1885" dirty="0" err="1"/>
                <a:t>a.u</a:t>
              </a:r>
              <a:r>
                <a:rPr lang="en-US" altLang="ja-JP" sz="1885" dirty="0"/>
                <a:t>.)</a:t>
              </a:r>
              <a:endParaRPr lang="ja-JP" altLang="en-US" sz="1885"/>
            </a:p>
          </p:txBody>
        </p:sp>
      </p:grpSp>
    </p:spTree>
    <p:extLst>
      <p:ext uri="{BB962C8B-B14F-4D97-AF65-F5344CB8AC3E}">
        <p14:creationId xmlns:p14="http://schemas.microsoft.com/office/powerpoint/2010/main" val="12724005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875EB5F3-1470-08C1-202C-FA869B156C0B}"/>
              </a:ext>
            </a:extLst>
          </p:cNvPr>
          <p:cNvGrpSpPr/>
          <p:nvPr/>
        </p:nvGrpSpPr>
        <p:grpSpPr>
          <a:xfrm>
            <a:off x="5159933" y="3017242"/>
            <a:ext cx="11451108" cy="6076445"/>
            <a:chOff x="962525" y="835686"/>
            <a:chExt cx="9673391" cy="5339871"/>
          </a:xfrm>
        </p:grpSpPr>
        <p:pic>
          <p:nvPicPr>
            <p:cNvPr id="33" name="図 32">
              <a:extLst>
                <a:ext uri="{FF2B5EF4-FFF2-40B4-BE49-F238E27FC236}">
                  <a16:creationId xmlns:a16="http://schemas.microsoft.com/office/drawing/2014/main" id="{1DD64DFB-B178-B8DE-0BD4-72A508498B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582" t="3366" r="9137" b="4237"/>
            <a:stretch>
              <a:fillRect/>
            </a:stretch>
          </p:blipFill>
          <p:spPr>
            <a:xfrm>
              <a:off x="962525" y="1090937"/>
              <a:ext cx="4788569" cy="5069231"/>
            </a:xfrm>
            <a:prstGeom prst="rect">
              <a:avLst/>
            </a:prstGeom>
          </p:spPr>
        </p:pic>
        <p:pic>
          <p:nvPicPr>
            <p:cNvPr id="35" name="図 34">
              <a:extLst>
                <a:ext uri="{FF2B5EF4-FFF2-40B4-BE49-F238E27FC236}">
                  <a16:creationId xmlns:a16="http://schemas.microsoft.com/office/drawing/2014/main" id="{116146B8-A8A0-D4A6-D139-C096CE213B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874" t="3366" r="8845" b="4238"/>
            <a:stretch>
              <a:fillRect/>
            </a:stretch>
          </p:blipFill>
          <p:spPr>
            <a:xfrm>
              <a:off x="5847347" y="1106326"/>
              <a:ext cx="4788569" cy="5069231"/>
            </a:xfrm>
            <a:prstGeom prst="rect">
              <a:avLst/>
            </a:prstGeom>
          </p:spPr>
        </p:pic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6C5A9531-CCA3-3088-8B7D-52B5ABB099BC}"/>
                </a:ext>
              </a:extLst>
            </p:cNvPr>
            <p:cNvSpPr txBox="1"/>
            <p:nvPr/>
          </p:nvSpPr>
          <p:spPr>
            <a:xfrm>
              <a:off x="2351186" y="835686"/>
              <a:ext cx="2450312" cy="551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ja-JP" sz="3480" dirty="0">
                  <a:latin typeface="Helvetica" pitchFamily="2" charset="0"/>
                </a:rPr>
                <a:t>(a) Raw data</a:t>
              </a: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6E096C41-459B-0B47-B0E7-C28925B6FF36}"/>
                </a:ext>
              </a:extLst>
            </p:cNvPr>
            <p:cNvSpPr txBox="1"/>
            <p:nvPr/>
          </p:nvSpPr>
          <p:spPr>
            <a:xfrm>
              <a:off x="7139755" y="954363"/>
              <a:ext cx="3235871" cy="5517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ja-JP" sz="3480" dirty="0">
                  <a:latin typeface="Helvetica" pitchFamily="2" charset="0"/>
                </a:rPr>
                <a:t>(b) Corrected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33961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14B91-CDDA-6D2E-0775-E9ACA05B1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D9B1CD87-E58D-7F0A-B587-CB50DA9CF7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90" t="4489" r="4326" b="5568"/>
          <a:stretch>
            <a:fillRect/>
          </a:stretch>
        </p:blipFill>
        <p:spPr>
          <a:xfrm>
            <a:off x="10464740" y="3626070"/>
            <a:ext cx="5041167" cy="493460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D7147965-CB32-4084-3EF9-E4867C7742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11" t="4489" r="4459" b="5568"/>
          <a:stretch>
            <a:fillRect/>
          </a:stretch>
        </p:blipFill>
        <p:spPr>
          <a:xfrm>
            <a:off x="5486926" y="3626070"/>
            <a:ext cx="4977814" cy="4934607"/>
          </a:xfrm>
          <a:prstGeom prst="rect">
            <a:avLst/>
          </a:prstGeom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D24C23F-ADAC-ADF9-A904-67156EEA015B}"/>
              </a:ext>
            </a:extLst>
          </p:cNvPr>
          <p:cNvSpPr txBox="1"/>
          <p:nvPr/>
        </p:nvSpPr>
        <p:spPr>
          <a:xfrm>
            <a:off x="7051922" y="3368538"/>
            <a:ext cx="23020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ja-JP" sz="2800" dirty="0">
                <a:latin typeface="Helvetica" pitchFamily="2" charset="0"/>
              </a:rPr>
              <a:t>(a) Raw data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745C9234-704A-2E74-D53C-8C164182E1BB}"/>
              </a:ext>
            </a:extLst>
          </p:cNvPr>
          <p:cNvSpPr txBox="1"/>
          <p:nvPr/>
        </p:nvSpPr>
        <p:spPr>
          <a:xfrm>
            <a:off x="11990445" y="3368538"/>
            <a:ext cx="31093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ja-JP" sz="2800" dirty="0">
                <a:latin typeface="Helvetica" pitchFamily="2" charset="0"/>
              </a:rPr>
              <a:t>(b) Corrected data</a:t>
            </a:r>
          </a:p>
        </p:txBody>
      </p:sp>
    </p:spTree>
    <p:extLst>
      <p:ext uri="{BB962C8B-B14F-4D97-AF65-F5344CB8AC3E}">
        <p14:creationId xmlns:p14="http://schemas.microsoft.com/office/powerpoint/2010/main" val="27384888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D8C41-37AB-F15B-1BB7-63DE16346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73A3F9CC-EE5D-5205-BAD2-CC15558CADCB}"/>
              </a:ext>
            </a:extLst>
          </p:cNvPr>
          <p:cNvGrpSpPr/>
          <p:nvPr/>
        </p:nvGrpSpPr>
        <p:grpSpPr>
          <a:xfrm>
            <a:off x="5473702" y="3139936"/>
            <a:ext cx="10356106" cy="5496739"/>
            <a:chOff x="5473702" y="3139936"/>
            <a:chExt cx="10356106" cy="5496739"/>
          </a:xfrm>
        </p:grpSpPr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07220712-7263-E02B-7C52-A99319C45A9B}"/>
                </a:ext>
              </a:extLst>
            </p:cNvPr>
            <p:cNvGrpSpPr/>
            <p:nvPr/>
          </p:nvGrpSpPr>
          <p:grpSpPr>
            <a:xfrm>
              <a:off x="5473702" y="3139936"/>
              <a:ext cx="10356106" cy="5457827"/>
              <a:chOff x="5473702" y="3139936"/>
              <a:chExt cx="10356106" cy="5457827"/>
            </a:xfrm>
          </p:grpSpPr>
          <p:grpSp>
            <p:nvGrpSpPr>
              <p:cNvPr id="4" name="グループ化 3">
                <a:extLst>
                  <a:ext uri="{FF2B5EF4-FFF2-40B4-BE49-F238E27FC236}">
                    <a16:creationId xmlns:a16="http://schemas.microsoft.com/office/drawing/2014/main" id="{C4405D85-36E9-F434-92E3-8C9A20D7E3D1}"/>
                  </a:ext>
                </a:extLst>
              </p:cNvPr>
              <p:cNvGrpSpPr/>
              <p:nvPr/>
            </p:nvGrpSpPr>
            <p:grpSpPr>
              <a:xfrm>
                <a:off x="5473702" y="3139936"/>
                <a:ext cx="10356106" cy="5457827"/>
                <a:chOff x="5473702" y="3139936"/>
                <a:chExt cx="10356106" cy="5457827"/>
              </a:xfrm>
            </p:grpSpPr>
            <p:grpSp>
              <p:nvGrpSpPr>
                <p:cNvPr id="15" name="グループ化 14">
                  <a:extLst>
                    <a:ext uri="{FF2B5EF4-FFF2-40B4-BE49-F238E27FC236}">
                      <a16:creationId xmlns:a16="http://schemas.microsoft.com/office/drawing/2014/main" id="{CDE8FB7D-4D6C-2C91-234B-9A9917833A25}"/>
                    </a:ext>
                  </a:extLst>
                </p:cNvPr>
                <p:cNvGrpSpPr/>
                <p:nvPr/>
              </p:nvGrpSpPr>
              <p:grpSpPr>
                <a:xfrm>
                  <a:off x="5473702" y="3139936"/>
                  <a:ext cx="10356106" cy="5457827"/>
                  <a:chOff x="5473702" y="3139936"/>
                  <a:chExt cx="10356106" cy="5457827"/>
                </a:xfrm>
              </p:grpSpPr>
              <p:sp>
                <p:nvSpPr>
                  <p:cNvPr id="24" name="テキスト ボックス 23">
                    <a:extLst>
                      <a:ext uri="{FF2B5EF4-FFF2-40B4-BE49-F238E27FC236}">
                        <a16:creationId xmlns:a16="http://schemas.microsoft.com/office/drawing/2014/main" id="{E6BDA7F0-5991-8F46-8018-9DE4D7C35EA5}"/>
                      </a:ext>
                    </a:extLst>
                  </p:cNvPr>
                  <p:cNvSpPr txBox="1"/>
                  <p:nvPr/>
                </p:nvSpPr>
                <p:spPr>
                  <a:xfrm>
                    <a:off x="6824830" y="3139936"/>
                    <a:ext cx="2302007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" altLang="ja-JP" sz="2800" dirty="0">
                        <a:latin typeface="Helvetica" pitchFamily="2" charset="0"/>
                      </a:rPr>
                      <a:t>(a) Raw data</a:t>
                    </a:r>
                  </a:p>
                </p:txBody>
              </p:sp>
              <p:sp>
                <p:nvSpPr>
                  <p:cNvPr id="26" name="テキスト ボックス 25">
                    <a:extLst>
                      <a:ext uri="{FF2B5EF4-FFF2-40B4-BE49-F238E27FC236}">
                        <a16:creationId xmlns:a16="http://schemas.microsoft.com/office/drawing/2014/main" id="{BB04A012-9AD5-7196-5F28-18DA83EE2F80}"/>
                      </a:ext>
                    </a:extLst>
                  </p:cNvPr>
                  <p:cNvSpPr txBox="1"/>
                  <p:nvPr/>
                </p:nvSpPr>
                <p:spPr>
                  <a:xfrm>
                    <a:off x="11592590" y="3139936"/>
                    <a:ext cx="3109369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" altLang="ja-JP" sz="2800" dirty="0">
                        <a:latin typeface="Helvetica" pitchFamily="2" charset="0"/>
                      </a:rPr>
                      <a:t>(b) Corrected data</a:t>
                    </a:r>
                  </a:p>
                </p:txBody>
              </p:sp>
              <p:pic>
                <p:nvPicPr>
                  <p:cNvPr id="12" name="図 11">
                    <a:extLst>
                      <a:ext uri="{FF2B5EF4-FFF2-40B4-BE49-F238E27FC236}">
                        <a16:creationId xmlns:a16="http://schemas.microsoft.com/office/drawing/2014/main" id="{7BC39A75-30B9-71BF-580D-99CA6C66D5B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alphaModFix/>
                  </a:blip>
                  <a:srcRect l="3625" t="4352" r="6109" b="5705"/>
                  <a:stretch>
                    <a:fillRect/>
                  </a:stretch>
                </p:blipFill>
                <p:spPr>
                  <a:xfrm>
                    <a:off x="10464740" y="3663156"/>
                    <a:ext cx="5365068" cy="4934607"/>
                  </a:xfrm>
                  <a:prstGeom prst="rect">
                    <a:avLst/>
                  </a:prstGeom>
                </p:spPr>
              </p:pic>
              <p:pic>
                <p:nvPicPr>
                  <p:cNvPr id="14" name="図 13">
                    <a:extLst>
                      <a:ext uri="{FF2B5EF4-FFF2-40B4-BE49-F238E27FC236}">
                        <a16:creationId xmlns:a16="http://schemas.microsoft.com/office/drawing/2014/main" id="{DC90B518-6F08-4C04-7389-82E7CF838DC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rcRect l="4319" t="4769" r="4468" b="5289"/>
                  <a:stretch>
                    <a:fillRect/>
                  </a:stretch>
                </p:blipFill>
                <p:spPr>
                  <a:xfrm>
                    <a:off x="5473702" y="3663156"/>
                    <a:ext cx="5004262" cy="4934607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" name="正方形/長方形 1">
                  <a:extLst>
                    <a:ext uri="{FF2B5EF4-FFF2-40B4-BE49-F238E27FC236}">
                      <a16:creationId xmlns:a16="http://schemas.microsoft.com/office/drawing/2014/main" id="{BDFAE030-10FB-3AAB-D448-94E19999D150}"/>
                    </a:ext>
                  </a:extLst>
                </p:cNvPr>
                <p:cNvSpPr/>
                <p:nvPr/>
              </p:nvSpPr>
              <p:spPr>
                <a:xfrm>
                  <a:off x="12301125" y="4270900"/>
                  <a:ext cx="387800" cy="1936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" name="正方形/長方形 2">
                  <a:extLst>
                    <a:ext uri="{FF2B5EF4-FFF2-40B4-BE49-F238E27FC236}">
                      <a16:creationId xmlns:a16="http://schemas.microsoft.com/office/drawing/2014/main" id="{B6827AA4-CA8C-8750-F7E0-9D283EA2F798}"/>
                    </a:ext>
                  </a:extLst>
                </p:cNvPr>
                <p:cNvSpPr/>
                <p:nvPr/>
              </p:nvSpPr>
              <p:spPr>
                <a:xfrm>
                  <a:off x="12299845" y="4676872"/>
                  <a:ext cx="387800" cy="1936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テキスト ボックス 4">
                    <a:extLst>
                      <a:ext uri="{FF2B5EF4-FFF2-40B4-BE49-F238E27FC236}">
                        <a16:creationId xmlns:a16="http://schemas.microsoft.com/office/drawing/2014/main" id="{D673E869-6C5D-8B35-1955-57142399F108}"/>
                      </a:ext>
                    </a:extLst>
                  </p:cNvPr>
                  <p:cNvSpPr txBox="1"/>
                  <p:nvPr/>
                </p:nvSpPr>
                <p:spPr>
                  <a:xfrm>
                    <a:off x="6943128" y="4090088"/>
                    <a:ext cx="645270" cy="411908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Sup>
                            <m:sSubSupPr>
                              <m:ctrlPr>
                                <a:rPr kumimoji="1" lang="en-US" altLang="ja-JP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ja-JP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ℐ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  <m:t>obs</m:t>
                              </m:r>
                            </m:sub>
                            <m:sup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  <m:t>++</m:t>
                              </m:r>
                            </m:sup>
                          </m:sSubSup>
                        </m:oMath>
                      </m:oMathPara>
                    </a14:m>
                    <a:endParaRPr kumimoji="1" lang="ja-JP" altLang="en-US" sz="2000"/>
                  </a:p>
                </p:txBody>
              </p:sp>
            </mc:Choice>
            <mc:Fallback xmlns="">
              <p:sp>
                <p:nvSpPr>
                  <p:cNvPr id="5" name="テキスト ボックス 4">
                    <a:extLst>
                      <a:ext uri="{FF2B5EF4-FFF2-40B4-BE49-F238E27FC236}">
                        <a16:creationId xmlns:a16="http://schemas.microsoft.com/office/drawing/2014/main" id="{D673E869-6C5D-8B35-1955-57142399F10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43128" y="4090088"/>
                    <a:ext cx="645270" cy="41190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303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テキスト ボックス 5">
                    <a:extLst>
                      <a:ext uri="{FF2B5EF4-FFF2-40B4-BE49-F238E27FC236}">
                        <a16:creationId xmlns:a16="http://schemas.microsoft.com/office/drawing/2014/main" id="{8B45DF83-5295-6A3A-D19A-889B536A29EA}"/>
                      </a:ext>
                    </a:extLst>
                  </p:cNvPr>
                  <p:cNvSpPr txBox="1"/>
                  <p:nvPr/>
                </p:nvSpPr>
                <p:spPr>
                  <a:xfrm>
                    <a:off x="6943128" y="4508927"/>
                    <a:ext cx="645270" cy="411908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Sup>
                            <m:sSubSupPr>
                              <m:ctrlPr>
                                <a:rPr kumimoji="1" lang="en-US" altLang="ja-JP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ja-JP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ℐ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  <m:t>obs</m:t>
                              </m:r>
                            </m:sub>
                            <m:sup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</m:oMath>
                      </m:oMathPara>
                    </a14:m>
                    <a:endParaRPr kumimoji="1" lang="ja-JP" altLang="en-US" sz="2000"/>
                  </a:p>
                </p:txBody>
              </p:sp>
            </mc:Choice>
            <mc:Fallback xmlns="">
              <p:sp>
                <p:nvSpPr>
                  <p:cNvPr id="6" name="テキスト ボックス 5">
                    <a:extLst>
                      <a:ext uri="{FF2B5EF4-FFF2-40B4-BE49-F238E27FC236}">
                        <a16:creationId xmlns:a16="http://schemas.microsoft.com/office/drawing/2014/main" id="{8B45DF83-5295-6A3A-D19A-889B536A29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43128" y="4508927"/>
                    <a:ext cx="645270" cy="411908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20D8F64D-6778-54A6-2294-1789DA5FC8E5}"/>
                </a:ext>
              </a:extLst>
            </p:cNvPr>
            <p:cNvSpPr txBox="1"/>
            <p:nvPr/>
          </p:nvSpPr>
          <p:spPr>
            <a:xfrm>
              <a:off x="12566994" y="8205788"/>
              <a:ext cx="1850635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kumimoji="1" lang="en-US" altLang="ja-JP" sz="2200" i="1" dirty="0"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,0,2) (</a:t>
              </a:r>
              <a:r>
                <a:rPr kumimoji="1" lang="en-US" altLang="ja-JP" sz="2200" dirty="0" err="1">
                  <a:latin typeface="Arial" panose="020B0604020202020204" pitchFamily="34" charset="0"/>
                  <a:cs typeface="Arial" panose="020B0604020202020204" pitchFamily="34" charset="0"/>
                </a:rPr>
                <a:t>r.l.u</a:t>
              </a:r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.)</a:t>
              </a:r>
              <a:endParaRPr kumimoji="1" lang="ja-JP" altLang="en-US" sz="2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46605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DF97BDA3-19A6-693F-2CB2-57FC1652B3A6}"/>
              </a:ext>
            </a:extLst>
          </p:cNvPr>
          <p:cNvGrpSpPr/>
          <p:nvPr/>
        </p:nvGrpSpPr>
        <p:grpSpPr>
          <a:xfrm>
            <a:off x="4962474" y="1046378"/>
            <a:ext cx="10774849" cy="10797917"/>
            <a:chOff x="2010508" y="143902"/>
            <a:chExt cx="7432117" cy="7448028"/>
          </a:xfrm>
        </p:grpSpPr>
        <p:pic>
          <p:nvPicPr>
            <p:cNvPr id="33" name="図 32">
              <a:extLst>
                <a:ext uri="{FF2B5EF4-FFF2-40B4-BE49-F238E27FC236}">
                  <a16:creationId xmlns:a16="http://schemas.microsoft.com/office/drawing/2014/main" id="{C9C1DD5E-2280-9B2C-2442-9482A8BF8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898" t="5215" r="4899" b="4989"/>
            <a:stretch>
              <a:fillRect/>
            </a:stretch>
          </p:blipFill>
          <p:spPr>
            <a:xfrm>
              <a:off x="2010508" y="465883"/>
              <a:ext cx="3683289" cy="2948117"/>
            </a:xfrm>
            <a:prstGeom prst="rect">
              <a:avLst/>
            </a:prstGeom>
          </p:spPr>
        </p:pic>
        <p:pic>
          <p:nvPicPr>
            <p:cNvPr id="35" name="図 34">
              <a:extLst>
                <a:ext uri="{FF2B5EF4-FFF2-40B4-BE49-F238E27FC236}">
                  <a16:creationId xmlns:a16="http://schemas.microsoft.com/office/drawing/2014/main" id="{6CFDDE24-89E3-520B-C5EB-B168632D7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0728" t="5215" r="4900" b="4989"/>
            <a:stretch>
              <a:fillRect/>
            </a:stretch>
          </p:blipFill>
          <p:spPr>
            <a:xfrm>
              <a:off x="5755623" y="467366"/>
              <a:ext cx="3687002" cy="2945151"/>
            </a:xfrm>
            <a:prstGeom prst="rect">
              <a:avLst/>
            </a:prstGeom>
          </p:spPr>
        </p:pic>
        <p:pic>
          <p:nvPicPr>
            <p:cNvPr id="30" name="図 29">
              <a:extLst>
                <a:ext uri="{FF2B5EF4-FFF2-40B4-BE49-F238E27FC236}">
                  <a16:creationId xmlns:a16="http://schemas.microsoft.com/office/drawing/2014/main" id="{0AE275A8-B4E5-17EB-9194-86CB1D401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4648" t="11201" r="9674"/>
            <a:stretch>
              <a:fillRect/>
            </a:stretch>
          </p:blipFill>
          <p:spPr>
            <a:xfrm>
              <a:off x="2425303" y="3449968"/>
              <a:ext cx="6660639" cy="414196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A89AE0CC-0519-DDFB-55DE-F5B5E6F737F1}"/>
                    </a:ext>
                  </a:extLst>
                </p:cNvPr>
                <p:cNvSpPr txBox="1"/>
                <p:nvPr/>
              </p:nvSpPr>
              <p:spPr>
                <a:xfrm>
                  <a:off x="2662147" y="143902"/>
                  <a:ext cx="2324748" cy="3407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(a) Non-spin flip (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ja-JP" sz="261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++</m:t>
                          </m:r>
                        </m:sup>
                      </m:sSup>
                    </m:oMath>
                  </a14:m>
                  <a:r>
                    <a:rPr lang="en-US" altLang="ja-JP" sz="2610" dirty="0">
                      <a:latin typeface="Helvetica" pitchFamily="2" charset="0"/>
                    </a:rPr>
                    <a:t>)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A89AE0CC-0519-DDFB-55DE-F5B5E6F737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2147" y="143902"/>
                  <a:ext cx="2324748" cy="340731"/>
                </a:xfrm>
                <a:prstGeom prst="rect">
                  <a:avLst/>
                </a:prstGeom>
                <a:blipFill>
                  <a:blip r:embed="rId6"/>
                  <a:stretch>
                    <a:fillRect l="-3383" t="-10000" r="-2256" b="-2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122542C1-632F-2251-FFB1-C26B20A11E80}"/>
                    </a:ext>
                  </a:extLst>
                </p:cNvPr>
                <p:cNvSpPr txBox="1"/>
                <p:nvPr/>
              </p:nvSpPr>
              <p:spPr>
                <a:xfrm>
                  <a:off x="6639951" y="143902"/>
                  <a:ext cx="1862567" cy="3407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(b) Spin flip (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ja-JP" sz="261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+−</m:t>
                          </m:r>
                        </m:sup>
                      </m:sSup>
                    </m:oMath>
                  </a14:m>
                  <a:r>
                    <a:rPr lang="en-US" altLang="ja-JP" sz="2610" dirty="0">
                      <a:latin typeface="Helvetica" pitchFamily="2" charset="0"/>
                    </a:rPr>
                    <a:t>)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122542C1-632F-2251-FFB1-C26B20A11E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9951" y="143902"/>
                  <a:ext cx="1862567" cy="340731"/>
                </a:xfrm>
                <a:prstGeom prst="rect">
                  <a:avLst/>
                </a:prstGeom>
                <a:blipFill>
                  <a:blip r:embed="rId7"/>
                  <a:stretch>
                    <a:fillRect l="-4225" t="-10000" r="-3286" b="-2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FC72D8A1-D5E2-9455-A740-59097D2468C0}"/>
                </a:ext>
              </a:extLst>
            </p:cNvPr>
            <p:cNvSpPr/>
            <p:nvPr/>
          </p:nvSpPr>
          <p:spPr>
            <a:xfrm>
              <a:off x="3566807" y="1600205"/>
              <a:ext cx="570689" cy="313643"/>
            </a:xfrm>
            <a:prstGeom prst="rect">
              <a:avLst/>
            </a:prstGeom>
            <a:noFill/>
            <a:ln w="12700">
              <a:solidFill>
                <a:srgbClr val="0404F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D6EF55E3-22CF-52E3-D395-3E80FF3011BC}"/>
                </a:ext>
              </a:extLst>
            </p:cNvPr>
            <p:cNvSpPr/>
            <p:nvPr/>
          </p:nvSpPr>
          <p:spPr>
            <a:xfrm>
              <a:off x="7405269" y="1600205"/>
              <a:ext cx="570689" cy="313643"/>
            </a:xfrm>
            <a:prstGeom prst="rect">
              <a:avLst/>
            </a:prstGeom>
            <a:noFill/>
            <a:ln w="12700">
              <a:solidFill>
                <a:srgbClr val="FF0B0B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B2E23A09-9878-AB61-A1CD-F583BF69BCA4}"/>
                </a:ext>
              </a:extLst>
            </p:cNvPr>
            <p:cNvCxnSpPr>
              <a:cxnSpLocks/>
            </p:cNvCxnSpPr>
            <p:nvPr/>
          </p:nvCxnSpPr>
          <p:spPr>
            <a:xfrm>
              <a:off x="4055706" y="1951382"/>
              <a:ext cx="1480390" cy="2133284"/>
            </a:xfrm>
            <a:prstGeom prst="line">
              <a:avLst/>
            </a:prstGeom>
            <a:ln w="12700">
              <a:solidFill>
                <a:srgbClr val="0404F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72C73BED-D062-7828-7211-9A14BA8568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4705" y="1951299"/>
              <a:ext cx="1099785" cy="4872479"/>
            </a:xfrm>
            <a:prstGeom prst="line">
              <a:avLst/>
            </a:prstGeom>
            <a:ln w="12700">
              <a:solidFill>
                <a:srgbClr val="FF0B0B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FD5EE587-C638-B6A3-6D45-66F6FA98A752}"/>
                </a:ext>
              </a:extLst>
            </p:cNvPr>
            <p:cNvSpPr txBox="1"/>
            <p:nvPr/>
          </p:nvSpPr>
          <p:spPr>
            <a:xfrm>
              <a:off x="3729848" y="3482503"/>
              <a:ext cx="397166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(c)</a:t>
              </a:r>
              <a:endParaRPr lang="ja-JP" altLang="en-US" sz="261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57429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628A2-A226-A454-7DA8-A9A1886DE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図 32">
            <a:extLst>
              <a:ext uri="{FF2B5EF4-FFF2-40B4-BE49-F238E27FC236}">
                <a16:creationId xmlns:a16="http://schemas.microsoft.com/office/drawing/2014/main" id="{D9072048-C9EB-747F-139B-FA1CE950AB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898" t="5215" r="4899" b="4989"/>
          <a:stretch>
            <a:fillRect/>
          </a:stretch>
        </p:blipFill>
        <p:spPr>
          <a:xfrm>
            <a:off x="4962473" y="1513177"/>
            <a:ext cx="5339916" cy="4274087"/>
          </a:xfrm>
          <a:prstGeom prst="rect">
            <a:avLst/>
          </a:prstGeom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3F5EAE98-B320-3BE7-21FC-A0FE5B83E0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728" t="5215" r="4900" b="4989"/>
          <a:stretch>
            <a:fillRect/>
          </a:stretch>
        </p:blipFill>
        <p:spPr>
          <a:xfrm>
            <a:off x="10392024" y="1515327"/>
            <a:ext cx="5345299" cy="4269787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80121E04-ED4F-A3C3-E408-270A44399E5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695" t="11201" r="9674"/>
          <a:stretch>
            <a:fillRect/>
          </a:stretch>
        </p:blipFill>
        <p:spPr>
          <a:xfrm>
            <a:off x="5907200" y="6223271"/>
            <a:ext cx="9313017" cy="60048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156687BF-56EB-B552-12D1-DE452506BB49}"/>
                  </a:ext>
                </a:extLst>
              </p:cNvPr>
              <p:cNvSpPr txBox="1"/>
              <p:nvPr/>
            </p:nvSpPr>
            <p:spPr>
              <a:xfrm>
                <a:off x="5907199" y="1046379"/>
                <a:ext cx="3370346" cy="493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610" dirty="0">
                    <a:latin typeface="Helvetica" pitchFamily="2" charset="0"/>
                  </a:rPr>
                  <a:t>(a) Non-spin flip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61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++</m:t>
                        </m:r>
                      </m:sup>
                    </m:sSup>
                  </m:oMath>
                </a14:m>
                <a:r>
                  <a:rPr lang="en-US" altLang="ja-JP" sz="2610" dirty="0">
                    <a:latin typeface="Helvetica" pitchFamily="2" charset="0"/>
                  </a:rPr>
                  <a:t>)</a:t>
                </a:r>
                <a:endParaRPr lang="ja-JP" altLang="en-US" sz="261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156687BF-56EB-B552-12D1-DE452506B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7199" y="1046379"/>
                <a:ext cx="3370346" cy="493981"/>
              </a:xfrm>
              <a:prstGeom prst="rect">
                <a:avLst/>
              </a:prstGeom>
              <a:blipFill>
                <a:blip r:embed="rId6"/>
                <a:stretch>
                  <a:fillRect l="-3383" t="-10000" r="-2256" b="-27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C90B1FE2-3269-BC8B-7A4E-BFCF6986703D}"/>
                  </a:ext>
                </a:extLst>
              </p:cNvPr>
              <p:cNvSpPr txBox="1"/>
              <p:nvPr/>
            </p:nvSpPr>
            <p:spPr>
              <a:xfrm>
                <a:off x="11674095" y="1046379"/>
                <a:ext cx="2700291" cy="493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610" dirty="0">
                    <a:latin typeface="Helvetica" pitchFamily="2" charset="0"/>
                  </a:rPr>
                  <a:t>(b) Spin flip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61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+−</m:t>
                        </m:r>
                      </m:sup>
                    </m:sSup>
                  </m:oMath>
                </a14:m>
                <a:r>
                  <a:rPr lang="en-US" altLang="ja-JP" sz="2610" dirty="0">
                    <a:latin typeface="Helvetica" pitchFamily="2" charset="0"/>
                  </a:rPr>
                  <a:t>)</a:t>
                </a:r>
                <a:endParaRPr lang="ja-JP" altLang="en-US" sz="261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C90B1FE2-3269-BC8B-7A4E-BFCF69867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4095" y="1046379"/>
                <a:ext cx="2700291" cy="493981"/>
              </a:xfrm>
              <a:prstGeom prst="rect">
                <a:avLst/>
              </a:prstGeom>
              <a:blipFill>
                <a:blip r:embed="rId7"/>
                <a:stretch>
                  <a:fillRect l="-4225" t="-10000" r="-3286" b="-27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B38B980-5ABA-ACBF-0EB8-C795D0BF6844}"/>
              </a:ext>
            </a:extLst>
          </p:cNvPr>
          <p:cNvSpPr/>
          <p:nvPr/>
        </p:nvSpPr>
        <p:spPr>
          <a:xfrm>
            <a:off x="7218747" y="3157680"/>
            <a:ext cx="827367" cy="454710"/>
          </a:xfrm>
          <a:prstGeom prst="rect">
            <a:avLst/>
          </a:prstGeom>
          <a:noFill/>
          <a:ln w="1270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7E6A1FF-1EE6-4BB3-A5F4-9409D9B027FF}"/>
              </a:ext>
            </a:extLst>
          </p:cNvPr>
          <p:cNvSpPr/>
          <p:nvPr/>
        </p:nvSpPr>
        <p:spPr>
          <a:xfrm>
            <a:off x="12783628" y="3157680"/>
            <a:ext cx="827367" cy="454710"/>
          </a:xfrm>
          <a:prstGeom prst="rect">
            <a:avLst/>
          </a:prstGeom>
          <a:noFill/>
          <a:ln w="1270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344B23E-4F9B-FBE2-E65E-457D9072EE78}"/>
              </a:ext>
            </a:extLst>
          </p:cNvPr>
          <p:cNvSpPr txBox="1"/>
          <p:nvPr/>
        </p:nvSpPr>
        <p:spPr>
          <a:xfrm>
            <a:off x="6561498" y="5756557"/>
            <a:ext cx="8004423" cy="493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610" dirty="0">
                <a:latin typeface="Helvetica" pitchFamily="2" charset="0"/>
              </a:rPr>
              <a:t>(c)  X-direction line profile (</a:t>
            </a:r>
            <a:r>
              <a:rPr lang="en-US" altLang="ja-JP" sz="2610" dirty="0" err="1">
                <a:latin typeface="Helvetica" pitchFamily="2" charset="0"/>
              </a:rPr>
              <a:t>dased</a:t>
            </a:r>
            <a:r>
              <a:rPr lang="en-US" altLang="ja-JP" sz="2610" dirty="0">
                <a:latin typeface="Helvetica" pitchFamily="2" charset="0"/>
              </a:rPr>
              <a:t> region in (a), (b))</a:t>
            </a:r>
            <a:endParaRPr lang="ja-JP" altLang="en-US" sz="2610">
              <a:latin typeface="Helvetica" pitchFamily="2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66C555E-8E12-9C0E-B03A-77A59DFB9DE7}"/>
              </a:ext>
            </a:extLst>
          </p:cNvPr>
          <p:cNvSpPr txBox="1"/>
          <p:nvPr/>
        </p:nvSpPr>
        <p:spPr>
          <a:xfrm rot="16200000">
            <a:off x="2863584" y="8838733"/>
            <a:ext cx="5596404" cy="4493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320" dirty="0">
                <a:latin typeface="Helvetica" pitchFamily="2" charset="0"/>
              </a:rPr>
              <a:t>Integrated intensity (y pixels 27-35) (</a:t>
            </a:r>
            <a:r>
              <a:rPr lang="en-US" altLang="ja-JP" sz="2320" dirty="0" err="1">
                <a:latin typeface="Helvetica" pitchFamily="2" charset="0"/>
              </a:rPr>
              <a:t>a.u</a:t>
            </a:r>
            <a:r>
              <a:rPr lang="en-US" altLang="ja-JP" sz="2320" dirty="0">
                <a:latin typeface="Helvetica" pitchFamily="2" charset="0"/>
              </a:rPr>
              <a:t>.)</a:t>
            </a:r>
            <a:endParaRPr lang="ja-JP" altLang="en-US" sz="232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0508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0EF2B-C44D-B60C-8BE5-EF15F2C68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図 32">
            <a:extLst>
              <a:ext uri="{FF2B5EF4-FFF2-40B4-BE49-F238E27FC236}">
                <a16:creationId xmlns:a16="http://schemas.microsoft.com/office/drawing/2014/main" id="{58D6E39D-59AB-5A3B-79BE-E888BA9EC6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898" t="5215" r="4899" b="4989"/>
          <a:stretch>
            <a:fillRect/>
          </a:stretch>
        </p:blipFill>
        <p:spPr>
          <a:xfrm>
            <a:off x="4962472" y="1513177"/>
            <a:ext cx="5339917" cy="4274087"/>
          </a:xfrm>
          <a:prstGeom prst="rect">
            <a:avLst/>
          </a:prstGeom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B4CAF6F7-1A9B-942F-54BD-C4E8D5AEEE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728" t="5215" r="4900" b="4989"/>
          <a:stretch>
            <a:fillRect/>
          </a:stretch>
        </p:blipFill>
        <p:spPr>
          <a:xfrm>
            <a:off x="10392021" y="1515327"/>
            <a:ext cx="5345300" cy="4269787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A2477CFA-7071-73E3-E470-166892D3225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695" t="11201" r="9674"/>
          <a:stretch>
            <a:fillRect/>
          </a:stretch>
        </p:blipFill>
        <p:spPr>
          <a:xfrm>
            <a:off x="5907198" y="5821555"/>
            <a:ext cx="9313017" cy="6004886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DCE10FF-6884-4BD0-D432-4B55CEA0C09B}"/>
              </a:ext>
            </a:extLst>
          </p:cNvPr>
          <p:cNvSpPr txBox="1"/>
          <p:nvPr/>
        </p:nvSpPr>
        <p:spPr>
          <a:xfrm>
            <a:off x="4699179" y="1548537"/>
            <a:ext cx="595034" cy="493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610" dirty="0">
                <a:latin typeface="Helvetica" pitchFamily="2" charset="0"/>
              </a:rPr>
              <a:t>(a)</a:t>
            </a:r>
            <a:endParaRPr lang="ja-JP" altLang="en-US" sz="2610">
              <a:latin typeface="Helvetica" pitchFamily="2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DF60A8F-E27C-E33B-D2D6-315BCEFD6060}"/>
              </a:ext>
            </a:extLst>
          </p:cNvPr>
          <p:cNvSpPr txBox="1"/>
          <p:nvPr/>
        </p:nvSpPr>
        <p:spPr>
          <a:xfrm>
            <a:off x="10127469" y="1548537"/>
            <a:ext cx="595034" cy="493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610" dirty="0">
                <a:latin typeface="Helvetica" pitchFamily="2" charset="0"/>
              </a:rPr>
              <a:t>(b)</a:t>
            </a:r>
            <a:endParaRPr lang="ja-JP" altLang="en-US" sz="2610">
              <a:latin typeface="Helvetica" pitchFamily="2" charset="0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3599D03-6928-B4EF-1C1D-7C2A14209456}"/>
              </a:ext>
            </a:extLst>
          </p:cNvPr>
          <p:cNvSpPr/>
          <p:nvPr/>
        </p:nvSpPr>
        <p:spPr>
          <a:xfrm>
            <a:off x="7218746" y="3157680"/>
            <a:ext cx="827367" cy="454710"/>
          </a:xfrm>
          <a:prstGeom prst="rect">
            <a:avLst/>
          </a:prstGeom>
          <a:noFill/>
          <a:ln w="1270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2C7FE79A-5EC3-0317-1853-67802E9D2329}"/>
              </a:ext>
            </a:extLst>
          </p:cNvPr>
          <p:cNvSpPr/>
          <p:nvPr/>
        </p:nvSpPr>
        <p:spPr>
          <a:xfrm>
            <a:off x="12783627" y="3157680"/>
            <a:ext cx="827367" cy="454710"/>
          </a:xfrm>
          <a:prstGeom prst="rect">
            <a:avLst/>
          </a:prstGeom>
          <a:noFill/>
          <a:ln w="1270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CF6AC6BF-4188-CB0E-B176-63CDACFC61B7}"/>
              </a:ext>
            </a:extLst>
          </p:cNvPr>
          <p:cNvSpPr txBox="1"/>
          <p:nvPr/>
        </p:nvSpPr>
        <p:spPr>
          <a:xfrm>
            <a:off x="4708926" y="5771259"/>
            <a:ext cx="657250" cy="493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610" dirty="0">
                <a:latin typeface="Helvetica" pitchFamily="2" charset="0"/>
              </a:rPr>
              <a:t>(c)</a:t>
            </a:r>
            <a:endParaRPr lang="ja-JP" altLang="en-US" sz="2610">
              <a:latin typeface="Helvetica" pitchFamily="2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83139B1-FE38-6D23-5824-BDE08E8C5C72}"/>
              </a:ext>
            </a:extLst>
          </p:cNvPr>
          <p:cNvSpPr txBox="1"/>
          <p:nvPr/>
        </p:nvSpPr>
        <p:spPr>
          <a:xfrm rot="16200000">
            <a:off x="2863582" y="8599320"/>
            <a:ext cx="5596404" cy="4493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320" dirty="0">
                <a:latin typeface="Helvetica" pitchFamily="2" charset="0"/>
              </a:rPr>
              <a:t>Integrated intensity (y pixels 27-35) (</a:t>
            </a:r>
            <a:r>
              <a:rPr lang="en-US" altLang="ja-JP" sz="2320" dirty="0" err="1">
                <a:latin typeface="Helvetica" pitchFamily="2" charset="0"/>
              </a:rPr>
              <a:t>a.u</a:t>
            </a:r>
            <a:r>
              <a:rPr lang="en-US" altLang="ja-JP" sz="2320" dirty="0">
                <a:latin typeface="Helvetica" pitchFamily="2" charset="0"/>
              </a:rPr>
              <a:t>.)</a:t>
            </a:r>
            <a:endParaRPr lang="ja-JP" altLang="en-US" sz="232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9028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36E84-9BDC-C53C-D98C-13B29C6FF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07760BCE-3751-A9B2-8543-ED26A4BF591F}"/>
              </a:ext>
            </a:extLst>
          </p:cNvPr>
          <p:cNvGrpSpPr/>
          <p:nvPr/>
        </p:nvGrpSpPr>
        <p:grpSpPr>
          <a:xfrm>
            <a:off x="5366416" y="1113127"/>
            <a:ext cx="11038142" cy="10313265"/>
            <a:chOff x="1828899" y="249311"/>
            <a:chExt cx="7613727" cy="7113732"/>
          </a:xfrm>
        </p:grpSpPr>
        <p:pic>
          <p:nvPicPr>
            <p:cNvPr id="33" name="図 32">
              <a:extLst>
                <a:ext uri="{FF2B5EF4-FFF2-40B4-BE49-F238E27FC236}">
                  <a16:creationId xmlns:a16="http://schemas.microsoft.com/office/drawing/2014/main" id="{CC6E302E-2D60-51CD-F953-C0CBF45B7D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898" t="5215" r="4899" b="4989"/>
            <a:stretch>
              <a:fillRect/>
            </a:stretch>
          </p:blipFill>
          <p:spPr>
            <a:xfrm>
              <a:off x="2010509" y="249311"/>
              <a:ext cx="3683289" cy="2948117"/>
            </a:xfrm>
            <a:prstGeom prst="rect">
              <a:avLst/>
            </a:prstGeom>
          </p:spPr>
        </p:pic>
        <p:pic>
          <p:nvPicPr>
            <p:cNvPr id="35" name="図 34">
              <a:extLst>
                <a:ext uri="{FF2B5EF4-FFF2-40B4-BE49-F238E27FC236}">
                  <a16:creationId xmlns:a16="http://schemas.microsoft.com/office/drawing/2014/main" id="{8BC796D6-7963-11EF-1DD6-95492995E2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0728" t="5215" r="4900" b="4989"/>
            <a:stretch>
              <a:fillRect/>
            </a:stretch>
          </p:blipFill>
          <p:spPr>
            <a:xfrm>
              <a:off x="5755624" y="250794"/>
              <a:ext cx="3687002" cy="2945151"/>
            </a:xfrm>
            <a:prstGeom prst="rect">
              <a:avLst/>
            </a:prstGeom>
          </p:spPr>
        </p:pic>
        <p:pic>
          <p:nvPicPr>
            <p:cNvPr id="30" name="図 29">
              <a:extLst>
                <a:ext uri="{FF2B5EF4-FFF2-40B4-BE49-F238E27FC236}">
                  <a16:creationId xmlns:a16="http://schemas.microsoft.com/office/drawing/2014/main" id="{0FB38C17-03E1-79DB-7D17-4C2221356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7695" t="11201" r="9674"/>
            <a:stretch>
              <a:fillRect/>
            </a:stretch>
          </p:blipFill>
          <p:spPr>
            <a:xfrm>
              <a:off x="2662148" y="3221081"/>
              <a:ext cx="6423796" cy="4141962"/>
            </a:xfrm>
            <a:prstGeom prst="rect">
              <a:avLst/>
            </a:prstGeom>
          </p:spPr>
        </p:pic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F6B60242-0E6E-A39D-7957-C465A74FD480}"/>
                </a:ext>
              </a:extLst>
            </p:cNvPr>
            <p:cNvSpPr txBox="1"/>
            <p:nvPr/>
          </p:nvSpPr>
          <p:spPr>
            <a:xfrm>
              <a:off x="1828899" y="273701"/>
              <a:ext cx="410434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(a)</a:t>
              </a:r>
              <a:endParaRPr lang="ja-JP" altLang="en-US" sz="2610">
                <a:latin typeface="Helvetica" pitchFamily="2" charset="0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2DAC6B7C-3651-3087-7749-BD6C3CD74C89}"/>
                </a:ext>
              </a:extLst>
            </p:cNvPr>
            <p:cNvSpPr txBox="1"/>
            <p:nvPr/>
          </p:nvSpPr>
          <p:spPr>
            <a:xfrm>
              <a:off x="5573145" y="273701"/>
              <a:ext cx="410434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(b)</a:t>
              </a:r>
              <a:endParaRPr lang="ja-JP" altLang="en-US" sz="2610">
                <a:latin typeface="Helvetica" pitchFamily="2" charset="0"/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7F25085C-98FE-D007-C82D-C551FC5D2E85}"/>
                </a:ext>
              </a:extLst>
            </p:cNvPr>
            <p:cNvSpPr/>
            <p:nvPr/>
          </p:nvSpPr>
          <p:spPr>
            <a:xfrm>
              <a:off x="3566808" y="1383633"/>
              <a:ext cx="570689" cy="313643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463A76CA-EFE0-A6B2-E138-44494EBBDEE6}"/>
                </a:ext>
              </a:extLst>
            </p:cNvPr>
            <p:cNvSpPr/>
            <p:nvPr/>
          </p:nvSpPr>
          <p:spPr>
            <a:xfrm>
              <a:off x="7405270" y="1383633"/>
              <a:ext cx="570689" cy="313643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C2A218AA-5ABF-B514-8EF3-ED0BC9FC5FB9}"/>
                </a:ext>
              </a:extLst>
            </p:cNvPr>
            <p:cNvSpPr txBox="1"/>
            <p:nvPr/>
          </p:nvSpPr>
          <p:spPr>
            <a:xfrm>
              <a:off x="1835622" y="3186388"/>
              <a:ext cx="453348" cy="3407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(c)</a:t>
              </a:r>
              <a:endParaRPr lang="ja-JP" altLang="en-US" sz="2610">
                <a:latin typeface="Helvetica" pitchFamily="2" charset="0"/>
              </a:endParaRPr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C46128BD-36E3-7424-D7FC-7FC64C5B6C78}"/>
                </a:ext>
              </a:extLst>
            </p:cNvPr>
            <p:cNvSpPr txBox="1"/>
            <p:nvPr/>
          </p:nvSpPr>
          <p:spPr>
            <a:xfrm rot="16200000">
              <a:off x="562768" y="5137087"/>
              <a:ext cx="3860205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Integrated intensity (y pixels 27-35) (</a:t>
              </a:r>
              <a:r>
                <a:rPr lang="en-US" altLang="ja-JP" sz="2320" dirty="0" err="1">
                  <a:latin typeface="Helvetica" pitchFamily="2" charset="0"/>
                </a:rPr>
                <a:t>a.u</a:t>
              </a:r>
              <a:r>
                <a:rPr lang="en-US" altLang="ja-JP" sz="2320" dirty="0">
                  <a:latin typeface="Helvetica" pitchFamily="2" charset="0"/>
                </a:rPr>
                <a:t>.)</a:t>
              </a:r>
              <a:endParaRPr lang="ja-JP" altLang="en-US" sz="2320">
                <a:latin typeface="Helvetica" pitchFamily="2" charset="0"/>
              </a:endParaRPr>
            </a:p>
          </p:txBody>
        </p:sp>
      </p:grpSp>
      <p:pic>
        <p:nvPicPr>
          <p:cNvPr id="4" name="図 3">
            <a:extLst>
              <a:ext uri="{FF2B5EF4-FFF2-40B4-BE49-F238E27FC236}">
                <a16:creationId xmlns:a16="http://schemas.microsoft.com/office/drawing/2014/main" id="{30C59FF0-7845-4195-2423-4319E9DCE4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1706" y="5165291"/>
            <a:ext cx="7467600" cy="626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4541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4A2E5-17EC-5500-6B71-C84D89415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4A90464C-776B-33DC-35B1-894CD0A4542B}"/>
              </a:ext>
            </a:extLst>
          </p:cNvPr>
          <p:cNvGrpSpPr/>
          <p:nvPr/>
        </p:nvGrpSpPr>
        <p:grpSpPr>
          <a:xfrm>
            <a:off x="5280819" y="1876291"/>
            <a:ext cx="11103768" cy="9953759"/>
            <a:chOff x="519113" y="1876290"/>
            <a:chExt cx="11103768" cy="9953759"/>
          </a:xfrm>
        </p:grpSpPr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E300E30F-055C-E9A7-CAA1-0E4D02A90E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68181" y="2020887"/>
              <a:ext cx="5854700" cy="4394200"/>
            </a:xfrm>
            <a:prstGeom prst="rect">
              <a:avLst/>
            </a:prstGeom>
          </p:spPr>
        </p:pic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454E708E-D8CD-A80B-754F-9A6E19653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9113" y="2020887"/>
              <a:ext cx="5854700" cy="4394200"/>
            </a:xfrm>
            <a:prstGeom prst="rect">
              <a:avLst/>
            </a:prstGeom>
          </p:spPr>
        </p:pic>
        <p:pic>
          <p:nvPicPr>
            <p:cNvPr id="21" name="図 20">
              <a:extLst>
                <a:ext uri="{FF2B5EF4-FFF2-40B4-BE49-F238E27FC236}">
                  <a16:creationId xmlns:a16="http://schemas.microsoft.com/office/drawing/2014/main" id="{1480D542-4A61-42A4-E838-B2C9B5F0E3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-3327"/>
            <a:stretch>
              <a:fillRect/>
            </a:stretch>
          </p:blipFill>
          <p:spPr>
            <a:xfrm>
              <a:off x="2466181" y="6161086"/>
              <a:ext cx="7315200" cy="566896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194A5AA9-6F20-F135-31FD-18DC04E234D6}"/>
                    </a:ext>
                  </a:extLst>
                </p:cNvPr>
                <p:cNvSpPr txBox="1"/>
                <p:nvPr/>
              </p:nvSpPr>
              <p:spPr>
                <a:xfrm>
                  <a:off x="1520038" y="1876290"/>
                  <a:ext cx="3680303" cy="5094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(a) 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ja-JP" sz="261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ja-JP" sz="261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US" altLang="ja-JP" sz="2610" i="1" dirty="0">
                          <a:latin typeface="Cambria Math" panose="02040503050406030204" pitchFamily="18" charset="0"/>
                        </a:rPr>
                        <m:t>02</m:t>
                      </m:r>
                    </m:oMath>
                  </a14:m>
                  <a:r>
                    <a:rPr lang="en-US" altLang="ja-JP" sz="2610" dirty="0">
                      <a:latin typeface="Helvetica" pitchFamily="2" charset="0"/>
                    </a:rPr>
                    <a:t> reflection in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obs</m:t>
                          </m:r>
                        </m:sub>
                        <m:sup>
                          <m: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++</m:t>
                          </m:r>
                        </m:sup>
                      </m:sSubSup>
                    </m:oMath>
                  </a14:m>
                  <a:endParaRPr lang="ja-JP" altLang="en-US" sz="261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194A5AA9-6F20-F135-31FD-18DC04E234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0038" y="1876290"/>
                  <a:ext cx="3680303" cy="509498"/>
                </a:xfrm>
                <a:prstGeom prst="rect">
                  <a:avLst/>
                </a:prstGeom>
                <a:blipFill>
                  <a:blip r:embed="rId6"/>
                  <a:stretch>
                    <a:fillRect l="-2749" t="-7317" b="-2926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E7E206A4-55B7-A559-3F82-AF2813067645}"/>
                    </a:ext>
                  </a:extLst>
                </p:cNvPr>
                <p:cNvSpPr txBox="1"/>
                <p:nvPr/>
              </p:nvSpPr>
              <p:spPr>
                <a:xfrm>
                  <a:off x="6815594" y="1876290"/>
                  <a:ext cx="3678315" cy="5094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(b) 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ja-JP" sz="261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ja-JP" sz="261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US" altLang="ja-JP" sz="2610" i="1" dirty="0">
                          <a:latin typeface="Cambria Math" panose="02040503050406030204" pitchFamily="18" charset="0"/>
                        </a:rPr>
                        <m:t>02</m:t>
                      </m:r>
                    </m:oMath>
                  </a14:m>
                  <a:r>
                    <a:rPr lang="en-US" altLang="ja-JP" sz="2610" dirty="0">
                      <a:latin typeface="Helvetica" pitchFamily="2" charset="0"/>
                    </a:rPr>
                    <a:t> reflection in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ja-JP" sz="261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ja-JP" sz="2610" i="1">
                              <a:latin typeface="Cambria Math" panose="02040503050406030204" pitchFamily="18" charset="0"/>
                            </a:rPr>
                            <m:t>obs</m:t>
                          </m:r>
                        </m:sub>
                        <m:sup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ja-JP" sz="261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</m:oMath>
                  </a14:m>
                  <a:endParaRPr lang="ja-JP" altLang="en-US" sz="261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E7E206A4-55B7-A559-3F82-AF28130676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5594" y="1876290"/>
                  <a:ext cx="3678315" cy="509498"/>
                </a:xfrm>
                <a:prstGeom prst="rect">
                  <a:avLst/>
                </a:prstGeom>
                <a:blipFill>
                  <a:blip r:embed="rId7"/>
                  <a:stretch>
                    <a:fillRect l="-3093" t="-7317" b="-2926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DF2A32BB-E82B-743B-D919-77CA6F1F3DA8}"/>
                </a:ext>
              </a:extLst>
            </p:cNvPr>
            <p:cNvSpPr txBox="1"/>
            <p:nvPr/>
          </p:nvSpPr>
          <p:spPr>
            <a:xfrm>
              <a:off x="1883615" y="6263480"/>
              <a:ext cx="8480332" cy="4939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(c)  X projection of the dashed line region in (a) and (b))</a:t>
              </a:r>
              <a:endParaRPr lang="ja-JP" altLang="en-US" sz="2610">
                <a:latin typeface="Helvetica" pitchFamily="2" charset="0"/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13998238-40F6-FEA9-B4A0-D8A24A99ADFE}"/>
                </a:ext>
              </a:extLst>
            </p:cNvPr>
            <p:cNvSpPr/>
            <p:nvPr/>
          </p:nvSpPr>
          <p:spPr>
            <a:xfrm>
              <a:off x="3123789" y="3672030"/>
              <a:ext cx="827367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63B796FB-2B88-9B69-1551-9475C68356D8}"/>
                </a:ext>
              </a:extLst>
            </p:cNvPr>
            <p:cNvSpPr/>
            <p:nvPr/>
          </p:nvSpPr>
          <p:spPr>
            <a:xfrm>
              <a:off x="8419689" y="3672030"/>
              <a:ext cx="827367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</p:grpSp>
      <p:pic>
        <p:nvPicPr>
          <p:cNvPr id="2" name="図 1">
            <a:extLst>
              <a:ext uri="{FF2B5EF4-FFF2-40B4-BE49-F238E27FC236}">
                <a16:creationId xmlns:a16="http://schemas.microsoft.com/office/drawing/2014/main" id="{B4DA2CBE-5103-D064-E880-740B02364B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9287" y="3312570"/>
            <a:ext cx="7772400" cy="562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6786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4083D-7A02-DB9A-C503-AD28ABD03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416496F2-889E-E286-F5DB-898BB73ECB64}"/>
              </a:ext>
            </a:extLst>
          </p:cNvPr>
          <p:cNvGrpSpPr/>
          <p:nvPr/>
        </p:nvGrpSpPr>
        <p:grpSpPr>
          <a:xfrm>
            <a:off x="5773755" y="1876291"/>
            <a:ext cx="10044237" cy="10036213"/>
            <a:chOff x="5773755" y="1876291"/>
            <a:chExt cx="10044237" cy="10036213"/>
          </a:xfrm>
        </p:grpSpPr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33A121DC-FAB0-F752-ABE6-A2AF4062F00A}"/>
                </a:ext>
              </a:extLst>
            </p:cNvPr>
            <p:cNvGrpSpPr/>
            <p:nvPr/>
          </p:nvGrpSpPr>
          <p:grpSpPr>
            <a:xfrm>
              <a:off x="5773755" y="1876291"/>
              <a:ext cx="10044237" cy="10036213"/>
              <a:chOff x="5773755" y="1876291"/>
              <a:chExt cx="10044237" cy="10036213"/>
            </a:xfrm>
          </p:grpSpPr>
          <p:grpSp>
            <p:nvGrpSpPr>
              <p:cNvPr id="5" name="グループ化 4">
                <a:extLst>
                  <a:ext uri="{FF2B5EF4-FFF2-40B4-BE49-F238E27FC236}">
                    <a16:creationId xmlns:a16="http://schemas.microsoft.com/office/drawing/2014/main" id="{517EE993-F334-CF5F-BB3D-EA64DE782FD0}"/>
                  </a:ext>
                </a:extLst>
              </p:cNvPr>
              <p:cNvGrpSpPr/>
              <p:nvPr/>
            </p:nvGrpSpPr>
            <p:grpSpPr>
              <a:xfrm>
                <a:off x="6555707" y="6263481"/>
                <a:ext cx="8480332" cy="5649023"/>
                <a:chOff x="6645321" y="6263481"/>
                <a:chExt cx="8480332" cy="5649023"/>
              </a:xfrm>
            </p:grpSpPr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8DB6277E-0658-A3B2-6ED6-BFA9852F2206}"/>
                    </a:ext>
                  </a:extLst>
                </p:cNvPr>
                <p:cNvSpPr txBox="1"/>
                <p:nvPr/>
              </p:nvSpPr>
              <p:spPr>
                <a:xfrm>
                  <a:off x="6645321" y="6263481"/>
                  <a:ext cx="8480332" cy="4939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(c)  X projection of the dashed line region in (a) and (b))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pic>
              <p:nvPicPr>
                <p:cNvPr id="4" name="図 3">
                  <a:extLst>
                    <a:ext uri="{FF2B5EF4-FFF2-40B4-BE49-F238E27FC236}">
                      <a16:creationId xmlns:a16="http://schemas.microsoft.com/office/drawing/2014/main" id="{0FB90900-8414-D1F8-39F8-FABF955E47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56267" y="6757462"/>
                  <a:ext cx="7058441" cy="5155042"/>
                </a:xfrm>
                <a:prstGeom prst="rect">
                  <a:avLst/>
                </a:prstGeom>
              </p:spPr>
            </p:pic>
          </p:grpSp>
          <p:grpSp>
            <p:nvGrpSpPr>
              <p:cNvPr id="14" name="グループ化 13">
                <a:extLst>
                  <a:ext uri="{FF2B5EF4-FFF2-40B4-BE49-F238E27FC236}">
                    <a16:creationId xmlns:a16="http://schemas.microsoft.com/office/drawing/2014/main" id="{70F6E205-21AF-BF00-C475-89123725D6A4}"/>
                  </a:ext>
                </a:extLst>
              </p:cNvPr>
              <p:cNvGrpSpPr/>
              <p:nvPr/>
            </p:nvGrpSpPr>
            <p:grpSpPr>
              <a:xfrm>
                <a:off x="5773755" y="1876291"/>
                <a:ext cx="10044237" cy="4387190"/>
                <a:chOff x="5773755" y="1876291"/>
                <a:chExt cx="10044237" cy="4387190"/>
              </a:xfrm>
            </p:grpSpPr>
            <p:grpSp>
              <p:nvGrpSpPr>
                <p:cNvPr id="13" name="グループ化 12">
                  <a:extLst>
                    <a:ext uri="{FF2B5EF4-FFF2-40B4-BE49-F238E27FC236}">
                      <a16:creationId xmlns:a16="http://schemas.microsoft.com/office/drawing/2014/main" id="{808F2F74-0EA6-2203-0102-D9B20157E2CC}"/>
                    </a:ext>
                  </a:extLst>
                </p:cNvPr>
                <p:cNvGrpSpPr/>
                <p:nvPr/>
              </p:nvGrpSpPr>
              <p:grpSpPr>
                <a:xfrm>
                  <a:off x="5773755" y="1876291"/>
                  <a:ext cx="4978400" cy="4387190"/>
                  <a:chOff x="5773755" y="1876291"/>
                  <a:chExt cx="4978400" cy="4387190"/>
                </a:xfrm>
              </p:grpSpPr>
              <p:pic>
                <p:nvPicPr>
                  <p:cNvPr id="7" name="図 6">
                    <a:extLst>
                      <a:ext uri="{FF2B5EF4-FFF2-40B4-BE49-F238E27FC236}">
                        <a16:creationId xmlns:a16="http://schemas.microsoft.com/office/drawing/2014/main" id="{DE543E6D-D216-1711-9089-40FFBB7098D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5773755" y="2402681"/>
                    <a:ext cx="4978400" cy="3860800"/>
                  </a:xfrm>
                  <a:prstGeom prst="rect">
                    <a:avLst/>
                  </a:prstGeom>
                </p:spPr>
              </p:pic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5" name="テキスト ボックス 14">
                        <a:extLst>
                          <a:ext uri="{FF2B5EF4-FFF2-40B4-BE49-F238E27FC236}">
                            <a16:creationId xmlns:a16="http://schemas.microsoft.com/office/drawing/2014/main" id="{1812A9CE-DCC5-18E2-CB61-9FBDF8E8F25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422804" y="1876291"/>
                        <a:ext cx="3680303" cy="50949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ja-JP" sz="2610" dirty="0">
                            <a:latin typeface="Helvetica" pitchFamily="2" charset="0"/>
                          </a:rPr>
                          <a:t>(a) </a:t>
                        </a:r>
                        <a14:m>
                          <m:oMath xmlns:m="http://schemas.openxmlformats.org/officeDocument/2006/math">
                            <m:acc>
                              <m:accPr>
                                <m:chr m:val="̅"/>
                                <m:ctrlPr>
                                  <a:rPr lang="en-US" altLang="ja-JP" sz="261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261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acc>
                            <m:r>
                              <a:rPr lang="en-US" altLang="ja-JP" sz="2610" i="1" dirty="0">
                                <a:latin typeface="Cambria Math" panose="02040503050406030204" pitchFamily="18" charset="0"/>
                              </a:rPr>
                              <m:t>02</m:t>
                            </m:r>
                          </m:oMath>
                        </a14:m>
                        <a:r>
                          <a:rPr lang="en-US" altLang="ja-JP" sz="2610" dirty="0">
                            <a:latin typeface="Helvetica" pitchFamily="2" charset="0"/>
                          </a:rPr>
                          <a:t> reflection in </a:t>
                        </a:r>
                        <a14:m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ja-JP" sz="261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261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ja-JP" sz="2610" b="0" i="1" smtClean="0">
                                    <a:latin typeface="Cambria Math" panose="02040503050406030204" pitchFamily="18" charset="0"/>
                                  </a:rPr>
                                  <m:t>obs</m:t>
                                </m:r>
                              </m:sub>
                              <m:sup>
                                <m:r>
                                  <a:rPr lang="en-US" altLang="ja-JP" sz="2610" b="0" i="1" smtClean="0">
                                    <a:latin typeface="Cambria Math" panose="02040503050406030204" pitchFamily="18" charset="0"/>
                                  </a:rPr>
                                  <m:t>++</m:t>
                                </m:r>
                              </m:sup>
                            </m:sSubSup>
                          </m:oMath>
                        </a14:m>
                        <a:endParaRPr lang="ja-JP" altLang="en-US" sz="2610">
                          <a:latin typeface="Helvetica" pitchFamily="2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5" name="テキスト ボックス 14">
                        <a:extLst>
                          <a:ext uri="{FF2B5EF4-FFF2-40B4-BE49-F238E27FC236}">
                            <a16:creationId xmlns:a16="http://schemas.microsoft.com/office/drawing/2014/main" id="{1812A9CE-DCC5-18E2-CB61-9FBDF8E8F25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422804" y="1876291"/>
                        <a:ext cx="3680303" cy="509498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 l="-2749" t="-7317" b="-29268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11" name="グループ化 10">
                  <a:extLst>
                    <a:ext uri="{FF2B5EF4-FFF2-40B4-BE49-F238E27FC236}">
                      <a16:creationId xmlns:a16="http://schemas.microsoft.com/office/drawing/2014/main" id="{E3C89CE2-D391-25D3-B84F-0EF3F6B15FFD}"/>
                    </a:ext>
                  </a:extLst>
                </p:cNvPr>
                <p:cNvGrpSpPr/>
                <p:nvPr/>
              </p:nvGrpSpPr>
              <p:grpSpPr>
                <a:xfrm>
                  <a:off x="10839592" y="1876291"/>
                  <a:ext cx="4978400" cy="4387190"/>
                  <a:chOff x="10839592" y="1876291"/>
                  <a:chExt cx="4978400" cy="4387190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6" name="テキスト ボックス 15">
                        <a:extLst>
                          <a:ext uri="{FF2B5EF4-FFF2-40B4-BE49-F238E27FC236}">
                            <a16:creationId xmlns:a16="http://schemas.microsoft.com/office/drawing/2014/main" id="{202B22AB-CAA3-969D-2683-306316194E2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489635" y="1876291"/>
                        <a:ext cx="3678315" cy="50949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ja-JP" sz="2610" dirty="0">
                            <a:latin typeface="Helvetica" pitchFamily="2" charset="0"/>
                          </a:rPr>
                          <a:t>(b) </a:t>
                        </a:r>
                        <a14:m>
                          <m:oMath xmlns:m="http://schemas.openxmlformats.org/officeDocument/2006/math">
                            <m:acc>
                              <m:accPr>
                                <m:chr m:val="̅"/>
                                <m:ctrlPr>
                                  <a:rPr lang="en-US" altLang="ja-JP" sz="261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261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acc>
                            <m:r>
                              <a:rPr lang="en-US" altLang="ja-JP" sz="2610" i="1" dirty="0">
                                <a:latin typeface="Cambria Math" panose="02040503050406030204" pitchFamily="18" charset="0"/>
                              </a:rPr>
                              <m:t>02</m:t>
                            </m:r>
                          </m:oMath>
                        </a14:m>
                        <a:r>
                          <a:rPr lang="en-US" altLang="ja-JP" sz="2610" dirty="0">
                            <a:latin typeface="Helvetica" pitchFamily="2" charset="0"/>
                          </a:rPr>
                          <a:t> reflection in </a:t>
                        </a:r>
                        <a14:m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obs</m:t>
                                </m:r>
                              </m:sub>
                              <m:sup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ja-JP" sz="261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bSup>
                          </m:oMath>
                        </a14:m>
                        <a:endParaRPr lang="ja-JP" altLang="en-US" sz="2610">
                          <a:latin typeface="Helvetica" pitchFamily="2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6" name="テキスト ボックス 15">
                        <a:extLst>
                          <a:ext uri="{FF2B5EF4-FFF2-40B4-BE49-F238E27FC236}">
                            <a16:creationId xmlns:a16="http://schemas.microsoft.com/office/drawing/2014/main" id="{202B22AB-CAA3-969D-2683-306316194E2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489635" y="1876291"/>
                        <a:ext cx="3678315" cy="509498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l="-2749" t="-7317" b="-29268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pic>
                <p:nvPicPr>
                  <p:cNvPr id="9" name="図 8">
                    <a:extLst>
                      <a:ext uri="{FF2B5EF4-FFF2-40B4-BE49-F238E27FC236}">
                        <a16:creationId xmlns:a16="http://schemas.microsoft.com/office/drawing/2014/main" id="{3D98B3BD-F00F-D7B5-B94D-F735D169ED8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0839592" y="2402681"/>
                    <a:ext cx="4978400" cy="3860800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C4877D6D-2903-2FC3-BC5B-E1C249CA4901}"/>
                </a:ext>
              </a:extLst>
            </p:cNvPr>
            <p:cNvSpPr/>
            <p:nvPr/>
          </p:nvSpPr>
          <p:spPr>
            <a:xfrm>
              <a:off x="7930465" y="3798923"/>
              <a:ext cx="756335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6E7850C5-B620-3346-8936-F00FCAD3508B}"/>
                </a:ext>
              </a:extLst>
            </p:cNvPr>
            <p:cNvSpPr/>
            <p:nvPr/>
          </p:nvSpPr>
          <p:spPr>
            <a:xfrm>
              <a:off x="13037820" y="3798923"/>
              <a:ext cx="756335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</p:grpSp>
    </p:spTree>
    <p:extLst>
      <p:ext uri="{BB962C8B-B14F-4D97-AF65-F5344CB8AC3E}">
        <p14:creationId xmlns:p14="http://schemas.microsoft.com/office/powerpoint/2010/main" val="12932903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FCF0A-D2A1-C935-8208-3203DA6A6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B8E0ED81-2B5B-B980-9EA1-7233078AB54D}"/>
              </a:ext>
            </a:extLst>
          </p:cNvPr>
          <p:cNvGrpSpPr/>
          <p:nvPr/>
        </p:nvGrpSpPr>
        <p:grpSpPr>
          <a:xfrm>
            <a:off x="5863368" y="665328"/>
            <a:ext cx="10044237" cy="9868687"/>
            <a:chOff x="5863368" y="665328"/>
            <a:chExt cx="10044237" cy="9868687"/>
          </a:xfrm>
        </p:grpSpPr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A18E2DC2-A57A-2AEA-FB6D-3380B3ACDBAD}"/>
                </a:ext>
              </a:extLst>
            </p:cNvPr>
            <p:cNvGrpSpPr/>
            <p:nvPr/>
          </p:nvGrpSpPr>
          <p:grpSpPr>
            <a:xfrm>
              <a:off x="5863368" y="665328"/>
              <a:ext cx="10044237" cy="4387190"/>
              <a:chOff x="5773755" y="1876291"/>
              <a:chExt cx="10044237" cy="4387190"/>
            </a:xfrm>
          </p:grpSpPr>
          <p:grpSp>
            <p:nvGrpSpPr>
              <p:cNvPr id="13" name="グループ化 12">
                <a:extLst>
                  <a:ext uri="{FF2B5EF4-FFF2-40B4-BE49-F238E27FC236}">
                    <a16:creationId xmlns:a16="http://schemas.microsoft.com/office/drawing/2014/main" id="{09D1860E-BE22-BCF4-2E68-2B37E2D0C5C0}"/>
                  </a:ext>
                </a:extLst>
              </p:cNvPr>
              <p:cNvGrpSpPr/>
              <p:nvPr/>
            </p:nvGrpSpPr>
            <p:grpSpPr>
              <a:xfrm>
                <a:off x="5773755" y="1876291"/>
                <a:ext cx="4978400" cy="4387190"/>
                <a:chOff x="5773755" y="1876291"/>
                <a:chExt cx="4978400" cy="4387190"/>
              </a:xfrm>
            </p:grpSpPr>
            <p:pic>
              <p:nvPicPr>
                <p:cNvPr id="7" name="図 6">
                  <a:extLst>
                    <a:ext uri="{FF2B5EF4-FFF2-40B4-BE49-F238E27FC236}">
                      <a16:creationId xmlns:a16="http://schemas.microsoft.com/office/drawing/2014/main" id="{EEE5114E-45B4-2505-CC24-87CEFB9FC7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773755" y="2402681"/>
                  <a:ext cx="4978400" cy="3860800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テキスト ボックス 14">
                      <a:extLst>
                        <a:ext uri="{FF2B5EF4-FFF2-40B4-BE49-F238E27FC236}">
                          <a16:creationId xmlns:a16="http://schemas.microsoft.com/office/drawing/2014/main" id="{348FBCE2-D970-5B2C-1A6F-7E4B408BD6B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22804" y="1876291"/>
                      <a:ext cx="3680303" cy="50949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(a) </a:t>
                      </a:r>
                      <a14:m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altLang="ja-JP" sz="261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1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acc>
                          <m:r>
                            <a:rPr lang="en-US" altLang="ja-JP" sz="2610" i="1" dirty="0">
                              <a:latin typeface="Cambria Math" panose="02040503050406030204" pitchFamily="18" charset="0"/>
                            </a:rPr>
                            <m:t>02</m:t>
                          </m:r>
                        </m:oMath>
                      </a14:m>
                      <a:r>
                        <a:rPr lang="en-US" altLang="ja-JP" sz="2610" dirty="0">
                          <a:latin typeface="Helvetica" pitchFamily="2" charset="0"/>
                        </a:rPr>
                        <a:t> reflection in </a:t>
                      </a:r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ja-JP" sz="261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sz="261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ja-JP" sz="2610" b="0" i="1" smtClean="0">
                                  <a:latin typeface="Cambria Math" panose="02040503050406030204" pitchFamily="18" charset="0"/>
                                </a:rPr>
                                <m:t>obs</m:t>
                              </m:r>
                            </m:sub>
                            <m:sup>
                              <m:r>
                                <a:rPr lang="en-US" altLang="ja-JP" sz="2610" b="0" i="1" smtClean="0">
                                  <a:latin typeface="Cambria Math" panose="02040503050406030204" pitchFamily="18" charset="0"/>
                                </a:rPr>
                                <m:t>++</m:t>
                              </m:r>
                            </m:sup>
                          </m:sSubSup>
                        </m:oMath>
                      </a14:m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5" name="テキスト ボックス 14">
                      <a:extLst>
                        <a:ext uri="{FF2B5EF4-FFF2-40B4-BE49-F238E27FC236}">
                          <a16:creationId xmlns:a16="http://schemas.microsoft.com/office/drawing/2014/main" id="{1812A9CE-DCC5-18E2-CB61-9FBDF8E8F25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22804" y="1876291"/>
                      <a:ext cx="3680303" cy="509498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749" t="-7317" b="-2926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1" name="グループ化 10">
                <a:extLst>
                  <a:ext uri="{FF2B5EF4-FFF2-40B4-BE49-F238E27FC236}">
                    <a16:creationId xmlns:a16="http://schemas.microsoft.com/office/drawing/2014/main" id="{DA553D09-968D-274C-B29B-5E0541A6437A}"/>
                  </a:ext>
                </a:extLst>
              </p:cNvPr>
              <p:cNvGrpSpPr/>
              <p:nvPr/>
            </p:nvGrpSpPr>
            <p:grpSpPr>
              <a:xfrm>
                <a:off x="10839592" y="1876291"/>
                <a:ext cx="4978400" cy="4387190"/>
                <a:chOff x="10839592" y="1876291"/>
                <a:chExt cx="4978400" cy="438719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テキスト ボックス 15">
                      <a:extLst>
                        <a:ext uri="{FF2B5EF4-FFF2-40B4-BE49-F238E27FC236}">
                          <a16:creationId xmlns:a16="http://schemas.microsoft.com/office/drawing/2014/main" id="{DBD6521F-D6E6-7C36-3192-1A73CBEDA31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489635" y="1876291"/>
                      <a:ext cx="3678315" cy="50949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(b) </a:t>
                      </a:r>
                      <a14:m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altLang="ja-JP" sz="261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1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acc>
                          <m:r>
                            <a:rPr lang="en-US" altLang="ja-JP" sz="2610" i="1" dirty="0">
                              <a:latin typeface="Cambria Math" panose="02040503050406030204" pitchFamily="18" charset="0"/>
                            </a:rPr>
                            <m:t>02</m:t>
                          </m:r>
                        </m:oMath>
                      </a14:m>
                      <a:r>
                        <a:rPr lang="en-US" altLang="ja-JP" sz="2610" dirty="0">
                          <a:latin typeface="Helvetica" pitchFamily="2" charset="0"/>
                        </a:rPr>
                        <a:t> reflection in </a:t>
                      </a:r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  <m:t>obs</m:t>
                              </m:r>
                            </m:sub>
                            <m:sup>
                              <m: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ja-JP" sz="261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</m:oMath>
                      </a14:m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テキスト ボックス 15">
                      <a:extLst>
                        <a:ext uri="{FF2B5EF4-FFF2-40B4-BE49-F238E27FC236}">
                          <a16:creationId xmlns:a16="http://schemas.microsoft.com/office/drawing/2014/main" id="{202B22AB-CAA3-969D-2683-306316194E2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489635" y="1876291"/>
                      <a:ext cx="3678315" cy="509498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2749" t="-7317" b="-2926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pic>
              <p:nvPicPr>
                <p:cNvPr id="9" name="図 8">
                  <a:extLst>
                    <a:ext uri="{FF2B5EF4-FFF2-40B4-BE49-F238E27FC236}">
                      <a16:creationId xmlns:a16="http://schemas.microsoft.com/office/drawing/2014/main" id="{5D661AB3-AF5D-A1D4-8CDD-DF35E802DB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839592" y="2402681"/>
                  <a:ext cx="4978400" cy="3860800"/>
                </a:xfrm>
                <a:prstGeom prst="rect">
                  <a:avLst/>
                </a:prstGeom>
              </p:spPr>
            </p:pic>
          </p:grpSp>
        </p:grp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9C8BAEF4-E1E0-EEED-C0A5-CE7705CB0545}"/>
                </a:ext>
              </a:extLst>
            </p:cNvPr>
            <p:cNvSpPr/>
            <p:nvPr/>
          </p:nvSpPr>
          <p:spPr>
            <a:xfrm>
              <a:off x="8020078" y="2587960"/>
              <a:ext cx="756335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8372A166-1C44-C61D-343F-6A2F1DB39B42}"/>
                </a:ext>
              </a:extLst>
            </p:cNvPr>
            <p:cNvSpPr/>
            <p:nvPr/>
          </p:nvSpPr>
          <p:spPr>
            <a:xfrm>
              <a:off x="13127433" y="2587960"/>
              <a:ext cx="756335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5F0E99BC-9C69-27DB-BD10-6D2294494488}"/>
                </a:ext>
              </a:extLst>
            </p:cNvPr>
            <p:cNvGrpSpPr/>
            <p:nvPr/>
          </p:nvGrpSpPr>
          <p:grpSpPr>
            <a:xfrm>
              <a:off x="6375658" y="5052518"/>
              <a:ext cx="9019656" cy="5481497"/>
              <a:chOff x="6331940" y="5052518"/>
              <a:chExt cx="9019656" cy="5481497"/>
            </a:xfrm>
          </p:grpSpPr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0C71238C-E2B0-03C7-4CFE-3BDD8FB6E7C9}"/>
                  </a:ext>
                </a:extLst>
              </p:cNvPr>
              <p:cNvSpPr txBox="1"/>
              <p:nvPr/>
            </p:nvSpPr>
            <p:spPr>
              <a:xfrm>
                <a:off x="6601602" y="5052518"/>
                <a:ext cx="8480332" cy="493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610" dirty="0">
                    <a:latin typeface="Helvetica" pitchFamily="2" charset="0"/>
                  </a:rPr>
                  <a:t>(c)  X projection of the dashed line region in (a) and (b))</a:t>
                </a:r>
                <a:endParaRPr lang="ja-JP" altLang="en-US" sz="2610">
                  <a:latin typeface="Helvetica" pitchFamily="2" charset="0"/>
                </a:endParaRPr>
              </a:p>
            </p:txBody>
          </p:sp>
          <p:pic>
            <p:nvPicPr>
              <p:cNvPr id="10" name="図 9">
                <a:extLst>
                  <a:ext uri="{FF2B5EF4-FFF2-40B4-BE49-F238E27FC236}">
                    <a16:creationId xmlns:a16="http://schemas.microsoft.com/office/drawing/2014/main" id="{EF6C72FA-0BE7-A79D-4ED8-5364A70228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31940" y="5635924"/>
                <a:ext cx="9019656" cy="48980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849613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C1189-7C68-BD51-F430-753CE318E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EEF2566C-FC47-BF1B-E15A-AE47875A19E7}"/>
              </a:ext>
            </a:extLst>
          </p:cNvPr>
          <p:cNvGrpSpPr/>
          <p:nvPr/>
        </p:nvGrpSpPr>
        <p:grpSpPr>
          <a:xfrm>
            <a:off x="5863368" y="665328"/>
            <a:ext cx="10044237" cy="9868687"/>
            <a:chOff x="5863368" y="665328"/>
            <a:chExt cx="10044237" cy="9868687"/>
          </a:xfrm>
        </p:grpSpPr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86381E89-B332-9599-978C-DDE42800230F}"/>
                </a:ext>
              </a:extLst>
            </p:cNvPr>
            <p:cNvGrpSpPr/>
            <p:nvPr/>
          </p:nvGrpSpPr>
          <p:grpSpPr>
            <a:xfrm>
              <a:off x="5863368" y="665328"/>
              <a:ext cx="10044237" cy="4387190"/>
              <a:chOff x="5773755" y="1876291"/>
              <a:chExt cx="10044237" cy="4387190"/>
            </a:xfrm>
          </p:grpSpPr>
          <p:grpSp>
            <p:nvGrpSpPr>
              <p:cNvPr id="13" name="グループ化 12">
                <a:extLst>
                  <a:ext uri="{FF2B5EF4-FFF2-40B4-BE49-F238E27FC236}">
                    <a16:creationId xmlns:a16="http://schemas.microsoft.com/office/drawing/2014/main" id="{B1A4181C-7492-F950-2FA9-85B8BABD8D01}"/>
                  </a:ext>
                </a:extLst>
              </p:cNvPr>
              <p:cNvGrpSpPr/>
              <p:nvPr/>
            </p:nvGrpSpPr>
            <p:grpSpPr>
              <a:xfrm>
                <a:off x="5773755" y="1876291"/>
                <a:ext cx="4978400" cy="4387190"/>
                <a:chOff x="5773755" y="1876291"/>
                <a:chExt cx="4978400" cy="4387190"/>
              </a:xfrm>
            </p:grpSpPr>
            <p:pic>
              <p:nvPicPr>
                <p:cNvPr id="7" name="図 6">
                  <a:extLst>
                    <a:ext uri="{FF2B5EF4-FFF2-40B4-BE49-F238E27FC236}">
                      <a16:creationId xmlns:a16="http://schemas.microsoft.com/office/drawing/2014/main" id="{F627FEA2-6670-C092-8892-4542BFFC6E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773755" y="2402681"/>
                  <a:ext cx="4978400" cy="3860800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テキスト ボックス 14">
                      <a:extLst>
                        <a:ext uri="{FF2B5EF4-FFF2-40B4-BE49-F238E27FC236}">
                          <a16:creationId xmlns:a16="http://schemas.microsoft.com/office/drawing/2014/main" id="{219B961D-6A8F-F1F8-642B-88B021C3FF7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22804" y="1876291"/>
                      <a:ext cx="3680303" cy="50949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(a) </a:t>
                      </a:r>
                      <a14:m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altLang="ja-JP" sz="261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1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acc>
                          <m:r>
                            <a:rPr lang="en-US" altLang="ja-JP" sz="2610" i="1" dirty="0">
                              <a:latin typeface="Cambria Math" panose="02040503050406030204" pitchFamily="18" charset="0"/>
                            </a:rPr>
                            <m:t>02</m:t>
                          </m:r>
                        </m:oMath>
                      </a14:m>
                      <a:r>
                        <a:rPr lang="en-US" altLang="ja-JP" sz="2610" dirty="0">
                          <a:latin typeface="Helvetica" pitchFamily="2" charset="0"/>
                        </a:rPr>
                        <a:t> reflection in </a:t>
                      </a:r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ja-JP" sz="261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sz="261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ja-JP" sz="2610" b="0" i="1" smtClean="0">
                                  <a:latin typeface="Cambria Math" panose="02040503050406030204" pitchFamily="18" charset="0"/>
                                </a:rPr>
                                <m:t>obs</m:t>
                              </m:r>
                            </m:sub>
                            <m:sup>
                              <m:r>
                                <a:rPr lang="en-US" altLang="ja-JP" sz="2610" b="0" i="1" smtClean="0">
                                  <a:latin typeface="Cambria Math" panose="02040503050406030204" pitchFamily="18" charset="0"/>
                                </a:rPr>
                                <m:t>++</m:t>
                              </m:r>
                            </m:sup>
                          </m:sSubSup>
                        </m:oMath>
                      </a14:m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5" name="テキスト ボックス 14">
                      <a:extLst>
                        <a:ext uri="{FF2B5EF4-FFF2-40B4-BE49-F238E27FC236}">
                          <a16:creationId xmlns:a16="http://schemas.microsoft.com/office/drawing/2014/main" id="{1812A9CE-DCC5-18E2-CB61-9FBDF8E8F25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22804" y="1876291"/>
                      <a:ext cx="3680303" cy="509498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749" t="-7317" b="-2926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1" name="グループ化 10">
                <a:extLst>
                  <a:ext uri="{FF2B5EF4-FFF2-40B4-BE49-F238E27FC236}">
                    <a16:creationId xmlns:a16="http://schemas.microsoft.com/office/drawing/2014/main" id="{B75A22EB-0A07-D4FB-3652-C8C6242B73A2}"/>
                  </a:ext>
                </a:extLst>
              </p:cNvPr>
              <p:cNvGrpSpPr/>
              <p:nvPr/>
            </p:nvGrpSpPr>
            <p:grpSpPr>
              <a:xfrm>
                <a:off x="10839592" y="1876291"/>
                <a:ext cx="4978400" cy="4387190"/>
                <a:chOff x="10839592" y="1876291"/>
                <a:chExt cx="4978400" cy="438719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テキスト ボックス 15">
                      <a:extLst>
                        <a:ext uri="{FF2B5EF4-FFF2-40B4-BE49-F238E27FC236}">
                          <a16:creationId xmlns:a16="http://schemas.microsoft.com/office/drawing/2014/main" id="{3AF33DF2-75AD-E54F-4937-CCEBE3434DF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489635" y="1876291"/>
                      <a:ext cx="3678315" cy="50949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(b) </a:t>
                      </a:r>
                      <a14:m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altLang="ja-JP" sz="261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1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acc>
                          <m:r>
                            <a:rPr lang="en-US" altLang="ja-JP" sz="2610" i="1" dirty="0">
                              <a:latin typeface="Cambria Math" panose="02040503050406030204" pitchFamily="18" charset="0"/>
                            </a:rPr>
                            <m:t>02</m:t>
                          </m:r>
                        </m:oMath>
                      </a14:m>
                      <a:r>
                        <a:rPr lang="en-US" altLang="ja-JP" sz="2610" dirty="0">
                          <a:latin typeface="Helvetica" pitchFamily="2" charset="0"/>
                        </a:rPr>
                        <a:t> reflection in </a:t>
                      </a:r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  <m:t>obs</m:t>
                              </m:r>
                            </m:sub>
                            <m:sup>
                              <m: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ja-JP" sz="261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</m:oMath>
                      </a14:m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テキスト ボックス 15">
                      <a:extLst>
                        <a:ext uri="{FF2B5EF4-FFF2-40B4-BE49-F238E27FC236}">
                          <a16:creationId xmlns:a16="http://schemas.microsoft.com/office/drawing/2014/main" id="{202B22AB-CAA3-969D-2683-306316194E2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489635" y="1876291"/>
                      <a:ext cx="3678315" cy="509498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2749" t="-7317" b="-2926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pic>
              <p:nvPicPr>
                <p:cNvPr id="9" name="図 8">
                  <a:extLst>
                    <a:ext uri="{FF2B5EF4-FFF2-40B4-BE49-F238E27FC236}">
                      <a16:creationId xmlns:a16="http://schemas.microsoft.com/office/drawing/2014/main" id="{B4B14E3F-1C27-E4EB-3E4A-48744EAE0A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839592" y="2402681"/>
                  <a:ext cx="4978400" cy="3860800"/>
                </a:xfrm>
                <a:prstGeom prst="rect">
                  <a:avLst/>
                </a:prstGeom>
              </p:spPr>
            </p:pic>
          </p:grpSp>
        </p:grp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21ABCFBA-7FD4-234B-6650-4959C0561C23}"/>
                </a:ext>
              </a:extLst>
            </p:cNvPr>
            <p:cNvSpPr/>
            <p:nvPr/>
          </p:nvSpPr>
          <p:spPr>
            <a:xfrm>
              <a:off x="8020078" y="2587960"/>
              <a:ext cx="756335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AC13AC50-D89D-77D9-91AE-52EAC2AC93B0}"/>
                </a:ext>
              </a:extLst>
            </p:cNvPr>
            <p:cNvSpPr/>
            <p:nvPr/>
          </p:nvSpPr>
          <p:spPr>
            <a:xfrm>
              <a:off x="13127433" y="2587960"/>
              <a:ext cx="756335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C158400E-FDA3-4BD4-5012-9D90086CB84B}"/>
                </a:ext>
              </a:extLst>
            </p:cNvPr>
            <p:cNvGrpSpPr/>
            <p:nvPr/>
          </p:nvGrpSpPr>
          <p:grpSpPr>
            <a:xfrm>
              <a:off x="6375658" y="5052518"/>
              <a:ext cx="9019656" cy="5481497"/>
              <a:chOff x="6331940" y="5052518"/>
              <a:chExt cx="9019656" cy="5481497"/>
            </a:xfrm>
          </p:grpSpPr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C2AD0BC3-D80E-C6F8-80C1-327EC493B190}"/>
                  </a:ext>
                </a:extLst>
              </p:cNvPr>
              <p:cNvSpPr txBox="1"/>
              <p:nvPr/>
            </p:nvSpPr>
            <p:spPr>
              <a:xfrm>
                <a:off x="6601602" y="5052518"/>
                <a:ext cx="8480332" cy="493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610" dirty="0">
                    <a:latin typeface="Helvetica" pitchFamily="2" charset="0"/>
                  </a:rPr>
                  <a:t>(c)  X projection of the dashed line region in (a) and (b))</a:t>
                </a:r>
                <a:endParaRPr lang="ja-JP" altLang="en-US" sz="2610">
                  <a:latin typeface="Helvetica" pitchFamily="2" charset="0"/>
                </a:endParaRPr>
              </a:p>
            </p:txBody>
          </p:sp>
          <p:pic>
            <p:nvPicPr>
              <p:cNvPr id="10" name="図 9">
                <a:extLst>
                  <a:ext uri="{FF2B5EF4-FFF2-40B4-BE49-F238E27FC236}">
                    <a16:creationId xmlns:a16="http://schemas.microsoft.com/office/drawing/2014/main" id="{538DBE14-26A3-5916-D9F9-BF0B8A10D8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31940" y="5635924"/>
                <a:ext cx="9019656" cy="4898091"/>
              </a:xfrm>
              <a:prstGeom prst="rect">
                <a:avLst/>
              </a:prstGeom>
            </p:spPr>
          </p:pic>
        </p:grpSp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134504BB-DBEA-DC38-91AE-30072A04EF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2943"/>
            <a:stretch>
              <a:fillRect/>
            </a:stretch>
          </p:blipFill>
          <p:spPr>
            <a:xfrm rot="10800000">
              <a:off x="10482538" y="697737"/>
              <a:ext cx="351325" cy="3860800"/>
            </a:xfrm>
            <a:prstGeom prst="rect">
              <a:avLst/>
            </a:prstGeom>
          </p:spPr>
        </p:pic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C9312111-D2FC-C0B2-6A90-CEE3F5560C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2943"/>
            <a:stretch>
              <a:fillRect/>
            </a:stretch>
          </p:blipFill>
          <p:spPr>
            <a:xfrm rot="10800000">
              <a:off x="15556280" y="697736"/>
              <a:ext cx="351325" cy="3860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310084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BE843-B4FF-7DFA-E798-695B61775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4C9C0438-3739-10EF-B403-02B06C7DCE4F}"/>
              </a:ext>
            </a:extLst>
          </p:cNvPr>
          <p:cNvGrpSpPr/>
          <p:nvPr/>
        </p:nvGrpSpPr>
        <p:grpSpPr>
          <a:xfrm>
            <a:off x="2977099" y="1254603"/>
            <a:ext cx="10630014" cy="9736769"/>
            <a:chOff x="709387" y="923521"/>
            <a:chExt cx="10630014" cy="9736769"/>
          </a:xfrm>
        </p:grpSpPr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C98C4668-4AA2-B8F4-B186-CA296F600788}"/>
                </a:ext>
              </a:extLst>
            </p:cNvPr>
            <p:cNvSpPr txBox="1"/>
            <p:nvPr/>
          </p:nvSpPr>
          <p:spPr>
            <a:xfrm>
              <a:off x="2320062" y="5557944"/>
              <a:ext cx="9019339" cy="4939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(d)  X projection of the dashed line region in (a) and (b))</a:t>
              </a:r>
              <a:endParaRPr lang="ja-JP" altLang="en-US" sz="2610">
                <a:latin typeface="Helvetica" pitchFamily="2" charset="0"/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500E8B9C-E695-CE19-84F2-355B7BBD397E}"/>
                </a:ext>
              </a:extLst>
            </p:cNvPr>
            <p:cNvSpPr/>
            <p:nvPr/>
          </p:nvSpPr>
          <p:spPr>
            <a:xfrm>
              <a:off x="3336163" y="2862221"/>
              <a:ext cx="756335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85721A60-4D6D-73AE-81B2-5ACFC7BCF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3730" r="20"/>
            <a:stretch>
              <a:fillRect/>
            </a:stretch>
          </p:blipFill>
          <p:spPr>
            <a:xfrm>
              <a:off x="4931221" y="1457533"/>
              <a:ext cx="4293820" cy="3860800"/>
            </a:xfrm>
            <a:prstGeom prst="rect">
              <a:avLst/>
            </a:prstGeom>
          </p:spPr>
        </p:pic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25A476F9-135F-BAC6-D034-4421A1B5C7AF}"/>
                </a:ext>
              </a:extLst>
            </p:cNvPr>
            <p:cNvSpPr/>
            <p:nvPr/>
          </p:nvSpPr>
          <p:spPr>
            <a:xfrm>
              <a:off x="6423065" y="2871115"/>
              <a:ext cx="756335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pic>
          <p:nvPicPr>
            <p:cNvPr id="21" name="図 20">
              <a:extLst>
                <a:ext uri="{FF2B5EF4-FFF2-40B4-BE49-F238E27FC236}">
                  <a16:creationId xmlns:a16="http://schemas.microsoft.com/office/drawing/2014/main" id="{C628A7D2-58EF-1DD7-2B88-2615D6D9F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9387" y="6111591"/>
              <a:ext cx="9874005" cy="4548699"/>
            </a:xfrm>
            <a:prstGeom prst="rect">
              <a:avLst/>
            </a:prstGeom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7CF66C4F-0333-0D29-7CF0-4DCFF39B6F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24068"/>
            <a:stretch>
              <a:fillRect/>
            </a:stretch>
          </p:blipFill>
          <p:spPr>
            <a:xfrm>
              <a:off x="1179453" y="1457533"/>
              <a:ext cx="3780233" cy="38608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9E4FD8FE-C69C-86E4-6B21-78E7238509DB}"/>
                    </a:ext>
                  </a:extLst>
                </p:cNvPr>
                <p:cNvSpPr txBox="1"/>
                <p:nvPr/>
              </p:nvSpPr>
              <p:spPr>
                <a:xfrm>
                  <a:off x="2351406" y="923521"/>
                  <a:ext cx="1969514" cy="5094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(a)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obs</m:t>
                          </m:r>
                        </m:sub>
                        <m:sup>
                          <m: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++</m:t>
                          </m:r>
                        </m:sup>
                      </m:sSubSup>
                    </m:oMath>
                  </a14:m>
                  <a:r>
                    <a:rPr lang="en-US" altLang="ja-JP" sz="2610" dirty="0">
                      <a:latin typeface="Helvetica" pitchFamily="2" charset="0"/>
                    </a:rPr>
                    <a:t> map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ED075171-6A4C-CDE2-1CD9-49133E1035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1406" y="923521"/>
                  <a:ext cx="1969514" cy="509498"/>
                </a:xfrm>
                <a:prstGeom prst="rect">
                  <a:avLst/>
                </a:prstGeom>
                <a:blipFill>
                  <a:blip r:embed="rId7"/>
                  <a:stretch>
                    <a:fillRect l="-5769" t="-7317" r="-4487" b="-2682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D909AAE3-FE84-D89E-2E33-EADABEA3A0AC}"/>
                    </a:ext>
                  </a:extLst>
                </p:cNvPr>
                <p:cNvSpPr txBox="1"/>
                <p:nvPr/>
              </p:nvSpPr>
              <p:spPr>
                <a:xfrm>
                  <a:off x="5451184" y="923521"/>
                  <a:ext cx="1969514" cy="5094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(b)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obs</m:t>
                          </m:r>
                        </m:sub>
                        <m:sup>
                          <m: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ja-JP" sz="261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</m:oMath>
                  </a14:m>
                  <a:r>
                    <a:rPr lang="en-US" altLang="ja-JP" sz="2610" dirty="0">
                      <a:latin typeface="Helvetica" pitchFamily="2" charset="0"/>
                    </a:rPr>
                    <a:t> map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F026AC7E-6A1E-7DAB-1923-2743F5AD35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1184" y="923521"/>
                  <a:ext cx="1969514" cy="509498"/>
                </a:xfrm>
                <a:prstGeom prst="rect">
                  <a:avLst/>
                </a:prstGeom>
                <a:blipFill>
                  <a:blip r:embed="rId8"/>
                  <a:stretch>
                    <a:fillRect l="-5769" t="-7317" r="-4487" b="-2682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A31A7E2A-9B0D-CEE2-AA52-5DFAC821223F}"/>
                </a:ext>
              </a:extLst>
            </p:cNvPr>
            <p:cNvSpPr/>
            <p:nvPr/>
          </p:nvSpPr>
          <p:spPr>
            <a:xfrm>
              <a:off x="3356788" y="2871115"/>
              <a:ext cx="756335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C33A60D9-ED4A-877F-BC78-4B57F3215BFB}"/>
                </a:ext>
              </a:extLst>
            </p:cNvPr>
            <p:cNvSpPr/>
            <p:nvPr/>
          </p:nvSpPr>
          <p:spPr>
            <a:xfrm>
              <a:off x="9497523" y="2871115"/>
              <a:ext cx="756335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</p:grpSp>
    </p:spTree>
    <p:extLst>
      <p:ext uri="{BB962C8B-B14F-4D97-AF65-F5344CB8AC3E}">
        <p14:creationId xmlns:p14="http://schemas.microsoft.com/office/powerpoint/2010/main" val="1341863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図 16">
            <a:extLst>
              <a:ext uri="{FF2B5EF4-FFF2-40B4-BE49-F238E27FC236}">
                <a16:creationId xmlns:a16="http://schemas.microsoft.com/office/drawing/2014/main" id="{A2956434-F4AD-73E7-83E7-303AD4211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699" y="-2880236"/>
            <a:ext cx="17484539" cy="8006164"/>
          </a:xfrm>
          <a:prstGeom prst="rect">
            <a:avLst/>
          </a:prstGeom>
        </p:spPr>
      </p:pic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7A4C2295-FA6E-938C-5A43-C54A3AE2C67F}"/>
              </a:ext>
            </a:extLst>
          </p:cNvPr>
          <p:cNvGrpSpPr/>
          <p:nvPr/>
        </p:nvGrpSpPr>
        <p:grpSpPr>
          <a:xfrm>
            <a:off x="3376537" y="5246571"/>
            <a:ext cx="6698551" cy="4838617"/>
            <a:chOff x="916585" y="2824477"/>
            <a:chExt cx="4620428" cy="3337511"/>
          </a:xfrm>
        </p:grpSpPr>
        <p:grpSp>
          <p:nvGrpSpPr>
            <p:cNvPr id="59" name="グループ化 58">
              <a:extLst>
                <a:ext uri="{FF2B5EF4-FFF2-40B4-BE49-F238E27FC236}">
                  <a16:creationId xmlns:a16="http://schemas.microsoft.com/office/drawing/2014/main" id="{E841A415-9029-1BBF-81F4-332984EE007D}"/>
                </a:ext>
              </a:extLst>
            </p:cNvPr>
            <p:cNvGrpSpPr/>
            <p:nvPr/>
          </p:nvGrpSpPr>
          <p:grpSpPr>
            <a:xfrm>
              <a:off x="916585" y="2824477"/>
              <a:ext cx="4620428" cy="3337511"/>
              <a:chOff x="916585" y="2824477"/>
              <a:chExt cx="4620428" cy="3337511"/>
            </a:xfrm>
          </p:grpSpPr>
          <p:grpSp>
            <p:nvGrpSpPr>
              <p:cNvPr id="30" name="グループ化 29">
                <a:extLst>
                  <a:ext uri="{FF2B5EF4-FFF2-40B4-BE49-F238E27FC236}">
                    <a16:creationId xmlns:a16="http://schemas.microsoft.com/office/drawing/2014/main" id="{3A6BD201-8408-1A10-31E1-BA261DD6D1C5}"/>
                  </a:ext>
                </a:extLst>
              </p:cNvPr>
              <p:cNvGrpSpPr/>
              <p:nvPr/>
            </p:nvGrpSpPr>
            <p:grpSpPr>
              <a:xfrm>
                <a:off x="916585" y="2950023"/>
                <a:ext cx="3957145" cy="3211965"/>
                <a:chOff x="916585" y="2950023"/>
                <a:chExt cx="3957145" cy="3211965"/>
              </a:xfrm>
            </p:grpSpPr>
            <p:pic>
              <p:nvPicPr>
                <p:cNvPr id="29" name="図 28">
                  <a:extLst>
                    <a:ext uri="{FF2B5EF4-FFF2-40B4-BE49-F238E27FC236}">
                      <a16:creationId xmlns:a16="http://schemas.microsoft.com/office/drawing/2014/main" id="{6B59A469-FF2C-3C28-E323-3A4C793E46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 l="23307" t="22048" r="4567" b="21066"/>
                <a:stretch>
                  <a:fillRect/>
                </a:stretch>
              </p:blipFill>
              <p:spPr>
                <a:xfrm>
                  <a:off x="916585" y="3040980"/>
                  <a:ext cx="3957145" cy="3121008"/>
                </a:xfrm>
                <a:prstGeom prst="rect">
                  <a:avLst/>
                </a:prstGeom>
              </p:spPr>
            </p:pic>
            <p:sp>
              <p:nvSpPr>
                <p:cNvPr id="21" name="三角形 20">
                  <a:extLst>
                    <a:ext uri="{FF2B5EF4-FFF2-40B4-BE49-F238E27FC236}">
                      <a16:creationId xmlns:a16="http://schemas.microsoft.com/office/drawing/2014/main" id="{084BEF8C-965B-BB3D-BF2C-1F0FC44E0E2B}"/>
                    </a:ext>
                  </a:extLst>
                </p:cNvPr>
                <p:cNvSpPr/>
                <p:nvPr/>
              </p:nvSpPr>
              <p:spPr>
                <a:xfrm rot="6000000">
                  <a:off x="4668592" y="5598775"/>
                  <a:ext cx="137160" cy="118241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2" name="三角形 21">
                  <a:extLst>
                    <a:ext uri="{FF2B5EF4-FFF2-40B4-BE49-F238E27FC236}">
                      <a16:creationId xmlns:a16="http://schemas.microsoft.com/office/drawing/2014/main" id="{5A997123-CE8D-CF14-FB0D-A6BAA1DAE86C}"/>
                    </a:ext>
                  </a:extLst>
                </p:cNvPr>
                <p:cNvSpPr/>
                <p:nvPr/>
              </p:nvSpPr>
              <p:spPr>
                <a:xfrm>
                  <a:off x="922229" y="2950023"/>
                  <a:ext cx="137160" cy="118241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3" name="三角形 22">
                  <a:extLst>
                    <a:ext uri="{FF2B5EF4-FFF2-40B4-BE49-F238E27FC236}">
                      <a16:creationId xmlns:a16="http://schemas.microsoft.com/office/drawing/2014/main" id="{E2954F77-961A-79CA-B281-7F4651842A96}"/>
                    </a:ext>
                  </a:extLst>
                </p:cNvPr>
                <p:cNvSpPr/>
                <p:nvPr/>
              </p:nvSpPr>
              <p:spPr>
                <a:xfrm rot="3659594">
                  <a:off x="1971744" y="4372580"/>
                  <a:ext cx="137160" cy="118241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テキスト ボックス 24">
                    <a:extLst>
                      <a:ext uri="{FF2B5EF4-FFF2-40B4-BE49-F238E27FC236}">
                        <a16:creationId xmlns:a16="http://schemas.microsoft.com/office/drawing/2014/main" id="{C0BA831A-26DE-EF7B-1EAE-2FB78D949961}"/>
                      </a:ext>
                    </a:extLst>
                  </p:cNvPr>
                  <p:cNvSpPr txBox="1"/>
                  <p:nvPr/>
                </p:nvSpPr>
                <p:spPr>
                  <a:xfrm>
                    <a:off x="4737172" y="4817950"/>
                    <a:ext cx="552450" cy="34135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acc>
                            <m:accPr>
                              <m:chr m:val="̅"/>
                              <m:ctrlP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acc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02</m:t>
                          </m:r>
                        </m:oMath>
                      </m:oMathPara>
                    </a14:m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25" name="テキスト ボックス 24">
                    <a:extLst>
                      <a:ext uri="{FF2B5EF4-FFF2-40B4-BE49-F238E27FC236}">
                        <a16:creationId xmlns:a16="http://schemas.microsoft.com/office/drawing/2014/main" id="{C0BA831A-26DE-EF7B-1EAE-2FB78D9499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37172" y="4817950"/>
                    <a:ext cx="552450" cy="34135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7134C860-0A01-497F-9750-C4F5580AA2C8}"/>
                  </a:ext>
                </a:extLst>
              </p:cNvPr>
              <p:cNvSpPr txBox="1"/>
              <p:nvPr/>
            </p:nvSpPr>
            <p:spPr>
              <a:xfrm>
                <a:off x="4143405" y="5673273"/>
                <a:ext cx="1212043" cy="3099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320" dirty="0">
                    <a:latin typeface="Helvetica" pitchFamily="2" charset="0"/>
                  </a:rPr>
                  <a:t>(0,0,</a:t>
                </a:r>
                <a:r>
                  <a:rPr lang="en-US" altLang="ja-JP" sz="2320" i="1" dirty="0">
                    <a:latin typeface="Helvetica" pitchFamily="2" charset="0"/>
                  </a:rPr>
                  <a:t>L</a:t>
                </a:r>
                <a:r>
                  <a:rPr lang="en-US" altLang="ja-JP" sz="2320" dirty="0">
                    <a:latin typeface="Helvetica" pitchFamily="2" charset="0"/>
                  </a:rPr>
                  <a:t>) || y</a:t>
                </a:r>
                <a:endParaRPr lang="ja-JP" altLang="en-US" sz="2320">
                  <a:latin typeface="Helvetica" pitchFamily="2" charset="0"/>
                </a:endParaRPr>
              </a:p>
            </p:txBody>
          </p:sp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0F4AE890-1596-10EE-A278-1AB5130AAFDA}"/>
                  </a:ext>
                </a:extLst>
              </p:cNvPr>
              <p:cNvSpPr txBox="1"/>
              <p:nvPr/>
            </p:nvSpPr>
            <p:spPr>
              <a:xfrm>
                <a:off x="990809" y="2824477"/>
                <a:ext cx="1550657" cy="3099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320" dirty="0">
                    <a:latin typeface="Helvetica" pitchFamily="2" charset="0"/>
                  </a:rPr>
                  <a:t>(0,-</a:t>
                </a:r>
                <a:r>
                  <a:rPr lang="en-US" altLang="ja-JP" sz="2320" i="1" dirty="0">
                    <a:latin typeface="Helvetica" pitchFamily="2" charset="0"/>
                  </a:rPr>
                  <a:t>K+</a:t>
                </a:r>
                <a:r>
                  <a:rPr lang="en-US" altLang="ja-JP" sz="2320" dirty="0">
                    <a:latin typeface="Helvetica" pitchFamily="2" charset="0"/>
                  </a:rPr>
                  <a:t>2</a:t>
                </a:r>
                <a:r>
                  <a:rPr lang="en-US" altLang="ja-JP" sz="2320" i="1" dirty="0">
                    <a:latin typeface="Helvetica" pitchFamily="2" charset="0"/>
                  </a:rPr>
                  <a:t>K</a:t>
                </a:r>
                <a:r>
                  <a:rPr lang="en-US" altLang="ja-JP" sz="2320" dirty="0">
                    <a:latin typeface="Helvetica" pitchFamily="2" charset="0"/>
                  </a:rPr>
                  <a:t>,</a:t>
                </a:r>
                <a:r>
                  <a:rPr lang="en-US" altLang="ja-JP" sz="2320" i="1" dirty="0">
                    <a:latin typeface="Helvetica" pitchFamily="2" charset="0"/>
                  </a:rPr>
                  <a:t>0</a:t>
                </a:r>
                <a:r>
                  <a:rPr lang="en-US" altLang="ja-JP" sz="2320" dirty="0">
                    <a:latin typeface="Helvetica" pitchFamily="2" charset="0"/>
                  </a:rPr>
                  <a:t>) || z</a:t>
                </a:r>
                <a:endParaRPr lang="ja-JP" altLang="en-US" sz="2320">
                  <a:latin typeface="Helvetica" pitchFamily="2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テキスト ボックス 31">
                    <a:extLst>
                      <a:ext uri="{FF2B5EF4-FFF2-40B4-BE49-F238E27FC236}">
                        <a16:creationId xmlns:a16="http://schemas.microsoft.com/office/drawing/2014/main" id="{E4D2CD9C-9F84-6D90-7990-0F20C0FB6644}"/>
                      </a:ext>
                    </a:extLst>
                  </p:cNvPr>
                  <p:cNvSpPr txBox="1"/>
                  <p:nvPr/>
                </p:nvSpPr>
                <p:spPr>
                  <a:xfrm>
                    <a:off x="1486684" y="5253607"/>
                    <a:ext cx="911978" cy="3407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=1.5</m:t>
                          </m:r>
                        </m:oMath>
                      </m:oMathPara>
                    </a14:m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32" name="テキスト ボックス 31">
                    <a:extLst>
                      <a:ext uri="{FF2B5EF4-FFF2-40B4-BE49-F238E27FC236}">
                        <a16:creationId xmlns:a16="http://schemas.microsoft.com/office/drawing/2014/main" id="{E4D2CD9C-9F84-6D90-7990-0F20C0FB664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86684" y="5253607"/>
                    <a:ext cx="911978" cy="34073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4" name="直線コネクタ 33">
                <a:extLst>
                  <a:ext uri="{FF2B5EF4-FFF2-40B4-BE49-F238E27FC236}">
                    <a16:creationId xmlns:a16="http://schemas.microsoft.com/office/drawing/2014/main" id="{2514B61E-E358-F340-19FA-79A5FD3C47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15980" y="5253607"/>
                <a:ext cx="367495" cy="1053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線コネクタ 36">
                <a:extLst>
                  <a:ext uri="{FF2B5EF4-FFF2-40B4-BE49-F238E27FC236}">
                    <a16:creationId xmlns:a16="http://schemas.microsoft.com/office/drawing/2014/main" id="{ABDD187E-D463-8BC9-495C-32B4E088B9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54799" y="5029794"/>
                <a:ext cx="367495" cy="1053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8A537DF1-FD21-089B-0825-983EA58A55BF}"/>
                  </a:ext>
                </a:extLst>
              </p:cNvPr>
              <p:cNvSpPr txBox="1"/>
              <p:nvPr/>
            </p:nvSpPr>
            <p:spPr>
              <a:xfrm>
                <a:off x="3186249" y="3779017"/>
                <a:ext cx="2350764" cy="340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610" dirty="0">
                    <a:latin typeface="Helvetica" pitchFamily="2" charset="0"/>
                  </a:rPr>
                  <a:t>Sliced Region (c),(e) </a:t>
                </a:r>
                <a:endParaRPr lang="ja-JP" altLang="en-US" sz="2610">
                  <a:latin typeface="Helvetica" pitchFamily="2" charset="0"/>
                </a:endParaRPr>
              </a:p>
            </p:txBody>
          </p:sp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5B5D8524-0747-92A3-D6DA-E0D175D8A8C7}"/>
                  </a:ext>
                </a:extLst>
              </p:cNvPr>
              <p:cNvSpPr txBox="1"/>
              <p:nvPr/>
            </p:nvSpPr>
            <p:spPr>
              <a:xfrm>
                <a:off x="2398662" y="3369534"/>
                <a:ext cx="2350765" cy="340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610" dirty="0">
                    <a:latin typeface="Helvetica" pitchFamily="2" charset="0"/>
                  </a:rPr>
                  <a:t>Sliced Region (b),(d) </a:t>
                </a:r>
                <a:endParaRPr lang="ja-JP" altLang="en-US" sz="2610">
                  <a:latin typeface="Helvetica" pitchFamily="2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テキスト ボックス 40">
                    <a:extLst>
                      <a:ext uri="{FF2B5EF4-FFF2-40B4-BE49-F238E27FC236}">
                        <a16:creationId xmlns:a16="http://schemas.microsoft.com/office/drawing/2014/main" id="{FB919EA5-F6C3-3F04-41A6-6F0EC0D31D17}"/>
                      </a:ext>
                    </a:extLst>
                  </p:cNvPr>
                  <p:cNvSpPr txBox="1"/>
                  <p:nvPr/>
                </p:nvSpPr>
                <p:spPr>
                  <a:xfrm>
                    <a:off x="1014561" y="4158099"/>
                    <a:ext cx="911978" cy="34135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=</m:t>
                          </m:r>
                          <m:acc>
                            <m:accPr>
                              <m:chr m:val="̅"/>
                              <m:ctrlP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acc>
                        </m:oMath>
                      </m:oMathPara>
                    </a14:m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41" name="テキスト ボックス 40">
                    <a:extLst>
                      <a:ext uri="{FF2B5EF4-FFF2-40B4-BE49-F238E27FC236}">
                        <a16:creationId xmlns:a16="http://schemas.microsoft.com/office/drawing/2014/main" id="{FB919EA5-F6C3-3F04-41A6-6F0EC0D31D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4561" y="4158099"/>
                    <a:ext cx="911978" cy="34135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2" name="直線コネクタ 41">
                <a:extLst>
                  <a:ext uri="{FF2B5EF4-FFF2-40B4-BE49-F238E27FC236}">
                    <a16:creationId xmlns:a16="http://schemas.microsoft.com/office/drawing/2014/main" id="{26DDE9B4-31BD-6525-FC57-05C9A2FF68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486684" y="4431700"/>
                <a:ext cx="75688" cy="22247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4A3CA9EF-3DB8-6B73-DCAF-9C0E19CD75D3}"/>
                  </a:ext>
                </a:extLst>
              </p:cNvPr>
              <p:cNvSpPr txBox="1"/>
              <p:nvPr/>
            </p:nvSpPr>
            <p:spPr>
              <a:xfrm>
                <a:off x="1755598" y="4019929"/>
                <a:ext cx="1337420" cy="3099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320" dirty="0">
                    <a:latin typeface="Helvetica" pitchFamily="2" charset="0"/>
                  </a:rPr>
                  <a:t>(-</a:t>
                </a:r>
                <a:r>
                  <a:rPr lang="en-US" altLang="ja-JP" sz="2320" i="1" dirty="0">
                    <a:latin typeface="Helvetica" pitchFamily="2" charset="0"/>
                  </a:rPr>
                  <a:t>H</a:t>
                </a:r>
                <a:r>
                  <a:rPr lang="en-US" altLang="ja-JP" sz="2320" dirty="0">
                    <a:latin typeface="Helvetica" pitchFamily="2" charset="0"/>
                  </a:rPr>
                  <a:t>,0,0) || -x</a:t>
                </a:r>
                <a:endParaRPr lang="ja-JP" altLang="en-US" sz="2320">
                  <a:latin typeface="Helvetica" pitchFamily="2" charset="0"/>
                </a:endParaRPr>
              </a:p>
            </p:txBody>
          </p:sp>
          <p:cxnSp>
            <p:nvCxnSpPr>
              <p:cNvPr id="45" name="直線コネクタ 44">
                <a:extLst>
                  <a:ext uri="{FF2B5EF4-FFF2-40B4-BE49-F238E27FC236}">
                    <a16:creationId xmlns:a16="http://schemas.microsoft.com/office/drawing/2014/main" id="{728EF781-47B5-E830-D4C8-AD86A6B984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34125" y="4084382"/>
                <a:ext cx="197243" cy="21650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線コネクタ 46">
                <a:extLst>
                  <a:ext uri="{FF2B5EF4-FFF2-40B4-BE49-F238E27FC236}">
                    <a16:creationId xmlns:a16="http://schemas.microsoft.com/office/drawing/2014/main" id="{8199FC2C-8197-A56D-1EF0-3ACED570D83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019926" y="3738866"/>
                <a:ext cx="166323" cy="40948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78A3FE89-7CFB-2C1B-E3FC-1B5A614CD7F8}"/>
                    </a:ext>
                  </a:extLst>
                </p:cNvPr>
                <p:cNvSpPr txBox="1"/>
                <p:nvPr/>
              </p:nvSpPr>
              <p:spPr>
                <a:xfrm>
                  <a:off x="2895157" y="4621379"/>
                  <a:ext cx="367495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78A3FE89-7CFB-2C1B-E3FC-1B5A614CD7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5157" y="4621379"/>
                  <a:ext cx="367495" cy="340731"/>
                </a:xfrm>
                <a:prstGeom prst="rect">
                  <a:avLst/>
                </a:prstGeom>
                <a:blipFill>
                  <a:blip r:embed="rId8"/>
                  <a:stretch>
                    <a:fillRect l="-4651"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E85DC8F2-94BF-E40B-3B9B-D00D55044E92}"/>
                    </a:ext>
                  </a:extLst>
                </p:cNvPr>
                <p:cNvSpPr txBox="1"/>
                <p:nvPr/>
              </p:nvSpPr>
              <p:spPr>
                <a:xfrm>
                  <a:off x="3044210" y="5187859"/>
                  <a:ext cx="367495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E85DC8F2-94BF-E40B-3B9B-D00D55044E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4210" y="5187859"/>
                  <a:ext cx="367495" cy="340731"/>
                </a:xfrm>
                <a:prstGeom prst="rect">
                  <a:avLst/>
                </a:prstGeom>
                <a:blipFill>
                  <a:blip r:embed="rId9"/>
                  <a:stretch>
                    <a:fillRect l="-2326" b="-769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1C2E84AA-E003-1DD3-0A3A-0E0332A2C736}"/>
                    </a:ext>
                  </a:extLst>
                </p:cNvPr>
                <p:cNvSpPr txBox="1"/>
                <p:nvPr/>
              </p:nvSpPr>
              <p:spPr>
                <a:xfrm>
                  <a:off x="3432131" y="4255461"/>
                  <a:ext cx="367495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1C2E84AA-E003-1DD3-0A3A-0E0332A2C7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2131" y="4255461"/>
                  <a:ext cx="367495" cy="340731"/>
                </a:xfrm>
                <a:prstGeom prst="rect">
                  <a:avLst/>
                </a:prstGeom>
                <a:blipFill>
                  <a:blip r:embed="rId10"/>
                  <a:stretch>
                    <a:fillRect l="-4762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216006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35ADC-AED5-5BB4-CF21-1BBAECFB1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52CD759C-641C-027C-0F09-29A89EBE5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3546" y="2576581"/>
            <a:ext cx="5309735" cy="331858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85EEC484-BE05-B870-7F55-36B6B12E64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13544" y="6122988"/>
            <a:ext cx="5309732" cy="3318582"/>
          </a:xfrm>
          <a:prstGeom prst="rect">
            <a:avLst/>
          </a:prstGeom>
        </p:spPr>
      </p:pic>
      <p:cxnSp>
        <p:nvCxnSpPr>
          <p:cNvPr id="13" name="カギ線コネクタ 12">
            <a:extLst>
              <a:ext uri="{FF2B5EF4-FFF2-40B4-BE49-F238E27FC236}">
                <a16:creationId xmlns:a16="http://schemas.microsoft.com/office/drawing/2014/main" id="{FCB4F2B8-2F45-DD97-192E-C27A273D5A5E}"/>
              </a:ext>
            </a:extLst>
          </p:cNvPr>
          <p:cNvCxnSpPr>
            <a:cxnSpLocks/>
          </p:cNvCxnSpPr>
          <p:nvPr/>
        </p:nvCxnSpPr>
        <p:spPr>
          <a:xfrm>
            <a:off x="7366661" y="6287792"/>
            <a:ext cx="7039818" cy="3490439"/>
          </a:xfrm>
          <a:prstGeom prst="bentConnector3">
            <a:avLst>
              <a:gd name="adj1" fmla="val 99667"/>
            </a:avLst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図 47">
            <a:extLst>
              <a:ext uri="{FF2B5EF4-FFF2-40B4-BE49-F238E27FC236}">
                <a16:creationId xmlns:a16="http://schemas.microsoft.com/office/drawing/2014/main" id="{321B35E9-2D76-5AB2-7B31-3E424C95AB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0706" y="2650248"/>
            <a:ext cx="3641911" cy="3589002"/>
          </a:xfrm>
          <a:prstGeom prst="rect">
            <a:avLst/>
          </a:prstGeom>
        </p:spPr>
      </p:pic>
      <p:pic>
        <p:nvPicPr>
          <p:cNvPr id="50" name="図 49">
            <a:extLst>
              <a:ext uri="{FF2B5EF4-FFF2-40B4-BE49-F238E27FC236}">
                <a16:creationId xmlns:a16="http://schemas.microsoft.com/office/drawing/2014/main" id="{03D36B3D-448B-D217-532E-382E563017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0706" y="6384869"/>
            <a:ext cx="3600979" cy="3574630"/>
          </a:xfrm>
          <a:prstGeom prst="rect">
            <a:avLst/>
          </a:prstGeom>
        </p:spPr>
      </p:pic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77525E93-F008-BDB1-8530-16A4690BFC00}"/>
              </a:ext>
            </a:extLst>
          </p:cNvPr>
          <p:cNvGrpSpPr/>
          <p:nvPr/>
        </p:nvGrpSpPr>
        <p:grpSpPr>
          <a:xfrm>
            <a:off x="1940728" y="3773004"/>
            <a:ext cx="5374072" cy="4699973"/>
            <a:chOff x="916585" y="2848391"/>
            <a:chExt cx="4000249" cy="3313597"/>
          </a:xfrm>
        </p:grpSpPr>
        <p:grpSp>
          <p:nvGrpSpPr>
            <p:cNvPr id="59" name="グループ化 58">
              <a:extLst>
                <a:ext uri="{FF2B5EF4-FFF2-40B4-BE49-F238E27FC236}">
                  <a16:creationId xmlns:a16="http://schemas.microsoft.com/office/drawing/2014/main" id="{30B4CE95-D8F3-A976-21AF-69ED506F86CA}"/>
                </a:ext>
              </a:extLst>
            </p:cNvPr>
            <p:cNvGrpSpPr/>
            <p:nvPr/>
          </p:nvGrpSpPr>
          <p:grpSpPr>
            <a:xfrm>
              <a:off x="916585" y="2848391"/>
              <a:ext cx="4000249" cy="3313597"/>
              <a:chOff x="916585" y="2848391"/>
              <a:chExt cx="4000249" cy="3313597"/>
            </a:xfrm>
          </p:grpSpPr>
          <p:grpSp>
            <p:nvGrpSpPr>
              <p:cNvPr id="30" name="グループ化 29">
                <a:extLst>
                  <a:ext uri="{FF2B5EF4-FFF2-40B4-BE49-F238E27FC236}">
                    <a16:creationId xmlns:a16="http://schemas.microsoft.com/office/drawing/2014/main" id="{BE84B07B-B875-9E3D-181C-5D73A1A9221C}"/>
                  </a:ext>
                </a:extLst>
              </p:cNvPr>
              <p:cNvGrpSpPr/>
              <p:nvPr/>
            </p:nvGrpSpPr>
            <p:grpSpPr>
              <a:xfrm>
                <a:off x="916585" y="2950023"/>
                <a:ext cx="3957145" cy="3211965"/>
                <a:chOff x="916585" y="2950023"/>
                <a:chExt cx="3957145" cy="3211965"/>
              </a:xfrm>
            </p:grpSpPr>
            <p:pic>
              <p:nvPicPr>
                <p:cNvPr id="29" name="図 28">
                  <a:extLst>
                    <a:ext uri="{FF2B5EF4-FFF2-40B4-BE49-F238E27FC236}">
                      <a16:creationId xmlns:a16="http://schemas.microsoft.com/office/drawing/2014/main" id="{21A930DB-E4A4-822F-7725-1661166920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rcRect l="23307" t="22048" r="4567" b="21066"/>
                <a:stretch>
                  <a:fillRect/>
                </a:stretch>
              </p:blipFill>
              <p:spPr>
                <a:xfrm>
                  <a:off x="916585" y="3040980"/>
                  <a:ext cx="3957145" cy="3121008"/>
                </a:xfrm>
                <a:prstGeom prst="rect">
                  <a:avLst/>
                </a:prstGeom>
              </p:spPr>
            </p:pic>
            <p:sp>
              <p:nvSpPr>
                <p:cNvPr id="21" name="三角形 20">
                  <a:extLst>
                    <a:ext uri="{FF2B5EF4-FFF2-40B4-BE49-F238E27FC236}">
                      <a16:creationId xmlns:a16="http://schemas.microsoft.com/office/drawing/2014/main" id="{569D253E-6065-5A9E-C550-4B76EA35AE51}"/>
                    </a:ext>
                  </a:extLst>
                </p:cNvPr>
                <p:cNvSpPr/>
                <p:nvPr/>
              </p:nvSpPr>
              <p:spPr>
                <a:xfrm rot="6000000">
                  <a:off x="4668592" y="5598775"/>
                  <a:ext cx="137160" cy="118241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2" name="三角形 21">
                  <a:extLst>
                    <a:ext uri="{FF2B5EF4-FFF2-40B4-BE49-F238E27FC236}">
                      <a16:creationId xmlns:a16="http://schemas.microsoft.com/office/drawing/2014/main" id="{D80E0E39-C539-27D2-C8C3-B9431ABBEB16}"/>
                    </a:ext>
                  </a:extLst>
                </p:cNvPr>
                <p:cNvSpPr/>
                <p:nvPr/>
              </p:nvSpPr>
              <p:spPr>
                <a:xfrm>
                  <a:off x="922229" y="2950023"/>
                  <a:ext cx="137160" cy="118241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3" name="三角形 22">
                  <a:extLst>
                    <a:ext uri="{FF2B5EF4-FFF2-40B4-BE49-F238E27FC236}">
                      <a16:creationId xmlns:a16="http://schemas.microsoft.com/office/drawing/2014/main" id="{5A1EC703-02F2-7DFC-412C-35DC2E46E13E}"/>
                    </a:ext>
                  </a:extLst>
                </p:cNvPr>
                <p:cNvSpPr/>
                <p:nvPr/>
              </p:nvSpPr>
              <p:spPr>
                <a:xfrm rot="3659594">
                  <a:off x="1971744" y="4372580"/>
                  <a:ext cx="137160" cy="118241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テキスト ボックス 24">
                    <a:extLst>
                      <a:ext uri="{FF2B5EF4-FFF2-40B4-BE49-F238E27FC236}">
                        <a16:creationId xmlns:a16="http://schemas.microsoft.com/office/drawing/2014/main" id="{AD13DAF3-31D9-373F-1BD4-9599ADBC2E7C}"/>
                      </a:ext>
                    </a:extLst>
                  </p:cNvPr>
                  <p:cNvSpPr txBox="1"/>
                  <p:nvPr/>
                </p:nvSpPr>
                <p:spPr>
                  <a:xfrm>
                    <a:off x="4178543" y="4795048"/>
                    <a:ext cx="552450" cy="34890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acc>
                            <m:accPr>
                              <m:chr m:val="̅"/>
                              <m:ctrlP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acc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02</m:t>
                          </m:r>
                        </m:oMath>
                      </m:oMathPara>
                    </a14:m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25" name="テキスト ボックス 24">
                    <a:extLst>
                      <a:ext uri="{FF2B5EF4-FFF2-40B4-BE49-F238E27FC236}">
                        <a16:creationId xmlns:a16="http://schemas.microsoft.com/office/drawing/2014/main" id="{AD13DAF3-31D9-373F-1BD4-9599ADBC2E7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78543" y="4795048"/>
                    <a:ext cx="552450" cy="34890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333" r="-3333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80E62998-5ECE-0A53-FE8C-09BB7ABB4BEB}"/>
                  </a:ext>
                </a:extLst>
              </p:cNvPr>
              <p:cNvSpPr txBox="1"/>
              <p:nvPr/>
            </p:nvSpPr>
            <p:spPr>
              <a:xfrm>
                <a:off x="3704791" y="5639423"/>
                <a:ext cx="1212043" cy="285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030" dirty="0">
                    <a:latin typeface="Helvetica" pitchFamily="2" charset="0"/>
                  </a:rPr>
                  <a:t>(0,0,</a:t>
                </a:r>
                <a:r>
                  <a:rPr lang="en-US" altLang="ja-JP" sz="2030" i="1" dirty="0">
                    <a:latin typeface="Helvetica" pitchFamily="2" charset="0"/>
                  </a:rPr>
                  <a:t>L</a:t>
                </a:r>
                <a:r>
                  <a:rPr lang="en-US" altLang="ja-JP" sz="2030" dirty="0">
                    <a:latin typeface="Helvetica" pitchFamily="2" charset="0"/>
                  </a:rPr>
                  <a:t>) || y</a:t>
                </a:r>
                <a:endParaRPr lang="ja-JP" altLang="en-US" sz="2030">
                  <a:latin typeface="Helvetica" pitchFamily="2" charset="0"/>
                </a:endParaRPr>
              </a:p>
            </p:txBody>
          </p:sp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9AF4320C-591D-16A0-5CFC-1FF5056751EE}"/>
                  </a:ext>
                </a:extLst>
              </p:cNvPr>
              <p:cNvSpPr txBox="1"/>
              <p:nvPr/>
            </p:nvSpPr>
            <p:spPr>
              <a:xfrm>
                <a:off x="1042668" y="2848391"/>
                <a:ext cx="1722810" cy="285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030" dirty="0">
                    <a:latin typeface="Helvetica" pitchFamily="2" charset="0"/>
                  </a:rPr>
                  <a:t>(0,-</a:t>
                </a:r>
                <a:r>
                  <a:rPr lang="en-US" altLang="ja-JP" sz="2030" i="1" dirty="0">
                    <a:latin typeface="Helvetica" pitchFamily="2" charset="0"/>
                  </a:rPr>
                  <a:t>H+</a:t>
                </a:r>
                <a:r>
                  <a:rPr lang="en-US" altLang="ja-JP" sz="2030" dirty="0">
                    <a:latin typeface="Helvetica" pitchFamily="2" charset="0"/>
                  </a:rPr>
                  <a:t>2</a:t>
                </a:r>
                <a:r>
                  <a:rPr lang="en-US" altLang="ja-JP" sz="2030" i="1" dirty="0">
                    <a:latin typeface="Helvetica" pitchFamily="2" charset="0"/>
                  </a:rPr>
                  <a:t>K</a:t>
                </a:r>
                <a:r>
                  <a:rPr lang="en-US" altLang="ja-JP" sz="2030" dirty="0">
                    <a:latin typeface="Helvetica" pitchFamily="2" charset="0"/>
                  </a:rPr>
                  <a:t>,0) || z</a:t>
                </a:r>
                <a:endParaRPr lang="ja-JP" altLang="en-US" sz="2030">
                  <a:latin typeface="Helvetica" pitchFamily="2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テキスト ボックス 31">
                    <a:extLst>
                      <a:ext uri="{FF2B5EF4-FFF2-40B4-BE49-F238E27FC236}">
                        <a16:creationId xmlns:a16="http://schemas.microsoft.com/office/drawing/2014/main" id="{DDEA18DB-7184-2BDE-8BF7-9BF7EAED19FE}"/>
                      </a:ext>
                    </a:extLst>
                  </p:cNvPr>
                  <p:cNvSpPr txBox="1"/>
                  <p:nvPr/>
                </p:nvSpPr>
                <p:spPr>
                  <a:xfrm>
                    <a:off x="1634449" y="5306296"/>
                    <a:ext cx="1131028" cy="34826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=1.5</m:t>
                          </m:r>
                        </m:oMath>
                      </m:oMathPara>
                    </a14:m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32" name="テキスト ボックス 31">
                    <a:extLst>
                      <a:ext uri="{FF2B5EF4-FFF2-40B4-BE49-F238E27FC236}">
                        <a16:creationId xmlns:a16="http://schemas.microsoft.com/office/drawing/2014/main" id="{DDEA18DB-7184-2BDE-8BF7-9BF7EAED19F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34449" y="5306296"/>
                    <a:ext cx="1131028" cy="34826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4" name="直線コネクタ 33">
                <a:extLst>
                  <a:ext uri="{FF2B5EF4-FFF2-40B4-BE49-F238E27FC236}">
                    <a16:creationId xmlns:a16="http://schemas.microsoft.com/office/drawing/2014/main" id="{604F6D2F-F1A3-84BD-2152-C449499F52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15980" y="5253607"/>
                <a:ext cx="367495" cy="1053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68E4AD2E-ED27-5A38-464C-35817988248E}"/>
                  </a:ext>
                </a:extLst>
              </p:cNvPr>
              <p:cNvSpPr txBox="1"/>
              <p:nvPr/>
            </p:nvSpPr>
            <p:spPr>
              <a:xfrm>
                <a:off x="3652921" y="3764375"/>
                <a:ext cx="1151160" cy="316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320" dirty="0">
                    <a:latin typeface="Helvetica" pitchFamily="2" charset="0"/>
                  </a:rPr>
                  <a:t>(b),(d) </a:t>
                </a:r>
                <a:endParaRPr lang="ja-JP" altLang="en-US" sz="2320">
                  <a:latin typeface="Helvetica" pitchFamily="2" charset="0"/>
                </a:endParaRPr>
              </a:p>
            </p:txBody>
          </p:sp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525D0067-DD63-EA29-E6CC-BCDD16D68569}"/>
                  </a:ext>
                </a:extLst>
              </p:cNvPr>
              <p:cNvSpPr txBox="1"/>
              <p:nvPr/>
            </p:nvSpPr>
            <p:spPr>
              <a:xfrm>
                <a:off x="2572546" y="3376633"/>
                <a:ext cx="1116433" cy="316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320" dirty="0">
                    <a:latin typeface="Helvetica" pitchFamily="2" charset="0"/>
                  </a:rPr>
                  <a:t>(c),(e) </a:t>
                </a:r>
                <a:endParaRPr lang="ja-JP" altLang="en-US" sz="2320">
                  <a:latin typeface="Helvetica" pitchFamily="2" charset="0"/>
                </a:endParaRPr>
              </a:p>
            </p:txBody>
          </p:sp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1202A6E5-CECE-7EA1-D634-A565D058C301}"/>
                  </a:ext>
                </a:extLst>
              </p:cNvPr>
              <p:cNvSpPr txBox="1"/>
              <p:nvPr/>
            </p:nvSpPr>
            <p:spPr>
              <a:xfrm>
                <a:off x="1237035" y="3984095"/>
                <a:ext cx="1658122" cy="285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030" dirty="0">
                    <a:latin typeface="Helvetica" pitchFamily="2" charset="0"/>
                  </a:rPr>
                  <a:t>(-</a:t>
                </a:r>
                <a:r>
                  <a:rPr lang="en-US" altLang="ja-JP" sz="2030" i="1" dirty="0">
                    <a:latin typeface="Helvetica" pitchFamily="2" charset="0"/>
                  </a:rPr>
                  <a:t>H-K/2</a:t>
                </a:r>
                <a:r>
                  <a:rPr lang="en-US" altLang="ja-JP" sz="2030" dirty="0">
                    <a:latin typeface="Helvetica" pitchFamily="2" charset="0"/>
                  </a:rPr>
                  <a:t>,0,0) || -x</a:t>
                </a:r>
                <a:endParaRPr lang="ja-JP" altLang="en-US" sz="2030">
                  <a:latin typeface="Helvetica" pitchFamily="2" charset="0"/>
                </a:endParaRPr>
              </a:p>
            </p:txBody>
          </p:sp>
          <p:cxnSp>
            <p:nvCxnSpPr>
              <p:cNvPr id="45" name="直線コネクタ 44">
                <a:extLst>
                  <a:ext uri="{FF2B5EF4-FFF2-40B4-BE49-F238E27FC236}">
                    <a16:creationId xmlns:a16="http://schemas.microsoft.com/office/drawing/2014/main" id="{C06DCB33-79B4-AF75-AC21-1FF23C7A638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34125" y="4084382"/>
                <a:ext cx="197243" cy="21650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線コネクタ 46">
                <a:extLst>
                  <a:ext uri="{FF2B5EF4-FFF2-40B4-BE49-F238E27FC236}">
                    <a16:creationId xmlns:a16="http://schemas.microsoft.com/office/drawing/2014/main" id="{0F2A5A92-12B0-1872-2AAB-6C4515BFFD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019926" y="3738866"/>
                <a:ext cx="166323" cy="40948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E6810A23-B6C2-76BC-ED76-FED590018862}"/>
                    </a:ext>
                  </a:extLst>
                </p:cNvPr>
                <p:cNvSpPr txBox="1"/>
                <p:nvPr/>
              </p:nvSpPr>
              <p:spPr>
                <a:xfrm>
                  <a:off x="2895157" y="4621379"/>
                  <a:ext cx="367495" cy="3482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E6810A23-B6C2-76BC-ED76-FED5900188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5157" y="4621379"/>
                  <a:ext cx="367495" cy="348269"/>
                </a:xfrm>
                <a:prstGeom prst="rect">
                  <a:avLst/>
                </a:prstGeom>
                <a:blipFill>
                  <a:blip r:embed="rId10"/>
                  <a:stretch>
                    <a:fillRect l="-5128" r="-7692" b="-10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2CEB7BEB-4D79-FF40-BBEA-FE7AE9BD7D15}"/>
                    </a:ext>
                  </a:extLst>
                </p:cNvPr>
                <p:cNvSpPr txBox="1"/>
                <p:nvPr/>
              </p:nvSpPr>
              <p:spPr>
                <a:xfrm>
                  <a:off x="2683475" y="5449941"/>
                  <a:ext cx="367495" cy="3482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2CEB7BEB-4D79-FF40-BBEA-FE7AE9BD7D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3475" y="5449941"/>
                  <a:ext cx="367495" cy="348269"/>
                </a:xfrm>
                <a:prstGeom prst="rect">
                  <a:avLst/>
                </a:prstGeom>
                <a:blipFill>
                  <a:blip r:embed="rId11"/>
                  <a:stretch>
                    <a:fillRect l="-5000" r="-5000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85C2356D-E781-7FD5-41B6-A809D9ABB013}"/>
                    </a:ext>
                  </a:extLst>
                </p:cNvPr>
                <p:cNvSpPr txBox="1"/>
                <p:nvPr/>
              </p:nvSpPr>
              <p:spPr>
                <a:xfrm>
                  <a:off x="3432131" y="4255461"/>
                  <a:ext cx="367495" cy="3482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85C2356D-E781-7FD5-41B6-A809D9ABB0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2131" y="4255461"/>
                  <a:ext cx="367495" cy="348269"/>
                </a:xfrm>
                <a:prstGeom prst="rect">
                  <a:avLst/>
                </a:prstGeom>
                <a:blipFill>
                  <a:blip r:embed="rId12"/>
                  <a:stretch>
                    <a:fillRect l="-7500" r="-2500" b="-769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201915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B6064-F046-2E01-6020-1C4730788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ABBE6E3E-1E68-6648-8B0F-091E0ED4C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9588" y="6323170"/>
            <a:ext cx="5309735" cy="331858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A3ABA5C8-7F08-B486-CB37-F297766702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13544" y="2581559"/>
            <a:ext cx="5309732" cy="3318582"/>
          </a:xfrm>
          <a:prstGeom prst="rect">
            <a:avLst/>
          </a:prstGeom>
        </p:spPr>
      </p:pic>
      <p:cxnSp>
        <p:nvCxnSpPr>
          <p:cNvPr id="13" name="カギ線コネクタ 12">
            <a:extLst>
              <a:ext uri="{FF2B5EF4-FFF2-40B4-BE49-F238E27FC236}">
                <a16:creationId xmlns:a16="http://schemas.microsoft.com/office/drawing/2014/main" id="{3FF5A20E-9046-95CB-E51E-71F8B5D2F258}"/>
              </a:ext>
            </a:extLst>
          </p:cNvPr>
          <p:cNvCxnSpPr>
            <a:cxnSpLocks/>
          </p:cNvCxnSpPr>
          <p:nvPr/>
        </p:nvCxnSpPr>
        <p:spPr>
          <a:xfrm>
            <a:off x="7473631" y="6219102"/>
            <a:ext cx="7039818" cy="3490439"/>
          </a:xfrm>
          <a:prstGeom prst="bentConnector3">
            <a:avLst>
              <a:gd name="adj1" fmla="val 99667"/>
            </a:avLst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図 47">
            <a:extLst>
              <a:ext uri="{FF2B5EF4-FFF2-40B4-BE49-F238E27FC236}">
                <a16:creationId xmlns:a16="http://schemas.microsoft.com/office/drawing/2014/main" id="{5E3A844B-67C6-0CB0-F76F-13447DDB4C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7676" y="2581558"/>
            <a:ext cx="3641911" cy="3589002"/>
          </a:xfrm>
          <a:prstGeom prst="rect">
            <a:avLst/>
          </a:prstGeom>
        </p:spPr>
      </p:pic>
      <p:pic>
        <p:nvPicPr>
          <p:cNvPr id="50" name="図 49">
            <a:extLst>
              <a:ext uri="{FF2B5EF4-FFF2-40B4-BE49-F238E27FC236}">
                <a16:creationId xmlns:a16="http://schemas.microsoft.com/office/drawing/2014/main" id="{6717B13D-2E1D-8DC3-978C-B8C04120EC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7675" y="6470836"/>
            <a:ext cx="3600979" cy="3574630"/>
          </a:xfrm>
          <a:prstGeom prst="rect">
            <a:avLst/>
          </a:prstGeom>
        </p:spPr>
      </p:pic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77F155B2-3EAF-3B42-7162-2F5CEB3322AC}"/>
              </a:ext>
            </a:extLst>
          </p:cNvPr>
          <p:cNvGrpSpPr/>
          <p:nvPr/>
        </p:nvGrpSpPr>
        <p:grpSpPr>
          <a:xfrm>
            <a:off x="2047698" y="3848467"/>
            <a:ext cx="5316165" cy="4555819"/>
            <a:chOff x="916585" y="2950023"/>
            <a:chExt cx="3957145" cy="3211965"/>
          </a:xfrm>
        </p:grpSpPr>
        <p:pic>
          <p:nvPicPr>
            <p:cNvPr id="29" name="図 28">
              <a:extLst>
                <a:ext uri="{FF2B5EF4-FFF2-40B4-BE49-F238E27FC236}">
                  <a16:creationId xmlns:a16="http://schemas.microsoft.com/office/drawing/2014/main" id="{6581266B-B243-7D57-9BC6-B95EA2935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23307" t="22048" r="4567" b="21066"/>
            <a:stretch>
              <a:fillRect/>
            </a:stretch>
          </p:blipFill>
          <p:spPr>
            <a:xfrm>
              <a:off x="916585" y="3040980"/>
              <a:ext cx="3957145" cy="3121008"/>
            </a:xfrm>
            <a:prstGeom prst="rect">
              <a:avLst/>
            </a:prstGeom>
          </p:spPr>
        </p:pic>
        <p:sp>
          <p:nvSpPr>
            <p:cNvPr id="21" name="三角形 20">
              <a:extLst>
                <a:ext uri="{FF2B5EF4-FFF2-40B4-BE49-F238E27FC236}">
                  <a16:creationId xmlns:a16="http://schemas.microsoft.com/office/drawing/2014/main" id="{B9ACFC03-6E12-37A3-DB23-339E27970846}"/>
                </a:ext>
              </a:extLst>
            </p:cNvPr>
            <p:cNvSpPr/>
            <p:nvPr/>
          </p:nvSpPr>
          <p:spPr>
            <a:xfrm rot="6000000">
              <a:off x="4668592" y="5598775"/>
              <a:ext cx="137160" cy="118241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2" name="三角形 21">
              <a:extLst>
                <a:ext uri="{FF2B5EF4-FFF2-40B4-BE49-F238E27FC236}">
                  <a16:creationId xmlns:a16="http://schemas.microsoft.com/office/drawing/2014/main" id="{45FB3FF5-3428-575D-CC62-6D9965AAE577}"/>
                </a:ext>
              </a:extLst>
            </p:cNvPr>
            <p:cNvSpPr/>
            <p:nvPr/>
          </p:nvSpPr>
          <p:spPr>
            <a:xfrm>
              <a:off x="922229" y="2950023"/>
              <a:ext cx="137160" cy="118241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3" name="三角形 22">
              <a:extLst>
                <a:ext uri="{FF2B5EF4-FFF2-40B4-BE49-F238E27FC236}">
                  <a16:creationId xmlns:a16="http://schemas.microsoft.com/office/drawing/2014/main" id="{C06F1C67-66E2-F2D0-B981-C797F51B2409}"/>
                </a:ext>
              </a:extLst>
            </p:cNvPr>
            <p:cNvSpPr/>
            <p:nvPr/>
          </p:nvSpPr>
          <p:spPr>
            <a:xfrm rot="3659594">
              <a:off x="1971744" y="4372580"/>
              <a:ext cx="137160" cy="118241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0DA5CD54-F3FF-EC64-C234-6152543C3384}"/>
                  </a:ext>
                </a:extLst>
              </p:cNvPr>
              <p:cNvSpPr txBox="1"/>
              <p:nvPr/>
            </p:nvSpPr>
            <p:spPr>
              <a:xfrm>
                <a:off x="6429924" y="6465432"/>
                <a:ext cx="742180" cy="494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altLang="ja-JP" sz="261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US" altLang="ja-JP" sz="2610" i="1">
                          <a:latin typeface="Cambria Math" panose="02040503050406030204" pitchFamily="18" charset="0"/>
                        </a:rPr>
                        <m:t>02</m:t>
                      </m:r>
                    </m:oMath>
                  </m:oMathPara>
                </a14:m>
                <a:endParaRPr lang="ja-JP" altLang="en-US" sz="261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0DA5CD54-F3FF-EC64-C234-6152543C3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924" y="6465432"/>
                <a:ext cx="742180" cy="494879"/>
              </a:xfrm>
              <a:prstGeom prst="rect">
                <a:avLst/>
              </a:prstGeom>
              <a:blipFill>
                <a:blip r:embed="rId8"/>
                <a:stretch>
                  <a:fillRect l="-3390" r="-33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2F8C69A-5938-2C87-0CAB-15B13E09B7B7}"/>
              </a:ext>
            </a:extLst>
          </p:cNvPr>
          <p:cNvSpPr txBox="1"/>
          <p:nvPr/>
        </p:nvSpPr>
        <p:spPr>
          <a:xfrm>
            <a:off x="5793470" y="7663085"/>
            <a:ext cx="1628300" cy="404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30" dirty="0">
                <a:latin typeface="Helvetica" pitchFamily="2" charset="0"/>
              </a:rPr>
              <a:t>(0,0,</a:t>
            </a:r>
            <a:r>
              <a:rPr lang="en-US" altLang="ja-JP" sz="2030" i="1" dirty="0">
                <a:latin typeface="Helvetica" pitchFamily="2" charset="0"/>
              </a:rPr>
              <a:t>L</a:t>
            </a:r>
            <a:r>
              <a:rPr lang="en-US" altLang="ja-JP" sz="2030" dirty="0">
                <a:latin typeface="Helvetica" pitchFamily="2" charset="0"/>
              </a:rPr>
              <a:t>) || y</a:t>
            </a:r>
            <a:endParaRPr lang="ja-JP" altLang="en-US" sz="2030">
              <a:latin typeface="Helvetica" pitchFamily="2" charset="0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B45FA802-A275-16FE-BEBE-B7F90CBB2884}"/>
              </a:ext>
            </a:extLst>
          </p:cNvPr>
          <p:cNvSpPr txBox="1"/>
          <p:nvPr/>
        </p:nvSpPr>
        <p:spPr>
          <a:xfrm>
            <a:off x="2217082" y="3704313"/>
            <a:ext cx="2314482" cy="404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30" dirty="0">
                <a:latin typeface="Helvetica" pitchFamily="2" charset="0"/>
              </a:rPr>
              <a:t>(-</a:t>
            </a:r>
            <a:r>
              <a:rPr lang="en-US" altLang="ja-JP" sz="2030" i="1" dirty="0">
                <a:latin typeface="Helvetica" pitchFamily="2" charset="0"/>
              </a:rPr>
              <a:t>K</a:t>
            </a:r>
            <a:r>
              <a:rPr lang="en-US" altLang="ja-JP" sz="2030" dirty="0">
                <a:latin typeface="Helvetica" pitchFamily="2" charset="0"/>
              </a:rPr>
              <a:t>/2,</a:t>
            </a:r>
            <a:r>
              <a:rPr lang="en-US" altLang="ja-JP" sz="2030" i="1" dirty="0">
                <a:latin typeface="Helvetica" pitchFamily="2" charset="0"/>
              </a:rPr>
              <a:t>K</a:t>
            </a:r>
            <a:r>
              <a:rPr lang="en-US" altLang="ja-JP" sz="2030" dirty="0">
                <a:latin typeface="Helvetica" pitchFamily="2" charset="0"/>
              </a:rPr>
              <a:t>,0) || z</a:t>
            </a:r>
            <a:endParaRPr lang="ja-JP" altLang="en-US" sz="2030">
              <a:latin typeface="Helvetica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7AE92347-5EB7-56CC-84F8-2FB7B5D870D8}"/>
                  </a:ext>
                </a:extLst>
              </p:cNvPr>
              <p:cNvSpPr txBox="1"/>
              <p:nvPr/>
            </p:nvSpPr>
            <p:spPr>
              <a:xfrm>
                <a:off x="3012101" y="7190581"/>
                <a:ext cx="1519462" cy="493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ja-JP" sz="261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ja-JP" sz="2610" i="1">
                          <a:latin typeface="Cambria Math" panose="02040503050406030204" pitchFamily="18" charset="0"/>
                        </a:rPr>
                        <m:t>=1.5</m:t>
                      </m:r>
                    </m:oMath>
                  </m:oMathPara>
                </a14:m>
                <a:endParaRPr lang="ja-JP" altLang="en-US" sz="261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7AE92347-5EB7-56CC-84F8-2FB7B5D87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101" y="7190581"/>
                <a:ext cx="1519462" cy="49398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2A59189D-3F67-960D-48FF-97D37CC4EC58}"/>
              </a:ext>
            </a:extLst>
          </p:cNvPr>
          <p:cNvCxnSpPr>
            <a:cxnSpLocks/>
          </p:cNvCxnSpPr>
          <p:nvPr/>
        </p:nvCxnSpPr>
        <p:spPr>
          <a:xfrm flipV="1">
            <a:off x="3927693" y="7115847"/>
            <a:ext cx="493705" cy="14946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864D5602-BB22-2BC0-EEF9-C7F7873AD913}"/>
              </a:ext>
            </a:extLst>
          </p:cNvPr>
          <p:cNvSpPr txBox="1"/>
          <p:nvPr/>
        </p:nvSpPr>
        <p:spPr>
          <a:xfrm>
            <a:off x="5723786" y="5003536"/>
            <a:ext cx="1546508" cy="449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320" dirty="0">
                <a:latin typeface="Helvetica" pitchFamily="2" charset="0"/>
              </a:rPr>
              <a:t>(b),(d) </a:t>
            </a:r>
            <a:endParaRPr lang="ja-JP" altLang="en-US" sz="2320">
              <a:latin typeface="Helvetica" pitchFamily="2" charset="0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9A9C8317-B289-E45E-2B54-91EA95936842}"/>
              </a:ext>
            </a:extLst>
          </p:cNvPr>
          <p:cNvSpPr txBox="1"/>
          <p:nvPr/>
        </p:nvSpPr>
        <p:spPr>
          <a:xfrm>
            <a:off x="4272373" y="4453566"/>
            <a:ext cx="1499854" cy="449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320" dirty="0">
                <a:latin typeface="Helvetica" pitchFamily="2" charset="0"/>
              </a:rPr>
              <a:t>(c),(e) </a:t>
            </a:r>
            <a:endParaRPr lang="ja-JP" altLang="en-US" sz="2320">
              <a:latin typeface="Helvetica" pitchFamily="2" charset="0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178989B6-9C45-FDB8-DD5C-F81211B48D2A}"/>
              </a:ext>
            </a:extLst>
          </p:cNvPr>
          <p:cNvSpPr txBox="1"/>
          <p:nvPr/>
        </p:nvSpPr>
        <p:spPr>
          <a:xfrm>
            <a:off x="2478202" y="5315184"/>
            <a:ext cx="1682969" cy="404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30" dirty="0">
                <a:latin typeface="Helvetica" pitchFamily="2" charset="0"/>
              </a:rPr>
              <a:t>(-</a:t>
            </a:r>
            <a:r>
              <a:rPr lang="en-US" altLang="ja-JP" sz="2030" i="1" dirty="0">
                <a:latin typeface="Helvetica" pitchFamily="2" charset="0"/>
              </a:rPr>
              <a:t>H</a:t>
            </a:r>
            <a:r>
              <a:rPr lang="en-US" altLang="ja-JP" sz="2030" dirty="0">
                <a:latin typeface="Helvetica" pitchFamily="2" charset="0"/>
              </a:rPr>
              <a:t>,0,0) || -x</a:t>
            </a:r>
            <a:endParaRPr lang="ja-JP" altLang="en-US" sz="2030">
              <a:latin typeface="Helvetica" pitchFamily="2" charset="0"/>
            </a:endParaRPr>
          </a:p>
        </p:txBody>
      </p: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7A60ADD8-F22D-49F1-617D-B7A84488F792}"/>
              </a:ext>
            </a:extLst>
          </p:cNvPr>
          <p:cNvCxnSpPr>
            <a:cxnSpLocks/>
          </p:cNvCxnSpPr>
          <p:nvPr/>
        </p:nvCxnSpPr>
        <p:spPr>
          <a:xfrm flipV="1">
            <a:off x="5832878" y="5457430"/>
            <a:ext cx="264983" cy="30708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B6EBE5CE-B585-1304-7932-FB48A62D5C8E}"/>
              </a:ext>
            </a:extLst>
          </p:cNvPr>
          <p:cNvCxnSpPr>
            <a:cxnSpLocks/>
          </p:cNvCxnSpPr>
          <p:nvPr/>
        </p:nvCxnSpPr>
        <p:spPr>
          <a:xfrm flipH="1" flipV="1">
            <a:off x="4873399" y="4967354"/>
            <a:ext cx="223444" cy="58080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テキスト ボックス 59">
                <a:extLst>
                  <a:ext uri="{FF2B5EF4-FFF2-40B4-BE49-F238E27FC236}">
                    <a16:creationId xmlns:a16="http://schemas.microsoft.com/office/drawing/2014/main" id="{73C432C5-9912-5F80-1606-C89FD0F7839A}"/>
                  </a:ext>
                </a:extLst>
              </p:cNvPr>
              <p:cNvSpPr txBox="1"/>
              <p:nvPr/>
            </p:nvSpPr>
            <p:spPr>
              <a:xfrm>
                <a:off x="4705780" y="6219102"/>
                <a:ext cx="493705" cy="493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ja-JP" sz="261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61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ja-JP" sz="261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ja-JP" altLang="en-US" sz="2610" b="1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60" name="テキスト ボックス 59">
                <a:extLst>
                  <a:ext uri="{FF2B5EF4-FFF2-40B4-BE49-F238E27FC236}">
                    <a16:creationId xmlns:a16="http://schemas.microsoft.com/office/drawing/2014/main" id="{73C432C5-9912-5F80-1606-C89FD0F78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5780" y="6219102"/>
                <a:ext cx="493705" cy="493981"/>
              </a:xfrm>
              <a:prstGeom prst="rect">
                <a:avLst/>
              </a:prstGeom>
              <a:blipFill>
                <a:blip r:embed="rId10"/>
                <a:stretch>
                  <a:fillRect l="-5000" r="-5000" b="-7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テキスト ボックス 60">
                <a:extLst>
                  <a:ext uri="{FF2B5EF4-FFF2-40B4-BE49-F238E27FC236}">
                    <a16:creationId xmlns:a16="http://schemas.microsoft.com/office/drawing/2014/main" id="{9DB39585-1E16-7964-A80B-94B5A7787949}"/>
                  </a:ext>
                </a:extLst>
              </p:cNvPr>
              <p:cNvSpPr txBox="1"/>
              <p:nvPr/>
            </p:nvSpPr>
            <p:spPr>
              <a:xfrm>
                <a:off x="4421399" y="7394326"/>
                <a:ext cx="493705" cy="493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ja-JP" sz="261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61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ja-JP" sz="261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ja-JP" altLang="en-US" sz="2610" b="1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61" name="テキスト ボックス 60">
                <a:extLst>
                  <a:ext uri="{FF2B5EF4-FFF2-40B4-BE49-F238E27FC236}">
                    <a16:creationId xmlns:a16="http://schemas.microsoft.com/office/drawing/2014/main" id="{9DB39585-1E16-7964-A80B-94B5A7787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399" y="7394326"/>
                <a:ext cx="493705" cy="493981"/>
              </a:xfrm>
              <a:prstGeom prst="rect">
                <a:avLst/>
              </a:prstGeom>
              <a:blipFill>
                <a:blip r:embed="rId11"/>
                <a:stretch>
                  <a:fillRect l="-5128" r="-7692" b="-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テキスト ボックス 61">
                <a:extLst>
                  <a:ext uri="{FF2B5EF4-FFF2-40B4-BE49-F238E27FC236}">
                    <a16:creationId xmlns:a16="http://schemas.microsoft.com/office/drawing/2014/main" id="{21E88527-C5CA-A6B5-4EC0-80AB55A01663}"/>
                  </a:ext>
                </a:extLst>
              </p:cNvPr>
              <p:cNvSpPr txBox="1"/>
              <p:nvPr/>
            </p:nvSpPr>
            <p:spPr>
              <a:xfrm>
                <a:off x="5427169" y="5700087"/>
                <a:ext cx="493705" cy="493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ja-JP" sz="261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61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ja-JP" sz="261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ja-JP" altLang="en-US" sz="2610" b="1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62" name="テキスト ボックス 61">
                <a:extLst>
                  <a:ext uri="{FF2B5EF4-FFF2-40B4-BE49-F238E27FC236}">
                    <a16:creationId xmlns:a16="http://schemas.microsoft.com/office/drawing/2014/main" id="{21E88527-C5CA-A6B5-4EC0-80AB55A01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7169" y="5700087"/>
                <a:ext cx="493705" cy="493981"/>
              </a:xfrm>
              <a:prstGeom prst="rect">
                <a:avLst/>
              </a:prstGeom>
              <a:blipFill>
                <a:blip r:embed="rId12"/>
                <a:stretch>
                  <a:fillRect l="-5000" r="-5000" b="-7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29678B9-2C36-E23E-B8CE-2189B5F8CF47}"/>
              </a:ext>
            </a:extLst>
          </p:cNvPr>
          <p:cNvSpPr/>
          <p:nvPr/>
        </p:nvSpPr>
        <p:spPr>
          <a:xfrm>
            <a:off x="11500350" y="3356323"/>
            <a:ext cx="1889359" cy="695976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414929C-0DA5-00F2-C1E9-421953772B48}"/>
              </a:ext>
            </a:extLst>
          </p:cNvPr>
          <p:cNvSpPr/>
          <p:nvPr/>
        </p:nvSpPr>
        <p:spPr>
          <a:xfrm>
            <a:off x="11500350" y="4100838"/>
            <a:ext cx="1889359" cy="695976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B34F42D-12EA-9EBF-AB42-1526A5DD2D17}"/>
              </a:ext>
            </a:extLst>
          </p:cNvPr>
          <p:cNvSpPr txBox="1"/>
          <p:nvPr/>
        </p:nvSpPr>
        <p:spPr>
          <a:xfrm>
            <a:off x="-3795686" y="3196644"/>
            <a:ext cx="638316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900" dirty="0">
                <a:latin typeface="Helvetica" pitchFamily="2" charset="0"/>
              </a:rPr>
              <a:t>(a)</a:t>
            </a:r>
            <a:endParaRPr lang="ja-JP" altLang="en-US" sz="2900">
              <a:latin typeface="Helvetica" pitchFamily="2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9970054-5BF2-AB4B-192D-DD436B359141}"/>
              </a:ext>
            </a:extLst>
          </p:cNvPr>
          <p:cNvSpPr txBox="1"/>
          <p:nvPr/>
        </p:nvSpPr>
        <p:spPr>
          <a:xfrm>
            <a:off x="11272549" y="2200509"/>
            <a:ext cx="617477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900" dirty="0">
                <a:latin typeface="Helvetica" pitchFamily="2" charset="0"/>
              </a:rPr>
              <a:t>(c)</a:t>
            </a:r>
            <a:endParaRPr lang="ja-JP" altLang="en-US" sz="2900">
              <a:latin typeface="Helvetica" pitchFamily="2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F7B5BB2-882C-6343-CCFF-88A57134F63F}"/>
              </a:ext>
            </a:extLst>
          </p:cNvPr>
          <p:cNvSpPr txBox="1"/>
          <p:nvPr/>
        </p:nvSpPr>
        <p:spPr>
          <a:xfrm>
            <a:off x="12896533" y="2983892"/>
            <a:ext cx="534121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900" dirty="0">
                <a:latin typeface="Helvetica" pitchFamily="2" charset="0"/>
              </a:rPr>
              <a:t>(f)</a:t>
            </a:r>
            <a:endParaRPr lang="ja-JP" altLang="en-US" sz="2900">
              <a:latin typeface="Helvetica" pitchFamily="2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00C8524-6F0A-55D5-82E3-0C8F1308D075}"/>
              </a:ext>
            </a:extLst>
          </p:cNvPr>
          <p:cNvSpPr txBox="1"/>
          <p:nvPr/>
        </p:nvSpPr>
        <p:spPr>
          <a:xfrm>
            <a:off x="12896531" y="3844669"/>
            <a:ext cx="638316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900" dirty="0">
                <a:latin typeface="Helvetica" pitchFamily="2" charset="0"/>
              </a:rPr>
              <a:t>(g)</a:t>
            </a:r>
            <a:endParaRPr lang="ja-JP" altLang="en-US" sz="2900">
              <a:latin typeface="Helvetica" pitchFamily="2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C5E7B33-EA7D-9238-476C-4A707376BB74}"/>
              </a:ext>
            </a:extLst>
          </p:cNvPr>
          <p:cNvSpPr txBox="1"/>
          <p:nvPr/>
        </p:nvSpPr>
        <p:spPr>
          <a:xfrm>
            <a:off x="15489593" y="2208341"/>
            <a:ext cx="534121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900" dirty="0">
                <a:latin typeface="Helvetica" pitchFamily="2" charset="0"/>
              </a:rPr>
              <a:t>(f)</a:t>
            </a:r>
            <a:endParaRPr lang="ja-JP" altLang="en-US" sz="2900">
              <a:latin typeface="Helvetica" pitchFamily="2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2A9E60B-6770-1FD3-E171-28C8FDE90160}"/>
              </a:ext>
            </a:extLst>
          </p:cNvPr>
          <p:cNvSpPr txBox="1"/>
          <p:nvPr/>
        </p:nvSpPr>
        <p:spPr>
          <a:xfrm>
            <a:off x="15437301" y="5728750"/>
            <a:ext cx="638316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900" dirty="0">
                <a:latin typeface="Helvetica" pitchFamily="2" charset="0"/>
              </a:rPr>
              <a:t>(g)</a:t>
            </a:r>
            <a:endParaRPr lang="ja-JP" altLang="en-US" sz="2900">
              <a:latin typeface="Helvetica" pitchFamily="2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E94F3CA-52A0-4662-FB5C-886B950EF265}"/>
              </a:ext>
            </a:extLst>
          </p:cNvPr>
          <p:cNvSpPr txBox="1"/>
          <p:nvPr/>
        </p:nvSpPr>
        <p:spPr>
          <a:xfrm>
            <a:off x="11272546" y="6133840"/>
            <a:ext cx="638316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900" dirty="0">
                <a:latin typeface="Helvetica" pitchFamily="2" charset="0"/>
              </a:rPr>
              <a:t>(e)</a:t>
            </a:r>
            <a:endParaRPr lang="ja-JP" altLang="en-US" sz="290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1875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99DEF-B979-0928-A479-8E73DF75B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グループ化 64">
            <a:extLst>
              <a:ext uri="{FF2B5EF4-FFF2-40B4-BE49-F238E27FC236}">
                <a16:creationId xmlns:a16="http://schemas.microsoft.com/office/drawing/2014/main" id="{0FE25FDA-50C7-7C00-2D54-9B5AF1A3198C}"/>
              </a:ext>
            </a:extLst>
          </p:cNvPr>
          <p:cNvGrpSpPr/>
          <p:nvPr/>
        </p:nvGrpSpPr>
        <p:grpSpPr>
          <a:xfrm>
            <a:off x="2047700" y="3253051"/>
            <a:ext cx="8146387" cy="7313101"/>
            <a:chOff x="0" y="1449416"/>
            <a:chExt cx="5619095" cy="5044323"/>
          </a:xfrm>
        </p:grpSpPr>
        <p:pic>
          <p:nvPicPr>
            <p:cNvPr id="64" name="図 63">
              <a:extLst>
                <a:ext uri="{FF2B5EF4-FFF2-40B4-BE49-F238E27FC236}">
                  <a16:creationId xmlns:a16="http://schemas.microsoft.com/office/drawing/2014/main" id="{DAA33E62-2CAC-C1B0-CBC9-ABBC1E07BE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34973" y="3973739"/>
              <a:ext cx="2584122" cy="2520000"/>
            </a:xfrm>
            <a:prstGeom prst="rect">
              <a:avLst/>
            </a:prstGeom>
          </p:spPr>
        </p:pic>
        <p:pic>
          <p:nvPicPr>
            <p:cNvPr id="57" name="図 56">
              <a:extLst>
                <a:ext uri="{FF2B5EF4-FFF2-40B4-BE49-F238E27FC236}">
                  <a16:creationId xmlns:a16="http://schemas.microsoft.com/office/drawing/2014/main" id="{035D5D6D-C7EF-2891-47C5-33FF07FD2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7797" y="1459120"/>
              <a:ext cx="2558474" cy="2520000"/>
            </a:xfrm>
            <a:prstGeom prst="rect">
              <a:avLst/>
            </a:prstGeom>
          </p:spPr>
        </p:pic>
        <p:grpSp>
          <p:nvGrpSpPr>
            <p:cNvPr id="63" name="グループ化 62">
              <a:extLst>
                <a:ext uri="{FF2B5EF4-FFF2-40B4-BE49-F238E27FC236}">
                  <a16:creationId xmlns:a16="http://schemas.microsoft.com/office/drawing/2014/main" id="{BF63CD93-0AD3-B8CE-2ED2-837234B6CAE1}"/>
                </a:ext>
              </a:extLst>
            </p:cNvPr>
            <p:cNvGrpSpPr/>
            <p:nvPr/>
          </p:nvGrpSpPr>
          <p:grpSpPr>
            <a:xfrm>
              <a:off x="0" y="1760680"/>
              <a:ext cx="3230160" cy="4065352"/>
              <a:chOff x="916584" y="2848391"/>
              <a:chExt cx="4558408" cy="3313596"/>
            </a:xfrm>
          </p:grpSpPr>
          <p:grpSp>
            <p:nvGrpSpPr>
              <p:cNvPr id="59" name="グループ化 58">
                <a:extLst>
                  <a:ext uri="{FF2B5EF4-FFF2-40B4-BE49-F238E27FC236}">
                    <a16:creationId xmlns:a16="http://schemas.microsoft.com/office/drawing/2014/main" id="{616D457A-495D-28E7-3228-E96BD587BDE8}"/>
                  </a:ext>
                </a:extLst>
              </p:cNvPr>
              <p:cNvGrpSpPr/>
              <p:nvPr/>
            </p:nvGrpSpPr>
            <p:grpSpPr>
              <a:xfrm>
                <a:off x="916584" y="2848391"/>
                <a:ext cx="4558408" cy="3313596"/>
                <a:chOff x="916584" y="2848391"/>
                <a:chExt cx="4558408" cy="3313596"/>
              </a:xfrm>
            </p:grpSpPr>
            <p:grpSp>
              <p:nvGrpSpPr>
                <p:cNvPr id="30" name="グループ化 29">
                  <a:extLst>
                    <a:ext uri="{FF2B5EF4-FFF2-40B4-BE49-F238E27FC236}">
                      <a16:creationId xmlns:a16="http://schemas.microsoft.com/office/drawing/2014/main" id="{79C88743-72E4-E0A0-2551-02A5949BCED4}"/>
                    </a:ext>
                  </a:extLst>
                </p:cNvPr>
                <p:cNvGrpSpPr/>
                <p:nvPr/>
              </p:nvGrpSpPr>
              <p:grpSpPr>
                <a:xfrm>
                  <a:off x="916584" y="2950023"/>
                  <a:ext cx="3957145" cy="3211964"/>
                  <a:chOff x="916584" y="2950023"/>
                  <a:chExt cx="3957145" cy="3211964"/>
                </a:xfrm>
              </p:grpSpPr>
              <p:pic>
                <p:nvPicPr>
                  <p:cNvPr id="29" name="図 28">
                    <a:extLst>
                      <a:ext uri="{FF2B5EF4-FFF2-40B4-BE49-F238E27FC236}">
                        <a16:creationId xmlns:a16="http://schemas.microsoft.com/office/drawing/2014/main" id="{D8169FEF-851E-93AD-D5CA-72B6F799C7E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rcRect l="23307" t="22048" r="4567" b="21066"/>
                  <a:stretch>
                    <a:fillRect/>
                  </a:stretch>
                </p:blipFill>
                <p:spPr>
                  <a:xfrm>
                    <a:off x="916584" y="3040979"/>
                    <a:ext cx="3957145" cy="3121008"/>
                  </a:xfrm>
                  <a:prstGeom prst="rect">
                    <a:avLst/>
                  </a:prstGeom>
                </p:spPr>
              </p:pic>
              <p:sp>
                <p:nvSpPr>
                  <p:cNvPr id="21" name="三角形 20">
                    <a:extLst>
                      <a:ext uri="{FF2B5EF4-FFF2-40B4-BE49-F238E27FC236}">
                        <a16:creationId xmlns:a16="http://schemas.microsoft.com/office/drawing/2014/main" id="{B9566DC1-541E-61AE-D3DA-304FD8DA740E}"/>
                      </a:ext>
                    </a:extLst>
                  </p:cNvPr>
                  <p:cNvSpPr/>
                  <p:nvPr/>
                </p:nvSpPr>
                <p:spPr>
                  <a:xfrm rot="6000000">
                    <a:off x="4668592" y="5598775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22" name="三角形 21">
                    <a:extLst>
                      <a:ext uri="{FF2B5EF4-FFF2-40B4-BE49-F238E27FC236}">
                        <a16:creationId xmlns:a16="http://schemas.microsoft.com/office/drawing/2014/main" id="{6D37AF11-F834-3004-EE6A-E628DC1283BD}"/>
                      </a:ext>
                    </a:extLst>
                  </p:cNvPr>
                  <p:cNvSpPr/>
                  <p:nvPr/>
                </p:nvSpPr>
                <p:spPr>
                  <a:xfrm>
                    <a:off x="922229" y="2950023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23" name="三角形 22">
                    <a:extLst>
                      <a:ext uri="{FF2B5EF4-FFF2-40B4-BE49-F238E27FC236}">
                        <a16:creationId xmlns:a16="http://schemas.microsoft.com/office/drawing/2014/main" id="{FB550CF7-79E7-9C67-460B-9E898914F82B}"/>
                      </a:ext>
                    </a:extLst>
                  </p:cNvPr>
                  <p:cNvSpPr/>
                  <p:nvPr/>
                </p:nvSpPr>
                <p:spPr>
                  <a:xfrm rot="3659594">
                    <a:off x="1971744" y="4372580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テキスト ボックス 24">
                      <a:extLst>
                        <a:ext uri="{FF2B5EF4-FFF2-40B4-BE49-F238E27FC236}">
                          <a16:creationId xmlns:a16="http://schemas.microsoft.com/office/drawing/2014/main" id="{79A4CA15-CE06-9516-37B2-110AB8A95C6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78542" y="4795048"/>
                      <a:ext cx="552450" cy="27822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acc>
                              <m:accPr>
                                <m:chr m:val="̅"/>
                                <m:ctrlP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acc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02</m:t>
                            </m:r>
                          </m:oMath>
                        </m:oMathPara>
                      </a14:m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5" name="テキスト ボックス 24">
                      <a:extLst>
                        <a:ext uri="{FF2B5EF4-FFF2-40B4-BE49-F238E27FC236}">
                          <a16:creationId xmlns:a16="http://schemas.microsoft.com/office/drawing/2014/main" id="{79A4CA15-CE06-9516-37B2-110AB8A95C6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78542" y="4795048"/>
                      <a:ext cx="552450" cy="27822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4348" r="-3043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27F31A27-3DA5-172E-B5D5-2C7E62CD9A64}"/>
                    </a:ext>
                  </a:extLst>
                </p:cNvPr>
                <p:cNvSpPr txBox="1"/>
                <p:nvPr/>
              </p:nvSpPr>
              <p:spPr>
                <a:xfrm>
                  <a:off x="3669044" y="5704571"/>
                  <a:ext cx="1805948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(0,0,</a:t>
                  </a:r>
                  <a:r>
                    <a:rPr lang="en-US" altLang="ja-JP" sz="2610" i="1" dirty="0">
                      <a:latin typeface="Helvetica" pitchFamily="2" charset="0"/>
                    </a:rPr>
                    <a:t>L</a:t>
                  </a:r>
                  <a:r>
                    <a:rPr lang="en-US" altLang="ja-JP" sz="2610" dirty="0">
                      <a:latin typeface="Helvetica" pitchFamily="2" charset="0"/>
                    </a:rPr>
                    <a:t>) || y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sp>
              <p:nvSpPr>
                <p:cNvPr id="31" name="テキスト ボックス 30">
                  <a:extLst>
                    <a:ext uri="{FF2B5EF4-FFF2-40B4-BE49-F238E27FC236}">
                      <a16:creationId xmlns:a16="http://schemas.microsoft.com/office/drawing/2014/main" id="{99161C07-EEFB-693B-1100-CA52FB0CE3CE}"/>
                    </a:ext>
                  </a:extLst>
                </p:cNvPr>
                <p:cNvSpPr txBox="1"/>
                <p:nvPr/>
              </p:nvSpPr>
              <p:spPr>
                <a:xfrm>
                  <a:off x="1042666" y="2848391"/>
                  <a:ext cx="2219984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(-</a:t>
                  </a:r>
                  <a:r>
                    <a:rPr lang="en-US" altLang="ja-JP" sz="2610" i="1" dirty="0">
                      <a:latin typeface="Helvetica" pitchFamily="2" charset="0"/>
                    </a:rPr>
                    <a:t>K</a:t>
                  </a:r>
                  <a:r>
                    <a:rPr lang="en-US" altLang="ja-JP" sz="2610" dirty="0">
                      <a:latin typeface="Helvetica" pitchFamily="2" charset="0"/>
                    </a:rPr>
                    <a:t>/2,</a:t>
                  </a:r>
                  <a:r>
                    <a:rPr lang="en-US" altLang="ja-JP" sz="2610" i="1" dirty="0">
                      <a:latin typeface="Helvetica" pitchFamily="2" charset="0"/>
                    </a:rPr>
                    <a:t>K</a:t>
                  </a:r>
                  <a:r>
                    <a:rPr lang="en-US" altLang="ja-JP" sz="2610" dirty="0">
                      <a:latin typeface="Helvetica" pitchFamily="2" charset="0"/>
                    </a:rPr>
                    <a:t>,0) || z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2" name="テキスト ボックス 31">
                      <a:extLst>
                        <a:ext uri="{FF2B5EF4-FFF2-40B4-BE49-F238E27FC236}">
                          <a16:creationId xmlns:a16="http://schemas.microsoft.com/office/drawing/2014/main" id="{418172D6-4DFA-1B8A-4450-1DFF0D7FE81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55588" y="5310557"/>
                      <a:ext cx="1663391" cy="27772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=1.5</m:t>
                            </m:r>
                          </m:oMath>
                        </m:oMathPara>
                      </a14:m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2" name="テキスト ボックス 31">
                      <a:extLst>
                        <a:ext uri="{FF2B5EF4-FFF2-40B4-BE49-F238E27FC236}">
                          <a16:creationId xmlns:a16="http://schemas.microsoft.com/office/drawing/2014/main" id="{418172D6-4DFA-1B8A-4450-1DFF0D7FE81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5588" y="5310557"/>
                      <a:ext cx="1663391" cy="277724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4" name="直線コネクタ 33">
                  <a:extLst>
                    <a:ext uri="{FF2B5EF4-FFF2-40B4-BE49-F238E27FC236}">
                      <a16:creationId xmlns:a16="http://schemas.microsoft.com/office/drawing/2014/main" id="{5A8429CF-6851-7B76-D7C9-1B603CC874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15980" y="5253607"/>
                  <a:ext cx="367495" cy="10537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テキスト ボックス 38">
                  <a:extLst>
                    <a:ext uri="{FF2B5EF4-FFF2-40B4-BE49-F238E27FC236}">
                      <a16:creationId xmlns:a16="http://schemas.microsoft.com/office/drawing/2014/main" id="{897C8024-ED61-3D7F-34B3-1318C646AC8D}"/>
                    </a:ext>
                  </a:extLst>
                </p:cNvPr>
                <p:cNvSpPr txBox="1"/>
                <p:nvPr/>
              </p:nvSpPr>
              <p:spPr>
                <a:xfrm>
                  <a:off x="3652921" y="3764375"/>
                  <a:ext cx="1151160" cy="2526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320" dirty="0">
                      <a:latin typeface="Helvetica" pitchFamily="2" charset="0"/>
                    </a:rPr>
                    <a:t>(b) 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FCC1D927-7618-BF28-1CB2-9342929C9204}"/>
                    </a:ext>
                  </a:extLst>
                </p:cNvPr>
                <p:cNvSpPr txBox="1"/>
                <p:nvPr/>
              </p:nvSpPr>
              <p:spPr>
                <a:xfrm>
                  <a:off x="2572546" y="3376633"/>
                  <a:ext cx="1116431" cy="2526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320" dirty="0">
                      <a:latin typeface="Helvetica" pitchFamily="2" charset="0"/>
                    </a:rPr>
                    <a:t>(c) 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  <p:sp>
              <p:nvSpPr>
                <p:cNvPr id="44" name="テキスト ボックス 43">
                  <a:extLst>
                    <a:ext uri="{FF2B5EF4-FFF2-40B4-BE49-F238E27FC236}">
                      <a16:creationId xmlns:a16="http://schemas.microsoft.com/office/drawing/2014/main" id="{E6CC278D-59FC-C596-997B-23346679A55B}"/>
                    </a:ext>
                  </a:extLst>
                </p:cNvPr>
                <p:cNvSpPr txBox="1"/>
                <p:nvPr/>
              </p:nvSpPr>
              <p:spPr>
                <a:xfrm>
                  <a:off x="1237035" y="3984095"/>
                  <a:ext cx="2053113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(-</a:t>
                  </a:r>
                  <a:r>
                    <a:rPr lang="en-US" altLang="ja-JP" sz="2610" i="1" dirty="0">
                      <a:latin typeface="Helvetica" pitchFamily="2" charset="0"/>
                    </a:rPr>
                    <a:t>H</a:t>
                  </a:r>
                  <a:r>
                    <a:rPr lang="en-US" altLang="ja-JP" sz="2610" dirty="0">
                      <a:latin typeface="Helvetica" pitchFamily="2" charset="0"/>
                    </a:rPr>
                    <a:t>,0,0) || -x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cxnSp>
              <p:nvCxnSpPr>
                <p:cNvPr id="45" name="直線コネクタ 44">
                  <a:extLst>
                    <a:ext uri="{FF2B5EF4-FFF2-40B4-BE49-F238E27FC236}">
                      <a16:creationId xmlns:a16="http://schemas.microsoft.com/office/drawing/2014/main" id="{B6324BF4-B2C9-BE16-3000-79F3989ED8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734125" y="4084382"/>
                  <a:ext cx="197243" cy="21650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線コネクタ 46">
                  <a:extLst>
                    <a:ext uri="{FF2B5EF4-FFF2-40B4-BE49-F238E27FC236}">
                      <a16:creationId xmlns:a16="http://schemas.microsoft.com/office/drawing/2014/main" id="{498A9FFA-52BC-301A-9AEA-F57C1C3A80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19926" y="3738866"/>
                  <a:ext cx="166323" cy="4094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テキスト ボックス 59">
                    <a:extLst>
                      <a:ext uri="{FF2B5EF4-FFF2-40B4-BE49-F238E27FC236}">
                        <a16:creationId xmlns:a16="http://schemas.microsoft.com/office/drawing/2014/main" id="{683476AA-E3CA-A39A-C351-CA18E1AB976D}"/>
                      </a:ext>
                    </a:extLst>
                  </p:cNvPr>
                  <p:cNvSpPr txBox="1"/>
                  <p:nvPr/>
                </p:nvSpPr>
                <p:spPr>
                  <a:xfrm>
                    <a:off x="3456887" y="4302402"/>
                    <a:ext cx="367495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60" name="テキスト ボックス 59">
                    <a:extLst>
                      <a:ext uri="{FF2B5EF4-FFF2-40B4-BE49-F238E27FC236}">
                        <a16:creationId xmlns:a16="http://schemas.microsoft.com/office/drawing/2014/main" id="{683476AA-E3CA-A39A-C351-CA18E1AB976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56887" y="4302402"/>
                    <a:ext cx="367495" cy="27772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テキスト ボックス 60">
                    <a:extLst>
                      <a:ext uri="{FF2B5EF4-FFF2-40B4-BE49-F238E27FC236}">
                        <a16:creationId xmlns:a16="http://schemas.microsoft.com/office/drawing/2014/main" id="{9CC2BEDD-33F1-C8A6-8E8F-17123769C6C4}"/>
                      </a:ext>
                    </a:extLst>
                  </p:cNvPr>
                  <p:cNvSpPr txBox="1"/>
                  <p:nvPr/>
                </p:nvSpPr>
                <p:spPr>
                  <a:xfrm>
                    <a:off x="2846538" y="5261779"/>
                    <a:ext cx="367495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61" name="テキスト ボックス 60">
                    <a:extLst>
                      <a:ext uri="{FF2B5EF4-FFF2-40B4-BE49-F238E27FC236}">
                        <a16:creationId xmlns:a16="http://schemas.microsoft.com/office/drawing/2014/main" id="{9CC2BEDD-33F1-C8A6-8E8F-17123769C6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46538" y="5261779"/>
                    <a:ext cx="367495" cy="27772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テキスト ボックス 61">
                    <a:extLst>
                      <a:ext uri="{FF2B5EF4-FFF2-40B4-BE49-F238E27FC236}">
                        <a16:creationId xmlns:a16="http://schemas.microsoft.com/office/drawing/2014/main" id="{3281194D-AE75-EF41-5C21-B1F7648CCFE5}"/>
                      </a:ext>
                    </a:extLst>
                  </p:cNvPr>
                  <p:cNvSpPr txBox="1"/>
                  <p:nvPr/>
                </p:nvSpPr>
                <p:spPr>
                  <a:xfrm>
                    <a:off x="2520134" y="4620106"/>
                    <a:ext cx="367495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62" name="テキスト ボックス 61">
                    <a:extLst>
                      <a:ext uri="{FF2B5EF4-FFF2-40B4-BE49-F238E27FC236}">
                        <a16:creationId xmlns:a16="http://schemas.microsoft.com/office/drawing/2014/main" id="{3281194D-AE75-EF41-5C21-B1F7648CCFE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20134" y="4620106"/>
                    <a:ext cx="367495" cy="27772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6667" r="-40000" b="-7692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812B51F4-3120-D81E-9737-DC84BCF22945}"/>
                </a:ext>
              </a:extLst>
            </p:cNvPr>
            <p:cNvSpPr txBox="1"/>
            <p:nvPr/>
          </p:nvSpPr>
          <p:spPr>
            <a:xfrm>
              <a:off x="101194" y="1455337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(a)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8C8AFED0-2810-2871-6D09-AE8019CE1534}"/>
                </a:ext>
              </a:extLst>
            </p:cNvPr>
            <p:cNvSpPr txBox="1"/>
            <p:nvPr/>
          </p:nvSpPr>
          <p:spPr>
            <a:xfrm>
              <a:off x="2749068" y="1449416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(b)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9813A061-E56A-55BE-3244-90EFF1666104}"/>
                </a:ext>
              </a:extLst>
            </p:cNvPr>
            <p:cNvSpPr txBox="1"/>
            <p:nvPr/>
          </p:nvSpPr>
          <p:spPr>
            <a:xfrm>
              <a:off x="2763197" y="3880572"/>
              <a:ext cx="425914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(c)</a:t>
              </a:r>
              <a:endParaRPr lang="ja-JP" altLang="en-US" sz="2900">
                <a:latin typeface="Helvetica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5269E7A2-DB48-E8DE-F0C4-92B7AF694028}"/>
                    </a:ext>
                  </a:extLst>
                </p:cNvPr>
                <p:cNvSpPr txBox="1"/>
                <p:nvPr/>
              </p:nvSpPr>
              <p:spPr>
                <a:xfrm>
                  <a:off x="3764696" y="4688265"/>
                  <a:ext cx="260413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5269E7A2-DB48-E8DE-F0C4-92B7AF6940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4696" y="4688265"/>
                  <a:ext cx="260413" cy="340731"/>
                </a:xfrm>
                <a:prstGeom prst="rect">
                  <a:avLst/>
                </a:prstGeom>
                <a:blipFill>
                  <a:blip r:embed="rId11"/>
                  <a:stretch>
                    <a:fillRect l="-6667" r="-40000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0CEB1350-24D1-9AF8-D2DD-531901781BD3}"/>
                    </a:ext>
                  </a:extLst>
                </p:cNvPr>
                <p:cNvSpPr txBox="1"/>
                <p:nvPr/>
              </p:nvSpPr>
              <p:spPr>
                <a:xfrm>
                  <a:off x="4560557" y="4345066"/>
                  <a:ext cx="260413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0CEB1350-24D1-9AF8-D2DD-531901781B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0557" y="4345066"/>
                  <a:ext cx="260413" cy="340731"/>
                </a:xfrm>
                <a:prstGeom prst="rect">
                  <a:avLst/>
                </a:prstGeom>
                <a:blipFill>
                  <a:blip r:embed="rId12"/>
                  <a:stretch>
                    <a:fillRect l="-6452" r="-35484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3C6D91B9-6937-3DC9-7C44-EB00B049C246}"/>
                    </a:ext>
                  </a:extLst>
                </p:cNvPr>
                <p:cNvSpPr txBox="1"/>
                <p:nvPr/>
              </p:nvSpPr>
              <p:spPr>
                <a:xfrm>
                  <a:off x="3778721" y="2855454"/>
                  <a:ext cx="260413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3C6D91B9-6937-3DC9-7C44-EB00B049C2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8721" y="2855454"/>
                  <a:ext cx="260413" cy="340731"/>
                </a:xfrm>
                <a:prstGeom prst="rect">
                  <a:avLst/>
                </a:prstGeom>
                <a:blipFill>
                  <a:blip r:embed="rId13"/>
                  <a:stretch>
                    <a:fillRect l="-6452" r="-35484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8ADA07F1-FCA9-F33A-0387-B3635C5ED3B6}"/>
                    </a:ext>
                  </a:extLst>
                </p:cNvPr>
                <p:cNvSpPr txBox="1"/>
                <p:nvPr/>
              </p:nvSpPr>
              <p:spPr>
                <a:xfrm>
                  <a:off x="4539353" y="2836037"/>
                  <a:ext cx="383597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8ADA07F1-FCA9-F33A-0387-B3635C5ED3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9353" y="2836037"/>
                  <a:ext cx="383597" cy="340731"/>
                </a:xfrm>
                <a:prstGeom prst="rect">
                  <a:avLst/>
                </a:prstGeom>
                <a:blipFill>
                  <a:blip r:embed="rId14"/>
                  <a:stretch>
                    <a:fillRect l="-4444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545C8C72-EF54-0907-D53F-188EE18C5EDD}"/>
                    </a:ext>
                  </a:extLst>
                </p:cNvPr>
                <p:cNvSpPr txBox="1"/>
                <p:nvPr/>
              </p:nvSpPr>
              <p:spPr>
                <a:xfrm>
                  <a:off x="4524661" y="5204842"/>
                  <a:ext cx="260413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545C8C72-EF54-0907-D53F-188EE18C5E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4661" y="5204842"/>
                  <a:ext cx="260413" cy="340731"/>
                </a:xfrm>
                <a:prstGeom prst="rect">
                  <a:avLst/>
                </a:prstGeom>
                <a:blipFill>
                  <a:blip r:embed="rId15"/>
                  <a:stretch>
                    <a:fillRect l="-6452" r="-35484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1445437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6C170-F335-651A-F951-657DBD995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グループ化 53">
            <a:extLst>
              <a:ext uri="{FF2B5EF4-FFF2-40B4-BE49-F238E27FC236}">
                <a16:creationId xmlns:a16="http://schemas.microsoft.com/office/drawing/2014/main" id="{9C4AE89A-D298-113A-4BEE-D8B326EAFAFE}"/>
              </a:ext>
            </a:extLst>
          </p:cNvPr>
          <p:cNvGrpSpPr/>
          <p:nvPr/>
        </p:nvGrpSpPr>
        <p:grpSpPr>
          <a:xfrm>
            <a:off x="2047698" y="3042880"/>
            <a:ext cx="17454766" cy="7616017"/>
            <a:chOff x="0" y="1304448"/>
            <a:chExt cx="12039692" cy="5253264"/>
          </a:xfrm>
        </p:grpSpPr>
        <p:grpSp>
          <p:nvGrpSpPr>
            <p:cNvPr id="63" name="グループ化 62">
              <a:extLst>
                <a:ext uri="{FF2B5EF4-FFF2-40B4-BE49-F238E27FC236}">
                  <a16:creationId xmlns:a16="http://schemas.microsoft.com/office/drawing/2014/main" id="{C7A516E9-6D08-7296-3516-7055537419C2}"/>
                </a:ext>
              </a:extLst>
            </p:cNvPr>
            <p:cNvGrpSpPr/>
            <p:nvPr/>
          </p:nvGrpSpPr>
          <p:grpSpPr>
            <a:xfrm>
              <a:off x="0" y="1760680"/>
              <a:ext cx="3230160" cy="4065352"/>
              <a:chOff x="916584" y="2848391"/>
              <a:chExt cx="4558408" cy="3313596"/>
            </a:xfrm>
          </p:grpSpPr>
          <p:grpSp>
            <p:nvGrpSpPr>
              <p:cNvPr id="59" name="グループ化 58">
                <a:extLst>
                  <a:ext uri="{FF2B5EF4-FFF2-40B4-BE49-F238E27FC236}">
                    <a16:creationId xmlns:a16="http://schemas.microsoft.com/office/drawing/2014/main" id="{71FFE5C6-D91A-CB5C-9E8A-D48160FBA15E}"/>
                  </a:ext>
                </a:extLst>
              </p:cNvPr>
              <p:cNvGrpSpPr/>
              <p:nvPr/>
            </p:nvGrpSpPr>
            <p:grpSpPr>
              <a:xfrm>
                <a:off x="916584" y="2848391"/>
                <a:ext cx="4558408" cy="3313596"/>
                <a:chOff x="916584" y="2848391"/>
                <a:chExt cx="4558408" cy="3313596"/>
              </a:xfrm>
            </p:grpSpPr>
            <p:grpSp>
              <p:nvGrpSpPr>
                <p:cNvPr id="30" name="グループ化 29">
                  <a:extLst>
                    <a:ext uri="{FF2B5EF4-FFF2-40B4-BE49-F238E27FC236}">
                      <a16:creationId xmlns:a16="http://schemas.microsoft.com/office/drawing/2014/main" id="{092602D5-EEF5-C08E-8C7B-8227FC910BE4}"/>
                    </a:ext>
                  </a:extLst>
                </p:cNvPr>
                <p:cNvGrpSpPr/>
                <p:nvPr/>
              </p:nvGrpSpPr>
              <p:grpSpPr>
                <a:xfrm>
                  <a:off x="916584" y="2950023"/>
                  <a:ext cx="3957145" cy="3211964"/>
                  <a:chOff x="916584" y="2950023"/>
                  <a:chExt cx="3957145" cy="3211964"/>
                </a:xfrm>
              </p:grpSpPr>
              <p:pic>
                <p:nvPicPr>
                  <p:cNvPr id="29" name="図 28">
                    <a:extLst>
                      <a:ext uri="{FF2B5EF4-FFF2-40B4-BE49-F238E27FC236}">
                        <a16:creationId xmlns:a16="http://schemas.microsoft.com/office/drawing/2014/main" id="{467CA77C-55C4-7288-0212-CC8B41627BC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rcRect l="23307" t="22048" r="4567" b="21066"/>
                  <a:stretch>
                    <a:fillRect/>
                  </a:stretch>
                </p:blipFill>
                <p:spPr>
                  <a:xfrm>
                    <a:off x="916584" y="3040979"/>
                    <a:ext cx="3957145" cy="3121008"/>
                  </a:xfrm>
                  <a:prstGeom prst="rect">
                    <a:avLst/>
                  </a:prstGeom>
                </p:spPr>
              </p:pic>
              <p:sp>
                <p:nvSpPr>
                  <p:cNvPr id="21" name="三角形 20">
                    <a:extLst>
                      <a:ext uri="{FF2B5EF4-FFF2-40B4-BE49-F238E27FC236}">
                        <a16:creationId xmlns:a16="http://schemas.microsoft.com/office/drawing/2014/main" id="{A7D80F01-DEB8-7F0A-105B-011D9BEBCC0C}"/>
                      </a:ext>
                    </a:extLst>
                  </p:cNvPr>
                  <p:cNvSpPr/>
                  <p:nvPr/>
                </p:nvSpPr>
                <p:spPr>
                  <a:xfrm rot="6000000">
                    <a:off x="4668592" y="5598775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22" name="三角形 21">
                    <a:extLst>
                      <a:ext uri="{FF2B5EF4-FFF2-40B4-BE49-F238E27FC236}">
                        <a16:creationId xmlns:a16="http://schemas.microsoft.com/office/drawing/2014/main" id="{4F0B80E4-F43C-5C04-0707-CF219EEED942}"/>
                      </a:ext>
                    </a:extLst>
                  </p:cNvPr>
                  <p:cNvSpPr/>
                  <p:nvPr/>
                </p:nvSpPr>
                <p:spPr>
                  <a:xfrm>
                    <a:off x="922229" y="2950023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23" name="三角形 22">
                    <a:extLst>
                      <a:ext uri="{FF2B5EF4-FFF2-40B4-BE49-F238E27FC236}">
                        <a16:creationId xmlns:a16="http://schemas.microsoft.com/office/drawing/2014/main" id="{81AC554F-947E-E5C5-3858-1985CF8BF740}"/>
                      </a:ext>
                    </a:extLst>
                  </p:cNvPr>
                  <p:cNvSpPr/>
                  <p:nvPr/>
                </p:nvSpPr>
                <p:spPr>
                  <a:xfrm rot="3659594">
                    <a:off x="1971744" y="4372580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テキスト ボックス 24">
                      <a:extLst>
                        <a:ext uri="{FF2B5EF4-FFF2-40B4-BE49-F238E27FC236}">
                          <a16:creationId xmlns:a16="http://schemas.microsoft.com/office/drawing/2014/main" id="{B0D8E1A4-48AB-D5CA-E05E-1695A2CFA87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78542" y="4795048"/>
                      <a:ext cx="552450" cy="27822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acc>
                              <m:accPr>
                                <m:chr m:val="̅"/>
                                <m:ctrlP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acc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02</m:t>
                            </m:r>
                          </m:oMath>
                        </m:oMathPara>
                      </a14:m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5" name="テキスト ボックス 24">
                      <a:extLst>
                        <a:ext uri="{FF2B5EF4-FFF2-40B4-BE49-F238E27FC236}">
                          <a16:creationId xmlns:a16="http://schemas.microsoft.com/office/drawing/2014/main" id="{B0D8E1A4-48AB-D5CA-E05E-1695A2CFA87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78542" y="4795048"/>
                      <a:ext cx="552450" cy="27822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4348" r="-3043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23949D64-1157-A2EB-24C9-A2DC938255F0}"/>
                    </a:ext>
                  </a:extLst>
                </p:cNvPr>
                <p:cNvSpPr txBox="1"/>
                <p:nvPr/>
              </p:nvSpPr>
              <p:spPr>
                <a:xfrm>
                  <a:off x="3669044" y="5704571"/>
                  <a:ext cx="1805948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(0,0,</a:t>
                  </a:r>
                  <a:r>
                    <a:rPr lang="en-US" altLang="ja-JP" sz="2610" i="1" dirty="0">
                      <a:latin typeface="Helvetica" pitchFamily="2" charset="0"/>
                    </a:rPr>
                    <a:t>L</a:t>
                  </a:r>
                  <a:r>
                    <a:rPr lang="en-US" altLang="ja-JP" sz="2610" dirty="0">
                      <a:latin typeface="Helvetica" pitchFamily="2" charset="0"/>
                    </a:rPr>
                    <a:t>) || y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sp>
              <p:nvSpPr>
                <p:cNvPr id="31" name="テキスト ボックス 30">
                  <a:extLst>
                    <a:ext uri="{FF2B5EF4-FFF2-40B4-BE49-F238E27FC236}">
                      <a16:creationId xmlns:a16="http://schemas.microsoft.com/office/drawing/2014/main" id="{5D85BE51-CAB9-43E4-6974-19FA09B83736}"/>
                    </a:ext>
                  </a:extLst>
                </p:cNvPr>
                <p:cNvSpPr txBox="1"/>
                <p:nvPr/>
              </p:nvSpPr>
              <p:spPr>
                <a:xfrm>
                  <a:off x="1042666" y="2848391"/>
                  <a:ext cx="2219984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(-</a:t>
                  </a:r>
                  <a:r>
                    <a:rPr lang="en-US" altLang="ja-JP" sz="2610" i="1" dirty="0">
                      <a:latin typeface="Helvetica" pitchFamily="2" charset="0"/>
                    </a:rPr>
                    <a:t>K</a:t>
                  </a:r>
                  <a:r>
                    <a:rPr lang="en-US" altLang="ja-JP" sz="2610" dirty="0">
                      <a:latin typeface="Helvetica" pitchFamily="2" charset="0"/>
                    </a:rPr>
                    <a:t>/2,</a:t>
                  </a:r>
                  <a:r>
                    <a:rPr lang="en-US" altLang="ja-JP" sz="2610" i="1" dirty="0">
                      <a:latin typeface="Helvetica" pitchFamily="2" charset="0"/>
                    </a:rPr>
                    <a:t>K</a:t>
                  </a:r>
                  <a:r>
                    <a:rPr lang="en-US" altLang="ja-JP" sz="2610" dirty="0">
                      <a:latin typeface="Helvetica" pitchFamily="2" charset="0"/>
                    </a:rPr>
                    <a:t>,0) || z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sp>
              <p:nvSpPr>
                <p:cNvPr id="39" name="テキスト ボックス 38">
                  <a:extLst>
                    <a:ext uri="{FF2B5EF4-FFF2-40B4-BE49-F238E27FC236}">
                      <a16:creationId xmlns:a16="http://schemas.microsoft.com/office/drawing/2014/main" id="{30AD8D66-68B3-7812-2661-0C541649F54A}"/>
                    </a:ext>
                  </a:extLst>
                </p:cNvPr>
                <p:cNvSpPr txBox="1"/>
                <p:nvPr/>
              </p:nvSpPr>
              <p:spPr>
                <a:xfrm>
                  <a:off x="3652921" y="3764375"/>
                  <a:ext cx="1151160" cy="2526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320" dirty="0">
                      <a:latin typeface="Helvetica" pitchFamily="2" charset="0"/>
                    </a:rPr>
                    <a:t>(d), (e) 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7EF8A32C-07FB-9366-932F-18AE85876ED7}"/>
                    </a:ext>
                  </a:extLst>
                </p:cNvPr>
                <p:cNvSpPr txBox="1"/>
                <p:nvPr/>
              </p:nvSpPr>
              <p:spPr>
                <a:xfrm>
                  <a:off x="2453484" y="3419406"/>
                  <a:ext cx="1116431" cy="2526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320" dirty="0">
                      <a:latin typeface="Helvetica" pitchFamily="2" charset="0"/>
                    </a:rPr>
                    <a:t>(b), (c) 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  <p:sp>
              <p:nvSpPr>
                <p:cNvPr id="44" name="テキスト ボックス 43">
                  <a:extLst>
                    <a:ext uri="{FF2B5EF4-FFF2-40B4-BE49-F238E27FC236}">
                      <a16:creationId xmlns:a16="http://schemas.microsoft.com/office/drawing/2014/main" id="{3A227D69-FD78-C1B9-6D52-AC1F92912850}"/>
                    </a:ext>
                  </a:extLst>
                </p:cNvPr>
                <p:cNvSpPr txBox="1"/>
                <p:nvPr/>
              </p:nvSpPr>
              <p:spPr>
                <a:xfrm>
                  <a:off x="1237035" y="3984095"/>
                  <a:ext cx="2053113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(-</a:t>
                  </a:r>
                  <a:r>
                    <a:rPr lang="en-US" altLang="ja-JP" sz="2610" i="1" dirty="0">
                      <a:latin typeface="Helvetica" pitchFamily="2" charset="0"/>
                    </a:rPr>
                    <a:t>H</a:t>
                  </a:r>
                  <a:r>
                    <a:rPr lang="en-US" altLang="ja-JP" sz="2610" dirty="0">
                      <a:latin typeface="Helvetica" pitchFamily="2" charset="0"/>
                    </a:rPr>
                    <a:t>,0,0) || -x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cxnSp>
              <p:nvCxnSpPr>
                <p:cNvPr id="45" name="直線コネクタ 44">
                  <a:extLst>
                    <a:ext uri="{FF2B5EF4-FFF2-40B4-BE49-F238E27FC236}">
                      <a16:creationId xmlns:a16="http://schemas.microsoft.com/office/drawing/2014/main" id="{4157B941-7AF7-E3EE-CE68-80E51CC811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734125" y="4084382"/>
                  <a:ext cx="197243" cy="21650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線コネクタ 46">
                  <a:extLst>
                    <a:ext uri="{FF2B5EF4-FFF2-40B4-BE49-F238E27FC236}">
                      <a16:creationId xmlns:a16="http://schemas.microsoft.com/office/drawing/2014/main" id="{1C5CA354-9228-233F-CA0C-1E6956DDCD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19926" y="3738866"/>
                  <a:ext cx="166323" cy="4094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テキスト ボックス 59">
                    <a:extLst>
                      <a:ext uri="{FF2B5EF4-FFF2-40B4-BE49-F238E27FC236}">
                        <a16:creationId xmlns:a16="http://schemas.microsoft.com/office/drawing/2014/main" id="{7E7D509E-80FC-4B64-0A48-84E5A14EFB06}"/>
                      </a:ext>
                    </a:extLst>
                  </p:cNvPr>
                  <p:cNvSpPr txBox="1"/>
                  <p:nvPr/>
                </p:nvSpPr>
                <p:spPr>
                  <a:xfrm>
                    <a:off x="3502531" y="4451748"/>
                    <a:ext cx="367495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60" name="テキスト ボックス 59">
                    <a:extLst>
                      <a:ext uri="{FF2B5EF4-FFF2-40B4-BE49-F238E27FC236}">
                        <a16:creationId xmlns:a16="http://schemas.microsoft.com/office/drawing/2014/main" id="{7E7D509E-80FC-4B64-0A48-84E5A14EFB0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02531" y="4451748"/>
                    <a:ext cx="367495" cy="27772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テキスト ボックス 60">
                    <a:extLst>
                      <a:ext uri="{FF2B5EF4-FFF2-40B4-BE49-F238E27FC236}">
                        <a16:creationId xmlns:a16="http://schemas.microsoft.com/office/drawing/2014/main" id="{B745F376-D570-EFA5-DB8F-CB443A882FD6}"/>
                      </a:ext>
                    </a:extLst>
                  </p:cNvPr>
                  <p:cNvSpPr txBox="1"/>
                  <p:nvPr/>
                </p:nvSpPr>
                <p:spPr>
                  <a:xfrm>
                    <a:off x="2846538" y="5261779"/>
                    <a:ext cx="367495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61" name="テキスト ボックス 60">
                    <a:extLst>
                      <a:ext uri="{FF2B5EF4-FFF2-40B4-BE49-F238E27FC236}">
                        <a16:creationId xmlns:a16="http://schemas.microsoft.com/office/drawing/2014/main" id="{B745F376-D570-EFA5-DB8F-CB443A882F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46538" y="5261779"/>
                    <a:ext cx="367495" cy="27772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テキスト ボックス 61">
                    <a:extLst>
                      <a:ext uri="{FF2B5EF4-FFF2-40B4-BE49-F238E27FC236}">
                        <a16:creationId xmlns:a16="http://schemas.microsoft.com/office/drawing/2014/main" id="{A87DC8B0-67B6-D6C8-6F49-AC5A79428CC8}"/>
                      </a:ext>
                    </a:extLst>
                  </p:cNvPr>
                  <p:cNvSpPr txBox="1"/>
                  <p:nvPr/>
                </p:nvSpPr>
                <p:spPr>
                  <a:xfrm>
                    <a:off x="2368170" y="4477309"/>
                    <a:ext cx="367495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62" name="テキスト ボックス 61">
                    <a:extLst>
                      <a:ext uri="{FF2B5EF4-FFF2-40B4-BE49-F238E27FC236}">
                        <a16:creationId xmlns:a16="http://schemas.microsoft.com/office/drawing/2014/main" id="{A87DC8B0-67B6-D6C8-6F49-AC5A79428C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68170" y="4477309"/>
                    <a:ext cx="367495" cy="27772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1DCB0C07-A44C-9D84-C1B3-C19C73C9755B}"/>
                </a:ext>
              </a:extLst>
            </p:cNvPr>
            <p:cNvSpPr txBox="1"/>
            <p:nvPr/>
          </p:nvSpPr>
          <p:spPr>
            <a:xfrm>
              <a:off x="174024" y="1454024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(a)</a:t>
              </a:r>
              <a:endParaRPr lang="ja-JP" altLang="en-US" sz="2900">
                <a:latin typeface="Helvetica" pitchFamily="2" charset="0"/>
              </a:endParaRPr>
            </a:p>
          </p:txBody>
        </p:sp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0EF3055A-DF6D-D0C8-07D7-BB8BFA13C574}"/>
                </a:ext>
              </a:extLst>
            </p:cNvPr>
            <p:cNvGrpSpPr/>
            <p:nvPr/>
          </p:nvGrpSpPr>
          <p:grpSpPr>
            <a:xfrm>
              <a:off x="5505369" y="4037712"/>
              <a:ext cx="2520000" cy="2520000"/>
              <a:chOff x="5628949" y="1465041"/>
              <a:chExt cx="2520000" cy="2520000"/>
            </a:xfrm>
          </p:grpSpPr>
          <p:pic>
            <p:nvPicPr>
              <p:cNvPr id="57" name="図 56">
                <a:extLst>
                  <a:ext uri="{FF2B5EF4-FFF2-40B4-BE49-F238E27FC236}">
                    <a16:creationId xmlns:a16="http://schemas.microsoft.com/office/drawing/2014/main" id="{4D2E0C07-6B50-91F6-CF6F-92BD681C7427}"/>
                  </a:ext>
                </a:extLst>
              </p:cNvPr>
              <p:cNvPicPr>
                <a:picLocks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28949" y="1465041"/>
                <a:ext cx="2520000" cy="252000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テキスト ボックス 25">
                    <a:extLst>
                      <a:ext uri="{FF2B5EF4-FFF2-40B4-BE49-F238E27FC236}">
                        <a16:creationId xmlns:a16="http://schemas.microsoft.com/office/drawing/2014/main" id="{B4F4095C-04E0-38AD-4A0B-58FD6952AEBD}"/>
                      </a:ext>
                    </a:extLst>
                  </p:cNvPr>
                  <p:cNvSpPr txBox="1"/>
                  <p:nvPr/>
                </p:nvSpPr>
                <p:spPr>
                  <a:xfrm>
                    <a:off x="6359873" y="2861375"/>
                    <a:ext cx="260413" cy="3407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26" name="テキスト ボックス 25">
                    <a:extLst>
                      <a:ext uri="{FF2B5EF4-FFF2-40B4-BE49-F238E27FC236}">
                        <a16:creationId xmlns:a16="http://schemas.microsoft.com/office/drawing/2014/main" id="{B4F4095C-04E0-38AD-4A0B-58FD6952AE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59873" y="2861375"/>
                    <a:ext cx="260413" cy="34073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6667" r="-40000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テキスト ボックス 26">
                    <a:extLst>
                      <a:ext uri="{FF2B5EF4-FFF2-40B4-BE49-F238E27FC236}">
                        <a16:creationId xmlns:a16="http://schemas.microsoft.com/office/drawing/2014/main" id="{BEDB8F53-CB35-1024-1BCC-EBFFA2ABC3C5}"/>
                      </a:ext>
                    </a:extLst>
                  </p:cNvPr>
                  <p:cNvSpPr txBox="1"/>
                  <p:nvPr/>
                </p:nvSpPr>
                <p:spPr>
                  <a:xfrm>
                    <a:off x="7120505" y="2841958"/>
                    <a:ext cx="383597" cy="3407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27" name="テキスト ボックス 26">
                    <a:extLst>
                      <a:ext uri="{FF2B5EF4-FFF2-40B4-BE49-F238E27FC236}">
                        <a16:creationId xmlns:a16="http://schemas.microsoft.com/office/drawing/2014/main" id="{BEDB8F53-CB35-1024-1BCC-EBFFA2ABC3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20505" y="2841958"/>
                    <a:ext cx="383597" cy="34073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4545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6" name="グループ化 35">
              <a:extLst>
                <a:ext uri="{FF2B5EF4-FFF2-40B4-BE49-F238E27FC236}">
                  <a16:creationId xmlns:a16="http://schemas.microsoft.com/office/drawing/2014/main" id="{B7535547-DDEA-4266-5682-0732AC8978FA}"/>
                </a:ext>
              </a:extLst>
            </p:cNvPr>
            <p:cNvGrpSpPr/>
            <p:nvPr/>
          </p:nvGrpSpPr>
          <p:grpSpPr>
            <a:xfrm>
              <a:off x="5500802" y="1415953"/>
              <a:ext cx="2520000" cy="2520000"/>
              <a:chOff x="5616125" y="3979660"/>
              <a:chExt cx="2520000" cy="2520000"/>
            </a:xfrm>
          </p:grpSpPr>
          <p:pic>
            <p:nvPicPr>
              <p:cNvPr id="64" name="図 63">
                <a:extLst>
                  <a:ext uri="{FF2B5EF4-FFF2-40B4-BE49-F238E27FC236}">
                    <a16:creationId xmlns:a16="http://schemas.microsoft.com/office/drawing/2014/main" id="{9DA6E1CF-63BA-66AB-72A0-C608F31C0A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616125" y="3979660"/>
                <a:ext cx="2520000" cy="252000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テキスト ボックス 18">
                    <a:extLst>
                      <a:ext uri="{FF2B5EF4-FFF2-40B4-BE49-F238E27FC236}">
                        <a16:creationId xmlns:a16="http://schemas.microsoft.com/office/drawing/2014/main" id="{8367FCFD-8F9C-F1AC-CFDF-2505BC3D89C8}"/>
                      </a:ext>
                    </a:extLst>
                  </p:cNvPr>
                  <p:cNvSpPr txBox="1"/>
                  <p:nvPr/>
                </p:nvSpPr>
                <p:spPr>
                  <a:xfrm>
                    <a:off x="6345848" y="4694186"/>
                    <a:ext cx="260413" cy="3407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19" name="テキスト ボックス 18">
                    <a:extLst>
                      <a:ext uri="{FF2B5EF4-FFF2-40B4-BE49-F238E27FC236}">
                        <a16:creationId xmlns:a16="http://schemas.microsoft.com/office/drawing/2014/main" id="{8367FCFD-8F9C-F1AC-CFDF-2505BC3D89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45848" y="4694186"/>
                    <a:ext cx="260413" cy="340731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6452" r="-35484" b="-7692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テキスト ボックス 23">
                    <a:extLst>
                      <a:ext uri="{FF2B5EF4-FFF2-40B4-BE49-F238E27FC236}">
                        <a16:creationId xmlns:a16="http://schemas.microsoft.com/office/drawing/2014/main" id="{8FA1D851-E1D5-8B88-67BC-FB081F3E2D3D}"/>
                      </a:ext>
                    </a:extLst>
                  </p:cNvPr>
                  <p:cNvSpPr txBox="1"/>
                  <p:nvPr/>
                </p:nvSpPr>
                <p:spPr>
                  <a:xfrm>
                    <a:off x="7141709" y="4350987"/>
                    <a:ext cx="260413" cy="3407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24" name="テキスト ボックス 23">
                    <a:extLst>
                      <a:ext uri="{FF2B5EF4-FFF2-40B4-BE49-F238E27FC236}">
                        <a16:creationId xmlns:a16="http://schemas.microsoft.com/office/drawing/2014/main" id="{8FA1D851-E1D5-8B88-67BC-FB081F3E2D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41709" y="4350987"/>
                    <a:ext cx="260413" cy="340731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テキスト ボックス 32">
                    <a:extLst>
                      <a:ext uri="{FF2B5EF4-FFF2-40B4-BE49-F238E27FC236}">
                        <a16:creationId xmlns:a16="http://schemas.microsoft.com/office/drawing/2014/main" id="{697CE272-3282-A0AC-ADF3-975B5ED4C873}"/>
                      </a:ext>
                    </a:extLst>
                  </p:cNvPr>
                  <p:cNvSpPr txBox="1"/>
                  <p:nvPr/>
                </p:nvSpPr>
                <p:spPr>
                  <a:xfrm>
                    <a:off x="7105813" y="5210763"/>
                    <a:ext cx="260413" cy="3407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33" name="テキスト ボックス 32">
                    <a:extLst>
                      <a:ext uri="{FF2B5EF4-FFF2-40B4-BE49-F238E27FC236}">
                        <a16:creationId xmlns:a16="http://schemas.microsoft.com/office/drawing/2014/main" id="{697CE272-3282-A0AC-ADF3-975B5ED4C8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05813" y="5210763"/>
                    <a:ext cx="260413" cy="340731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6667" r="-40000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545F46F3-71B5-A55E-A8C6-B0E29EB41C09}"/>
                </a:ext>
              </a:extLst>
            </p:cNvPr>
            <p:cNvPicPr>
              <a:picLocks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912776" y="1454024"/>
              <a:ext cx="2520000" cy="2520000"/>
            </a:xfrm>
            <a:prstGeom prst="rect">
              <a:avLst/>
            </a:prstGeom>
          </p:spPr>
        </p:pic>
        <p:pic>
          <p:nvPicPr>
            <p:cNvPr id="18" name="図 17">
              <a:extLst>
                <a:ext uri="{FF2B5EF4-FFF2-40B4-BE49-F238E27FC236}">
                  <a16:creationId xmlns:a16="http://schemas.microsoft.com/office/drawing/2014/main" id="{E75638A3-1194-05C7-9F45-34E2C5A8DF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377221" y="4170119"/>
              <a:ext cx="3662471" cy="2289044"/>
            </a:xfrm>
            <a:prstGeom prst="rect">
              <a:avLst/>
            </a:prstGeom>
          </p:spPr>
        </p:pic>
        <p:pic>
          <p:nvPicPr>
            <p:cNvPr id="28" name="図 27">
              <a:extLst>
                <a:ext uri="{FF2B5EF4-FFF2-40B4-BE49-F238E27FC236}">
                  <a16:creationId xmlns:a16="http://schemas.microsoft.com/office/drawing/2014/main" id="{3198A34F-CF38-D30E-CC36-EE438C726F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377222" y="1522465"/>
              <a:ext cx="3662469" cy="2289043"/>
            </a:xfrm>
            <a:prstGeom prst="rect">
              <a:avLst/>
            </a:prstGeom>
          </p:spPr>
        </p:pic>
        <p:cxnSp>
          <p:nvCxnSpPr>
            <p:cNvPr id="35" name="カギ線コネクタ 34">
              <a:extLst>
                <a:ext uri="{FF2B5EF4-FFF2-40B4-BE49-F238E27FC236}">
                  <a16:creationId xmlns:a16="http://schemas.microsoft.com/office/drawing/2014/main" id="{F6280A5A-1B19-3EFE-26A2-3647226F23ED}"/>
                </a:ext>
              </a:extLst>
            </p:cNvPr>
            <p:cNvCxnSpPr>
              <a:cxnSpLocks/>
            </p:cNvCxnSpPr>
            <p:nvPr/>
          </p:nvCxnSpPr>
          <p:spPr>
            <a:xfrm>
              <a:off x="2904555" y="3958537"/>
              <a:ext cx="5335912" cy="2381686"/>
            </a:xfrm>
            <a:prstGeom prst="bentConnector3">
              <a:avLst>
                <a:gd name="adj1" fmla="val 100168"/>
              </a:avLst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図 14">
              <a:extLst>
                <a:ext uri="{FF2B5EF4-FFF2-40B4-BE49-F238E27FC236}">
                  <a16:creationId xmlns:a16="http://schemas.microsoft.com/office/drawing/2014/main" id="{5EEC3E89-E1D6-0262-43F5-7E8F730F8680}"/>
                </a:ext>
              </a:extLst>
            </p:cNvPr>
            <p:cNvPicPr>
              <a:picLocks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2912776" y="4037712"/>
              <a:ext cx="2520000" cy="2520000"/>
            </a:xfrm>
            <a:prstGeom prst="rect">
              <a:avLst/>
            </a:prstGeom>
          </p:spPr>
        </p:pic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E5EA1ADE-D2EE-24BD-11E9-4FA7EA667201}"/>
                </a:ext>
              </a:extLst>
            </p:cNvPr>
            <p:cNvSpPr txBox="1"/>
            <p:nvPr/>
          </p:nvSpPr>
          <p:spPr>
            <a:xfrm>
              <a:off x="2693580" y="1304448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(b)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E734ECA0-201C-1EE0-6C5E-AB5DB1CD4301}"/>
                </a:ext>
              </a:extLst>
            </p:cNvPr>
            <p:cNvSpPr txBox="1"/>
            <p:nvPr/>
          </p:nvSpPr>
          <p:spPr>
            <a:xfrm>
              <a:off x="5343139" y="1304448"/>
              <a:ext cx="425914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(c)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7BA03462-F0EB-6C9C-A02D-E8A2452BA86F}"/>
                </a:ext>
              </a:extLst>
            </p:cNvPr>
            <p:cNvSpPr txBox="1"/>
            <p:nvPr/>
          </p:nvSpPr>
          <p:spPr>
            <a:xfrm>
              <a:off x="2693580" y="3937098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(d)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99567A65-CF10-BDC3-E82F-CB7E2FE2A343}"/>
                </a:ext>
              </a:extLst>
            </p:cNvPr>
            <p:cNvSpPr txBox="1"/>
            <p:nvPr/>
          </p:nvSpPr>
          <p:spPr>
            <a:xfrm>
              <a:off x="5343139" y="3937098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(e)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659C9A77-9B1D-7709-1D41-F6083757ADC0}"/>
                </a:ext>
              </a:extLst>
            </p:cNvPr>
            <p:cNvSpPr txBox="1"/>
            <p:nvPr/>
          </p:nvSpPr>
          <p:spPr>
            <a:xfrm>
              <a:off x="8299848" y="1304448"/>
              <a:ext cx="36841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(f)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4236DAC4-76BC-069E-2D10-DDC645CA7CD9}"/>
                </a:ext>
              </a:extLst>
            </p:cNvPr>
            <p:cNvSpPr txBox="1"/>
            <p:nvPr/>
          </p:nvSpPr>
          <p:spPr>
            <a:xfrm>
              <a:off x="8307062" y="3937098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(g)</a:t>
              </a:r>
              <a:endParaRPr lang="ja-JP" altLang="en-US" sz="2900">
                <a:latin typeface="Helvetica" pitchFamily="2" charset="0"/>
              </a:endParaRPr>
            </a:p>
          </p:txBody>
        </p:sp>
        <p:cxnSp>
          <p:nvCxnSpPr>
            <p:cNvPr id="46" name="直線コネクタ 45">
              <a:extLst>
                <a:ext uri="{FF2B5EF4-FFF2-40B4-BE49-F238E27FC236}">
                  <a16:creationId xmlns:a16="http://schemas.microsoft.com/office/drawing/2014/main" id="{BA0E88F3-2A8F-020F-58EF-639767A1ACB7}"/>
                </a:ext>
              </a:extLst>
            </p:cNvPr>
            <p:cNvCxnSpPr/>
            <p:nvPr/>
          </p:nvCxnSpPr>
          <p:spPr>
            <a:xfrm flipH="1">
              <a:off x="873739" y="3670774"/>
              <a:ext cx="1206000" cy="1166916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96887687-2376-F562-6CA8-9FA0AD0F1D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7590" y="3542701"/>
              <a:ext cx="819900" cy="79332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5F36DBA1-1BB7-C300-F58E-92E3C5C054E7}"/>
                </a:ext>
              </a:extLst>
            </p:cNvPr>
            <p:cNvSpPr txBox="1"/>
            <p:nvPr/>
          </p:nvSpPr>
          <p:spPr>
            <a:xfrm>
              <a:off x="750374" y="4240268"/>
              <a:ext cx="415813" cy="309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(f) </a:t>
              </a:r>
              <a:endParaRPr lang="ja-JP" altLang="en-US" sz="2320">
                <a:latin typeface="Helvetica" pitchFamily="2" charset="0"/>
              </a:endParaRPr>
            </a:p>
          </p:txBody>
        </p: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FF2F69BC-3204-6658-6804-D82EBD56AE2A}"/>
                </a:ext>
              </a:extLst>
            </p:cNvPr>
            <p:cNvSpPr txBox="1"/>
            <p:nvPr/>
          </p:nvSpPr>
          <p:spPr>
            <a:xfrm>
              <a:off x="621034" y="4754381"/>
              <a:ext cx="514826" cy="309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(g) </a:t>
              </a:r>
              <a:endParaRPr lang="ja-JP" altLang="en-US" sz="232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70225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A644D-ECA8-6923-9CC9-6EB6C5A05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69617658-169F-5890-944E-0947BFAF7C5A}"/>
              </a:ext>
            </a:extLst>
          </p:cNvPr>
          <p:cNvGrpSpPr/>
          <p:nvPr/>
        </p:nvGrpSpPr>
        <p:grpSpPr>
          <a:xfrm>
            <a:off x="2047699" y="3042879"/>
            <a:ext cx="17096478" cy="7625332"/>
            <a:chOff x="0" y="1304448"/>
            <a:chExt cx="11792557" cy="5259689"/>
          </a:xfrm>
        </p:grpSpPr>
        <p:pic>
          <p:nvPicPr>
            <p:cNvPr id="14" name="図 13">
              <a:extLst>
                <a:ext uri="{FF2B5EF4-FFF2-40B4-BE49-F238E27FC236}">
                  <a16:creationId xmlns:a16="http://schemas.microsoft.com/office/drawing/2014/main" id="{57AE0858-B01A-33AC-0EA1-8FBC6DCDB11E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00802" y="4044137"/>
              <a:ext cx="2520000" cy="2520000"/>
            </a:xfrm>
            <a:prstGeom prst="rect">
              <a:avLst/>
            </a:prstGeom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C44220B2-48D0-9725-EB09-DA3C4A0CE259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57036" y="4044137"/>
              <a:ext cx="2520000" cy="2520000"/>
            </a:xfrm>
            <a:prstGeom prst="rect">
              <a:avLst/>
            </a:prstGeom>
          </p:spPr>
        </p:pic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DBB2B4FB-79A4-28C2-C349-7E46D7389316}"/>
                </a:ext>
              </a:extLst>
            </p:cNvPr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57036" y="1472059"/>
              <a:ext cx="2520000" cy="2520000"/>
            </a:xfrm>
            <a:prstGeom prst="rect">
              <a:avLst/>
            </a:prstGeom>
          </p:spPr>
        </p:pic>
        <p:grpSp>
          <p:nvGrpSpPr>
            <p:cNvPr id="63" name="グループ化 62">
              <a:extLst>
                <a:ext uri="{FF2B5EF4-FFF2-40B4-BE49-F238E27FC236}">
                  <a16:creationId xmlns:a16="http://schemas.microsoft.com/office/drawing/2014/main" id="{14B35D73-45DD-A50D-27E6-1FD3BE85B376}"/>
                </a:ext>
              </a:extLst>
            </p:cNvPr>
            <p:cNvGrpSpPr/>
            <p:nvPr/>
          </p:nvGrpSpPr>
          <p:grpSpPr>
            <a:xfrm>
              <a:off x="0" y="1760680"/>
              <a:ext cx="3032447" cy="4065352"/>
              <a:chOff x="916584" y="2848391"/>
              <a:chExt cx="4279398" cy="3313596"/>
            </a:xfrm>
          </p:grpSpPr>
          <p:grpSp>
            <p:nvGrpSpPr>
              <p:cNvPr id="59" name="グループ化 58">
                <a:extLst>
                  <a:ext uri="{FF2B5EF4-FFF2-40B4-BE49-F238E27FC236}">
                    <a16:creationId xmlns:a16="http://schemas.microsoft.com/office/drawing/2014/main" id="{E98E74E0-9299-F7BC-F034-DD95068D7FA1}"/>
                  </a:ext>
                </a:extLst>
              </p:cNvPr>
              <p:cNvGrpSpPr/>
              <p:nvPr/>
            </p:nvGrpSpPr>
            <p:grpSpPr>
              <a:xfrm>
                <a:off x="916584" y="2848391"/>
                <a:ext cx="4279398" cy="3313596"/>
                <a:chOff x="916584" y="2848391"/>
                <a:chExt cx="4279398" cy="3313596"/>
              </a:xfrm>
            </p:grpSpPr>
            <p:grpSp>
              <p:nvGrpSpPr>
                <p:cNvPr id="30" name="グループ化 29">
                  <a:extLst>
                    <a:ext uri="{FF2B5EF4-FFF2-40B4-BE49-F238E27FC236}">
                      <a16:creationId xmlns:a16="http://schemas.microsoft.com/office/drawing/2014/main" id="{4D3A5CD7-A6D2-A888-68BD-6EBEB407E30E}"/>
                    </a:ext>
                  </a:extLst>
                </p:cNvPr>
                <p:cNvGrpSpPr/>
                <p:nvPr/>
              </p:nvGrpSpPr>
              <p:grpSpPr>
                <a:xfrm>
                  <a:off x="916584" y="2950023"/>
                  <a:ext cx="3957145" cy="3211964"/>
                  <a:chOff x="916584" y="2950023"/>
                  <a:chExt cx="3957145" cy="3211964"/>
                </a:xfrm>
              </p:grpSpPr>
              <p:pic>
                <p:nvPicPr>
                  <p:cNvPr id="29" name="図 28">
                    <a:extLst>
                      <a:ext uri="{FF2B5EF4-FFF2-40B4-BE49-F238E27FC236}">
                        <a16:creationId xmlns:a16="http://schemas.microsoft.com/office/drawing/2014/main" id="{F17BF4F1-02E1-AA78-A214-E3DE9E6403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rcRect l="23307" t="22048" r="4567" b="21066"/>
                  <a:stretch>
                    <a:fillRect/>
                  </a:stretch>
                </p:blipFill>
                <p:spPr>
                  <a:xfrm>
                    <a:off x="916584" y="3040979"/>
                    <a:ext cx="3957145" cy="3121008"/>
                  </a:xfrm>
                  <a:prstGeom prst="rect">
                    <a:avLst/>
                  </a:prstGeom>
                </p:spPr>
              </p:pic>
              <p:sp>
                <p:nvSpPr>
                  <p:cNvPr id="21" name="三角形 20">
                    <a:extLst>
                      <a:ext uri="{FF2B5EF4-FFF2-40B4-BE49-F238E27FC236}">
                        <a16:creationId xmlns:a16="http://schemas.microsoft.com/office/drawing/2014/main" id="{1EC6ED84-3E35-84E9-1679-2B1137663AAD}"/>
                      </a:ext>
                    </a:extLst>
                  </p:cNvPr>
                  <p:cNvSpPr/>
                  <p:nvPr/>
                </p:nvSpPr>
                <p:spPr>
                  <a:xfrm rot="6000000">
                    <a:off x="4668592" y="5598775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22" name="三角形 21">
                    <a:extLst>
                      <a:ext uri="{FF2B5EF4-FFF2-40B4-BE49-F238E27FC236}">
                        <a16:creationId xmlns:a16="http://schemas.microsoft.com/office/drawing/2014/main" id="{455E532C-8DC2-2DF3-F23F-DB5E1E57F863}"/>
                      </a:ext>
                    </a:extLst>
                  </p:cNvPr>
                  <p:cNvSpPr/>
                  <p:nvPr/>
                </p:nvSpPr>
                <p:spPr>
                  <a:xfrm>
                    <a:off x="922229" y="2950023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23" name="三角形 22">
                    <a:extLst>
                      <a:ext uri="{FF2B5EF4-FFF2-40B4-BE49-F238E27FC236}">
                        <a16:creationId xmlns:a16="http://schemas.microsoft.com/office/drawing/2014/main" id="{879EF664-8C9E-D004-CBB0-9C3CF62A0250}"/>
                      </a:ext>
                    </a:extLst>
                  </p:cNvPr>
                  <p:cNvSpPr/>
                  <p:nvPr/>
                </p:nvSpPr>
                <p:spPr>
                  <a:xfrm rot="3659594">
                    <a:off x="1971744" y="4372580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テキスト ボックス 24">
                      <a:extLst>
                        <a:ext uri="{FF2B5EF4-FFF2-40B4-BE49-F238E27FC236}">
                          <a16:creationId xmlns:a16="http://schemas.microsoft.com/office/drawing/2014/main" id="{0CA45026-1033-A250-E385-F1444412978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78541" y="4795048"/>
                      <a:ext cx="552451" cy="27822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acc>
                              <m:accPr>
                                <m:chr m:val="̅"/>
                                <m:ctrlP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acc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02</m:t>
                            </m:r>
                          </m:oMath>
                        </m:oMathPara>
                      </a14:m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5" name="テキスト ボックス 24">
                      <a:extLst>
                        <a:ext uri="{FF2B5EF4-FFF2-40B4-BE49-F238E27FC236}">
                          <a16:creationId xmlns:a16="http://schemas.microsoft.com/office/drawing/2014/main" id="{0CA45026-1033-A250-E385-F1444412978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78541" y="4795048"/>
                      <a:ext cx="552451" cy="27822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4348" r="-3043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34874EFF-32E0-CE74-A12C-8C672C0DB3D0}"/>
                    </a:ext>
                  </a:extLst>
                </p:cNvPr>
                <p:cNvSpPr txBox="1"/>
                <p:nvPr/>
              </p:nvSpPr>
              <p:spPr>
                <a:xfrm>
                  <a:off x="3390033" y="5694499"/>
                  <a:ext cx="1805949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(0,0,</a:t>
                  </a:r>
                  <a:r>
                    <a:rPr lang="en-US" altLang="ja-JP" sz="2610" i="1" dirty="0">
                      <a:latin typeface="Helvetica" pitchFamily="2" charset="0"/>
                    </a:rPr>
                    <a:t>L</a:t>
                  </a:r>
                  <a:r>
                    <a:rPr lang="en-US" altLang="ja-JP" sz="2610" dirty="0">
                      <a:latin typeface="Helvetica" pitchFamily="2" charset="0"/>
                    </a:rPr>
                    <a:t>) || y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sp>
              <p:nvSpPr>
                <p:cNvPr id="31" name="テキスト ボックス 30">
                  <a:extLst>
                    <a:ext uri="{FF2B5EF4-FFF2-40B4-BE49-F238E27FC236}">
                      <a16:creationId xmlns:a16="http://schemas.microsoft.com/office/drawing/2014/main" id="{19399002-F0CD-AF86-6E55-3865BFA999BF}"/>
                    </a:ext>
                  </a:extLst>
                </p:cNvPr>
                <p:cNvSpPr txBox="1"/>
                <p:nvPr/>
              </p:nvSpPr>
              <p:spPr>
                <a:xfrm>
                  <a:off x="1042667" y="2848391"/>
                  <a:ext cx="2219984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(-</a:t>
                  </a:r>
                  <a:r>
                    <a:rPr lang="en-US" altLang="ja-JP" sz="2610" i="1" dirty="0">
                      <a:latin typeface="Helvetica" pitchFamily="2" charset="0"/>
                    </a:rPr>
                    <a:t>K</a:t>
                  </a:r>
                  <a:r>
                    <a:rPr lang="en-US" altLang="ja-JP" sz="2610" dirty="0">
                      <a:latin typeface="Helvetica" pitchFamily="2" charset="0"/>
                    </a:rPr>
                    <a:t>/2,</a:t>
                  </a:r>
                  <a:r>
                    <a:rPr lang="en-US" altLang="ja-JP" sz="2610" i="1" dirty="0">
                      <a:latin typeface="Helvetica" pitchFamily="2" charset="0"/>
                    </a:rPr>
                    <a:t>K</a:t>
                  </a:r>
                  <a:r>
                    <a:rPr lang="en-US" altLang="ja-JP" sz="2610" dirty="0">
                      <a:latin typeface="Helvetica" pitchFamily="2" charset="0"/>
                    </a:rPr>
                    <a:t>,0) || z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sp>
              <p:nvSpPr>
                <p:cNvPr id="39" name="テキスト ボックス 38">
                  <a:extLst>
                    <a:ext uri="{FF2B5EF4-FFF2-40B4-BE49-F238E27FC236}">
                      <a16:creationId xmlns:a16="http://schemas.microsoft.com/office/drawing/2014/main" id="{9F0FA78F-96B3-9B7B-272C-79F23975FEC2}"/>
                    </a:ext>
                  </a:extLst>
                </p:cNvPr>
                <p:cNvSpPr txBox="1"/>
                <p:nvPr/>
              </p:nvSpPr>
              <p:spPr>
                <a:xfrm>
                  <a:off x="3652921" y="3764375"/>
                  <a:ext cx="1151161" cy="2526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320" dirty="0">
                      <a:latin typeface="Helvetica" pitchFamily="2" charset="0"/>
                    </a:rPr>
                    <a:t>(d), (e) 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0EFF2AEF-60CC-8F4F-BDEE-138CFC307F33}"/>
                    </a:ext>
                  </a:extLst>
                </p:cNvPr>
                <p:cNvSpPr txBox="1"/>
                <p:nvPr/>
              </p:nvSpPr>
              <p:spPr>
                <a:xfrm>
                  <a:off x="2453484" y="3419406"/>
                  <a:ext cx="1116431" cy="2526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320" dirty="0">
                      <a:latin typeface="Helvetica" pitchFamily="2" charset="0"/>
                    </a:rPr>
                    <a:t>(b), (c) 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  <p:sp>
              <p:nvSpPr>
                <p:cNvPr id="44" name="テキスト ボックス 43">
                  <a:extLst>
                    <a:ext uri="{FF2B5EF4-FFF2-40B4-BE49-F238E27FC236}">
                      <a16:creationId xmlns:a16="http://schemas.microsoft.com/office/drawing/2014/main" id="{A7023431-671A-202E-5659-523BE9526B8A}"/>
                    </a:ext>
                  </a:extLst>
                </p:cNvPr>
                <p:cNvSpPr txBox="1"/>
                <p:nvPr/>
              </p:nvSpPr>
              <p:spPr>
                <a:xfrm>
                  <a:off x="1237034" y="3984095"/>
                  <a:ext cx="2053113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(-</a:t>
                  </a:r>
                  <a:r>
                    <a:rPr lang="en-US" altLang="ja-JP" sz="2610" i="1" dirty="0">
                      <a:latin typeface="Helvetica" pitchFamily="2" charset="0"/>
                    </a:rPr>
                    <a:t>H</a:t>
                  </a:r>
                  <a:r>
                    <a:rPr lang="en-US" altLang="ja-JP" sz="2610" dirty="0">
                      <a:latin typeface="Helvetica" pitchFamily="2" charset="0"/>
                    </a:rPr>
                    <a:t>,0,0) || -x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cxnSp>
              <p:nvCxnSpPr>
                <p:cNvPr id="45" name="直線コネクタ 44">
                  <a:extLst>
                    <a:ext uri="{FF2B5EF4-FFF2-40B4-BE49-F238E27FC236}">
                      <a16:creationId xmlns:a16="http://schemas.microsoft.com/office/drawing/2014/main" id="{69C2B1E8-6BB2-598F-4AF0-E33ACDC99B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734125" y="4084382"/>
                  <a:ext cx="197243" cy="21650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線コネクタ 46">
                  <a:extLst>
                    <a:ext uri="{FF2B5EF4-FFF2-40B4-BE49-F238E27FC236}">
                      <a16:creationId xmlns:a16="http://schemas.microsoft.com/office/drawing/2014/main" id="{F5C063D5-2C45-00E3-5982-142F6608D1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19926" y="3738866"/>
                  <a:ext cx="166323" cy="4094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テキスト ボックス 59">
                    <a:extLst>
                      <a:ext uri="{FF2B5EF4-FFF2-40B4-BE49-F238E27FC236}">
                        <a16:creationId xmlns:a16="http://schemas.microsoft.com/office/drawing/2014/main" id="{64B5CF5C-7A66-3E3C-9CF6-810A95212C58}"/>
                      </a:ext>
                    </a:extLst>
                  </p:cNvPr>
                  <p:cNvSpPr txBox="1"/>
                  <p:nvPr/>
                </p:nvSpPr>
                <p:spPr>
                  <a:xfrm>
                    <a:off x="3502531" y="4451748"/>
                    <a:ext cx="367496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60" name="テキスト ボックス 59">
                    <a:extLst>
                      <a:ext uri="{FF2B5EF4-FFF2-40B4-BE49-F238E27FC236}">
                        <a16:creationId xmlns:a16="http://schemas.microsoft.com/office/drawing/2014/main" id="{64B5CF5C-7A66-3E3C-9CF6-810A95212C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02531" y="4451748"/>
                    <a:ext cx="367496" cy="27772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テキスト ボックス 60">
                    <a:extLst>
                      <a:ext uri="{FF2B5EF4-FFF2-40B4-BE49-F238E27FC236}">
                        <a16:creationId xmlns:a16="http://schemas.microsoft.com/office/drawing/2014/main" id="{CF9F1BDC-E0E1-965B-E159-619891975B0F}"/>
                      </a:ext>
                    </a:extLst>
                  </p:cNvPr>
                  <p:cNvSpPr txBox="1"/>
                  <p:nvPr/>
                </p:nvSpPr>
                <p:spPr>
                  <a:xfrm>
                    <a:off x="2846538" y="5261779"/>
                    <a:ext cx="367496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61" name="テキスト ボックス 60">
                    <a:extLst>
                      <a:ext uri="{FF2B5EF4-FFF2-40B4-BE49-F238E27FC236}">
                        <a16:creationId xmlns:a16="http://schemas.microsoft.com/office/drawing/2014/main" id="{CF9F1BDC-E0E1-965B-E159-619891975B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46538" y="5261779"/>
                    <a:ext cx="367496" cy="27772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テキスト ボックス 61">
                    <a:extLst>
                      <a:ext uri="{FF2B5EF4-FFF2-40B4-BE49-F238E27FC236}">
                        <a16:creationId xmlns:a16="http://schemas.microsoft.com/office/drawing/2014/main" id="{DF96C108-B3B9-79D0-8969-59770B5AC846}"/>
                      </a:ext>
                    </a:extLst>
                  </p:cNvPr>
                  <p:cNvSpPr txBox="1"/>
                  <p:nvPr/>
                </p:nvSpPr>
                <p:spPr>
                  <a:xfrm>
                    <a:off x="2368170" y="4477309"/>
                    <a:ext cx="367496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62" name="テキスト ボックス 61">
                    <a:extLst>
                      <a:ext uri="{FF2B5EF4-FFF2-40B4-BE49-F238E27FC236}">
                        <a16:creationId xmlns:a16="http://schemas.microsoft.com/office/drawing/2014/main" id="{DF96C108-B3B9-79D0-8969-59770B5AC8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68170" y="4477309"/>
                    <a:ext cx="367496" cy="27772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66328A7C-959B-61DF-1D14-6C549021269F}"/>
                </a:ext>
              </a:extLst>
            </p:cNvPr>
            <p:cNvSpPr txBox="1"/>
            <p:nvPr/>
          </p:nvSpPr>
          <p:spPr>
            <a:xfrm>
              <a:off x="174024" y="1454024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(a)</a:t>
              </a:r>
              <a:endParaRPr lang="ja-JP" altLang="en-US" sz="2900">
                <a:latin typeface="Helvetica" pitchFamily="2" charset="0"/>
              </a:endParaRPr>
            </a:p>
          </p:txBody>
        </p:sp>
        <p:pic>
          <p:nvPicPr>
            <p:cNvPr id="64" name="図 63">
              <a:extLst>
                <a:ext uri="{FF2B5EF4-FFF2-40B4-BE49-F238E27FC236}">
                  <a16:creationId xmlns:a16="http://schemas.microsoft.com/office/drawing/2014/main" id="{D4F3D631-548E-9343-BE21-F2AE1E5A2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500802" y="1472059"/>
              <a:ext cx="2520000" cy="2520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1F3A1F26-F690-C347-F6E4-1D948B4268B5}"/>
                    </a:ext>
                  </a:extLst>
                </p:cNvPr>
                <p:cNvSpPr txBox="1"/>
                <p:nvPr/>
              </p:nvSpPr>
              <p:spPr>
                <a:xfrm>
                  <a:off x="3573770" y="2130479"/>
                  <a:ext cx="260413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bg1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1F3A1F26-F690-C347-F6E4-1D948B426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3770" y="2130479"/>
                  <a:ext cx="260413" cy="340731"/>
                </a:xfrm>
                <a:prstGeom prst="rect">
                  <a:avLst/>
                </a:prstGeom>
                <a:blipFill>
                  <a:blip r:embed="rId12"/>
                  <a:stretch>
                    <a:fillRect l="-6452" r="-22581" b="-769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C1F0604D-B003-4CFA-4D3B-6E47A9E376D5}"/>
                    </a:ext>
                  </a:extLst>
                </p:cNvPr>
                <p:cNvSpPr txBox="1"/>
                <p:nvPr/>
              </p:nvSpPr>
              <p:spPr>
                <a:xfrm>
                  <a:off x="4369631" y="1787280"/>
                  <a:ext cx="260413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bg1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C1F0604D-B003-4CFA-4D3B-6E47A9E376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9631" y="1787280"/>
                  <a:ext cx="260413" cy="340731"/>
                </a:xfrm>
                <a:prstGeom prst="rect">
                  <a:avLst/>
                </a:prstGeom>
                <a:blipFill>
                  <a:blip r:embed="rId13"/>
                  <a:stretch>
                    <a:fillRect l="-6667" r="-30000"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3D9461A2-9178-C61D-66EE-E8F18B171EA8}"/>
                    </a:ext>
                  </a:extLst>
                </p:cNvPr>
                <p:cNvSpPr txBox="1"/>
                <p:nvPr/>
              </p:nvSpPr>
              <p:spPr>
                <a:xfrm>
                  <a:off x="4333735" y="2647056"/>
                  <a:ext cx="260413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bg1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3D9461A2-9178-C61D-66EE-E8F18B171E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3735" y="2647056"/>
                  <a:ext cx="260413" cy="340731"/>
                </a:xfrm>
                <a:prstGeom prst="rect">
                  <a:avLst/>
                </a:prstGeom>
                <a:blipFill>
                  <a:blip r:embed="rId14"/>
                  <a:stretch>
                    <a:fillRect l="-3226" r="-25806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8" name="図 17">
              <a:extLst>
                <a:ext uri="{FF2B5EF4-FFF2-40B4-BE49-F238E27FC236}">
                  <a16:creationId xmlns:a16="http://schemas.microsoft.com/office/drawing/2014/main" id="{4B50D0F7-B4FF-E153-B366-C62B287BC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30086" y="4170119"/>
              <a:ext cx="3662471" cy="2289044"/>
            </a:xfrm>
            <a:prstGeom prst="rect">
              <a:avLst/>
            </a:prstGeom>
          </p:spPr>
        </p:pic>
        <p:pic>
          <p:nvPicPr>
            <p:cNvPr id="28" name="図 27">
              <a:extLst>
                <a:ext uri="{FF2B5EF4-FFF2-40B4-BE49-F238E27FC236}">
                  <a16:creationId xmlns:a16="http://schemas.microsoft.com/office/drawing/2014/main" id="{CCD97F0E-72AB-7DF1-9234-FF6748D850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130087" y="1522465"/>
              <a:ext cx="3662469" cy="2289043"/>
            </a:xfrm>
            <a:prstGeom prst="rect">
              <a:avLst/>
            </a:prstGeom>
          </p:spPr>
        </p:pic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FDB108A7-4367-AB8F-C714-1D6DDDF177DD}"/>
                </a:ext>
              </a:extLst>
            </p:cNvPr>
            <p:cNvSpPr txBox="1"/>
            <p:nvPr/>
          </p:nvSpPr>
          <p:spPr>
            <a:xfrm>
              <a:off x="2693580" y="1304448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(b)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7343EC2D-50C0-8D7F-BA66-8AC9543B4984}"/>
                </a:ext>
              </a:extLst>
            </p:cNvPr>
            <p:cNvSpPr txBox="1"/>
            <p:nvPr/>
          </p:nvSpPr>
          <p:spPr>
            <a:xfrm>
              <a:off x="5306068" y="1304448"/>
              <a:ext cx="425914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(c)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AF06EB17-CFB0-6609-AFCF-268080303918}"/>
                </a:ext>
              </a:extLst>
            </p:cNvPr>
            <p:cNvSpPr txBox="1"/>
            <p:nvPr/>
          </p:nvSpPr>
          <p:spPr>
            <a:xfrm>
              <a:off x="2693580" y="3937098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(d)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D225BAA4-2595-DE0C-4A1C-531B8E4DB114}"/>
                </a:ext>
              </a:extLst>
            </p:cNvPr>
            <p:cNvSpPr txBox="1"/>
            <p:nvPr/>
          </p:nvSpPr>
          <p:spPr>
            <a:xfrm>
              <a:off x="5306068" y="3937098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(e)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17B352D9-FFEE-7844-8F0C-28A2A4DC4FE3}"/>
                </a:ext>
              </a:extLst>
            </p:cNvPr>
            <p:cNvSpPr txBox="1"/>
            <p:nvPr/>
          </p:nvSpPr>
          <p:spPr>
            <a:xfrm>
              <a:off x="8052713" y="1304448"/>
              <a:ext cx="36841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(f)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9E97D2C9-920B-0111-60DD-802975288412}"/>
                </a:ext>
              </a:extLst>
            </p:cNvPr>
            <p:cNvSpPr txBox="1"/>
            <p:nvPr/>
          </p:nvSpPr>
          <p:spPr>
            <a:xfrm>
              <a:off x="8059927" y="3937098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(g)</a:t>
              </a:r>
              <a:endParaRPr lang="ja-JP" altLang="en-US" sz="2900">
                <a:latin typeface="Helvetica" pitchFamily="2" charset="0"/>
              </a:endParaRPr>
            </a:p>
          </p:txBody>
        </p:sp>
        <p:cxnSp>
          <p:nvCxnSpPr>
            <p:cNvPr id="46" name="直線コネクタ 45">
              <a:extLst>
                <a:ext uri="{FF2B5EF4-FFF2-40B4-BE49-F238E27FC236}">
                  <a16:creationId xmlns:a16="http://schemas.microsoft.com/office/drawing/2014/main" id="{5FC3B1A5-12CF-BD68-960A-FE4B4F990B17}"/>
                </a:ext>
              </a:extLst>
            </p:cNvPr>
            <p:cNvCxnSpPr/>
            <p:nvPr/>
          </p:nvCxnSpPr>
          <p:spPr>
            <a:xfrm flipH="1">
              <a:off x="873739" y="3670774"/>
              <a:ext cx="1206000" cy="1166916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49C391C2-1A6A-5E4E-3DFB-DB088DCA17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7590" y="3542701"/>
              <a:ext cx="819900" cy="79332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4F02C3CD-FC1B-CE12-0EE3-A05833FC127F}"/>
                </a:ext>
              </a:extLst>
            </p:cNvPr>
            <p:cNvSpPr txBox="1"/>
            <p:nvPr/>
          </p:nvSpPr>
          <p:spPr>
            <a:xfrm>
              <a:off x="750374" y="4240268"/>
              <a:ext cx="415813" cy="309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(f) </a:t>
              </a:r>
              <a:endParaRPr lang="ja-JP" altLang="en-US" sz="2320">
                <a:latin typeface="Helvetica" pitchFamily="2" charset="0"/>
              </a:endParaRPr>
            </a:p>
          </p:txBody>
        </p: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742394B9-BCD0-8EB4-323B-081BFE0C54C7}"/>
                </a:ext>
              </a:extLst>
            </p:cNvPr>
            <p:cNvSpPr txBox="1"/>
            <p:nvPr/>
          </p:nvSpPr>
          <p:spPr>
            <a:xfrm>
              <a:off x="621034" y="4754381"/>
              <a:ext cx="514826" cy="309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(g) </a:t>
              </a:r>
              <a:endParaRPr lang="ja-JP" altLang="en-US" sz="2320">
                <a:latin typeface="Helvetica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テキスト ボックス 1">
                  <a:extLst>
                    <a:ext uri="{FF2B5EF4-FFF2-40B4-BE49-F238E27FC236}">
                      <a16:creationId xmlns:a16="http://schemas.microsoft.com/office/drawing/2014/main" id="{32A124DE-763F-36A0-D974-31EA96541C69}"/>
                    </a:ext>
                  </a:extLst>
                </p:cNvPr>
                <p:cNvSpPr txBox="1"/>
                <p:nvPr/>
              </p:nvSpPr>
              <p:spPr>
                <a:xfrm>
                  <a:off x="3457752" y="5264842"/>
                  <a:ext cx="260413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bg1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" name="テキスト ボックス 1">
                  <a:extLst>
                    <a:ext uri="{FF2B5EF4-FFF2-40B4-BE49-F238E27FC236}">
                      <a16:creationId xmlns:a16="http://schemas.microsoft.com/office/drawing/2014/main" id="{32A124DE-763F-36A0-D974-31EA96541C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752" y="5264842"/>
                  <a:ext cx="260413" cy="340731"/>
                </a:xfrm>
                <a:prstGeom prst="rect">
                  <a:avLst/>
                </a:prstGeom>
                <a:blipFill>
                  <a:blip r:embed="rId17"/>
                  <a:stretch>
                    <a:fillRect l="-3226" r="-25806"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テキスト ボックス 2">
                  <a:extLst>
                    <a:ext uri="{FF2B5EF4-FFF2-40B4-BE49-F238E27FC236}">
                      <a16:creationId xmlns:a16="http://schemas.microsoft.com/office/drawing/2014/main" id="{798A6C8A-B44B-4180-4EED-E4373CEA3BB3}"/>
                    </a:ext>
                  </a:extLst>
                </p:cNvPr>
                <p:cNvSpPr txBox="1"/>
                <p:nvPr/>
              </p:nvSpPr>
              <p:spPr>
                <a:xfrm>
                  <a:off x="3980921" y="5264842"/>
                  <a:ext cx="777419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ja-JP" sz="261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bg1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" name="テキスト ボックス 2">
                  <a:extLst>
                    <a:ext uri="{FF2B5EF4-FFF2-40B4-BE49-F238E27FC236}">
                      <a16:creationId xmlns:a16="http://schemas.microsoft.com/office/drawing/2014/main" id="{798A6C8A-B44B-4180-4EED-E4373CEA3B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0921" y="5264842"/>
                  <a:ext cx="777419" cy="340731"/>
                </a:xfrm>
                <a:prstGeom prst="rect">
                  <a:avLst/>
                </a:prstGeom>
                <a:blipFill>
                  <a:blip r:embed="rId18"/>
                  <a:stretch>
                    <a:fillRect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970499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01D13-821A-8EC0-D0B5-ADED70079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4CC4C2BD-4527-5471-56B8-85386F84EA31}"/>
              </a:ext>
            </a:extLst>
          </p:cNvPr>
          <p:cNvGrpSpPr/>
          <p:nvPr/>
        </p:nvGrpSpPr>
        <p:grpSpPr>
          <a:xfrm>
            <a:off x="2047699" y="3042879"/>
            <a:ext cx="16248863" cy="7574281"/>
            <a:chOff x="2047699" y="3042879"/>
            <a:chExt cx="16248863" cy="7574281"/>
          </a:xfrm>
        </p:grpSpPr>
        <p:grpSp>
          <p:nvGrpSpPr>
            <p:cNvPr id="28" name="グループ化 27">
              <a:extLst>
                <a:ext uri="{FF2B5EF4-FFF2-40B4-BE49-F238E27FC236}">
                  <a16:creationId xmlns:a16="http://schemas.microsoft.com/office/drawing/2014/main" id="{96CB14DB-A6F0-405A-1E1F-59099FED4DFE}"/>
                </a:ext>
              </a:extLst>
            </p:cNvPr>
            <p:cNvGrpSpPr/>
            <p:nvPr/>
          </p:nvGrpSpPr>
          <p:grpSpPr>
            <a:xfrm>
              <a:off x="2047699" y="3042879"/>
              <a:ext cx="16248863" cy="7550448"/>
              <a:chOff x="2047699" y="3042879"/>
              <a:chExt cx="16248863" cy="7550448"/>
            </a:xfrm>
          </p:grpSpPr>
          <p:grpSp>
            <p:nvGrpSpPr>
              <p:cNvPr id="16" name="グループ化 15">
                <a:extLst>
                  <a:ext uri="{FF2B5EF4-FFF2-40B4-BE49-F238E27FC236}">
                    <a16:creationId xmlns:a16="http://schemas.microsoft.com/office/drawing/2014/main" id="{BAE5BF2D-C661-61D2-7C13-7E56AB285E0A}"/>
                  </a:ext>
                </a:extLst>
              </p:cNvPr>
              <p:cNvGrpSpPr/>
              <p:nvPr/>
            </p:nvGrpSpPr>
            <p:grpSpPr>
              <a:xfrm>
                <a:off x="2047699" y="3042879"/>
                <a:ext cx="16248863" cy="7550448"/>
                <a:chOff x="2047699" y="3042879"/>
                <a:chExt cx="16248863" cy="7550448"/>
              </a:xfrm>
            </p:grpSpPr>
            <p:grpSp>
              <p:nvGrpSpPr>
                <p:cNvPr id="95" name="グループ化 94">
                  <a:extLst>
                    <a:ext uri="{FF2B5EF4-FFF2-40B4-BE49-F238E27FC236}">
                      <a16:creationId xmlns:a16="http://schemas.microsoft.com/office/drawing/2014/main" id="{6A9D8BC0-5C97-5574-9FB7-9EC32C1000A0}"/>
                    </a:ext>
                  </a:extLst>
                </p:cNvPr>
                <p:cNvGrpSpPr/>
                <p:nvPr/>
              </p:nvGrpSpPr>
              <p:grpSpPr>
                <a:xfrm>
                  <a:off x="2047699" y="3042879"/>
                  <a:ext cx="16248863" cy="7550448"/>
                  <a:chOff x="2047699" y="3042879"/>
                  <a:chExt cx="16248863" cy="7550448"/>
                </a:xfrm>
              </p:grpSpPr>
              <p:pic>
                <p:nvPicPr>
                  <p:cNvPr id="92" name="図 91">
                    <a:extLst>
                      <a:ext uri="{FF2B5EF4-FFF2-40B4-BE49-F238E27FC236}">
                        <a16:creationId xmlns:a16="http://schemas.microsoft.com/office/drawing/2014/main" id="{26AF97F6-DF48-AD43-76C2-7863694BCA6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3912674" y="6939999"/>
                    <a:ext cx="4383888" cy="3653240"/>
                  </a:xfrm>
                  <a:prstGeom prst="rect">
                    <a:avLst/>
                  </a:prstGeom>
                </p:spPr>
              </p:pic>
              <p:pic>
                <p:nvPicPr>
                  <p:cNvPr id="94" name="図 93">
                    <a:extLst>
                      <a:ext uri="{FF2B5EF4-FFF2-40B4-BE49-F238E27FC236}">
                        <a16:creationId xmlns:a16="http://schemas.microsoft.com/office/drawing/2014/main" id="{83192BB6-2524-0D37-4239-E8FB8609187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3912674" y="3310922"/>
                    <a:ext cx="4383548" cy="3652957"/>
                  </a:xfrm>
                  <a:prstGeom prst="rect">
                    <a:avLst/>
                  </a:prstGeom>
                </p:spPr>
              </p:pic>
              <p:pic>
                <p:nvPicPr>
                  <p:cNvPr id="87" name="図 86">
                    <a:extLst>
                      <a:ext uri="{FF2B5EF4-FFF2-40B4-BE49-F238E27FC236}">
                        <a16:creationId xmlns:a16="http://schemas.microsoft.com/office/drawing/2014/main" id="{B52D947C-C2D9-FE5C-6303-3D081BADB09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0086959" y="6941948"/>
                    <a:ext cx="3649343" cy="3649343"/>
                  </a:xfrm>
                  <a:prstGeom prst="rect">
                    <a:avLst/>
                  </a:prstGeom>
                </p:spPr>
              </p:pic>
              <p:pic>
                <p:nvPicPr>
                  <p:cNvPr id="89" name="図 88">
                    <a:extLst>
                      <a:ext uri="{FF2B5EF4-FFF2-40B4-BE49-F238E27FC236}">
                        <a16:creationId xmlns:a16="http://schemas.microsoft.com/office/drawing/2014/main" id="{1CDDAB00-EEEA-D469-8B32-DFC5B41B83D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0085152" y="3310922"/>
                    <a:ext cx="3652957" cy="3652957"/>
                  </a:xfrm>
                  <a:prstGeom prst="rect">
                    <a:avLst/>
                  </a:prstGeom>
                </p:spPr>
              </p:pic>
              <p:pic>
                <p:nvPicPr>
                  <p:cNvPr id="85" name="図 84">
                    <a:extLst>
                      <a:ext uri="{FF2B5EF4-FFF2-40B4-BE49-F238E27FC236}">
                        <a16:creationId xmlns:a16="http://schemas.microsoft.com/office/drawing/2014/main" id="{C408060E-64DE-C9BE-E8EE-2C5516DCF16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6235858" y="3310922"/>
                    <a:ext cx="3652957" cy="3652957"/>
                  </a:xfrm>
                  <a:prstGeom prst="rect">
                    <a:avLst/>
                  </a:prstGeom>
                </p:spPr>
              </p:pic>
              <p:pic>
                <p:nvPicPr>
                  <p:cNvPr id="84" name="図 83">
                    <a:extLst>
                      <a:ext uri="{FF2B5EF4-FFF2-40B4-BE49-F238E27FC236}">
                        <a16:creationId xmlns:a16="http://schemas.microsoft.com/office/drawing/2014/main" id="{2050435D-AA34-1120-C70C-008426B88F8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6209476" y="6939911"/>
                    <a:ext cx="3653416" cy="3653416"/>
                  </a:xfrm>
                  <a:prstGeom prst="rect">
                    <a:avLst/>
                  </a:prstGeom>
                </p:spPr>
              </p:pic>
              <p:grpSp>
                <p:nvGrpSpPr>
                  <p:cNvPr id="63" name="グループ化 62">
                    <a:extLst>
                      <a:ext uri="{FF2B5EF4-FFF2-40B4-BE49-F238E27FC236}">
                        <a16:creationId xmlns:a16="http://schemas.microsoft.com/office/drawing/2014/main" id="{A0ACBDB2-8280-5CF3-3805-E03D53D2A0AF}"/>
                      </a:ext>
                    </a:extLst>
                  </p:cNvPr>
                  <p:cNvGrpSpPr/>
                  <p:nvPr/>
                </p:nvGrpSpPr>
                <p:grpSpPr>
                  <a:xfrm>
                    <a:off x="2047699" y="3704310"/>
                    <a:ext cx="4396346" cy="5893820"/>
                    <a:chOff x="916584" y="2848391"/>
                    <a:chExt cx="4279398" cy="3313596"/>
                  </a:xfrm>
                </p:grpSpPr>
                <p:grpSp>
                  <p:nvGrpSpPr>
                    <p:cNvPr id="59" name="グループ化 58">
                      <a:extLst>
                        <a:ext uri="{FF2B5EF4-FFF2-40B4-BE49-F238E27FC236}">
                          <a16:creationId xmlns:a16="http://schemas.microsoft.com/office/drawing/2014/main" id="{BF9ECB48-C2A5-378D-F389-9B1595A41A1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16584" y="2848391"/>
                      <a:ext cx="4279398" cy="3313596"/>
                      <a:chOff x="916584" y="2848391"/>
                      <a:chExt cx="4279398" cy="3313596"/>
                    </a:xfrm>
                  </p:grpSpPr>
                  <p:grpSp>
                    <p:nvGrpSpPr>
                      <p:cNvPr id="30" name="グループ化 29">
                        <a:extLst>
                          <a:ext uri="{FF2B5EF4-FFF2-40B4-BE49-F238E27FC236}">
                            <a16:creationId xmlns:a16="http://schemas.microsoft.com/office/drawing/2014/main" id="{577F6271-25D6-93ED-CF51-EC81A93BE98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16584" y="2950023"/>
                        <a:ext cx="3957145" cy="3211964"/>
                        <a:chOff x="916584" y="2950023"/>
                        <a:chExt cx="3957145" cy="3211964"/>
                      </a:xfrm>
                    </p:grpSpPr>
                    <p:pic>
                      <p:nvPicPr>
                        <p:cNvPr id="29" name="図 28">
                          <a:extLst>
                            <a:ext uri="{FF2B5EF4-FFF2-40B4-BE49-F238E27FC236}">
                              <a16:creationId xmlns:a16="http://schemas.microsoft.com/office/drawing/2014/main" id="{677E103F-48DA-C7FF-654F-20B5CB0A3F64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9"/>
                        <a:srcRect l="23307" t="22048" r="4567" b="21066"/>
                        <a:stretch>
                          <a:fillRect/>
                        </a:stretch>
                      </p:blipFill>
                      <p:spPr>
                        <a:xfrm>
                          <a:off x="916584" y="3040979"/>
                          <a:ext cx="3957145" cy="3121008"/>
                        </a:xfrm>
                        <a:prstGeom prst="rect">
                          <a:avLst/>
                        </a:prstGeom>
                      </p:spPr>
                    </p:pic>
                    <p:sp>
                      <p:nvSpPr>
                        <p:cNvPr id="21" name="三角形 20">
                          <a:extLst>
                            <a:ext uri="{FF2B5EF4-FFF2-40B4-BE49-F238E27FC236}">
                              <a16:creationId xmlns:a16="http://schemas.microsoft.com/office/drawing/2014/main" id="{6D80FB8D-869C-33A4-92B9-2BB8F8488D3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6000000">
                          <a:off x="4668592" y="5598775"/>
                          <a:ext cx="137160" cy="118241"/>
                        </a:xfrm>
                        <a:prstGeom prst="triangle">
                          <a:avLst/>
                        </a:prstGeom>
                        <a:solidFill>
                          <a:schemeClr val="tx1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ja-JP" altLang="en-US" sz="2610"/>
                        </a:p>
                      </p:txBody>
                    </p:sp>
                    <p:sp>
                      <p:nvSpPr>
                        <p:cNvPr id="22" name="三角形 21">
                          <a:extLst>
                            <a:ext uri="{FF2B5EF4-FFF2-40B4-BE49-F238E27FC236}">
                              <a16:creationId xmlns:a16="http://schemas.microsoft.com/office/drawing/2014/main" id="{A09500F8-DC32-F241-68A4-312FA746E01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22229" y="2950023"/>
                          <a:ext cx="137160" cy="118241"/>
                        </a:xfrm>
                        <a:prstGeom prst="triangle">
                          <a:avLst/>
                        </a:prstGeom>
                        <a:solidFill>
                          <a:schemeClr val="tx1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ja-JP" altLang="en-US" sz="2610"/>
                        </a:p>
                      </p:txBody>
                    </p:sp>
                    <p:sp>
                      <p:nvSpPr>
                        <p:cNvPr id="23" name="三角形 22">
                          <a:extLst>
                            <a:ext uri="{FF2B5EF4-FFF2-40B4-BE49-F238E27FC236}">
                              <a16:creationId xmlns:a16="http://schemas.microsoft.com/office/drawing/2014/main" id="{BB8CDD73-C90D-3576-0ED5-D579864F656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3659594">
                          <a:off x="1971744" y="4372580"/>
                          <a:ext cx="137160" cy="118241"/>
                        </a:xfrm>
                        <a:prstGeom prst="triangle">
                          <a:avLst/>
                        </a:prstGeom>
                        <a:solidFill>
                          <a:schemeClr val="tx1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ja-JP" altLang="en-US" sz="2610"/>
                        </a:p>
                      </p:txBody>
                    </p:sp>
                  </p:grp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25" name="テキスト ボックス 24">
                            <a:extLst>
                              <a:ext uri="{FF2B5EF4-FFF2-40B4-BE49-F238E27FC236}">
                                <a16:creationId xmlns:a16="http://schemas.microsoft.com/office/drawing/2014/main" id="{BA290F6D-07CE-DB62-AA7A-98F73A2E9F32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4178541" y="4795048"/>
                            <a:ext cx="552451" cy="278229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>
                                  <m:acc>
                                    <m:accPr>
                                      <m:chr m:val="̅"/>
                                      <m:ctrlPr>
                                        <a:rPr lang="en-US" altLang="ja-JP" sz="261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sz="261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acc>
                                  <m: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  <m:t>02</m:t>
                                  </m:r>
                                </m:oMath>
                              </m:oMathPara>
                            </a14:m>
                            <a:endParaRPr lang="ja-JP" altLang="en-US" sz="2610">
                              <a:latin typeface="Helvetica" pitchFamily="2" charset="0"/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25" name="テキスト ボックス 24">
                            <a:extLst>
                              <a:ext uri="{FF2B5EF4-FFF2-40B4-BE49-F238E27FC236}">
                                <a16:creationId xmlns:a16="http://schemas.microsoft.com/office/drawing/2014/main" id="{0CA45026-1033-A250-E385-F14444129780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4178541" y="4795048"/>
                            <a:ext cx="552451" cy="278229"/>
                          </a:xfrm>
                          <a:prstGeom prst="rect">
                            <a:avLst/>
                          </a:prstGeom>
                          <a:blipFill>
                            <a:blip r:embed="rId10"/>
                            <a:stretch>
                              <a:fillRect l="-4348" r="-30435"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ja-JP" alt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p:sp>
                    <p:nvSpPr>
                      <p:cNvPr id="20" name="テキスト ボックス 19">
                        <a:extLst>
                          <a:ext uri="{FF2B5EF4-FFF2-40B4-BE49-F238E27FC236}">
                            <a16:creationId xmlns:a16="http://schemas.microsoft.com/office/drawing/2014/main" id="{0E9365F9-B15F-A82D-5B87-689F46C97B6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390033" y="5694499"/>
                        <a:ext cx="1805949" cy="27772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ja-JP" sz="2610" dirty="0">
                            <a:latin typeface="Helvetica" pitchFamily="2" charset="0"/>
                          </a:rPr>
                          <a:t>(0,0,</a:t>
                        </a:r>
                        <a:r>
                          <a:rPr lang="en-US" altLang="ja-JP" sz="2610" i="1" dirty="0">
                            <a:latin typeface="Helvetica" pitchFamily="2" charset="0"/>
                          </a:rPr>
                          <a:t>L</a:t>
                        </a:r>
                        <a:r>
                          <a:rPr lang="en-US" altLang="ja-JP" sz="2610" dirty="0">
                            <a:latin typeface="Helvetica" pitchFamily="2" charset="0"/>
                          </a:rPr>
                          <a:t>) || y</a:t>
                        </a:r>
                        <a:endParaRPr lang="ja-JP" altLang="en-US" sz="2610">
                          <a:latin typeface="Helvetica" pitchFamily="2" charset="0"/>
                        </a:endParaRPr>
                      </a:p>
                    </p:txBody>
                  </p:sp>
                  <p:sp>
                    <p:nvSpPr>
                      <p:cNvPr id="31" name="テキスト ボックス 30">
                        <a:extLst>
                          <a:ext uri="{FF2B5EF4-FFF2-40B4-BE49-F238E27FC236}">
                            <a16:creationId xmlns:a16="http://schemas.microsoft.com/office/drawing/2014/main" id="{1FAE8912-24F2-C6CC-B286-AAF1C5A4646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42667" y="2848391"/>
                        <a:ext cx="2219984" cy="27772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ja-JP" sz="2610" dirty="0">
                            <a:latin typeface="Helvetica" pitchFamily="2" charset="0"/>
                          </a:rPr>
                          <a:t>(</a:t>
                        </a:r>
                        <a:r>
                          <a:rPr lang="en-US" altLang="ja-JP" sz="2610" i="1" dirty="0">
                            <a:latin typeface="Helvetica" pitchFamily="2" charset="0"/>
                          </a:rPr>
                          <a:t>K</a:t>
                        </a:r>
                        <a:r>
                          <a:rPr lang="en-US" altLang="ja-JP" sz="2610" dirty="0">
                            <a:latin typeface="Helvetica" pitchFamily="2" charset="0"/>
                          </a:rPr>
                          <a:t>/2,-</a:t>
                        </a:r>
                        <a:r>
                          <a:rPr lang="en-US" altLang="ja-JP" sz="2610" i="1" dirty="0">
                            <a:latin typeface="Helvetica" pitchFamily="2" charset="0"/>
                          </a:rPr>
                          <a:t>K</a:t>
                        </a:r>
                        <a:r>
                          <a:rPr lang="en-US" altLang="ja-JP" sz="2610" dirty="0">
                            <a:latin typeface="Helvetica" pitchFamily="2" charset="0"/>
                          </a:rPr>
                          <a:t>,0) || z</a:t>
                        </a:r>
                        <a:endParaRPr lang="ja-JP" altLang="en-US" sz="2610">
                          <a:latin typeface="Helvetica" pitchFamily="2" charset="0"/>
                        </a:endParaRPr>
                      </a:p>
                    </p:txBody>
                  </p:sp>
                  <p:sp>
                    <p:nvSpPr>
                      <p:cNvPr id="39" name="テキスト ボックス 38">
                        <a:extLst>
                          <a:ext uri="{FF2B5EF4-FFF2-40B4-BE49-F238E27FC236}">
                            <a16:creationId xmlns:a16="http://schemas.microsoft.com/office/drawing/2014/main" id="{B040C4B9-8886-593B-9790-AFA0B7D648D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652921" y="3764375"/>
                        <a:ext cx="1151161" cy="25263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ja-JP" sz="2320" dirty="0">
                            <a:latin typeface="Helvetica" pitchFamily="2" charset="0"/>
                          </a:rPr>
                          <a:t>(d), (e) </a:t>
                        </a:r>
                        <a:endParaRPr lang="ja-JP" altLang="en-US" sz="2320">
                          <a:latin typeface="Helvetica" pitchFamily="2" charset="0"/>
                        </a:endParaRPr>
                      </a:p>
                    </p:txBody>
                  </p:sp>
                  <p:sp>
                    <p:nvSpPr>
                      <p:cNvPr id="40" name="テキスト ボックス 39">
                        <a:extLst>
                          <a:ext uri="{FF2B5EF4-FFF2-40B4-BE49-F238E27FC236}">
                            <a16:creationId xmlns:a16="http://schemas.microsoft.com/office/drawing/2014/main" id="{4CE18518-6B1D-5DB0-90BD-56239CD7842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453484" y="3419406"/>
                        <a:ext cx="1116431" cy="25263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ja-JP" sz="2320" dirty="0">
                            <a:latin typeface="Helvetica" pitchFamily="2" charset="0"/>
                          </a:rPr>
                          <a:t>(b), (c) </a:t>
                        </a:r>
                        <a:endParaRPr lang="ja-JP" altLang="en-US" sz="2320">
                          <a:latin typeface="Helvetica" pitchFamily="2" charset="0"/>
                        </a:endParaRPr>
                      </a:p>
                    </p:txBody>
                  </p:sp>
                  <p:sp>
                    <p:nvSpPr>
                      <p:cNvPr id="44" name="テキスト ボックス 43">
                        <a:extLst>
                          <a:ext uri="{FF2B5EF4-FFF2-40B4-BE49-F238E27FC236}">
                            <a16:creationId xmlns:a16="http://schemas.microsoft.com/office/drawing/2014/main" id="{6E7F4E33-EED4-87BF-DACA-1A7441F486D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237034" y="3984095"/>
                        <a:ext cx="2053113" cy="27772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ja-JP" sz="2610" dirty="0">
                            <a:latin typeface="Helvetica" pitchFamily="2" charset="0"/>
                          </a:rPr>
                          <a:t>(-</a:t>
                        </a:r>
                        <a:r>
                          <a:rPr lang="en-US" altLang="ja-JP" sz="2610" i="1" dirty="0">
                            <a:latin typeface="Helvetica" pitchFamily="2" charset="0"/>
                          </a:rPr>
                          <a:t>H</a:t>
                        </a:r>
                        <a:r>
                          <a:rPr lang="en-US" altLang="ja-JP" sz="2610" dirty="0">
                            <a:latin typeface="Helvetica" pitchFamily="2" charset="0"/>
                          </a:rPr>
                          <a:t>,0,0) || -x</a:t>
                        </a:r>
                        <a:endParaRPr lang="ja-JP" altLang="en-US" sz="2610">
                          <a:latin typeface="Helvetica" pitchFamily="2" charset="0"/>
                        </a:endParaRPr>
                      </a:p>
                    </p:txBody>
                  </p:sp>
                  <p:cxnSp>
                    <p:nvCxnSpPr>
                      <p:cNvPr id="45" name="直線コネクタ 44">
                        <a:extLst>
                          <a:ext uri="{FF2B5EF4-FFF2-40B4-BE49-F238E27FC236}">
                            <a16:creationId xmlns:a16="http://schemas.microsoft.com/office/drawing/2014/main" id="{336E5896-4191-E075-4536-A5163043CC0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734125" y="4084382"/>
                        <a:ext cx="197243" cy="216503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7" name="直線コネクタ 46">
                        <a:extLst>
                          <a:ext uri="{FF2B5EF4-FFF2-40B4-BE49-F238E27FC236}">
                            <a16:creationId xmlns:a16="http://schemas.microsoft.com/office/drawing/2014/main" id="{E6E85FAF-6CA3-4E0D-D32E-6E5A0E99AAC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3019926" y="3738866"/>
                        <a:ext cx="166323" cy="409483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60" name="テキスト ボックス 59">
                          <a:extLst>
                            <a:ext uri="{FF2B5EF4-FFF2-40B4-BE49-F238E27FC236}">
                              <a16:creationId xmlns:a16="http://schemas.microsoft.com/office/drawing/2014/main" id="{2C3D52EA-B424-D8D6-F9C6-377D77B5527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502531" y="4451748"/>
                          <a:ext cx="367496" cy="27772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ja-JP" sz="261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61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ja-JP" sz="261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ja-JP" altLang="en-US" sz="2610" b="1">
                            <a:latin typeface="Helvetica" pitchFamily="2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60" name="テキスト ボックス 59">
                          <a:extLst>
                            <a:ext uri="{FF2B5EF4-FFF2-40B4-BE49-F238E27FC236}">
                              <a16:creationId xmlns:a16="http://schemas.microsoft.com/office/drawing/2014/main" id="{64B5CF5C-7A66-3E3C-9CF6-810A95212C58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502531" y="4451748"/>
                          <a:ext cx="367496" cy="277724"/>
                        </a:xfrm>
                        <a:prstGeom prst="rect">
                          <a:avLst/>
                        </a:prstGeom>
                        <a:blipFill>
                          <a:blip r:embed="rId11"/>
                          <a:stretch>
                            <a:fillRect l="-6452" r="-35484" b="-75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ja-JP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61" name="テキスト ボックス 60">
                          <a:extLst>
                            <a:ext uri="{FF2B5EF4-FFF2-40B4-BE49-F238E27FC236}">
                              <a16:creationId xmlns:a16="http://schemas.microsoft.com/office/drawing/2014/main" id="{EFF48E1D-2BAA-E440-CED2-40EC580395F3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404661" y="4464550"/>
                          <a:ext cx="367496" cy="27772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ja-JP" sz="261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61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ja-JP" sz="2610" b="1" i="1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ja-JP" altLang="en-US" sz="2610" b="1">
                            <a:latin typeface="Helvetica" pitchFamily="2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61" name="テキスト ボックス 60">
                          <a:extLst>
                            <a:ext uri="{FF2B5EF4-FFF2-40B4-BE49-F238E27FC236}">
                              <a16:creationId xmlns:a16="http://schemas.microsoft.com/office/drawing/2014/main" id="{EFF48E1D-2BAA-E440-CED2-40EC580395F3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404661" y="4464550"/>
                          <a:ext cx="367496" cy="277724"/>
                        </a:xfrm>
                        <a:prstGeom prst="rect">
                          <a:avLst/>
                        </a:prstGeom>
                        <a:blipFill>
                          <a:blip r:embed="rId12"/>
                          <a:stretch>
                            <a:fillRect l="-6452" r="-35484" b="-75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ja-JP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62" name="テキスト ボックス 61">
                          <a:extLst>
                            <a:ext uri="{FF2B5EF4-FFF2-40B4-BE49-F238E27FC236}">
                              <a16:creationId xmlns:a16="http://schemas.microsoft.com/office/drawing/2014/main" id="{DC21B1CB-C7B8-E122-D068-78BE617F04D5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735591" y="5271270"/>
                          <a:ext cx="367496" cy="27772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ja-JP" sz="261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61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ja-JP" sz="2610" b="1" i="1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ja-JP" altLang="en-US" sz="2610" b="1">
                            <a:latin typeface="Helvetica" pitchFamily="2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62" name="テキスト ボックス 61">
                          <a:extLst>
                            <a:ext uri="{FF2B5EF4-FFF2-40B4-BE49-F238E27FC236}">
                              <a16:creationId xmlns:a16="http://schemas.microsoft.com/office/drawing/2014/main" id="{DC21B1CB-C7B8-E122-D068-78BE617F04D5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735591" y="5271270"/>
                          <a:ext cx="367496" cy="277724"/>
                        </a:xfrm>
                        <a:prstGeom prst="rect">
                          <a:avLst/>
                        </a:prstGeom>
                        <a:blipFill>
                          <a:blip r:embed="rId13"/>
                          <a:stretch>
                            <a:fillRect l="-6667" r="-40000" b="-5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ja-JP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sp>
                <p:nvSpPr>
                  <p:cNvPr id="4" name="テキスト ボックス 3">
                    <a:extLst>
                      <a:ext uri="{FF2B5EF4-FFF2-40B4-BE49-F238E27FC236}">
                        <a16:creationId xmlns:a16="http://schemas.microsoft.com/office/drawing/2014/main" id="{70D5A5E1-C4CA-23E2-F6F8-B9D4DAD71562}"/>
                      </a:ext>
                    </a:extLst>
                  </p:cNvPr>
                  <p:cNvSpPr txBox="1"/>
                  <p:nvPr/>
                </p:nvSpPr>
                <p:spPr>
                  <a:xfrm>
                    <a:off x="2299994" y="3259730"/>
                    <a:ext cx="638316" cy="53860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ja-JP" sz="2900" dirty="0">
                        <a:latin typeface="Helvetica" pitchFamily="2" charset="0"/>
                      </a:rPr>
                      <a:t>(a)</a:t>
                    </a:r>
                    <a:endParaRPr lang="ja-JP" altLang="en-US" sz="2900">
                      <a:latin typeface="Helvetica" pitchFamily="2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9" name="テキスト ボックス 18">
                        <a:extLst>
                          <a:ext uri="{FF2B5EF4-FFF2-40B4-BE49-F238E27FC236}">
                            <a16:creationId xmlns:a16="http://schemas.microsoft.com/office/drawing/2014/main" id="{9A848DD8-3A92-35BC-2F6A-B9D642FADF4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366053" y="4046862"/>
                        <a:ext cx="377539" cy="49398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lang="en-US" altLang="ja-JP" sz="2610" i="1">
                                      <a:solidFill>
                                        <a:schemeClr val="accent2">
                                          <a:lumMod val="40000"/>
                                          <a:lumOff val="6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610" i="1">
                                      <a:solidFill>
                                        <a:schemeClr val="accent2">
                                          <a:lumMod val="40000"/>
                                          <a:lumOff val="6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ja-JP" sz="2610" i="1">
                                      <a:solidFill>
                                        <a:schemeClr val="accent2">
                                          <a:lumMod val="40000"/>
                                          <a:lumOff val="6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ja-JP" altLang="en-US" sz="261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Helvetica" pitchFamily="2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9" name="テキスト ボックス 18">
                        <a:extLst>
                          <a:ext uri="{FF2B5EF4-FFF2-40B4-BE49-F238E27FC236}">
                            <a16:creationId xmlns:a16="http://schemas.microsoft.com/office/drawing/2014/main" id="{9A848DD8-3A92-35BC-2F6A-B9D642FADF4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366053" y="4046862"/>
                        <a:ext cx="377539" cy="493981"/>
                      </a:xfrm>
                      <a:prstGeom prst="rect">
                        <a:avLst/>
                      </a:prstGeom>
                      <a:blipFill>
                        <a:blip r:embed="rId14"/>
                        <a:stretch>
                          <a:fillRect l="-3226" r="-25806" b="-5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4" name="テキスト ボックス 23">
                        <a:extLst>
                          <a:ext uri="{FF2B5EF4-FFF2-40B4-BE49-F238E27FC236}">
                            <a16:creationId xmlns:a16="http://schemas.microsoft.com/office/drawing/2014/main" id="{E167119C-5D36-7909-BA11-C7317623B9C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243222" y="3657130"/>
                        <a:ext cx="377539" cy="49398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lang="en-US" altLang="ja-JP" sz="2610" i="1">
                                      <a:solidFill>
                                        <a:schemeClr val="accent2">
                                          <a:lumMod val="40000"/>
                                          <a:lumOff val="6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610" i="1">
                                      <a:solidFill>
                                        <a:schemeClr val="accent2">
                                          <a:lumMod val="40000"/>
                                          <a:lumOff val="6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ja-JP" sz="2610" i="1">
                                      <a:solidFill>
                                        <a:schemeClr val="accent2">
                                          <a:lumMod val="40000"/>
                                          <a:lumOff val="6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ja-JP" altLang="en-US" sz="261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Helvetica" pitchFamily="2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4" name="テキスト ボックス 23">
                        <a:extLst>
                          <a:ext uri="{FF2B5EF4-FFF2-40B4-BE49-F238E27FC236}">
                            <a16:creationId xmlns:a16="http://schemas.microsoft.com/office/drawing/2014/main" id="{E167119C-5D36-7909-BA11-C7317623B9C7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243222" y="3657130"/>
                        <a:ext cx="377539" cy="493981"/>
                      </a:xfrm>
                      <a:prstGeom prst="rect">
                        <a:avLst/>
                      </a:prstGeom>
                      <a:blipFill>
                        <a:blip r:embed="rId15"/>
                        <a:stretch>
                          <a:fillRect l="-3226" r="-25806" b="-7692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3" name="テキスト ボックス 32">
                        <a:extLst>
                          <a:ext uri="{FF2B5EF4-FFF2-40B4-BE49-F238E27FC236}">
                            <a16:creationId xmlns:a16="http://schemas.microsoft.com/office/drawing/2014/main" id="{5A54D924-0D54-8F7E-B6F8-E49E435472C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243222" y="5601303"/>
                        <a:ext cx="377539" cy="49398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lang="en-US" altLang="ja-JP" sz="2610" i="1">
                                      <a:solidFill>
                                        <a:schemeClr val="accent2">
                                          <a:lumMod val="40000"/>
                                          <a:lumOff val="6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610" i="1">
                                      <a:solidFill>
                                        <a:schemeClr val="accent2">
                                          <a:lumMod val="40000"/>
                                          <a:lumOff val="6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ja-JP" sz="2610" i="1">
                                      <a:solidFill>
                                        <a:schemeClr val="accent2">
                                          <a:lumMod val="40000"/>
                                          <a:lumOff val="6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ja-JP" altLang="en-US" sz="261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Helvetica" pitchFamily="2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33" name="テキスト ボックス 32">
                        <a:extLst>
                          <a:ext uri="{FF2B5EF4-FFF2-40B4-BE49-F238E27FC236}">
                            <a16:creationId xmlns:a16="http://schemas.microsoft.com/office/drawing/2014/main" id="{5A54D924-0D54-8F7E-B6F8-E49E435472C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243222" y="5601303"/>
                        <a:ext cx="377539" cy="493981"/>
                      </a:xfrm>
                      <a:prstGeom prst="rect">
                        <a:avLst/>
                      </a:prstGeom>
                      <a:blipFill>
                        <a:blip r:embed="rId16"/>
                        <a:stretch>
                          <a:fillRect l="-3226" r="-25806" b="-5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5" name="テキスト ボックス 4">
                    <a:extLst>
                      <a:ext uri="{FF2B5EF4-FFF2-40B4-BE49-F238E27FC236}">
                        <a16:creationId xmlns:a16="http://schemas.microsoft.com/office/drawing/2014/main" id="{DF15199E-1A39-BBA2-6F1C-9F4C333412DE}"/>
                      </a:ext>
                    </a:extLst>
                  </p:cNvPr>
                  <p:cNvSpPr txBox="1"/>
                  <p:nvPr/>
                </p:nvSpPr>
                <p:spPr>
                  <a:xfrm>
                    <a:off x="5952767" y="3042879"/>
                    <a:ext cx="638316" cy="53860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ja-JP" sz="2900" dirty="0">
                        <a:latin typeface="Helvetica" pitchFamily="2" charset="0"/>
                      </a:rPr>
                      <a:t>(b)</a:t>
                    </a:r>
                    <a:endParaRPr lang="ja-JP" altLang="en-US" sz="2900">
                      <a:latin typeface="Helvetica" pitchFamily="2" charset="0"/>
                    </a:endParaRPr>
                  </a:p>
                </p:txBody>
              </p:sp>
              <p:sp>
                <p:nvSpPr>
                  <p:cNvPr id="12" name="テキスト ボックス 11">
                    <a:extLst>
                      <a:ext uri="{FF2B5EF4-FFF2-40B4-BE49-F238E27FC236}">
                        <a16:creationId xmlns:a16="http://schemas.microsoft.com/office/drawing/2014/main" id="{8583A30E-5EA1-39FF-FC94-5B3E026035DD}"/>
                      </a:ext>
                    </a:extLst>
                  </p:cNvPr>
                  <p:cNvSpPr txBox="1"/>
                  <p:nvPr/>
                </p:nvSpPr>
                <p:spPr>
                  <a:xfrm>
                    <a:off x="9740269" y="3042879"/>
                    <a:ext cx="617477" cy="53860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ja-JP" sz="2900" dirty="0">
                        <a:latin typeface="Helvetica" pitchFamily="2" charset="0"/>
                      </a:rPr>
                      <a:t>(c)</a:t>
                    </a:r>
                    <a:endParaRPr lang="ja-JP" altLang="en-US" sz="2900">
                      <a:latin typeface="Helvetica" pitchFamily="2" charset="0"/>
                    </a:endParaRPr>
                  </a:p>
                </p:txBody>
              </p:sp>
              <p:sp>
                <p:nvSpPr>
                  <p:cNvPr id="37" name="テキスト ボックス 36">
                    <a:extLst>
                      <a:ext uri="{FF2B5EF4-FFF2-40B4-BE49-F238E27FC236}">
                        <a16:creationId xmlns:a16="http://schemas.microsoft.com/office/drawing/2014/main" id="{6CEB0FD1-0277-C547-945B-1815563DE449}"/>
                      </a:ext>
                    </a:extLst>
                  </p:cNvPr>
                  <p:cNvSpPr txBox="1"/>
                  <p:nvPr/>
                </p:nvSpPr>
                <p:spPr>
                  <a:xfrm>
                    <a:off x="5952767" y="6859612"/>
                    <a:ext cx="638316" cy="53860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ja-JP" sz="2900" dirty="0">
                        <a:latin typeface="Helvetica" pitchFamily="2" charset="0"/>
                      </a:rPr>
                      <a:t>(d)</a:t>
                    </a:r>
                    <a:endParaRPr lang="ja-JP" altLang="en-US" sz="2900">
                      <a:latin typeface="Helvetica" pitchFamily="2" charset="0"/>
                    </a:endParaRPr>
                  </a:p>
                </p:txBody>
              </p:sp>
              <p:sp>
                <p:nvSpPr>
                  <p:cNvPr id="38" name="テキスト ボックス 37">
                    <a:extLst>
                      <a:ext uri="{FF2B5EF4-FFF2-40B4-BE49-F238E27FC236}">
                        <a16:creationId xmlns:a16="http://schemas.microsoft.com/office/drawing/2014/main" id="{D3A6D1A1-6F12-A4DE-FA93-A79F16C5417B}"/>
                      </a:ext>
                    </a:extLst>
                  </p:cNvPr>
                  <p:cNvSpPr txBox="1"/>
                  <p:nvPr/>
                </p:nvSpPr>
                <p:spPr>
                  <a:xfrm>
                    <a:off x="9740269" y="6859612"/>
                    <a:ext cx="638316" cy="53860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ja-JP" sz="2900" dirty="0">
                        <a:latin typeface="Helvetica" pitchFamily="2" charset="0"/>
                      </a:rPr>
                      <a:t>(e)</a:t>
                    </a:r>
                    <a:endParaRPr lang="ja-JP" altLang="en-US" sz="2900">
                      <a:latin typeface="Helvetica" pitchFamily="2" charset="0"/>
                    </a:endParaRPr>
                  </a:p>
                </p:txBody>
              </p:sp>
              <p:sp>
                <p:nvSpPr>
                  <p:cNvPr id="41" name="テキスト ボックス 40">
                    <a:extLst>
                      <a:ext uri="{FF2B5EF4-FFF2-40B4-BE49-F238E27FC236}">
                        <a16:creationId xmlns:a16="http://schemas.microsoft.com/office/drawing/2014/main" id="{26CC948B-AD28-421F-8741-3CB6803244F9}"/>
                      </a:ext>
                    </a:extLst>
                  </p:cNvPr>
                  <p:cNvSpPr txBox="1"/>
                  <p:nvPr/>
                </p:nvSpPr>
                <p:spPr>
                  <a:xfrm>
                    <a:off x="13779596" y="3042879"/>
                    <a:ext cx="534121" cy="53860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ja-JP" sz="2900" dirty="0">
                        <a:latin typeface="Helvetica" pitchFamily="2" charset="0"/>
                      </a:rPr>
                      <a:t>(f)</a:t>
                    </a:r>
                    <a:endParaRPr lang="ja-JP" altLang="en-US" sz="2900">
                      <a:latin typeface="Helvetica" pitchFamily="2" charset="0"/>
                    </a:endParaRPr>
                  </a:p>
                </p:txBody>
              </p:sp>
              <p:sp>
                <p:nvSpPr>
                  <p:cNvPr id="42" name="テキスト ボックス 41">
                    <a:extLst>
                      <a:ext uri="{FF2B5EF4-FFF2-40B4-BE49-F238E27FC236}">
                        <a16:creationId xmlns:a16="http://schemas.microsoft.com/office/drawing/2014/main" id="{366EFBA8-8C34-0EE6-1B57-CA7F4BA57FFD}"/>
                      </a:ext>
                    </a:extLst>
                  </p:cNvPr>
                  <p:cNvSpPr txBox="1"/>
                  <p:nvPr/>
                </p:nvSpPr>
                <p:spPr>
                  <a:xfrm>
                    <a:off x="13727498" y="6859612"/>
                    <a:ext cx="638316" cy="53860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ja-JP" sz="2900" dirty="0">
                        <a:latin typeface="Helvetica" pitchFamily="2" charset="0"/>
                      </a:rPr>
                      <a:t>(g)</a:t>
                    </a:r>
                    <a:endParaRPr lang="ja-JP" altLang="en-US" sz="2900">
                      <a:latin typeface="Helvetica" pitchFamily="2" charset="0"/>
                    </a:endParaRPr>
                  </a:p>
                </p:txBody>
              </p:sp>
              <p:cxnSp>
                <p:nvCxnSpPr>
                  <p:cNvPr id="46" name="直線コネクタ 45">
                    <a:extLst>
                      <a:ext uri="{FF2B5EF4-FFF2-40B4-BE49-F238E27FC236}">
                        <a16:creationId xmlns:a16="http://schemas.microsoft.com/office/drawing/2014/main" id="{87F14BDB-C98A-CBCD-FCAA-C2087A47791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726678" y="6621853"/>
                    <a:ext cx="1128428" cy="1238436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直線コネクタ 48">
                    <a:extLst>
                      <a:ext uri="{FF2B5EF4-FFF2-40B4-BE49-F238E27FC236}">
                        <a16:creationId xmlns:a16="http://schemas.microsoft.com/office/drawing/2014/main" id="{D5A763BA-BB96-9AD5-B83D-A177174498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751352" y="7990537"/>
                    <a:ext cx="1118173" cy="122763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1" name="テキスト ボックス 50">
                    <a:extLst>
                      <a:ext uri="{FF2B5EF4-FFF2-40B4-BE49-F238E27FC236}">
                        <a16:creationId xmlns:a16="http://schemas.microsoft.com/office/drawing/2014/main" id="{6F086D42-5B9C-46E3-0F28-B70F28F17F7A}"/>
                      </a:ext>
                    </a:extLst>
                  </p:cNvPr>
                  <p:cNvSpPr txBox="1"/>
                  <p:nvPr/>
                </p:nvSpPr>
                <p:spPr>
                  <a:xfrm>
                    <a:off x="3381797" y="9094029"/>
                    <a:ext cx="602833" cy="4493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ja-JP" sz="2320" dirty="0">
                        <a:latin typeface="Helvetica" pitchFamily="2" charset="0"/>
                      </a:rPr>
                      <a:t>(f) </a:t>
                    </a:r>
                    <a:endParaRPr lang="ja-JP" altLang="en-US" sz="2320">
                      <a:latin typeface="Helvetica" pitchFamily="2" charset="0"/>
                    </a:endParaRPr>
                  </a:p>
                </p:txBody>
              </p:sp>
              <p:sp>
                <p:nvSpPr>
                  <p:cNvPr id="53" name="テキスト ボックス 52">
                    <a:extLst>
                      <a:ext uri="{FF2B5EF4-FFF2-40B4-BE49-F238E27FC236}">
                        <a16:creationId xmlns:a16="http://schemas.microsoft.com/office/drawing/2014/main" id="{7522D0B8-5044-DB47-4AF4-793901265A2A}"/>
                      </a:ext>
                    </a:extLst>
                  </p:cNvPr>
                  <p:cNvSpPr txBox="1"/>
                  <p:nvPr/>
                </p:nvSpPr>
                <p:spPr>
                  <a:xfrm>
                    <a:off x="3282667" y="7743041"/>
                    <a:ext cx="746379" cy="4493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ja-JP" sz="2320" dirty="0">
                        <a:latin typeface="Helvetica" pitchFamily="2" charset="0"/>
                      </a:rPr>
                      <a:t>(g) </a:t>
                    </a:r>
                    <a:endParaRPr lang="ja-JP" altLang="en-US" sz="2320">
                      <a:latin typeface="Helvetica" pitchFamily="2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" name="テキスト ボックス 1">
                        <a:extLst>
                          <a:ext uri="{FF2B5EF4-FFF2-40B4-BE49-F238E27FC236}">
                            <a16:creationId xmlns:a16="http://schemas.microsoft.com/office/drawing/2014/main" id="{FB1B2341-0E46-AB98-3286-0F294903B95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077115" y="8467919"/>
                        <a:ext cx="377539" cy="49398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lang="en-US" altLang="ja-JP" sz="2610" i="1">
                                      <a:solidFill>
                                        <a:schemeClr val="accent2">
                                          <a:lumMod val="40000"/>
                                          <a:lumOff val="6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610" i="1">
                                      <a:solidFill>
                                        <a:schemeClr val="accent2">
                                          <a:lumMod val="40000"/>
                                          <a:lumOff val="6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ja-JP" sz="2610" i="1">
                                      <a:solidFill>
                                        <a:schemeClr val="accent2">
                                          <a:lumMod val="40000"/>
                                          <a:lumOff val="6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ja-JP" altLang="en-US" sz="261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Helvetica" pitchFamily="2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" name="テキスト ボックス 1">
                        <a:extLst>
                          <a:ext uri="{FF2B5EF4-FFF2-40B4-BE49-F238E27FC236}">
                            <a16:creationId xmlns:a16="http://schemas.microsoft.com/office/drawing/2014/main" id="{FB1B2341-0E46-AB98-3286-0F294903B95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077115" y="8467919"/>
                        <a:ext cx="377539" cy="493981"/>
                      </a:xfrm>
                      <a:prstGeom prst="rect">
                        <a:avLst/>
                      </a:prstGeom>
                      <a:blipFill>
                        <a:blip r:embed="rId14"/>
                        <a:stretch>
                          <a:fillRect l="-6452" r="-22581" b="-5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" name="テキスト ボックス 2">
                        <a:extLst>
                          <a:ext uri="{FF2B5EF4-FFF2-40B4-BE49-F238E27FC236}">
                            <a16:creationId xmlns:a16="http://schemas.microsoft.com/office/drawing/2014/main" id="{38A224C9-C8BD-DFE3-239B-089A9D8DCB8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622853" y="8453623"/>
                        <a:ext cx="1127078" cy="49398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lang="en-US" altLang="ja-JP" sz="2610" i="1">
                                      <a:solidFill>
                                        <a:schemeClr val="accent2">
                                          <a:lumMod val="40000"/>
                                          <a:lumOff val="6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610" i="1">
                                      <a:solidFill>
                                        <a:schemeClr val="accent2">
                                          <a:lumMod val="40000"/>
                                          <a:lumOff val="6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ja-JP" sz="2610" i="1">
                                      <a:solidFill>
                                        <a:schemeClr val="accent2">
                                          <a:lumMod val="40000"/>
                                          <a:lumOff val="6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ja-JP" sz="2610">
                                  <a:solidFill>
                                    <a:schemeClr val="accent2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ja-JP" sz="2610" i="1">
                                      <a:solidFill>
                                        <a:schemeClr val="accent2">
                                          <a:lumMod val="40000"/>
                                          <a:lumOff val="6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610" i="1">
                                      <a:solidFill>
                                        <a:schemeClr val="accent2">
                                          <a:lumMod val="40000"/>
                                          <a:lumOff val="6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ja-JP" sz="2610" i="1">
                                      <a:solidFill>
                                        <a:schemeClr val="accent2">
                                          <a:lumMod val="40000"/>
                                          <a:lumOff val="6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ja-JP" altLang="en-US" sz="261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Helvetica" pitchFamily="2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3" name="テキスト ボックス 2">
                        <a:extLst>
                          <a:ext uri="{FF2B5EF4-FFF2-40B4-BE49-F238E27FC236}">
                            <a16:creationId xmlns:a16="http://schemas.microsoft.com/office/drawing/2014/main" id="{38A224C9-C8BD-DFE3-239B-089A9D8DCB8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622853" y="8453623"/>
                        <a:ext cx="1127078" cy="493981"/>
                      </a:xfrm>
                      <a:prstGeom prst="rect">
                        <a:avLst/>
                      </a:prstGeom>
                      <a:blipFill>
                        <a:blip r:embed="rId17"/>
                        <a:stretch>
                          <a:fillRect b="-75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7" name="正方形/長方形 6">
                  <a:extLst>
                    <a:ext uri="{FF2B5EF4-FFF2-40B4-BE49-F238E27FC236}">
                      <a16:creationId xmlns:a16="http://schemas.microsoft.com/office/drawing/2014/main" id="{863D2C1B-781C-D751-79C9-EEE6091A7B9E}"/>
                    </a:ext>
                  </a:extLst>
                </p:cNvPr>
                <p:cNvSpPr/>
                <p:nvPr/>
              </p:nvSpPr>
              <p:spPr>
                <a:xfrm>
                  <a:off x="15565879" y="3950043"/>
                  <a:ext cx="387800" cy="1936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8" name="正方形/長方形 7">
                  <a:extLst>
                    <a:ext uri="{FF2B5EF4-FFF2-40B4-BE49-F238E27FC236}">
                      <a16:creationId xmlns:a16="http://schemas.microsoft.com/office/drawing/2014/main" id="{7474D55A-B73E-0490-ABA4-84E39F67FB5E}"/>
                    </a:ext>
                  </a:extLst>
                </p:cNvPr>
                <p:cNvSpPr/>
                <p:nvPr/>
              </p:nvSpPr>
              <p:spPr>
                <a:xfrm>
                  <a:off x="15565879" y="4293852"/>
                  <a:ext cx="387800" cy="1936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9" name="正方形/長方形 8">
                  <a:extLst>
                    <a:ext uri="{FF2B5EF4-FFF2-40B4-BE49-F238E27FC236}">
                      <a16:creationId xmlns:a16="http://schemas.microsoft.com/office/drawing/2014/main" id="{B19CE870-B974-36EB-BE48-32C7C77945E3}"/>
                    </a:ext>
                  </a:extLst>
                </p:cNvPr>
                <p:cNvSpPr/>
                <p:nvPr/>
              </p:nvSpPr>
              <p:spPr>
                <a:xfrm>
                  <a:off x="17286884" y="7564847"/>
                  <a:ext cx="387800" cy="1936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0" name="正方形/長方形 9">
                  <a:extLst>
                    <a:ext uri="{FF2B5EF4-FFF2-40B4-BE49-F238E27FC236}">
                      <a16:creationId xmlns:a16="http://schemas.microsoft.com/office/drawing/2014/main" id="{9A7F82A5-4C62-3EE0-66FD-2D4D84D6802A}"/>
                    </a:ext>
                  </a:extLst>
                </p:cNvPr>
                <p:cNvSpPr/>
                <p:nvPr/>
              </p:nvSpPr>
              <p:spPr>
                <a:xfrm>
                  <a:off x="17286884" y="7947665"/>
                  <a:ext cx="387800" cy="1936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1" name="正方形/長方形 10">
                  <a:extLst>
                    <a:ext uri="{FF2B5EF4-FFF2-40B4-BE49-F238E27FC236}">
                      <a16:creationId xmlns:a16="http://schemas.microsoft.com/office/drawing/2014/main" id="{442BF777-985C-7EEF-3FD2-77E171ADFB19}"/>
                    </a:ext>
                  </a:extLst>
                </p:cNvPr>
                <p:cNvSpPr/>
                <p:nvPr/>
              </p:nvSpPr>
              <p:spPr>
                <a:xfrm rot="16200000">
                  <a:off x="13446486" y="8636580"/>
                  <a:ext cx="387800" cy="1936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3" name="正方形/長方形 12">
                  <a:extLst>
                    <a:ext uri="{FF2B5EF4-FFF2-40B4-BE49-F238E27FC236}">
                      <a16:creationId xmlns:a16="http://schemas.microsoft.com/office/drawing/2014/main" id="{107AB31A-8F5E-D894-7D29-3FCAEB224FF9}"/>
                    </a:ext>
                  </a:extLst>
                </p:cNvPr>
                <p:cNvSpPr/>
                <p:nvPr/>
              </p:nvSpPr>
              <p:spPr>
                <a:xfrm rot="16200000">
                  <a:off x="13445584" y="9252798"/>
                  <a:ext cx="387800" cy="1936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4" name="正方形/長方形 13">
                  <a:extLst>
                    <a:ext uri="{FF2B5EF4-FFF2-40B4-BE49-F238E27FC236}">
                      <a16:creationId xmlns:a16="http://schemas.microsoft.com/office/drawing/2014/main" id="{89C20CFE-8DE9-1C4D-A91A-AF01D9CEC256}"/>
                    </a:ext>
                  </a:extLst>
                </p:cNvPr>
                <p:cNvSpPr/>
                <p:nvPr/>
              </p:nvSpPr>
              <p:spPr>
                <a:xfrm rot="16200000">
                  <a:off x="13470698" y="5612021"/>
                  <a:ext cx="387800" cy="1936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5" name="正方形/長方形 14">
                  <a:extLst>
                    <a:ext uri="{FF2B5EF4-FFF2-40B4-BE49-F238E27FC236}">
                      <a16:creationId xmlns:a16="http://schemas.microsoft.com/office/drawing/2014/main" id="{9541D5CF-F69F-AE69-8BBA-A93681B0A315}"/>
                    </a:ext>
                  </a:extLst>
                </p:cNvPr>
                <p:cNvSpPr/>
                <p:nvPr/>
              </p:nvSpPr>
              <p:spPr>
                <a:xfrm rot="16200000">
                  <a:off x="13470699" y="4988448"/>
                  <a:ext cx="387800" cy="1936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BF071F06-A9A3-E2D9-6FAE-BCB8A4C7E737}"/>
                  </a:ext>
                </a:extLst>
              </p:cNvPr>
              <p:cNvSpPr txBox="1"/>
              <p:nvPr/>
            </p:nvSpPr>
            <p:spPr>
              <a:xfrm rot="16200000">
                <a:off x="5005963" y="4701446"/>
                <a:ext cx="2745110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 (-</a:t>
                </a:r>
                <a:r>
                  <a:rPr kumimoji="1" lang="en-US" altLang="ja-JP" sz="2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K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/2, </a:t>
                </a:r>
                <a:r>
                  <a:rPr kumimoji="1" lang="en-US" altLang="ja-JP" sz="2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K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 1.5) (</a:t>
                </a:r>
                <a:r>
                  <a:rPr kumimoji="1" lang="en-US" altLang="ja-JP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r.l.u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.)</a:t>
                </a:r>
                <a:endParaRPr kumimoji="1" lang="ja-JP" altLang="en-US" sz="2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8521F9C2-C93E-38C1-928F-9928DEFAD2B7}"/>
                  </a:ext>
                </a:extLst>
              </p:cNvPr>
              <p:cNvSpPr txBox="1"/>
              <p:nvPr/>
            </p:nvSpPr>
            <p:spPr>
              <a:xfrm rot="16200000">
                <a:off x="9672413" y="8388914"/>
                <a:ext cx="1143711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kumimoji="1" lang="en-US" altLang="ja-JP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r.l.u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.)</a:t>
                </a:r>
                <a:endParaRPr kumimoji="1" lang="ja-JP" altLang="en-US" sz="2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47F5CF58-4ABE-D807-FB0B-0B7F08CE19E8}"/>
                  </a:ext>
                </a:extLst>
              </p:cNvPr>
              <p:cNvSpPr txBox="1"/>
              <p:nvPr/>
            </p:nvSpPr>
            <p:spPr>
              <a:xfrm rot="16200000">
                <a:off x="8871713" y="4701446"/>
                <a:ext cx="2745110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 (-</a:t>
                </a:r>
                <a:r>
                  <a:rPr kumimoji="1" lang="en-US" altLang="ja-JP" sz="2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K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/2, </a:t>
                </a:r>
                <a:r>
                  <a:rPr kumimoji="1" lang="en-US" altLang="ja-JP" sz="2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K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 1.5) (</a:t>
                </a:r>
                <a:r>
                  <a:rPr kumimoji="1" lang="en-US" altLang="ja-JP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r.l.u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.)</a:t>
                </a:r>
                <a:endParaRPr kumimoji="1" lang="ja-JP" altLang="en-US" sz="2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61122025-9557-1CDC-2B1A-33BF6B701291}"/>
                  </a:ext>
                </a:extLst>
              </p:cNvPr>
              <p:cNvSpPr txBox="1"/>
              <p:nvPr/>
            </p:nvSpPr>
            <p:spPr>
              <a:xfrm rot="16200000">
                <a:off x="5476447" y="8388914"/>
                <a:ext cx="1804148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(0,0,</a:t>
                </a:r>
                <a:r>
                  <a:rPr kumimoji="1" lang="en-US" altLang="ja-JP" sz="2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) (</a:t>
                </a:r>
                <a:r>
                  <a:rPr kumimoji="1" lang="en-US" altLang="ja-JP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r.l.u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.)</a:t>
                </a:r>
                <a:endParaRPr kumimoji="1" lang="ja-JP" altLang="en-US" sz="2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5D4C48C9-7EE0-3D3D-CED4-70C3F21A13C8}"/>
                </a:ext>
              </a:extLst>
            </p:cNvPr>
            <p:cNvSpPr txBox="1"/>
            <p:nvPr/>
          </p:nvSpPr>
          <p:spPr>
            <a:xfrm>
              <a:off x="11100188" y="10186273"/>
              <a:ext cx="1850635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kumimoji="1" lang="en-US" altLang="ja-JP" sz="2200" i="1" dirty="0"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,0,0) (</a:t>
              </a:r>
              <a:r>
                <a:rPr kumimoji="1" lang="en-US" altLang="ja-JP" sz="2200" dirty="0" err="1">
                  <a:latin typeface="Arial" panose="020B0604020202020204" pitchFamily="34" charset="0"/>
                  <a:cs typeface="Arial" panose="020B0604020202020204" pitchFamily="34" charset="0"/>
                </a:rPr>
                <a:t>r.l.u</a:t>
              </a:r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.)</a:t>
              </a:r>
              <a:endParaRPr kumimoji="1" lang="ja-JP" altLang="en-US" sz="2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4D22C95F-33DC-AF39-2E99-BC7586FE4AEB}"/>
                </a:ext>
              </a:extLst>
            </p:cNvPr>
            <p:cNvSpPr txBox="1"/>
            <p:nvPr/>
          </p:nvSpPr>
          <p:spPr>
            <a:xfrm>
              <a:off x="7241793" y="10186273"/>
              <a:ext cx="1850635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kumimoji="1" lang="en-US" altLang="ja-JP" sz="2200" i="1" dirty="0"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,0,0) (</a:t>
              </a:r>
              <a:r>
                <a:rPr kumimoji="1" lang="en-US" altLang="ja-JP" sz="2200" dirty="0" err="1">
                  <a:latin typeface="Arial" panose="020B0604020202020204" pitchFamily="34" charset="0"/>
                  <a:cs typeface="Arial" panose="020B0604020202020204" pitchFamily="34" charset="0"/>
                </a:rPr>
                <a:t>r.l.u</a:t>
              </a:r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.)</a:t>
              </a:r>
              <a:endParaRPr kumimoji="1" lang="ja-JP" altLang="en-US" sz="2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FDC01C13-4508-0ECD-EE98-2BAE2C12A64D}"/>
                </a:ext>
              </a:extLst>
            </p:cNvPr>
            <p:cNvSpPr txBox="1"/>
            <p:nvPr/>
          </p:nvSpPr>
          <p:spPr>
            <a:xfrm>
              <a:off x="7240569" y="6558968"/>
              <a:ext cx="2086277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kumimoji="1" lang="en-US" altLang="ja-JP" sz="2200" i="1" dirty="0"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,0,1.5) (</a:t>
              </a:r>
              <a:r>
                <a:rPr kumimoji="1" lang="en-US" altLang="ja-JP" sz="2200" dirty="0" err="1">
                  <a:latin typeface="Arial" panose="020B0604020202020204" pitchFamily="34" charset="0"/>
                  <a:cs typeface="Arial" panose="020B0604020202020204" pitchFamily="34" charset="0"/>
                </a:rPr>
                <a:t>r.l.u</a:t>
              </a:r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.)</a:t>
              </a:r>
              <a:endParaRPr kumimoji="1" lang="ja-JP" altLang="en-US" sz="2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24AC06B8-884F-343E-A848-DA29E738895F}"/>
                </a:ext>
              </a:extLst>
            </p:cNvPr>
            <p:cNvSpPr txBox="1"/>
            <p:nvPr/>
          </p:nvSpPr>
          <p:spPr>
            <a:xfrm>
              <a:off x="11100188" y="6556166"/>
              <a:ext cx="2086277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kumimoji="1" lang="en-US" altLang="ja-JP" sz="2200" i="1" dirty="0"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,0,1.5) (</a:t>
              </a:r>
              <a:r>
                <a:rPr kumimoji="1" lang="en-US" altLang="ja-JP" sz="2200" dirty="0" err="1">
                  <a:latin typeface="Arial" panose="020B0604020202020204" pitchFamily="34" charset="0"/>
                  <a:cs typeface="Arial" panose="020B0604020202020204" pitchFamily="34" charset="0"/>
                </a:rPr>
                <a:t>r.l.u</a:t>
              </a:r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.)</a:t>
              </a:r>
              <a:endParaRPr kumimoji="1" lang="ja-JP" altLang="en-US" sz="2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AA6457A2-706D-9515-8479-3114207439A6}"/>
              </a:ext>
            </a:extLst>
          </p:cNvPr>
          <p:cNvSpPr/>
          <p:nvPr/>
        </p:nvSpPr>
        <p:spPr>
          <a:xfrm>
            <a:off x="11037590" y="4821968"/>
            <a:ext cx="1493847" cy="55821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C218B858-AA36-FB12-5B31-DD34E51346AC}"/>
              </a:ext>
            </a:extLst>
          </p:cNvPr>
          <p:cNvSpPr/>
          <p:nvPr/>
        </p:nvSpPr>
        <p:spPr>
          <a:xfrm>
            <a:off x="11037590" y="4151111"/>
            <a:ext cx="1493847" cy="62968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90146091-B76C-87F0-8C24-B888D3867CA7}"/>
              </a:ext>
            </a:extLst>
          </p:cNvPr>
          <p:cNvSpPr txBox="1"/>
          <p:nvPr/>
        </p:nvSpPr>
        <p:spPr>
          <a:xfrm>
            <a:off x="15380831" y="10186273"/>
            <a:ext cx="2086277" cy="43088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1" lang="en-US" altLang="ja-JP" sz="2200" i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kumimoji="1" lang="en-US" altLang="ja-JP" sz="2200" dirty="0">
                <a:latin typeface="Arial" panose="020B0604020202020204" pitchFamily="34" charset="0"/>
                <a:cs typeface="Arial" panose="020B0604020202020204" pitchFamily="34" charset="0"/>
              </a:rPr>
              <a:t>,0,1.5) (</a:t>
            </a:r>
            <a:r>
              <a:rPr kumimoji="1" lang="en-US" altLang="ja-JP" sz="2200" dirty="0" err="1">
                <a:latin typeface="Arial" panose="020B0604020202020204" pitchFamily="34" charset="0"/>
                <a:cs typeface="Arial" panose="020B0604020202020204" pitchFamily="34" charset="0"/>
              </a:rPr>
              <a:t>r.l.u</a:t>
            </a:r>
            <a:r>
              <a:rPr kumimoji="1" lang="en-US" altLang="ja-JP" sz="2200" dirty="0">
                <a:latin typeface="Arial" panose="020B0604020202020204" pitchFamily="34" charset="0"/>
                <a:cs typeface="Arial" panose="020B0604020202020204" pitchFamily="34" charset="0"/>
              </a:rPr>
              <a:t>.)</a:t>
            </a:r>
            <a:endParaRPr kumimoji="1" lang="ja-JP" alt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A4173317-93D1-62CE-42BC-F11327C95386}"/>
              </a:ext>
            </a:extLst>
          </p:cNvPr>
          <p:cNvSpPr txBox="1"/>
          <p:nvPr/>
        </p:nvSpPr>
        <p:spPr>
          <a:xfrm>
            <a:off x="15200607" y="6556166"/>
            <a:ext cx="2086277" cy="43088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1" lang="en-US" altLang="ja-JP" sz="2200" i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kumimoji="1" lang="en-US" altLang="ja-JP" sz="2200" dirty="0">
                <a:latin typeface="Arial" panose="020B0604020202020204" pitchFamily="34" charset="0"/>
                <a:cs typeface="Arial" panose="020B0604020202020204" pitchFamily="34" charset="0"/>
              </a:rPr>
              <a:t>,0,1.5) (</a:t>
            </a:r>
            <a:r>
              <a:rPr kumimoji="1" lang="en-US" altLang="ja-JP" sz="2200" dirty="0" err="1">
                <a:latin typeface="Arial" panose="020B0604020202020204" pitchFamily="34" charset="0"/>
                <a:cs typeface="Arial" panose="020B0604020202020204" pitchFamily="34" charset="0"/>
              </a:rPr>
              <a:t>r.l.u</a:t>
            </a:r>
            <a:r>
              <a:rPr kumimoji="1" lang="en-US" altLang="ja-JP" sz="2200" dirty="0">
                <a:latin typeface="Arial" panose="020B0604020202020204" pitchFamily="34" charset="0"/>
                <a:cs typeface="Arial" panose="020B0604020202020204" pitchFamily="34" charset="0"/>
              </a:rPr>
              <a:t>.)</a:t>
            </a:r>
            <a:endParaRPr kumimoji="1" lang="ja-JP" alt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C77ED428-F41C-4DF1-02CC-D021F5995657}"/>
              </a:ext>
            </a:extLst>
          </p:cNvPr>
          <p:cNvSpPr txBox="1"/>
          <p:nvPr/>
        </p:nvSpPr>
        <p:spPr>
          <a:xfrm rot="16200000">
            <a:off x="12975807" y="4729195"/>
            <a:ext cx="2446504" cy="43088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200" dirty="0">
                <a:latin typeface="Arial" panose="020B0604020202020204" pitchFamily="34" charset="0"/>
                <a:cs typeface="Arial" panose="020B0604020202020204" pitchFamily="34" charset="0"/>
              </a:rPr>
              <a:t>Intensity (</a:t>
            </a:r>
            <a:r>
              <a:rPr kumimoji="1" lang="en-US" altLang="ja-JP" sz="2200" dirty="0" err="1">
                <a:latin typeface="Arial" panose="020B0604020202020204" pitchFamily="34" charset="0"/>
                <a:cs typeface="Arial" panose="020B0604020202020204" pitchFamily="34" charset="0"/>
              </a:rPr>
              <a:t>arb.unit</a:t>
            </a:r>
            <a:r>
              <a:rPr kumimoji="1" lang="en-US" altLang="ja-JP" sz="2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1" lang="ja-JP" alt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2453BC16-13C2-4081-8D11-900C925E0D15}"/>
              </a:ext>
            </a:extLst>
          </p:cNvPr>
          <p:cNvSpPr txBox="1"/>
          <p:nvPr/>
        </p:nvSpPr>
        <p:spPr>
          <a:xfrm rot="16200000">
            <a:off x="12823989" y="8476398"/>
            <a:ext cx="2446504" cy="43088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200" dirty="0">
                <a:latin typeface="Arial" panose="020B0604020202020204" pitchFamily="34" charset="0"/>
                <a:cs typeface="Arial" panose="020B0604020202020204" pitchFamily="34" charset="0"/>
              </a:rPr>
              <a:t>Intensity (</a:t>
            </a:r>
            <a:r>
              <a:rPr kumimoji="1" lang="en-US" altLang="ja-JP" sz="2200" dirty="0" err="1">
                <a:latin typeface="Arial" panose="020B0604020202020204" pitchFamily="34" charset="0"/>
                <a:cs typeface="Arial" panose="020B0604020202020204" pitchFamily="34" charset="0"/>
              </a:rPr>
              <a:t>arb.unit</a:t>
            </a:r>
            <a:r>
              <a:rPr kumimoji="1" lang="en-US" altLang="ja-JP" sz="2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1" lang="ja-JP" alt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三角形 70">
            <a:extLst>
              <a:ext uri="{FF2B5EF4-FFF2-40B4-BE49-F238E27FC236}">
                <a16:creationId xmlns:a16="http://schemas.microsoft.com/office/drawing/2014/main" id="{63D03540-5A97-E4EC-D5C3-9C0E199557F0}"/>
              </a:ext>
            </a:extLst>
          </p:cNvPr>
          <p:cNvSpPr/>
          <p:nvPr/>
        </p:nvSpPr>
        <p:spPr>
          <a:xfrm rot="1118277">
            <a:off x="7502113" y="4527542"/>
            <a:ext cx="905427" cy="780541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81950CB3-BA54-CB71-81D4-00ACC714F2E9}"/>
              </a:ext>
            </a:extLst>
          </p:cNvPr>
          <p:cNvSpPr txBox="1"/>
          <p:nvPr/>
        </p:nvSpPr>
        <p:spPr>
          <a:xfrm>
            <a:off x="11187426" y="4082318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>
                <a:latin typeface="Helvetica" pitchFamily="2" charset="0"/>
              </a:rPr>
              <a:t>(f)</a:t>
            </a:r>
            <a:endParaRPr kumimoji="1" lang="ja-JP" altLang="en-US" sz="2800">
              <a:latin typeface="Helvetica" pitchFamily="2" charset="0"/>
            </a:endParaRP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2D5CE81C-17B1-CA69-53DE-AFC377188245}"/>
              </a:ext>
            </a:extLst>
          </p:cNvPr>
          <p:cNvSpPr txBox="1"/>
          <p:nvPr/>
        </p:nvSpPr>
        <p:spPr>
          <a:xfrm>
            <a:off x="11784020" y="4823211"/>
            <a:ext cx="625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>
                <a:latin typeface="Helvetica" pitchFamily="2" charset="0"/>
              </a:rPr>
              <a:t>(g)</a:t>
            </a:r>
            <a:endParaRPr kumimoji="1" lang="ja-JP" altLang="en-US" sz="280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99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D6622-F07C-B59C-977C-1FEBCAC0C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グループ化 103">
            <a:extLst>
              <a:ext uri="{FF2B5EF4-FFF2-40B4-BE49-F238E27FC236}">
                <a16:creationId xmlns:a16="http://schemas.microsoft.com/office/drawing/2014/main" id="{28921DFC-CBF2-B7F3-B1FD-0BEB2B04F80C}"/>
              </a:ext>
            </a:extLst>
          </p:cNvPr>
          <p:cNvGrpSpPr/>
          <p:nvPr/>
        </p:nvGrpSpPr>
        <p:grpSpPr>
          <a:xfrm>
            <a:off x="872905" y="3042879"/>
            <a:ext cx="17423657" cy="7574281"/>
            <a:chOff x="872905" y="3042879"/>
            <a:chExt cx="17423657" cy="7574281"/>
          </a:xfrm>
        </p:grpSpPr>
        <p:grpSp>
          <p:nvGrpSpPr>
            <p:cNvPr id="81" name="グループ化 80">
              <a:extLst>
                <a:ext uri="{FF2B5EF4-FFF2-40B4-BE49-F238E27FC236}">
                  <a16:creationId xmlns:a16="http://schemas.microsoft.com/office/drawing/2014/main" id="{9C0330B3-A178-58C3-783D-62BE20A2DC48}"/>
                </a:ext>
              </a:extLst>
            </p:cNvPr>
            <p:cNvGrpSpPr/>
            <p:nvPr/>
          </p:nvGrpSpPr>
          <p:grpSpPr>
            <a:xfrm>
              <a:off x="2047699" y="3042879"/>
              <a:ext cx="16248863" cy="7574281"/>
              <a:chOff x="2047699" y="3042879"/>
              <a:chExt cx="16248863" cy="7574281"/>
            </a:xfrm>
          </p:grpSpPr>
          <p:pic>
            <p:nvPicPr>
              <p:cNvPr id="92" name="図 91">
                <a:extLst>
                  <a:ext uri="{FF2B5EF4-FFF2-40B4-BE49-F238E27FC236}">
                    <a16:creationId xmlns:a16="http://schemas.microsoft.com/office/drawing/2014/main" id="{EBE25854-A295-9546-5FC5-AC7B964D36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912674" y="6939999"/>
                <a:ext cx="4383888" cy="3653240"/>
              </a:xfrm>
              <a:prstGeom prst="rect">
                <a:avLst/>
              </a:prstGeom>
            </p:spPr>
          </p:pic>
          <p:pic>
            <p:nvPicPr>
              <p:cNvPr id="94" name="図 93">
                <a:extLst>
                  <a:ext uri="{FF2B5EF4-FFF2-40B4-BE49-F238E27FC236}">
                    <a16:creationId xmlns:a16="http://schemas.microsoft.com/office/drawing/2014/main" id="{92CC36AA-25F0-A66A-A521-14CF8127FC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912674" y="3310922"/>
                <a:ext cx="4383548" cy="3652957"/>
              </a:xfrm>
              <a:prstGeom prst="rect">
                <a:avLst/>
              </a:prstGeom>
            </p:spPr>
          </p:pic>
          <p:pic>
            <p:nvPicPr>
              <p:cNvPr id="87" name="図 86">
                <a:extLst>
                  <a:ext uri="{FF2B5EF4-FFF2-40B4-BE49-F238E27FC236}">
                    <a16:creationId xmlns:a16="http://schemas.microsoft.com/office/drawing/2014/main" id="{1DADAE98-9706-BE8C-3645-4D440C0CC9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86959" y="6941948"/>
                <a:ext cx="3649343" cy="3649343"/>
              </a:xfrm>
              <a:prstGeom prst="rect">
                <a:avLst/>
              </a:prstGeom>
            </p:spPr>
          </p:pic>
          <p:pic>
            <p:nvPicPr>
              <p:cNvPr id="89" name="図 88">
                <a:extLst>
                  <a:ext uri="{FF2B5EF4-FFF2-40B4-BE49-F238E27FC236}">
                    <a16:creationId xmlns:a16="http://schemas.microsoft.com/office/drawing/2014/main" id="{FF5F5CBD-29D5-5CAD-07A5-25320414F2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85152" y="3310922"/>
                <a:ext cx="3652957" cy="3652957"/>
              </a:xfrm>
              <a:prstGeom prst="rect">
                <a:avLst/>
              </a:prstGeom>
            </p:spPr>
          </p:pic>
          <p:pic>
            <p:nvPicPr>
              <p:cNvPr id="85" name="図 84">
                <a:extLst>
                  <a:ext uri="{FF2B5EF4-FFF2-40B4-BE49-F238E27FC236}">
                    <a16:creationId xmlns:a16="http://schemas.microsoft.com/office/drawing/2014/main" id="{05E8A680-3FFD-F3EB-6E97-D412980EB7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35858" y="3310922"/>
                <a:ext cx="3652957" cy="3652957"/>
              </a:xfrm>
              <a:prstGeom prst="rect">
                <a:avLst/>
              </a:prstGeom>
            </p:spPr>
          </p:pic>
          <p:pic>
            <p:nvPicPr>
              <p:cNvPr id="84" name="図 83">
                <a:extLst>
                  <a:ext uri="{FF2B5EF4-FFF2-40B4-BE49-F238E27FC236}">
                    <a16:creationId xmlns:a16="http://schemas.microsoft.com/office/drawing/2014/main" id="{893C0156-09BB-EB0E-41D0-E89B4B06CE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09476" y="6939911"/>
                <a:ext cx="3653416" cy="3653416"/>
              </a:xfrm>
              <a:prstGeom prst="rect">
                <a:avLst/>
              </a:prstGeom>
            </p:spPr>
          </p:pic>
          <p:pic>
            <p:nvPicPr>
              <p:cNvPr id="29" name="図 28">
                <a:extLst>
                  <a:ext uri="{FF2B5EF4-FFF2-40B4-BE49-F238E27FC236}">
                    <a16:creationId xmlns:a16="http://schemas.microsoft.com/office/drawing/2014/main" id="{B2B06E5A-9D00-24CD-D626-60BB5764AC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rcRect l="23307" t="22048" r="4567" b="21066"/>
              <a:stretch>
                <a:fillRect/>
              </a:stretch>
            </p:blipFill>
            <p:spPr>
              <a:xfrm>
                <a:off x="2047699" y="4046862"/>
                <a:ext cx="4065286" cy="5551268"/>
              </a:xfrm>
              <a:prstGeom prst="rect">
                <a:avLst/>
              </a:prstGeom>
            </p:spPr>
          </p:pic>
          <p:sp>
            <p:nvSpPr>
              <p:cNvPr id="21" name="三角形 20">
                <a:extLst>
                  <a:ext uri="{FF2B5EF4-FFF2-40B4-BE49-F238E27FC236}">
                    <a16:creationId xmlns:a16="http://schemas.microsoft.com/office/drawing/2014/main" id="{EC1138F6-16A0-EA4E-2CA0-E5172CB18740}"/>
                  </a:ext>
                </a:extLst>
              </p:cNvPr>
              <p:cNvSpPr/>
              <p:nvPr/>
            </p:nvSpPr>
            <p:spPr>
              <a:xfrm rot="6000000">
                <a:off x="5850714" y="8640778"/>
                <a:ext cx="243963" cy="121472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2" name="三角形 21">
                <a:extLst>
                  <a:ext uri="{FF2B5EF4-FFF2-40B4-BE49-F238E27FC236}">
                    <a16:creationId xmlns:a16="http://schemas.microsoft.com/office/drawing/2014/main" id="{ECF30E4F-D588-D0A0-AC98-1430EAE25F47}"/>
                  </a:ext>
                </a:extLst>
              </p:cNvPr>
              <p:cNvSpPr/>
              <p:nvPr/>
            </p:nvSpPr>
            <p:spPr>
              <a:xfrm>
                <a:off x="2053498" y="3885081"/>
                <a:ext cx="140908" cy="210313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3" name="三角形 22">
                <a:extLst>
                  <a:ext uri="{FF2B5EF4-FFF2-40B4-BE49-F238E27FC236}">
                    <a16:creationId xmlns:a16="http://schemas.microsoft.com/office/drawing/2014/main" id="{26044AE2-5C1A-DDD6-F437-E13214E23B35}"/>
                  </a:ext>
                </a:extLst>
              </p:cNvPr>
              <p:cNvSpPr/>
              <p:nvPr/>
            </p:nvSpPr>
            <p:spPr>
              <a:xfrm rot="2691792">
                <a:off x="3033171" y="6469165"/>
                <a:ext cx="243963" cy="121472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テキスト ボックス 24">
                    <a:extLst>
                      <a:ext uri="{FF2B5EF4-FFF2-40B4-BE49-F238E27FC236}">
                        <a16:creationId xmlns:a16="http://schemas.microsoft.com/office/drawing/2014/main" id="{EAC4F1D9-9D69-A71A-29D9-27B942D40BDD}"/>
                      </a:ext>
                    </a:extLst>
                  </p:cNvPr>
                  <p:cNvSpPr txBox="1"/>
                  <p:nvPr/>
                </p:nvSpPr>
                <p:spPr>
                  <a:xfrm>
                    <a:off x="5398799" y="7166786"/>
                    <a:ext cx="567548" cy="49488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acc>
                            <m:accPr>
                              <m:chr m:val="̅"/>
                              <m:ctrlP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acc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02</m:t>
                          </m:r>
                        </m:oMath>
                      </m:oMathPara>
                    </a14:m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25" name="テキスト ボックス 24">
                    <a:extLst>
                      <a:ext uri="{FF2B5EF4-FFF2-40B4-BE49-F238E27FC236}">
                        <a16:creationId xmlns:a16="http://schemas.microsoft.com/office/drawing/2014/main" id="{EAC4F1D9-9D69-A71A-29D9-27B942D40BD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98799" y="7166786"/>
                    <a:ext cx="567548" cy="49488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6667" r="-35556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5255A27E-478D-1EE0-BB20-23FBBE0BBDB1}"/>
                  </a:ext>
                </a:extLst>
              </p:cNvPr>
              <p:cNvSpPr txBox="1"/>
              <p:nvPr/>
            </p:nvSpPr>
            <p:spPr>
              <a:xfrm>
                <a:off x="4588743" y="8766619"/>
                <a:ext cx="1855302" cy="493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610" dirty="0">
                    <a:latin typeface="Helvetica" pitchFamily="2" charset="0"/>
                  </a:rPr>
                  <a:t>(0,0,</a:t>
                </a:r>
                <a:r>
                  <a:rPr lang="en-US" altLang="ja-JP" sz="2610" i="1" dirty="0">
                    <a:latin typeface="Helvetica" pitchFamily="2" charset="0"/>
                  </a:rPr>
                  <a:t>L</a:t>
                </a:r>
                <a:r>
                  <a:rPr lang="en-US" altLang="ja-JP" sz="2610" dirty="0">
                    <a:latin typeface="Helvetica" pitchFamily="2" charset="0"/>
                  </a:rPr>
                  <a:t>) || y</a:t>
                </a:r>
                <a:endParaRPr lang="ja-JP" altLang="en-US" sz="2610">
                  <a:latin typeface="Helvetica" pitchFamily="2" charset="0"/>
                </a:endParaRPr>
              </a:p>
            </p:txBody>
          </p:sp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964ADE59-D038-8D5C-8DBE-F610B314CFD6}"/>
                  </a:ext>
                </a:extLst>
              </p:cNvPr>
              <p:cNvSpPr txBox="1"/>
              <p:nvPr/>
            </p:nvSpPr>
            <p:spPr>
              <a:xfrm>
                <a:off x="2177228" y="3704310"/>
                <a:ext cx="2280652" cy="493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610" dirty="0">
                    <a:latin typeface="Helvetica" pitchFamily="2" charset="0"/>
                  </a:rPr>
                  <a:t>(</a:t>
                </a:r>
                <a:r>
                  <a:rPr lang="en-US" altLang="ja-JP" sz="2610" i="1" dirty="0">
                    <a:latin typeface="Helvetica" pitchFamily="2" charset="0"/>
                  </a:rPr>
                  <a:t>K</a:t>
                </a:r>
                <a:r>
                  <a:rPr lang="en-US" altLang="ja-JP" sz="2610" dirty="0">
                    <a:latin typeface="Helvetica" pitchFamily="2" charset="0"/>
                  </a:rPr>
                  <a:t>/2,-</a:t>
                </a:r>
                <a:r>
                  <a:rPr lang="en-US" altLang="ja-JP" sz="2610" i="1" dirty="0">
                    <a:latin typeface="Helvetica" pitchFamily="2" charset="0"/>
                  </a:rPr>
                  <a:t>K</a:t>
                </a:r>
                <a:r>
                  <a:rPr lang="en-US" altLang="ja-JP" sz="2610" dirty="0">
                    <a:latin typeface="Helvetica" pitchFamily="2" charset="0"/>
                  </a:rPr>
                  <a:t>,0) || z</a:t>
                </a:r>
                <a:endParaRPr lang="ja-JP" altLang="en-US" sz="2610">
                  <a:latin typeface="Helvetica" pitchFamily="2" charset="0"/>
                </a:endParaRPr>
              </a:p>
            </p:txBody>
          </p:sp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5A523A43-C648-689C-BFD7-2216ADB7E708}"/>
                  </a:ext>
                </a:extLst>
              </p:cNvPr>
              <p:cNvSpPr txBox="1"/>
              <p:nvPr/>
            </p:nvSpPr>
            <p:spPr>
              <a:xfrm>
                <a:off x="4858815" y="5333551"/>
                <a:ext cx="1182620" cy="4493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320" dirty="0">
                    <a:latin typeface="Helvetica" pitchFamily="2" charset="0"/>
                  </a:rPr>
                  <a:t>(d), (e) </a:t>
                </a:r>
                <a:endParaRPr lang="ja-JP" altLang="en-US" sz="2320">
                  <a:latin typeface="Helvetica" pitchFamily="2" charset="0"/>
                </a:endParaRPr>
              </a:p>
            </p:txBody>
          </p:sp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178C3F3E-BB29-1DE7-E69A-CD96B100E986}"/>
                  </a:ext>
                </a:extLst>
              </p:cNvPr>
              <p:cNvSpPr txBox="1"/>
              <p:nvPr/>
            </p:nvSpPr>
            <p:spPr>
              <a:xfrm>
                <a:off x="3626600" y="4719962"/>
                <a:ext cx="1146941" cy="4493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320" dirty="0">
                    <a:latin typeface="Helvetica" pitchFamily="2" charset="0"/>
                  </a:rPr>
                  <a:t>(b), (c) </a:t>
                </a:r>
                <a:endParaRPr lang="ja-JP" altLang="en-US" sz="2320">
                  <a:latin typeface="Helvetica" pitchFamily="2" charset="0"/>
                </a:endParaRPr>
              </a:p>
            </p:txBody>
          </p:sp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440F2CEC-48ED-A560-8FA5-659B25DA76A3}"/>
                  </a:ext>
                </a:extLst>
              </p:cNvPr>
              <p:cNvSpPr txBox="1"/>
              <p:nvPr/>
            </p:nvSpPr>
            <p:spPr>
              <a:xfrm>
                <a:off x="2376906" y="5724362"/>
                <a:ext cx="2109221" cy="493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610" dirty="0">
                    <a:latin typeface="Helvetica" pitchFamily="2" charset="0"/>
                  </a:rPr>
                  <a:t>(-</a:t>
                </a:r>
                <a:r>
                  <a:rPr lang="en-US" altLang="ja-JP" sz="2610" i="1" dirty="0">
                    <a:latin typeface="Helvetica" pitchFamily="2" charset="0"/>
                  </a:rPr>
                  <a:t>H</a:t>
                </a:r>
                <a:r>
                  <a:rPr lang="en-US" altLang="ja-JP" sz="2610" dirty="0">
                    <a:latin typeface="Helvetica" pitchFamily="2" charset="0"/>
                  </a:rPr>
                  <a:t>,0,0) || -x</a:t>
                </a:r>
                <a:endParaRPr lang="ja-JP" altLang="en-US" sz="2610">
                  <a:latin typeface="Helvetica" pitchFamily="2" charset="0"/>
                </a:endParaRPr>
              </a:p>
            </p:txBody>
          </p:sp>
          <p:cxnSp>
            <p:nvCxnSpPr>
              <p:cNvPr id="45" name="直線コネクタ 44">
                <a:extLst>
                  <a:ext uri="{FF2B5EF4-FFF2-40B4-BE49-F238E27FC236}">
                    <a16:creationId xmlns:a16="http://schemas.microsoft.com/office/drawing/2014/main" id="{EE69FC43-F412-E74A-C52A-0B5A7DFFF7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42238" y="5902740"/>
                <a:ext cx="202633" cy="38508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線コネクタ 46">
                <a:extLst>
                  <a:ext uri="{FF2B5EF4-FFF2-40B4-BE49-F238E27FC236}">
                    <a16:creationId xmlns:a16="http://schemas.microsoft.com/office/drawing/2014/main" id="{51901127-2F84-1F27-45A4-5F6B3806A9C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208521" y="5288178"/>
                <a:ext cx="170868" cy="72833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テキスト ボックス 59">
                    <a:extLst>
                      <a:ext uri="{FF2B5EF4-FFF2-40B4-BE49-F238E27FC236}">
                        <a16:creationId xmlns:a16="http://schemas.microsoft.com/office/drawing/2014/main" id="{985AE61D-2B03-D811-F4AC-B51558BDDDEC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315" y="6556166"/>
                    <a:ext cx="377539" cy="4939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60" name="テキスト ボックス 59">
                    <a:extLst>
                      <a:ext uri="{FF2B5EF4-FFF2-40B4-BE49-F238E27FC236}">
                        <a16:creationId xmlns:a16="http://schemas.microsoft.com/office/drawing/2014/main" id="{985AE61D-2B03-D811-F4AC-B51558BDDDE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04315" y="6556166"/>
                    <a:ext cx="377539" cy="49398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テキスト ボックス 60">
                    <a:extLst>
                      <a:ext uri="{FF2B5EF4-FFF2-40B4-BE49-F238E27FC236}">
                        <a16:creationId xmlns:a16="http://schemas.microsoft.com/office/drawing/2014/main" id="{521126C6-9A4A-6706-8BC3-50768401233E}"/>
                      </a:ext>
                    </a:extLst>
                  </p:cNvPr>
                  <p:cNvSpPr txBox="1"/>
                  <p:nvPr/>
                </p:nvSpPr>
                <p:spPr>
                  <a:xfrm>
                    <a:off x="3576442" y="6578936"/>
                    <a:ext cx="377539" cy="4939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61" name="テキスト ボックス 60">
                    <a:extLst>
                      <a:ext uri="{FF2B5EF4-FFF2-40B4-BE49-F238E27FC236}">
                        <a16:creationId xmlns:a16="http://schemas.microsoft.com/office/drawing/2014/main" id="{521126C6-9A4A-6706-8BC3-50768401233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76442" y="6578936"/>
                    <a:ext cx="377539" cy="49398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テキスト ボックス 61">
                    <a:extLst>
                      <a:ext uri="{FF2B5EF4-FFF2-40B4-BE49-F238E27FC236}">
                        <a16:creationId xmlns:a16="http://schemas.microsoft.com/office/drawing/2014/main" id="{695742B1-810A-EF2D-92F2-8D6846E95DD8}"/>
                      </a:ext>
                    </a:extLst>
                  </p:cNvPr>
                  <p:cNvSpPr txBox="1"/>
                  <p:nvPr/>
                </p:nvSpPr>
                <p:spPr>
                  <a:xfrm>
                    <a:off x="3916416" y="8013831"/>
                    <a:ext cx="377539" cy="4939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62" name="テキスト ボックス 61">
                    <a:extLst>
                      <a:ext uri="{FF2B5EF4-FFF2-40B4-BE49-F238E27FC236}">
                        <a16:creationId xmlns:a16="http://schemas.microsoft.com/office/drawing/2014/main" id="{695742B1-810A-EF2D-92F2-8D6846E95DD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16416" y="8013831"/>
                    <a:ext cx="377539" cy="49398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6667" r="-40000" b="-50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E586A579-1F1F-1A79-EC7A-0C63A78D70AE}"/>
                  </a:ext>
                </a:extLst>
              </p:cNvPr>
              <p:cNvSpPr txBox="1"/>
              <p:nvPr/>
            </p:nvSpPr>
            <p:spPr>
              <a:xfrm>
                <a:off x="2299994" y="3259730"/>
                <a:ext cx="638316" cy="5386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900" dirty="0">
                    <a:latin typeface="Helvetica" pitchFamily="2" charset="0"/>
                  </a:rPr>
                  <a:t>(a)</a:t>
                </a:r>
                <a:endParaRPr lang="ja-JP" altLang="en-US" sz="2900">
                  <a:latin typeface="Helvetica" pitchFamily="2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テキスト ボックス 18">
                    <a:extLst>
                      <a:ext uri="{FF2B5EF4-FFF2-40B4-BE49-F238E27FC236}">
                        <a16:creationId xmlns:a16="http://schemas.microsoft.com/office/drawing/2014/main" id="{6E02471C-8C65-C3B7-1224-290454AAD7A6}"/>
                      </a:ext>
                    </a:extLst>
                  </p:cNvPr>
                  <p:cNvSpPr txBox="1"/>
                  <p:nvPr/>
                </p:nvSpPr>
                <p:spPr>
                  <a:xfrm>
                    <a:off x="6804269" y="4933209"/>
                    <a:ext cx="377539" cy="49398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sz="261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>
                      <a:solidFill>
                        <a:schemeClr val="tx1"/>
                      </a:solidFill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19" name="テキスト ボックス 18">
                    <a:extLst>
                      <a:ext uri="{FF2B5EF4-FFF2-40B4-BE49-F238E27FC236}">
                        <a16:creationId xmlns:a16="http://schemas.microsoft.com/office/drawing/2014/main" id="{6E02471C-8C65-C3B7-1224-290454AAD7A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04269" y="4933209"/>
                    <a:ext cx="377539" cy="493981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3226" r="-25806" b="-50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テキスト ボックス 23">
                    <a:extLst>
                      <a:ext uri="{FF2B5EF4-FFF2-40B4-BE49-F238E27FC236}">
                        <a16:creationId xmlns:a16="http://schemas.microsoft.com/office/drawing/2014/main" id="{8DD1AFCF-F977-BE82-C112-92E8DFCBF40D}"/>
                      </a:ext>
                    </a:extLst>
                  </p:cNvPr>
                  <p:cNvSpPr txBox="1"/>
                  <p:nvPr/>
                </p:nvSpPr>
                <p:spPr>
                  <a:xfrm>
                    <a:off x="8052619" y="3798339"/>
                    <a:ext cx="377539" cy="49398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sz="261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>
                      <a:solidFill>
                        <a:schemeClr val="bg1"/>
                      </a:solidFill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24" name="テキスト ボックス 23">
                    <a:extLst>
                      <a:ext uri="{FF2B5EF4-FFF2-40B4-BE49-F238E27FC236}">
                        <a16:creationId xmlns:a16="http://schemas.microsoft.com/office/drawing/2014/main" id="{8DD1AFCF-F977-BE82-C112-92E8DFCBF4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52619" y="3798339"/>
                    <a:ext cx="377539" cy="493981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6667" r="-26667" b="-7692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33411B93-BB60-A2A7-480F-CDF91D207E65}"/>
                  </a:ext>
                </a:extLst>
              </p:cNvPr>
              <p:cNvSpPr txBox="1"/>
              <p:nvPr/>
            </p:nvSpPr>
            <p:spPr>
              <a:xfrm>
                <a:off x="5952767" y="3042879"/>
                <a:ext cx="638316" cy="5386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900" dirty="0">
                    <a:latin typeface="Helvetica" pitchFamily="2" charset="0"/>
                  </a:rPr>
                  <a:t>(b)</a:t>
                </a:r>
                <a:endParaRPr lang="ja-JP" altLang="en-US" sz="2900">
                  <a:latin typeface="Helvetica" pitchFamily="2" charset="0"/>
                </a:endParaRPr>
              </a:p>
            </p:txBody>
          </p:sp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A4D9774B-F022-D566-F1C2-13E0E0BEA882}"/>
                  </a:ext>
                </a:extLst>
              </p:cNvPr>
              <p:cNvSpPr txBox="1"/>
              <p:nvPr/>
            </p:nvSpPr>
            <p:spPr>
              <a:xfrm>
                <a:off x="9740269" y="3042879"/>
                <a:ext cx="617477" cy="5386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900" dirty="0">
                    <a:latin typeface="Helvetica" pitchFamily="2" charset="0"/>
                  </a:rPr>
                  <a:t>(c)</a:t>
                </a:r>
                <a:endParaRPr lang="ja-JP" altLang="en-US" sz="2900">
                  <a:latin typeface="Helvetica" pitchFamily="2" charset="0"/>
                </a:endParaRPr>
              </a:p>
            </p:txBody>
          </p:sp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96452D7D-4734-6F6B-9847-CF93B2F072CD}"/>
                  </a:ext>
                </a:extLst>
              </p:cNvPr>
              <p:cNvSpPr txBox="1"/>
              <p:nvPr/>
            </p:nvSpPr>
            <p:spPr>
              <a:xfrm>
                <a:off x="5952767" y="6859612"/>
                <a:ext cx="638316" cy="5386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900" dirty="0">
                    <a:latin typeface="Helvetica" pitchFamily="2" charset="0"/>
                  </a:rPr>
                  <a:t>(d)</a:t>
                </a:r>
                <a:endParaRPr lang="ja-JP" altLang="en-US" sz="2900">
                  <a:latin typeface="Helvetica" pitchFamily="2" charset="0"/>
                </a:endParaRPr>
              </a:p>
            </p:txBody>
          </p:sp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AECA9EC0-A406-C43C-68F6-7628E7F3EBF1}"/>
                  </a:ext>
                </a:extLst>
              </p:cNvPr>
              <p:cNvSpPr txBox="1"/>
              <p:nvPr/>
            </p:nvSpPr>
            <p:spPr>
              <a:xfrm>
                <a:off x="9740269" y="6859612"/>
                <a:ext cx="638316" cy="5386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900" dirty="0">
                    <a:latin typeface="Helvetica" pitchFamily="2" charset="0"/>
                  </a:rPr>
                  <a:t>(e)</a:t>
                </a:r>
                <a:endParaRPr lang="ja-JP" altLang="en-US" sz="2900">
                  <a:latin typeface="Helvetica" pitchFamily="2" charset="0"/>
                </a:endParaRPr>
              </a:p>
            </p:txBody>
          </p:sp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ADC0F9BA-DF11-2EFB-05FA-7A15B699398D}"/>
                  </a:ext>
                </a:extLst>
              </p:cNvPr>
              <p:cNvSpPr txBox="1"/>
              <p:nvPr/>
            </p:nvSpPr>
            <p:spPr>
              <a:xfrm>
                <a:off x="13779596" y="3042879"/>
                <a:ext cx="534121" cy="5386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900" dirty="0">
                    <a:latin typeface="Helvetica" pitchFamily="2" charset="0"/>
                  </a:rPr>
                  <a:t>(f)</a:t>
                </a:r>
                <a:endParaRPr lang="ja-JP" altLang="en-US" sz="2900">
                  <a:latin typeface="Helvetica" pitchFamily="2" charset="0"/>
                </a:endParaRPr>
              </a:p>
            </p:txBody>
          </p:sp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4ACE7C31-59AB-900C-58B2-8B980565021D}"/>
                  </a:ext>
                </a:extLst>
              </p:cNvPr>
              <p:cNvSpPr txBox="1"/>
              <p:nvPr/>
            </p:nvSpPr>
            <p:spPr>
              <a:xfrm>
                <a:off x="13727498" y="6859612"/>
                <a:ext cx="638316" cy="5386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900" dirty="0">
                    <a:latin typeface="Helvetica" pitchFamily="2" charset="0"/>
                  </a:rPr>
                  <a:t>(g)</a:t>
                </a:r>
                <a:endParaRPr lang="ja-JP" altLang="en-US" sz="2900">
                  <a:latin typeface="Helvetica" pitchFamily="2" charset="0"/>
                </a:endParaRPr>
              </a:p>
            </p:txBody>
          </p:sp>
          <p:cxnSp>
            <p:nvCxnSpPr>
              <p:cNvPr id="46" name="直線コネクタ 45">
                <a:extLst>
                  <a:ext uri="{FF2B5EF4-FFF2-40B4-BE49-F238E27FC236}">
                    <a16:creationId xmlns:a16="http://schemas.microsoft.com/office/drawing/2014/main" id="{594DD0D2-35DF-077F-308B-F779A78FFD2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26678" y="6621853"/>
                <a:ext cx="1128428" cy="1238436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線コネクタ 48">
                <a:extLst>
                  <a:ext uri="{FF2B5EF4-FFF2-40B4-BE49-F238E27FC236}">
                    <a16:creationId xmlns:a16="http://schemas.microsoft.com/office/drawing/2014/main" id="{0565C1F5-5E25-9567-0492-3F238678AF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51352" y="7990537"/>
                <a:ext cx="1118173" cy="1227639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テキスト ボックス 50">
                <a:extLst>
                  <a:ext uri="{FF2B5EF4-FFF2-40B4-BE49-F238E27FC236}">
                    <a16:creationId xmlns:a16="http://schemas.microsoft.com/office/drawing/2014/main" id="{13232399-3F7F-DCD2-2D70-D0811DFD6E9F}"/>
                  </a:ext>
                </a:extLst>
              </p:cNvPr>
              <p:cNvSpPr txBox="1"/>
              <p:nvPr/>
            </p:nvSpPr>
            <p:spPr>
              <a:xfrm>
                <a:off x="3381797" y="9094029"/>
                <a:ext cx="602833" cy="449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320" dirty="0">
                    <a:latin typeface="Helvetica" pitchFamily="2" charset="0"/>
                  </a:rPr>
                  <a:t>(f) </a:t>
                </a:r>
                <a:endParaRPr lang="ja-JP" altLang="en-US" sz="2320">
                  <a:latin typeface="Helvetica" pitchFamily="2" charset="0"/>
                </a:endParaRPr>
              </a:p>
            </p:txBody>
          </p:sp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942CF95B-CE88-C78C-8E52-FFAEFD26D4E8}"/>
                  </a:ext>
                </a:extLst>
              </p:cNvPr>
              <p:cNvSpPr txBox="1"/>
              <p:nvPr/>
            </p:nvSpPr>
            <p:spPr>
              <a:xfrm>
                <a:off x="3282667" y="7743041"/>
                <a:ext cx="746379" cy="449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320" dirty="0">
                    <a:latin typeface="Helvetica" pitchFamily="2" charset="0"/>
                  </a:rPr>
                  <a:t>(g) </a:t>
                </a:r>
                <a:endParaRPr lang="ja-JP" altLang="en-US" sz="2320">
                  <a:latin typeface="Helvetica" pitchFamily="2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テキスト ボックス 1">
                    <a:extLst>
                      <a:ext uri="{FF2B5EF4-FFF2-40B4-BE49-F238E27FC236}">
                        <a16:creationId xmlns:a16="http://schemas.microsoft.com/office/drawing/2014/main" id="{CE1E0CBB-497B-5AEE-DD64-E93FE3FB2466}"/>
                      </a:ext>
                    </a:extLst>
                  </p:cNvPr>
                  <p:cNvSpPr txBox="1"/>
                  <p:nvPr/>
                </p:nvSpPr>
                <p:spPr>
                  <a:xfrm>
                    <a:off x="7077115" y="8467919"/>
                    <a:ext cx="377539" cy="49398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sz="261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>
                      <a:solidFill>
                        <a:schemeClr val="bg1"/>
                      </a:solidFill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2" name="テキスト ボックス 1">
                    <a:extLst>
                      <a:ext uri="{FF2B5EF4-FFF2-40B4-BE49-F238E27FC236}">
                        <a16:creationId xmlns:a16="http://schemas.microsoft.com/office/drawing/2014/main" id="{CE1E0CBB-497B-5AEE-DD64-E93FE3FB24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77115" y="8467919"/>
                    <a:ext cx="377539" cy="493981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6452" r="-22581" b="-50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テキスト ボックス 2">
                    <a:extLst>
                      <a:ext uri="{FF2B5EF4-FFF2-40B4-BE49-F238E27FC236}">
                        <a16:creationId xmlns:a16="http://schemas.microsoft.com/office/drawing/2014/main" id="{533ED20B-D0B4-058D-CE31-4EDF86A59353}"/>
                      </a:ext>
                    </a:extLst>
                  </p:cNvPr>
                  <p:cNvSpPr txBox="1"/>
                  <p:nvPr/>
                </p:nvSpPr>
                <p:spPr>
                  <a:xfrm>
                    <a:off x="7622853" y="8453623"/>
                    <a:ext cx="1127078" cy="49398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sz="261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ja-JP" sz="261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ja-JP" sz="261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sz="261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>
                      <a:solidFill>
                        <a:schemeClr val="bg1"/>
                      </a:solidFill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3" name="テキスト ボックス 2">
                    <a:extLst>
                      <a:ext uri="{FF2B5EF4-FFF2-40B4-BE49-F238E27FC236}">
                        <a16:creationId xmlns:a16="http://schemas.microsoft.com/office/drawing/2014/main" id="{533ED20B-D0B4-058D-CE31-4EDF86A593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2853" y="8453623"/>
                    <a:ext cx="1127078" cy="493981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" name="正方形/長方形 6">
                <a:extLst>
                  <a:ext uri="{FF2B5EF4-FFF2-40B4-BE49-F238E27FC236}">
                    <a16:creationId xmlns:a16="http://schemas.microsoft.com/office/drawing/2014/main" id="{D87C0FC5-F269-30EE-B0F5-BB5164272E8D}"/>
                  </a:ext>
                </a:extLst>
              </p:cNvPr>
              <p:cNvSpPr/>
              <p:nvPr/>
            </p:nvSpPr>
            <p:spPr>
              <a:xfrm>
                <a:off x="15565879" y="3950043"/>
                <a:ext cx="387800" cy="1936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2D894C5C-7FE2-A547-C689-CE80E73C0C0F}"/>
                  </a:ext>
                </a:extLst>
              </p:cNvPr>
              <p:cNvSpPr/>
              <p:nvPr/>
            </p:nvSpPr>
            <p:spPr>
              <a:xfrm>
                <a:off x="15565879" y="4293852"/>
                <a:ext cx="387800" cy="1936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06A00920-E11A-8E75-872A-D64D8504D693}"/>
                  </a:ext>
                </a:extLst>
              </p:cNvPr>
              <p:cNvSpPr/>
              <p:nvPr/>
            </p:nvSpPr>
            <p:spPr>
              <a:xfrm>
                <a:off x="17286884" y="7564847"/>
                <a:ext cx="387800" cy="1936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EC833D31-38A7-E75D-F06D-CC3357D8D07E}"/>
                  </a:ext>
                </a:extLst>
              </p:cNvPr>
              <p:cNvSpPr/>
              <p:nvPr/>
            </p:nvSpPr>
            <p:spPr>
              <a:xfrm>
                <a:off x="17286884" y="7947665"/>
                <a:ext cx="387800" cy="1936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164768E6-EC4D-5660-4909-F1AA538880A4}"/>
                  </a:ext>
                </a:extLst>
              </p:cNvPr>
              <p:cNvSpPr/>
              <p:nvPr/>
            </p:nvSpPr>
            <p:spPr>
              <a:xfrm rot="16200000">
                <a:off x="13446486" y="8636580"/>
                <a:ext cx="387800" cy="1936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F6BDC73A-DB3B-DB02-96A1-E50062617D72}"/>
                  </a:ext>
                </a:extLst>
              </p:cNvPr>
              <p:cNvSpPr/>
              <p:nvPr/>
            </p:nvSpPr>
            <p:spPr>
              <a:xfrm rot="16200000">
                <a:off x="13445584" y="9252798"/>
                <a:ext cx="387800" cy="1936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正方形/長方形 13">
                <a:extLst>
                  <a:ext uri="{FF2B5EF4-FFF2-40B4-BE49-F238E27FC236}">
                    <a16:creationId xmlns:a16="http://schemas.microsoft.com/office/drawing/2014/main" id="{A2A5BF26-6495-F81A-9BFD-F12BE98C04A3}"/>
                  </a:ext>
                </a:extLst>
              </p:cNvPr>
              <p:cNvSpPr/>
              <p:nvPr/>
            </p:nvSpPr>
            <p:spPr>
              <a:xfrm rot="16200000">
                <a:off x="13470698" y="5612021"/>
                <a:ext cx="387800" cy="1936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5" name="正方形/長方形 14">
                <a:extLst>
                  <a:ext uri="{FF2B5EF4-FFF2-40B4-BE49-F238E27FC236}">
                    <a16:creationId xmlns:a16="http://schemas.microsoft.com/office/drawing/2014/main" id="{1F284299-EB3F-8FFC-1884-3003498C23BC}"/>
                  </a:ext>
                </a:extLst>
              </p:cNvPr>
              <p:cNvSpPr/>
              <p:nvPr/>
            </p:nvSpPr>
            <p:spPr>
              <a:xfrm rot="16200000">
                <a:off x="13470699" y="4988448"/>
                <a:ext cx="387800" cy="1936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4D2F23EC-4FE8-FEB1-385A-F19180D57EEB}"/>
                  </a:ext>
                </a:extLst>
              </p:cNvPr>
              <p:cNvSpPr txBox="1"/>
              <p:nvPr/>
            </p:nvSpPr>
            <p:spPr>
              <a:xfrm rot="16200000">
                <a:off x="5005963" y="4701446"/>
                <a:ext cx="2745110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 (-</a:t>
                </a:r>
                <a:r>
                  <a:rPr kumimoji="1" lang="en-US" altLang="ja-JP" sz="2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K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/2, </a:t>
                </a:r>
                <a:r>
                  <a:rPr kumimoji="1" lang="en-US" altLang="ja-JP" sz="2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K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 1.5) (</a:t>
                </a:r>
                <a:r>
                  <a:rPr kumimoji="1" lang="en-US" altLang="ja-JP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r.l.u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.)</a:t>
                </a:r>
                <a:endParaRPr kumimoji="1" lang="ja-JP" altLang="en-US" sz="2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C8FCB673-2229-7201-CB63-8AED912C1808}"/>
                  </a:ext>
                </a:extLst>
              </p:cNvPr>
              <p:cNvSpPr txBox="1"/>
              <p:nvPr/>
            </p:nvSpPr>
            <p:spPr>
              <a:xfrm rot="16200000">
                <a:off x="9342197" y="8388914"/>
                <a:ext cx="1804148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(0,0,</a:t>
                </a:r>
                <a:r>
                  <a:rPr kumimoji="1" lang="en-US" altLang="ja-JP" sz="2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) (</a:t>
                </a:r>
                <a:r>
                  <a:rPr kumimoji="1" lang="en-US" altLang="ja-JP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r.l.u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.)</a:t>
                </a:r>
                <a:endParaRPr kumimoji="1" lang="ja-JP" altLang="en-US" sz="2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F6B09A74-85CD-93E8-461D-9C1425AB119F}"/>
                  </a:ext>
                </a:extLst>
              </p:cNvPr>
              <p:cNvSpPr txBox="1"/>
              <p:nvPr/>
            </p:nvSpPr>
            <p:spPr>
              <a:xfrm rot="16200000">
                <a:off x="8871713" y="4701446"/>
                <a:ext cx="2745110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 (-</a:t>
                </a:r>
                <a:r>
                  <a:rPr kumimoji="1" lang="en-US" altLang="ja-JP" sz="2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K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/2, </a:t>
                </a:r>
                <a:r>
                  <a:rPr kumimoji="1" lang="en-US" altLang="ja-JP" sz="2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K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 1.5) (</a:t>
                </a:r>
                <a:r>
                  <a:rPr kumimoji="1" lang="en-US" altLang="ja-JP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r.l.u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.)</a:t>
                </a:r>
                <a:endParaRPr kumimoji="1" lang="ja-JP" altLang="en-US" sz="2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2F4ED237-E7A2-CF4E-0C37-A18F7C193E58}"/>
                  </a:ext>
                </a:extLst>
              </p:cNvPr>
              <p:cNvSpPr txBox="1"/>
              <p:nvPr/>
            </p:nvSpPr>
            <p:spPr>
              <a:xfrm rot="16200000">
                <a:off x="5476447" y="8388914"/>
                <a:ext cx="1804148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(0,0,</a:t>
                </a:r>
                <a:r>
                  <a:rPr kumimoji="1" lang="en-US" altLang="ja-JP" sz="2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) (</a:t>
                </a:r>
                <a:r>
                  <a:rPr kumimoji="1" lang="en-US" altLang="ja-JP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r.l.u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.)</a:t>
                </a:r>
                <a:endParaRPr kumimoji="1" lang="ja-JP" altLang="en-US" sz="2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540A2A02-A7BA-2C3C-6CAE-301DAFE3AE07}"/>
                  </a:ext>
                </a:extLst>
              </p:cNvPr>
              <p:cNvSpPr txBox="1"/>
              <p:nvPr/>
            </p:nvSpPr>
            <p:spPr>
              <a:xfrm>
                <a:off x="10967489" y="10186273"/>
                <a:ext cx="1850635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kumimoji="1" lang="en-US" altLang="ja-JP" sz="2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,0,0) (</a:t>
                </a:r>
                <a:r>
                  <a:rPr kumimoji="1" lang="en-US" altLang="ja-JP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r.l.u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.)</a:t>
                </a:r>
                <a:endParaRPr kumimoji="1" lang="ja-JP" altLang="en-US" sz="2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A7D76BC8-6EA2-1A9B-CFF1-B00CD34BB509}"/>
                  </a:ext>
                </a:extLst>
              </p:cNvPr>
              <p:cNvSpPr txBox="1"/>
              <p:nvPr/>
            </p:nvSpPr>
            <p:spPr>
              <a:xfrm>
                <a:off x="7020188" y="10186273"/>
                <a:ext cx="1850635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kumimoji="1" lang="en-US" altLang="ja-JP" sz="2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,0,0) (</a:t>
                </a:r>
                <a:r>
                  <a:rPr kumimoji="1" lang="en-US" altLang="ja-JP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r.l.u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.)</a:t>
                </a:r>
                <a:endParaRPr kumimoji="1" lang="ja-JP" altLang="en-US" sz="2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082F3651-B0B0-A7E7-C98C-3E97DE84AF7C}"/>
                  </a:ext>
                </a:extLst>
              </p:cNvPr>
              <p:cNvSpPr txBox="1"/>
              <p:nvPr/>
            </p:nvSpPr>
            <p:spPr>
              <a:xfrm>
                <a:off x="6902367" y="6558968"/>
                <a:ext cx="2086277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kumimoji="1" lang="en-US" altLang="ja-JP" sz="2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,0,1.5) (</a:t>
                </a:r>
                <a:r>
                  <a:rPr kumimoji="1" lang="en-US" altLang="ja-JP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r.l.u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.)</a:t>
                </a:r>
                <a:endParaRPr kumimoji="1" lang="ja-JP" altLang="en-US" sz="2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4BFB8D43-477A-A69C-1989-F76DB05E99DC}"/>
                  </a:ext>
                </a:extLst>
              </p:cNvPr>
              <p:cNvSpPr txBox="1"/>
              <p:nvPr/>
            </p:nvSpPr>
            <p:spPr>
              <a:xfrm>
                <a:off x="10849668" y="6556166"/>
                <a:ext cx="2086277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kumimoji="1" lang="en-US" altLang="ja-JP" sz="2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,0,1.5) (</a:t>
                </a:r>
                <a:r>
                  <a:rPr kumimoji="1" lang="en-US" altLang="ja-JP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r.l.u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.)</a:t>
                </a:r>
                <a:endParaRPr kumimoji="1" lang="ja-JP" altLang="en-US" sz="2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" name="正方形/長方形 47">
                <a:extLst>
                  <a:ext uri="{FF2B5EF4-FFF2-40B4-BE49-F238E27FC236}">
                    <a16:creationId xmlns:a16="http://schemas.microsoft.com/office/drawing/2014/main" id="{965EFF03-0C97-0332-82A9-45F35DA8E412}"/>
                  </a:ext>
                </a:extLst>
              </p:cNvPr>
              <p:cNvSpPr/>
              <p:nvPr/>
            </p:nvSpPr>
            <p:spPr>
              <a:xfrm>
                <a:off x="11037590" y="4821968"/>
                <a:ext cx="1493847" cy="55821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0" name="正方形/長方形 49">
                <a:extLst>
                  <a:ext uri="{FF2B5EF4-FFF2-40B4-BE49-F238E27FC236}">
                    <a16:creationId xmlns:a16="http://schemas.microsoft.com/office/drawing/2014/main" id="{0A749F6E-C4C0-8638-57E7-24449C0A2E81}"/>
                  </a:ext>
                </a:extLst>
              </p:cNvPr>
              <p:cNvSpPr/>
              <p:nvPr/>
            </p:nvSpPr>
            <p:spPr>
              <a:xfrm>
                <a:off x="11037590" y="4151111"/>
                <a:ext cx="1493847" cy="62968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2" name="テキスト ボックス 51">
                <a:extLst>
                  <a:ext uri="{FF2B5EF4-FFF2-40B4-BE49-F238E27FC236}">
                    <a16:creationId xmlns:a16="http://schemas.microsoft.com/office/drawing/2014/main" id="{1959B98E-19C2-3188-95E2-35D69F1B82AB}"/>
                  </a:ext>
                </a:extLst>
              </p:cNvPr>
              <p:cNvSpPr txBox="1"/>
              <p:nvPr/>
            </p:nvSpPr>
            <p:spPr>
              <a:xfrm>
                <a:off x="15380831" y="10186273"/>
                <a:ext cx="2086277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kumimoji="1" lang="en-US" altLang="ja-JP" sz="2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,0,1.5) (</a:t>
                </a:r>
                <a:r>
                  <a:rPr kumimoji="1" lang="en-US" altLang="ja-JP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r.l.u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.)</a:t>
                </a:r>
                <a:endParaRPr kumimoji="1" lang="ja-JP" altLang="en-US" sz="2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4" name="テキスト ボックス 53">
                <a:extLst>
                  <a:ext uri="{FF2B5EF4-FFF2-40B4-BE49-F238E27FC236}">
                    <a16:creationId xmlns:a16="http://schemas.microsoft.com/office/drawing/2014/main" id="{D9FB63B8-E5DD-F90F-7A71-BFDB9A7E9A58}"/>
                  </a:ext>
                </a:extLst>
              </p:cNvPr>
              <p:cNvSpPr txBox="1"/>
              <p:nvPr/>
            </p:nvSpPr>
            <p:spPr>
              <a:xfrm>
                <a:off x="15200607" y="6556166"/>
                <a:ext cx="2086277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kumimoji="1" lang="en-US" altLang="ja-JP" sz="2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,0,1.5) (</a:t>
                </a:r>
                <a:r>
                  <a:rPr kumimoji="1" lang="en-US" altLang="ja-JP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r.l.u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.)</a:t>
                </a:r>
                <a:endParaRPr kumimoji="1" lang="ja-JP" altLang="en-US" sz="2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" name="テキスト ボックス 54">
                <a:extLst>
                  <a:ext uri="{FF2B5EF4-FFF2-40B4-BE49-F238E27FC236}">
                    <a16:creationId xmlns:a16="http://schemas.microsoft.com/office/drawing/2014/main" id="{1B2C00D2-3F88-A5A4-1FA6-9940B1B99702}"/>
                  </a:ext>
                </a:extLst>
              </p:cNvPr>
              <p:cNvSpPr txBox="1"/>
              <p:nvPr/>
            </p:nvSpPr>
            <p:spPr>
              <a:xfrm rot="16200000">
                <a:off x="12975807" y="4729195"/>
                <a:ext cx="2446504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Intensity (</a:t>
                </a:r>
                <a:r>
                  <a:rPr kumimoji="1" lang="en-US" altLang="ja-JP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arb.unit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kumimoji="1" lang="ja-JP" altLang="en-US" sz="2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" name="テキスト ボックス 55">
                <a:extLst>
                  <a:ext uri="{FF2B5EF4-FFF2-40B4-BE49-F238E27FC236}">
                    <a16:creationId xmlns:a16="http://schemas.microsoft.com/office/drawing/2014/main" id="{6FE209A1-A8BF-D84D-9218-20B19BF5DFB5}"/>
                  </a:ext>
                </a:extLst>
              </p:cNvPr>
              <p:cNvSpPr txBox="1"/>
              <p:nvPr/>
            </p:nvSpPr>
            <p:spPr>
              <a:xfrm rot="16200000">
                <a:off x="12823989" y="8476398"/>
                <a:ext cx="2446504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Intensity (</a:t>
                </a:r>
                <a:r>
                  <a:rPr kumimoji="1" lang="en-US" altLang="ja-JP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arb.unit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kumimoji="1" lang="ja-JP" altLang="en-US" sz="2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2" name="テキスト ボックス 71">
                <a:extLst>
                  <a:ext uri="{FF2B5EF4-FFF2-40B4-BE49-F238E27FC236}">
                    <a16:creationId xmlns:a16="http://schemas.microsoft.com/office/drawing/2014/main" id="{31FB9888-E9EC-1D6E-64CB-2D91F4D57910}"/>
                  </a:ext>
                </a:extLst>
              </p:cNvPr>
              <p:cNvSpPr txBox="1"/>
              <p:nvPr/>
            </p:nvSpPr>
            <p:spPr>
              <a:xfrm>
                <a:off x="11187426" y="4110894"/>
                <a:ext cx="52450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800" dirty="0">
                    <a:latin typeface="Helvetica" pitchFamily="2" charset="0"/>
                  </a:rPr>
                  <a:t>(f)</a:t>
                </a:r>
                <a:endParaRPr kumimoji="1" lang="ja-JP" altLang="en-US" sz="2800">
                  <a:latin typeface="Helvetica" pitchFamily="2" charset="0"/>
                </a:endParaRPr>
              </a:p>
            </p:txBody>
          </p:sp>
          <p:sp>
            <p:nvSpPr>
              <p:cNvPr id="73" name="テキスト ボックス 72">
                <a:extLst>
                  <a:ext uri="{FF2B5EF4-FFF2-40B4-BE49-F238E27FC236}">
                    <a16:creationId xmlns:a16="http://schemas.microsoft.com/office/drawing/2014/main" id="{EB9993C2-AE30-2B7B-772C-B8D78C5382A0}"/>
                  </a:ext>
                </a:extLst>
              </p:cNvPr>
              <p:cNvSpPr txBox="1"/>
              <p:nvPr/>
            </p:nvSpPr>
            <p:spPr>
              <a:xfrm>
                <a:off x="11784020" y="4823211"/>
                <a:ext cx="62549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800" dirty="0">
                    <a:latin typeface="Helvetica" pitchFamily="2" charset="0"/>
                  </a:rPr>
                  <a:t>(g)</a:t>
                </a:r>
                <a:endParaRPr kumimoji="1" lang="ja-JP" altLang="en-US" sz="2800">
                  <a:latin typeface="Helvetica" pitchFamily="2" charset="0"/>
                </a:endParaRPr>
              </a:p>
            </p:txBody>
          </p:sp>
          <p:cxnSp>
            <p:nvCxnSpPr>
              <p:cNvPr id="57" name="直線コネクタ 56">
                <a:extLst>
                  <a:ext uri="{FF2B5EF4-FFF2-40B4-BE49-F238E27FC236}">
                    <a16:creationId xmlns:a16="http://schemas.microsoft.com/office/drawing/2014/main" id="{0E1E867C-23B3-8278-E846-943D0E2CBD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71687" y="4205957"/>
                <a:ext cx="113674" cy="338162"/>
              </a:xfrm>
              <a:prstGeom prst="line">
                <a:avLst/>
              </a:prstGeom>
              <a:ln w="12700">
                <a:solidFill>
                  <a:schemeClr val="bg1"/>
                </a:solidFill>
                <a:prstDash val="dash"/>
                <a:head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線コネクタ 65">
                <a:extLst>
                  <a:ext uri="{FF2B5EF4-FFF2-40B4-BE49-F238E27FC236}">
                    <a16:creationId xmlns:a16="http://schemas.microsoft.com/office/drawing/2014/main" id="{5D370027-DC2A-60C5-1E12-974A950954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252189" y="5432298"/>
                <a:ext cx="210212" cy="199083"/>
              </a:xfrm>
              <a:prstGeom prst="line">
                <a:avLst/>
              </a:prstGeom>
              <a:ln w="12700">
                <a:solidFill>
                  <a:schemeClr val="bg1"/>
                </a:solidFill>
                <a:prstDash val="dash"/>
                <a:headEnd type="none"/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線コネクタ 67">
                <a:extLst>
                  <a:ext uri="{FF2B5EF4-FFF2-40B4-BE49-F238E27FC236}">
                    <a16:creationId xmlns:a16="http://schemas.microsoft.com/office/drawing/2014/main" id="{B6D84DF4-6C36-541C-000F-8968381713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1840" y="5137400"/>
                <a:ext cx="219805" cy="42800"/>
              </a:xfrm>
              <a:prstGeom prst="line">
                <a:avLst/>
              </a:prstGeom>
              <a:ln w="12700">
                <a:solidFill>
                  <a:schemeClr val="bg1"/>
                </a:solidFill>
                <a:prstDash val="dash"/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テキスト ボックス 79">
                    <a:extLst>
                      <a:ext uri="{FF2B5EF4-FFF2-40B4-BE49-F238E27FC236}">
                        <a16:creationId xmlns:a16="http://schemas.microsoft.com/office/drawing/2014/main" id="{C31894E5-2FF1-F0F1-65CA-193A0F305B43}"/>
                      </a:ext>
                    </a:extLst>
                  </p:cNvPr>
                  <p:cNvSpPr txBox="1"/>
                  <p:nvPr/>
                </p:nvSpPr>
                <p:spPr>
                  <a:xfrm>
                    <a:off x="8254464" y="5440015"/>
                    <a:ext cx="377539" cy="49398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sz="261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>
                      <a:solidFill>
                        <a:schemeClr val="bg1"/>
                      </a:solidFill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80" name="テキスト ボックス 79">
                    <a:extLst>
                      <a:ext uri="{FF2B5EF4-FFF2-40B4-BE49-F238E27FC236}">
                        <a16:creationId xmlns:a16="http://schemas.microsoft.com/office/drawing/2014/main" id="{C31894E5-2FF1-F0F1-65CA-193A0F305B4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54464" y="5440015"/>
                    <a:ext cx="377539" cy="493981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3226" r="-25806" b="-50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83" name="直線コネクタ 82">
              <a:extLst>
                <a:ext uri="{FF2B5EF4-FFF2-40B4-BE49-F238E27FC236}">
                  <a16:creationId xmlns:a16="http://schemas.microsoft.com/office/drawing/2014/main" id="{0A139B87-8340-A908-CD36-CBB9585460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00" y="6556166"/>
              <a:ext cx="2199852" cy="1951647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コネクタ 87">
              <a:extLst>
                <a:ext uri="{FF2B5EF4-FFF2-40B4-BE49-F238E27FC236}">
                  <a16:creationId xmlns:a16="http://schemas.microsoft.com/office/drawing/2014/main" id="{D07FFB91-FC02-65C9-46A5-2D703ECC2C1D}"/>
                </a:ext>
              </a:extLst>
            </p:cNvPr>
            <p:cNvCxnSpPr>
              <a:cxnSpLocks/>
            </p:cNvCxnSpPr>
            <p:nvPr/>
          </p:nvCxnSpPr>
          <p:spPr>
            <a:xfrm>
              <a:off x="2135035" y="7349754"/>
              <a:ext cx="0" cy="1822136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矢印コネクタ 92">
              <a:extLst>
                <a:ext uri="{FF2B5EF4-FFF2-40B4-BE49-F238E27FC236}">
                  <a16:creationId xmlns:a16="http://schemas.microsoft.com/office/drawing/2014/main" id="{1AD2CD46-51DD-D401-CAB9-68F7E039C9CF}"/>
                </a:ext>
              </a:extLst>
            </p:cNvPr>
            <p:cNvCxnSpPr>
              <a:cxnSpLocks/>
            </p:cNvCxnSpPr>
            <p:nvPr/>
          </p:nvCxnSpPr>
          <p:spPr>
            <a:xfrm rot="-2460000" flipH="1">
              <a:off x="872905" y="7895126"/>
              <a:ext cx="14400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線矢印コネクタ 95">
              <a:extLst>
                <a:ext uri="{FF2B5EF4-FFF2-40B4-BE49-F238E27FC236}">
                  <a16:creationId xmlns:a16="http://schemas.microsoft.com/office/drawing/2014/main" id="{B8368484-60C9-9523-546C-A78A1A7EAF5F}"/>
                </a:ext>
              </a:extLst>
            </p:cNvPr>
            <p:cNvCxnSpPr>
              <a:cxnSpLocks/>
            </p:cNvCxnSpPr>
            <p:nvPr/>
          </p:nvCxnSpPr>
          <p:spPr>
            <a:xfrm rot="16920000" flipH="1">
              <a:off x="1259495" y="8125699"/>
              <a:ext cx="1440000" cy="0"/>
            </a:xfrm>
            <a:prstGeom prst="straightConnector1">
              <a:avLst/>
            </a:prstGeom>
            <a:ln w="38100">
              <a:solidFill>
                <a:srgbClr val="00BC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線矢印コネクタ 96">
              <a:extLst>
                <a:ext uri="{FF2B5EF4-FFF2-40B4-BE49-F238E27FC236}">
                  <a16:creationId xmlns:a16="http://schemas.microsoft.com/office/drawing/2014/main" id="{F56D42C5-ECFB-047A-4F0C-D6D2B3AB9757}"/>
                </a:ext>
              </a:extLst>
            </p:cNvPr>
            <p:cNvCxnSpPr>
              <a:cxnSpLocks/>
            </p:cNvCxnSpPr>
            <p:nvPr/>
          </p:nvCxnSpPr>
          <p:spPr>
            <a:xfrm rot="-9720000" flipH="1">
              <a:off x="2088185" y="7590580"/>
              <a:ext cx="1054800" cy="0"/>
            </a:xfrm>
            <a:prstGeom prst="straightConnector1">
              <a:avLst/>
            </a:prstGeom>
            <a:ln w="38100">
              <a:solidFill>
                <a:srgbClr val="3803FF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テキスト ボックス 97">
              <a:extLst>
                <a:ext uri="{FF2B5EF4-FFF2-40B4-BE49-F238E27FC236}">
                  <a16:creationId xmlns:a16="http://schemas.microsoft.com/office/drawing/2014/main" id="{4545F539-1A90-DD1F-BC11-FFD887C4715F}"/>
                </a:ext>
              </a:extLst>
            </p:cNvPr>
            <p:cNvSpPr txBox="1"/>
            <p:nvPr/>
          </p:nvSpPr>
          <p:spPr>
            <a:xfrm>
              <a:off x="2649058" y="7675260"/>
              <a:ext cx="4587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dirty="0">
                  <a:solidFill>
                    <a:srgbClr val="3803FF"/>
                  </a:solidFill>
                  <a:latin typeface="Helvetica" pitchFamily="2" charset="0"/>
                </a:rPr>
                <a:t>c*</a:t>
              </a:r>
              <a:endParaRPr kumimoji="1" lang="ja-JP" altLang="en-US" sz="2400">
                <a:solidFill>
                  <a:srgbClr val="3803FF"/>
                </a:solidFill>
                <a:latin typeface="Helvetica" pitchFamily="2" charset="0"/>
              </a:endParaRPr>
            </a:p>
          </p:txBody>
        </p:sp>
        <p:sp>
          <p:nvSpPr>
            <p:cNvPr id="99" name="テキスト ボックス 98">
              <a:extLst>
                <a:ext uri="{FF2B5EF4-FFF2-40B4-BE49-F238E27FC236}">
                  <a16:creationId xmlns:a16="http://schemas.microsoft.com/office/drawing/2014/main" id="{AFF26CBB-C560-F172-6C80-41B106634A76}"/>
                </a:ext>
              </a:extLst>
            </p:cNvPr>
            <p:cNvSpPr txBox="1"/>
            <p:nvPr/>
          </p:nvSpPr>
          <p:spPr>
            <a:xfrm>
              <a:off x="1378203" y="8469780"/>
              <a:ext cx="4764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dirty="0">
                  <a:solidFill>
                    <a:srgbClr val="00BC00"/>
                  </a:solidFill>
                  <a:latin typeface="Helvetica" pitchFamily="2" charset="0"/>
                </a:rPr>
                <a:t>b*</a:t>
              </a:r>
              <a:endParaRPr kumimoji="1" lang="ja-JP" altLang="en-US" sz="2400">
                <a:solidFill>
                  <a:srgbClr val="00BC00"/>
                </a:solidFill>
                <a:latin typeface="Helvetica" pitchFamily="2" charset="0"/>
              </a:endParaRPr>
            </a:p>
          </p:txBody>
        </p:sp>
        <p:sp>
          <p:nvSpPr>
            <p:cNvPr id="100" name="テキスト ボックス 99">
              <a:extLst>
                <a:ext uri="{FF2B5EF4-FFF2-40B4-BE49-F238E27FC236}">
                  <a16:creationId xmlns:a16="http://schemas.microsoft.com/office/drawing/2014/main" id="{B9C14E66-AB64-84C1-3F18-C4C38BF51286}"/>
                </a:ext>
              </a:extLst>
            </p:cNvPr>
            <p:cNvSpPr txBox="1"/>
            <p:nvPr/>
          </p:nvSpPr>
          <p:spPr>
            <a:xfrm>
              <a:off x="1131123" y="7546189"/>
              <a:ext cx="4764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dirty="0">
                  <a:solidFill>
                    <a:srgbClr val="FF0000"/>
                  </a:solidFill>
                  <a:latin typeface="Helvetica" pitchFamily="2" charset="0"/>
                </a:rPr>
                <a:t>a*</a:t>
              </a:r>
              <a:endParaRPr kumimoji="1" lang="ja-JP" altLang="en-US" sz="2400">
                <a:solidFill>
                  <a:srgbClr val="FF0000"/>
                </a:solidFill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74974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95C91-AF2E-A727-2EBC-3EE223E4E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9FF8B77A-682F-8FF3-C7B5-072DF9DB05E0}"/>
              </a:ext>
            </a:extLst>
          </p:cNvPr>
          <p:cNvGrpSpPr/>
          <p:nvPr/>
        </p:nvGrpSpPr>
        <p:grpSpPr>
          <a:xfrm>
            <a:off x="872905" y="3065767"/>
            <a:ext cx="17423657" cy="7551393"/>
            <a:chOff x="872905" y="3065767"/>
            <a:chExt cx="17423657" cy="7551393"/>
          </a:xfrm>
        </p:grpSpPr>
        <p:pic>
          <p:nvPicPr>
            <p:cNvPr id="92" name="図 91">
              <a:extLst>
                <a:ext uri="{FF2B5EF4-FFF2-40B4-BE49-F238E27FC236}">
                  <a16:creationId xmlns:a16="http://schemas.microsoft.com/office/drawing/2014/main" id="{11EA8280-1AB0-521B-E014-6B2F248661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912674" y="6939999"/>
              <a:ext cx="4383888" cy="3653240"/>
            </a:xfrm>
            <a:prstGeom prst="rect">
              <a:avLst/>
            </a:prstGeom>
          </p:spPr>
        </p:pic>
        <p:pic>
          <p:nvPicPr>
            <p:cNvPr id="94" name="図 93">
              <a:extLst>
                <a:ext uri="{FF2B5EF4-FFF2-40B4-BE49-F238E27FC236}">
                  <a16:creationId xmlns:a16="http://schemas.microsoft.com/office/drawing/2014/main" id="{7523E2AF-95A9-EB49-F609-4A8174ACC5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912674" y="3310922"/>
              <a:ext cx="4383548" cy="3652957"/>
            </a:xfrm>
            <a:prstGeom prst="rect">
              <a:avLst/>
            </a:prstGeom>
          </p:spPr>
        </p:pic>
        <p:pic>
          <p:nvPicPr>
            <p:cNvPr id="87" name="図 86">
              <a:extLst>
                <a:ext uri="{FF2B5EF4-FFF2-40B4-BE49-F238E27FC236}">
                  <a16:creationId xmlns:a16="http://schemas.microsoft.com/office/drawing/2014/main" id="{9FB4736E-5867-7E62-2A22-0CE3BBDAC22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086959" y="6941948"/>
              <a:ext cx="3649343" cy="3649343"/>
            </a:xfrm>
            <a:prstGeom prst="rect">
              <a:avLst/>
            </a:prstGeom>
          </p:spPr>
        </p:pic>
        <p:pic>
          <p:nvPicPr>
            <p:cNvPr id="89" name="図 88">
              <a:extLst>
                <a:ext uri="{FF2B5EF4-FFF2-40B4-BE49-F238E27FC236}">
                  <a16:creationId xmlns:a16="http://schemas.microsoft.com/office/drawing/2014/main" id="{66CB495E-7BEB-E44D-BEDB-60118FE02B5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085152" y="3310922"/>
              <a:ext cx="3652957" cy="3652957"/>
            </a:xfrm>
            <a:prstGeom prst="rect">
              <a:avLst/>
            </a:prstGeom>
          </p:spPr>
        </p:pic>
        <p:pic>
          <p:nvPicPr>
            <p:cNvPr id="85" name="図 84">
              <a:extLst>
                <a:ext uri="{FF2B5EF4-FFF2-40B4-BE49-F238E27FC236}">
                  <a16:creationId xmlns:a16="http://schemas.microsoft.com/office/drawing/2014/main" id="{34FF7C1B-8D46-0415-4F2B-7670E3FA258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35858" y="3310922"/>
              <a:ext cx="3652957" cy="3652957"/>
            </a:xfrm>
            <a:prstGeom prst="rect">
              <a:avLst/>
            </a:prstGeom>
          </p:spPr>
        </p:pic>
        <p:pic>
          <p:nvPicPr>
            <p:cNvPr id="84" name="図 83">
              <a:extLst>
                <a:ext uri="{FF2B5EF4-FFF2-40B4-BE49-F238E27FC236}">
                  <a16:creationId xmlns:a16="http://schemas.microsoft.com/office/drawing/2014/main" id="{6DF36A5D-1F7D-7727-21B9-DC8CB6EAC0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209476" y="6939911"/>
              <a:ext cx="3653416" cy="3653416"/>
            </a:xfrm>
            <a:prstGeom prst="rect">
              <a:avLst/>
            </a:prstGeom>
          </p:spPr>
        </p:pic>
        <p:pic>
          <p:nvPicPr>
            <p:cNvPr id="29" name="図 28">
              <a:extLst>
                <a:ext uri="{FF2B5EF4-FFF2-40B4-BE49-F238E27FC236}">
                  <a16:creationId xmlns:a16="http://schemas.microsoft.com/office/drawing/2014/main" id="{ACF0D061-4A2E-CE2D-3026-367957720D4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23307" t="22048" r="4567" b="21066"/>
            <a:stretch>
              <a:fillRect/>
            </a:stretch>
          </p:blipFill>
          <p:spPr>
            <a:xfrm>
              <a:off x="2047699" y="4046862"/>
              <a:ext cx="4065286" cy="5551268"/>
            </a:xfrm>
            <a:prstGeom prst="rect">
              <a:avLst/>
            </a:prstGeom>
          </p:spPr>
        </p:pic>
        <p:sp>
          <p:nvSpPr>
            <p:cNvPr id="21" name="三角形 20">
              <a:extLst>
                <a:ext uri="{FF2B5EF4-FFF2-40B4-BE49-F238E27FC236}">
                  <a16:creationId xmlns:a16="http://schemas.microsoft.com/office/drawing/2014/main" id="{E48C7A04-4C7F-056B-4DE6-CBA3DBF4067A}"/>
                </a:ext>
              </a:extLst>
            </p:cNvPr>
            <p:cNvSpPr/>
            <p:nvPr/>
          </p:nvSpPr>
          <p:spPr>
            <a:xfrm rot="6000000">
              <a:off x="5850714" y="8640778"/>
              <a:ext cx="243963" cy="121472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2" name="三角形 21">
              <a:extLst>
                <a:ext uri="{FF2B5EF4-FFF2-40B4-BE49-F238E27FC236}">
                  <a16:creationId xmlns:a16="http://schemas.microsoft.com/office/drawing/2014/main" id="{32DB7CF3-ECE6-B74B-34C5-8C8F8E095DAF}"/>
                </a:ext>
              </a:extLst>
            </p:cNvPr>
            <p:cNvSpPr/>
            <p:nvPr/>
          </p:nvSpPr>
          <p:spPr>
            <a:xfrm>
              <a:off x="2053498" y="3885081"/>
              <a:ext cx="140908" cy="21031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3" name="三角形 22">
              <a:extLst>
                <a:ext uri="{FF2B5EF4-FFF2-40B4-BE49-F238E27FC236}">
                  <a16:creationId xmlns:a16="http://schemas.microsoft.com/office/drawing/2014/main" id="{4C09F932-0BD0-76AA-2F1D-C8C1B8F51C13}"/>
                </a:ext>
              </a:extLst>
            </p:cNvPr>
            <p:cNvSpPr/>
            <p:nvPr/>
          </p:nvSpPr>
          <p:spPr>
            <a:xfrm rot="2691792">
              <a:off x="3033171" y="6469165"/>
              <a:ext cx="243963" cy="121472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2CB11298-987B-12A1-21F0-DABE2FAC285C}"/>
                    </a:ext>
                  </a:extLst>
                </p:cNvPr>
                <p:cNvSpPr txBox="1"/>
                <p:nvPr/>
              </p:nvSpPr>
              <p:spPr>
                <a:xfrm>
                  <a:off x="5398799" y="7166786"/>
                  <a:ext cx="567548" cy="4948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acc>
                          <m:accPr>
                            <m:chr m:val="̅"/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acc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02</m:t>
                        </m:r>
                      </m:oMath>
                    </m:oMathPara>
                  </a14:m>
                  <a:endParaRPr lang="ja-JP" altLang="en-US" sz="261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2CB11298-987B-12A1-21F0-DABE2FAC28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8799" y="7166786"/>
                  <a:ext cx="567548" cy="494880"/>
                </a:xfrm>
                <a:prstGeom prst="rect">
                  <a:avLst/>
                </a:prstGeom>
                <a:blipFill>
                  <a:blip r:embed="rId10"/>
                  <a:stretch>
                    <a:fillRect l="-6667" r="-3555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E2CD79BB-8374-3FB0-9202-8665E00A0734}"/>
                </a:ext>
              </a:extLst>
            </p:cNvPr>
            <p:cNvSpPr txBox="1"/>
            <p:nvPr/>
          </p:nvSpPr>
          <p:spPr>
            <a:xfrm>
              <a:off x="4588743" y="8766619"/>
              <a:ext cx="1855302" cy="4939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(0,0,</a:t>
              </a:r>
              <a:r>
                <a:rPr lang="en-US" altLang="ja-JP" sz="2610" i="1" dirty="0">
                  <a:latin typeface="Helvetica" pitchFamily="2" charset="0"/>
                </a:rPr>
                <a:t>L</a:t>
              </a:r>
              <a:r>
                <a:rPr lang="en-US" altLang="ja-JP" sz="2610" dirty="0">
                  <a:latin typeface="Helvetica" pitchFamily="2" charset="0"/>
                </a:rPr>
                <a:t>) || y</a:t>
              </a:r>
              <a:endParaRPr lang="ja-JP" altLang="en-US" sz="2610">
                <a:latin typeface="Helvetica" pitchFamily="2" charset="0"/>
              </a:endParaRPr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F2900A16-A43C-6321-4AE8-AC66E4C482E6}"/>
                </a:ext>
              </a:extLst>
            </p:cNvPr>
            <p:cNvSpPr txBox="1"/>
            <p:nvPr/>
          </p:nvSpPr>
          <p:spPr>
            <a:xfrm>
              <a:off x="2177228" y="3704310"/>
              <a:ext cx="2280652" cy="4939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(</a:t>
              </a:r>
              <a:r>
                <a:rPr lang="en-US" altLang="ja-JP" sz="2610" i="1" dirty="0">
                  <a:latin typeface="Helvetica" pitchFamily="2" charset="0"/>
                </a:rPr>
                <a:t>K</a:t>
              </a:r>
              <a:r>
                <a:rPr lang="en-US" altLang="ja-JP" sz="2610" dirty="0">
                  <a:latin typeface="Helvetica" pitchFamily="2" charset="0"/>
                </a:rPr>
                <a:t>/2,-</a:t>
              </a:r>
              <a:r>
                <a:rPr lang="en-US" altLang="ja-JP" sz="2610" i="1" dirty="0">
                  <a:latin typeface="Helvetica" pitchFamily="2" charset="0"/>
                </a:rPr>
                <a:t>K</a:t>
              </a:r>
              <a:r>
                <a:rPr lang="en-US" altLang="ja-JP" sz="2610" dirty="0">
                  <a:latin typeface="Helvetica" pitchFamily="2" charset="0"/>
                </a:rPr>
                <a:t>,0) || z</a:t>
              </a:r>
              <a:endParaRPr lang="ja-JP" altLang="en-US" sz="2610">
                <a:latin typeface="Helvetica" pitchFamily="2" charset="0"/>
              </a:endParaRPr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B4FB952B-0D52-80B9-9590-E0B4D9C68FED}"/>
                </a:ext>
              </a:extLst>
            </p:cNvPr>
            <p:cNvSpPr txBox="1"/>
            <p:nvPr/>
          </p:nvSpPr>
          <p:spPr>
            <a:xfrm>
              <a:off x="4858815" y="5333551"/>
              <a:ext cx="1182620" cy="4493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(d), (e) </a:t>
              </a:r>
              <a:endParaRPr lang="ja-JP" altLang="en-US" sz="2320">
                <a:latin typeface="Helvetica" pitchFamily="2" charset="0"/>
              </a:endParaRPr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EC73A90A-C070-9E40-D0CF-46D1EC2219DD}"/>
                </a:ext>
              </a:extLst>
            </p:cNvPr>
            <p:cNvSpPr txBox="1"/>
            <p:nvPr/>
          </p:nvSpPr>
          <p:spPr>
            <a:xfrm>
              <a:off x="3626600" y="4719962"/>
              <a:ext cx="1146941" cy="4493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(b), (c) </a:t>
              </a:r>
              <a:endParaRPr lang="ja-JP" altLang="en-US" sz="2320">
                <a:latin typeface="Helvetica" pitchFamily="2" charset="0"/>
              </a:endParaRPr>
            </a:p>
          </p:txBody>
        </p:sp>
        <p:sp>
          <p:nvSpPr>
            <p:cNvPr id="44" name="テキスト ボックス 43">
              <a:extLst>
                <a:ext uri="{FF2B5EF4-FFF2-40B4-BE49-F238E27FC236}">
                  <a16:creationId xmlns:a16="http://schemas.microsoft.com/office/drawing/2014/main" id="{6EECD005-8330-0699-93C6-853171D3FF6C}"/>
                </a:ext>
              </a:extLst>
            </p:cNvPr>
            <p:cNvSpPr txBox="1"/>
            <p:nvPr/>
          </p:nvSpPr>
          <p:spPr>
            <a:xfrm>
              <a:off x="2376906" y="5724362"/>
              <a:ext cx="2109221" cy="4939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(-</a:t>
              </a:r>
              <a:r>
                <a:rPr lang="en-US" altLang="ja-JP" sz="2610" i="1" dirty="0">
                  <a:latin typeface="Helvetica" pitchFamily="2" charset="0"/>
                </a:rPr>
                <a:t>H</a:t>
              </a:r>
              <a:r>
                <a:rPr lang="en-US" altLang="ja-JP" sz="2610" dirty="0">
                  <a:latin typeface="Helvetica" pitchFamily="2" charset="0"/>
                </a:rPr>
                <a:t>,0,0) || -x</a:t>
              </a:r>
              <a:endParaRPr lang="ja-JP" altLang="en-US" sz="2610">
                <a:latin typeface="Helvetica" pitchFamily="2" charset="0"/>
              </a:endParaRPr>
            </a:p>
          </p:txBody>
        </p:sp>
        <p:cxnSp>
          <p:nvCxnSpPr>
            <p:cNvPr id="45" name="直線コネクタ 44">
              <a:extLst>
                <a:ext uri="{FF2B5EF4-FFF2-40B4-BE49-F238E27FC236}">
                  <a16:creationId xmlns:a16="http://schemas.microsoft.com/office/drawing/2014/main" id="{6C25D7AA-AB71-96EF-EFA9-2FBB6407B2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2238" y="5902740"/>
              <a:ext cx="202633" cy="3850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F9C92B97-BA0A-96E4-E4F3-68CAE2707D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08521" y="5288178"/>
              <a:ext cx="170868" cy="72833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97EB17D9-0B48-937F-F822-BF7E8D93ED06}"/>
                    </a:ext>
                  </a:extLst>
                </p:cNvPr>
                <p:cNvSpPr txBox="1"/>
                <p:nvPr/>
              </p:nvSpPr>
              <p:spPr>
                <a:xfrm>
                  <a:off x="4704315" y="6556166"/>
                  <a:ext cx="377539" cy="4939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97EB17D9-0B48-937F-F822-BF7E8D93ED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4315" y="6556166"/>
                  <a:ext cx="377539" cy="493982"/>
                </a:xfrm>
                <a:prstGeom prst="rect">
                  <a:avLst/>
                </a:prstGeom>
                <a:blipFill>
                  <a:blip r:embed="rId11"/>
                  <a:stretch>
                    <a:fillRect l="-6452" r="-35484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3ED04149-05A6-FF68-409C-E0B3CD3E4816}"/>
                    </a:ext>
                  </a:extLst>
                </p:cNvPr>
                <p:cNvSpPr txBox="1"/>
                <p:nvPr/>
              </p:nvSpPr>
              <p:spPr>
                <a:xfrm>
                  <a:off x="3576442" y="6578936"/>
                  <a:ext cx="377539" cy="4939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3ED04149-05A6-FF68-409C-E0B3CD3E48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6442" y="6578936"/>
                  <a:ext cx="377539" cy="493982"/>
                </a:xfrm>
                <a:prstGeom prst="rect">
                  <a:avLst/>
                </a:prstGeom>
                <a:blipFill>
                  <a:blip r:embed="rId12"/>
                  <a:stretch>
                    <a:fillRect l="-6452" r="-35484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BE7274D9-DCFE-845C-933F-139C62F7DC51}"/>
                    </a:ext>
                  </a:extLst>
                </p:cNvPr>
                <p:cNvSpPr txBox="1"/>
                <p:nvPr/>
              </p:nvSpPr>
              <p:spPr>
                <a:xfrm>
                  <a:off x="3916416" y="8013831"/>
                  <a:ext cx="377539" cy="4939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BE7274D9-DCFE-845C-933F-139C62F7DC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6416" y="8013831"/>
                  <a:ext cx="377539" cy="493982"/>
                </a:xfrm>
                <a:prstGeom prst="rect">
                  <a:avLst/>
                </a:prstGeom>
                <a:blipFill>
                  <a:blip r:embed="rId13"/>
                  <a:stretch>
                    <a:fillRect l="-6667" r="-40000"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BDFD3FB3-4993-57E2-14A9-DF18317182EB}"/>
                </a:ext>
              </a:extLst>
            </p:cNvPr>
            <p:cNvSpPr txBox="1"/>
            <p:nvPr/>
          </p:nvSpPr>
          <p:spPr>
            <a:xfrm>
              <a:off x="1080798" y="3065767"/>
              <a:ext cx="638316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(a)</a:t>
              </a:r>
              <a:endParaRPr lang="ja-JP" altLang="en-US" sz="2900">
                <a:latin typeface="Helvetica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F888C2E6-9845-8131-6B77-7E2726A8231B}"/>
                    </a:ext>
                  </a:extLst>
                </p:cNvPr>
                <p:cNvSpPr txBox="1"/>
                <p:nvPr/>
              </p:nvSpPr>
              <p:spPr>
                <a:xfrm>
                  <a:off x="6804269" y="4933209"/>
                  <a:ext cx="377539" cy="4939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tx1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F888C2E6-9845-8131-6B77-7E2726A823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4269" y="4933209"/>
                  <a:ext cx="377539" cy="493981"/>
                </a:xfrm>
                <a:prstGeom prst="rect">
                  <a:avLst/>
                </a:prstGeom>
                <a:blipFill>
                  <a:blip r:embed="rId14"/>
                  <a:stretch>
                    <a:fillRect l="-3226" r="-25806"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423E0B2D-582B-D3A8-A4F9-D07083E24361}"/>
                    </a:ext>
                  </a:extLst>
                </p:cNvPr>
                <p:cNvSpPr txBox="1"/>
                <p:nvPr/>
              </p:nvSpPr>
              <p:spPr>
                <a:xfrm>
                  <a:off x="8052619" y="3798339"/>
                  <a:ext cx="377539" cy="4939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bg1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423E0B2D-582B-D3A8-A4F9-D07083E243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2619" y="3798339"/>
                  <a:ext cx="377539" cy="493981"/>
                </a:xfrm>
                <a:prstGeom prst="rect">
                  <a:avLst/>
                </a:prstGeom>
                <a:blipFill>
                  <a:blip r:embed="rId15"/>
                  <a:stretch>
                    <a:fillRect l="-6667" r="-26667" b="-769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D40A422B-E58C-B3A8-BFB2-053D005B0784}"/>
                </a:ext>
              </a:extLst>
            </p:cNvPr>
            <p:cNvSpPr txBox="1"/>
            <p:nvPr/>
          </p:nvSpPr>
          <p:spPr>
            <a:xfrm>
              <a:off x="5952767" y="3065767"/>
              <a:ext cx="638316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(b)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B6561C3E-AA04-7C3E-F128-EB10DE94D464}"/>
                </a:ext>
              </a:extLst>
            </p:cNvPr>
            <p:cNvSpPr txBox="1"/>
            <p:nvPr/>
          </p:nvSpPr>
          <p:spPr>
            <a:xfrm>
              <a:off x="9740269" y="3065767"/>
              <a:ext cx="617477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(c)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3201FF42-402F-26C5-9036-D5AAA86526F1}"/>
                </a:ext>
              </a:extLst>
            </p:cNvPr>
            <p:cNvSpPr txBox="1"/>
            <p:nvPr/>
          </p:nvSpPr>
          <p:spPr>
            <a:xfrm>
              <a:off x="5952767" y="6859612"/>
              <a:ext cx="638316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(d)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41BC4DA6-AD1C-4120-0E7D-7E8051980F67}"/>
                </a:ext>
              </a:extLst>
            </p:cNvPr>
            <p:cNvSpPr txBox="1"/>
            <p:nvPr/>
          </p:nvSpPr>
          <p:spPr>
            <a:xfrm>
              <a:off x="9740269" y="6859612"/>
              <a:ext cx="638316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(e)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8D3B7799-865D-D537-F18E-A17C149C6D1A}"/>
                </a:ext>
              </a:extLst>
            </p:cNvPr>
            <p:cNvSpPr txBox="1"/>
            <p:nvPr/>
          </p:nvSpPr>
          <p:spPr>
            <a:xfrm>
              <a:off x="13779596" y="3065767"/>
              <a:ext cx="534121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(f)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8B9295BE-07F1-3838-92CC-B4F8C134EDAF}"/>
                </a:ext>
              </a:extLst>
            </p:cNvPr>
            <p:cNvSpPr txBox="1"/>
            <p:nvPr/>
          </p:nvSpPr>
          <p:spPr>
            <a:xfrm>
              <a:off x="13727498" y="6859612"/>
              <a:ext cx="638316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(g)</a:t>
              </a:r>
              <a:endParaRPr lang="ja-JP" altLang="en-US" sz="2900">
                <a:latin typeface="Helvetica" pitchFamily="2" charset="0"/>
              </a:endParaRPr>
            </a:p>
          </p:txBody>
        </p:sp>
        <p:cxnSp>
          <p:nvCxnSpPr>
            <p:cNvPr id="46" name="直線コネクタ 45">
              <a:extLst>
                <a:ext uri="{FF2B5EF4-FFF2-40B4-BE49-F238E27FC236}">
                  <a16:creationId xmlns:a16="http://schemas.microsoft.com/office/drawing/2014/main" id="{9DFB4E77-1DAF-0860-4A9E-4BE4AF3738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6678" y="6621853"/>
              <a:ext cx="1128428" cy="1238436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D9507124-90D9-DE2E-89EE-066AB4CF12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51352" y="7990537"/>
              <a:ext cx="1118173" cy="122763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DE115D1D-55E5-E067-78D6-15AB8A7DE27A}"/>
                </a:ext>
              </a:extLst>
            </p:cNvPr>
            <p:cNvSpPr txBox="1"/>
            <p:nvPr/>
          </p:nvSpPr>
          <p:spPr>
            <a:xfrm>
              <a:off x="3381797" y="9094029"/>
              <a:ext cx="602833" cy="4493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(f) </a:t>
              </a:r>
              <a:endParaRPr lang="ja-JP" altLang="en-US" sz="2320">
                <a:latin typeface="Helvetica" pitchFamily="2" charset="0"/>
              </a:endParaRPr>
            </a:p>
          </p:txBody>
        </p: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26F0B134-C7B5-E981-D06A-44E209D9E677}"/>
                </a:ext>
              </a:extLst>
            </p:cNvPr>
            <p:cNvSpPr txBox="1"/>
            <p:nvPr/>
          </p:nvSpPr>
          <p:spPr>
            <a:xfrm>
              <a:off x="3282667" y="7743041"/>
              <a:ext cx="746379" cy="4493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(g) </a:t>
              </a:r>
              <a:endParaRPr lang="ja-JP" altLang="en-US" sz="2320">
                <a:latin typeface="Helvetica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テキスト ボックス 1">
                  <a:extLst>
                    <a:ext uri="{FF2B5EF4-FFF2-40B4-BE49-F238E27FC236}">
                      <a16:creationId xmlns:a16="http://schemas.microsoft.com/office/drawing/2014/main" id="{09F6BEA4-97F6-CDCD-8483-9205E806D4D3}"/>
                    </a:ext>
                  </a:extLst>
                </p:cNvPr>
                <p:cNvSpPr txBox="1"/>
                <p:nvPr/>
              </p:nvSpPr>
              <p:spPr>
                <a:xfrm>
                  <a:off x="7077115" y="8467919"/>
                  <a:ext cx="377539" cy="4939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bg1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" name="テキスト ボックス 1">
                  <a:extLst>
                    <a:ext uri="{FF2B5EF4-FFF2-40B4-BE49-F238E27FC236}">
                      <a16:creationId xmlns:a16="http://schemas.microsoft.com/office/drawing/2014/main" id="{09F6BEA4-97F6-CDCD-8483-9205E806D4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7115" y="8467919"/>
                  <a:ext cx="377539" cy="493981"/>
                </a:xfrm>
                <a:prstGeom prst="rect">
                  <a:avLst/>
                </a:prstGeom>
                <a:blipFill>
                  <a:blip r:embed="rId16"/>
                  <a:stretch>
                    <a:fillRect l="-6452" r="-22581"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テキスト ボックス 2">
                  <a:extLst>
                    <a:ext uri="{FF2B5EF4-FFF2-40B4-BE49-F238E27FC236}">
                      <a16:creationId xmlns:a16="http://schemas.microsoft.com/office/drawing/2014/main" id="{AF2C35FE-18CD-EDEE-8425-FFED3D1FC839}"/>
                    </a:ext>
                  </a:extLst>
                </p:cNvPr>
                <p:cNvSpPr txBox="1"/>
                <p:nvPr/>
              </p:nvSpPr>
              <p:spPr>
                <a:xfrm>
                  <a:off x="7622853" y="8453623"/>
                  <a:ext cx="1127078" cy="4939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ja-JP" sz="261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bg1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" name="テキスト ボックス 2">
                  <a:extLst>
                    <a:ext uri="{FF2B5EF4-FFF2-40B4-BE49-F238E27FC236}">
                      <a16:creationId xmlns:a16="http://schemas.microsoft.com/office/drawing/2014/main" id="{AF2C35FE-18CD-EDEE-8425-FFED3D1FC8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2853" y="8453623"/>
                  <a:ext cx="1127078" cy="493981"/>
                </a:xfrm>
                <a:prstGeom prst="rect">
                  <a:avLst/>
                </a:prstGeom>
                <a:blipFill>
                  <a:blip r:embed="rId17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2E53662E-F72C-10C1-CCFF-D013E2063D72}"/>
                </a:ext>
              </a:extLst>
            </p:cNvPr>
            <p:cNvSpPr/>
            <p:nvPr/>
          </p:nvSpPr>
          <p:spPr>
            <a:xfrm>
              <a:off x="15565879" y="3950043"/>
              <a:ext cx="387800" cy="193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250478FE-2853-6696-1455-EDBC81EF348E}"/>
                </a:ext>
              </a:extLst>
            </p:cNvPr>
            <p:cNvSpPr/>
            <p:nvPr/>
          </p:nvSpPr>
          <p:spPr>
            <a:xfrm>
              <a:off x="15565879" y="4293852"/>
              <a:ext cx="387800" cy="193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22335E5E-E70E-4201-11DC-7BC069F0C965}"/>
                </a:ext>
              </a:extLst>
            </p:cNvPr>
            <p:cNvSpPr/>
            <p:nvPr/>
          </p:nvSpPr>
          <p:spPr>
            <a:xfrm>
              <a:off x="17286884" y="7564847"/>
              <a:ext cx="387800" cy="193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AA6BF4A8-4B7D-3E7D-EC4A-F5FB93E17FB8}"/>
                </a:ext>
              </a:extLst>
            </p:cNvPr>
            <p:cNvSpPr/>
            <p:nvPr/>
          </p:nvSpPr>
          <p:spPr>
            <a:xfrm>
              <a:off x="17286884" y="7947665"/>
              <a:ext cx="387800" cy="193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5D5FBC23-794C-E19E-281F-C1AEBD0CEAEA}"/>
                </a:ext>
              </a:extLst>
            </p:cNvPr>
            <p:cNvSpPr/>
            <p:nvPr/>
          </p:nvSpPr>
          <p:spPr>
            <a:xfrm rot="16200000">
              <a:off x="13446486" y="8636580"/>
              <a:ext cx="387800" cy="193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9FF71F01-9420-0E5E-A5CE-7B8E095B046F}"/>
                </a:ext>
              </a:extLst>
            </p:cNvPr>
            <p:cNvSpPr/>
            <p:nvPr/>
          </p:nvSpPr>
          <p:spPr>
            <a:xfrm rot="16200000">
              <a:off x="13445584" y="9252798"/>
              <a:ext cx="387800" cy="193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E3059A47-0515-F13B-E1C1-AD1D2BA07F41}"/>
                </a:ext>
              </a:extLst>
            </p:cNvPr>
            <p:cNvSpPr/>
            <p:nvPr/>
          </p:nvSpPr>
          <p:spPr>
            <a:xfrm rot="16200000">
              <a:off x="13470698" y="5612021"/>
              <a:ext cx="387800" cy="193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EA63D9ED-00D5-D6C5-7B67-403A02087577}"/>
                </a:ext>
              </a:extLst>
            </p:cNvPr>
            <p:cNvSpPr/>
            <p:nvPr/>
          </p:nvSpPr>
          <p:spPr>
            <a:xfrm rot="16200000">
              <a:off x="13470699" y="4988448"/>
              <a:ext cx="387800" cy="193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00BAD4F5-BB93-BA92-A6DF-9B258BF6053A}"/>
                </a:ext>
              </a:extLst>
            </p:cNvPr>
            <p:cNvSpPr txBox="1"/>
            <p:nvPr/>
          </p:nvSpPr>
          <p:spPr>
            <a:xfrm rot="16200000">
              <a:off x="5005963" y="4717432"/>
              <a:ext cx="274511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  (-</a:t>
              </a:r>
              <a:r>
                <a:rPr kumimoji="1" lang="en-US" altLang="ja-JP" sz="2200" i="1" dirty="0"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/2, </a:t>
              </a:r>
              <a:r>
                <a:rPr kumimoji="1" lang="en-US" altLang="ja-JP" sz="2200" i="1" dirty="0"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, 1.5) (</a:t>
              </a:r>
              <a:r>
                <a:rPr kumimoji="1" lang="en-US" altLang="ja-JP" sz="2200" dirty="0" err="1">
                  <a:latin typeface="Arial" panose="020B0604020202020204" pitchFamily="34" charset="0"/>
                  <a:cs typeface="Arial" panose="020B0604020202020204" pitchFamily="34" charset="0"/>
                </a:rPr>
                <a:t>r.l.u</a:t>
              </a:r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.)</a:t>
              </a:r>
              <a:endParaRPr kumimoji="1" lang="ja-JP" altLang="en-US" sz="2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734A50BF-06C8-1098-9268-16D3268EE584}"/>
                </a:ext>
              </a:extLst>
            </p:cNvPr>
            <p:cNvSpPr txBox="1"/>
            <p:nvPr/>
          </p:nvSpPr>
          <p:spPr>
            <a:xfrm rot="16200000">
              <a:off x="9342195" y="8487794"/>
              <a:ext cx="1804148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(0,0,</a:t>
              </a:r>
              <a:r>
                <a:rPr kumimoji="1" lang="en-US" altLang="ja-JP" sz="2200" i="1" dirty="0"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) (</a:t>
              </a:r>
              <a:r>
                <a:rPr kumimoji="1" lang="en-US" altLang="ja-JP" sz="2200" dirty="0" err="1">
                  <a:latin typeface="Arial" panose="020B0604020202020204" pitchFamily="34" charset="0"/>
                  <a:cs typeface="Arial" panose="020B0604020202020204" pitchFamily="34" charset="0"/>
                </a:rPr>
                <a:t>r.l.u</a:t>
              </a:r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.)</a:t>
              </a:r>
              <a:endParaRPr kumimoji="1" lang="ja-JP" altLang="en-US" sz="2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AFA36113-CF8E-B7E2-E00D-0A8CFF66ACF0}"/>
                </a:ext>
              </a:extLst>
            </p:cNvPr>
            <p:cNvSpPr txBox="1"/>
            <p:nvPr/>
          </p:nvSpPr>
          <p:spPr>
            <a:xfrm rot="16200000">
              <a:off x="8871714" y="4717432"/>
              <a:ext cx="274511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  (-</a:t>
              </a:r>
              <a:r>
                <a:rPr kumimoji="1" lang="en-US" altLang="ja-JP" sz="2200" i="1" dirty="0"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/2, </a:t>
              </a:r>
              <a:r>
                <a:rPr kumimoji="1" lang="en-US" altLang="ja-JP" sz="2200" i="1" dirty="0"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, 1.5) (</a:t>
              </a:r>
              <a:r>
                <a:rPr kumimoji="1" lang="en-US" altLang="ja-JP" sz="2200" dirty="0" err="1">
                  <a:latin typeface="Arial" panose="020B0604020202020204" pitchFamily="34" charset="0"/>
                  <a:cs typeface="Arial" panose="020B0604020202020204" pitchFamily="34" charset="0"/>
                </a:rPr>
                <a:t>r.l.u</a:t>
              </a:r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.)</a:t>
              </a:r>
              <a:endParaRPr kumimoji="1" lang="ja-JP" altLang="en-US" sz="2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B7DB231F-7F3F-99FA-9AFD-6E1F7D212C83}"/>
                </a:ext>
              </a:extLst>
            </p:cNvPr>
            <p:cNvSpPr txBox="1"/>
            <p:nvPr/>
          </p:nvSpPr>
          <p:spPr>
            <a:xfrm rot="16200000">
              <a:off x="5476447" y="8388914"/>
              <a:ext cx="1804148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(0,0,</a:t>
              </a:r>
              <a:r>
                <a:rPr kumimoji="1" lang="en-US" altLang="ja-JP" sz="2200" i="1" dirty="0"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) (</a:t>
              </a:r>
              <a:r>
                <a:rPr kumimoji="1" lang="en-US" altLang="ja-JP" sz="2200" dirty="0" err="1">
                  <a:latin typeface="Arial" panose="020B0604020202020204" pitchFamily="34" charset="0"/>
                  <a:cs typeface="Arial" panose="020B0604020202020204" pitchFamily="34" charset="0"/>
                </a:rPr>
                <a:t>r.l.u</a:t>
              </a:r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.)</a:t>
              </a:r>
              <a:endParaRPr kumimoji="1" lang="ja-JP" altLang="en-US" sz="2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A6A9F923-EF43-ABF3-CF97-F252E002A0DE}"/>
                </a:ext>
              </a:extLst>
            </p:cNvPr>
            <p:cNvSpPr txBox="1"/>
            <p:nvPr/>
          </p:nvSpPr>
          <p:spPr>
            <a:xfrm>
              <a:off x="10967489" y="10186273"/>
              <a:ext cx="1850635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kumimoji="1" lang="en-US" altLang="ja-JP" sz="2200" i="1" dirty="0"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,0,0) (</a:t>
              </a:r>
              <a:r>
                <a:rPr kumimoji="1" lang="en-US" altLang="ja-JP" sz="2200" dirty="0" err="1">
                  <a:latin typeface="Arial" panose="020B0604020202020204" pitchFamily="34" charset="0"/>
                  <a:cs typeface="Arial" panose="020B0604020202020204" pitchFamily="34" charset="0"/>
                </a:rPr>
                <a:t>r.l.u</a:t>
              </a:r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.)</a:t>
              </a:r>
              <a:endParaRPr kumimoji="1" lang="ja-JP" altLang="en-US" sz="2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0305FC5F-5AFF-B5E8-443F-871A6A07D2C5}"/>
                </a:ext>
              </a:extLst>
            </p:cNvPr>
            <p:cNvSpPr txBox="1"/>
            <p:nvPr/>
          </p:nvSpPr>
          <p:spPr>
            <a:xfrm>
              <a:off x="7020188" y="10186273"/>
              <a:ext cx="1850635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kumimoji="1" lang="en-US" altLang="ja-JP" sz="2200" i="1" dirty="0"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,0,0) (</a:t>
              </a:r>
              <a:r>
                <a:rPr kumimoji="1" lang="en-US" altLang="ja-JP" sz="2200" dirty="0" err="1">
                  <a:latin typeface="Arial" panose="020B0604020202020204" pitchFamily="34" charset="0"/>
                  <a:cs typeface="Arial" panose="020B0604020202020204" pitchFamily="34" charset="0"/>
                </a:rPr>
                <a:t>r.l.u</a:t>
              </a:r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.)</a:t>
              </a:r>
              <a:endParaRPr kumimoji="1" lang="ja-JP" altLang="en-US" sz="2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13C3CF98-393A-1D65-ECFA-C587B5D71327}"/>
                </a:ext>
              </a:extLst>
            </p:cNvPr>
            <p:cNvSpPr txBox="1"/>
            <p:nvPr/>
          </p:nvSpPr>
          <p:spPr>
            <a:xfrm>
              <a:off x="6902367" y="6558968"/>
              <a:ext cx="2086277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kumimoji="1" lang="en-US" altLang="ja-JP" sz="2200" i="1" dirty="0"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,0,1.5) (</a:t>
              </a:r>
              <a:r>
                <a:rPr kumimoji="1" lang="en-US" altLang="ja-JP" sz="2200" dirty="0" err="1">
                  <a:latin typeface="Arial" panose="020B0604020202020204" pitchFamily="34" charset="0"/>
                  <a:cs typeface="Arial" panose="020B0604020202020204" pitchFamily="34" charset="0"/>
                </a:rPr>
                <a:t>r.l.u</a:t>
              </a:r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.)</a:t>
              </a:r>
              <a:endParaRPr kumimoji="1" lang="ja-JP" altLang="en-US" sz="2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FA25A631-075C-A20E-24A3-25F2BE1D59B5}"/>
                </a:ext>
              </a:extLst>
            </p:cNvPr>
            <p:cNvSpPr txBox="1"/>
            <p:nvPr/>
          </p:nvSpPr>
          <p:spPr>
            <a:xfrm>
              <a:off x="10849668" y="6556166"/>
              <a:ext cx="2086277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kumimoji="1" lang="en-US" altLang="ja-JP" sz="2200" i="1" dirty="0"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,0,1.5) (</a:t>
              </a:r>
              <a:r>
                <a:rPr kumimoji="1" lang="en-US" altLang="ja-JP" sz="2200" dirty="0" err="1">
                  <a:latin typeface="Arial" panose="020B0604020202020204" pitchFamily="34" charset="0"/>
                  <a:cs typeface="Arial" panose="020B0604020202020204" pitchFamily="34" charset="0"/>
                </a:rPr>
                <a:t>r.l.u</a:t>
              </a:r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.)</a:t>
              </a:r>
              <a:endParaRPr kumimoji="1" lang="ja-JP" altLang="en-US" sz="2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BA8622C5-4019-1DC8-0A8F-8E28453D004F}"/>
                </a:ext>
              </a:extLst>
            </p:cNvPr>
            <p:cNvSpPr/>
            <p:nvPr/>
          </p:nvSpPr>
          <p:spPr>
            <a:xfrm>
              <a:off x="11037590" y="4821968"/>
              <a:ext cx="1493847" cy="558216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272C28C1-31D4-EB23-3465-10E0F771E847}"/>
                </a:ext>
              </a:extLst>
            </p:cNvPr>
            <p:cNvSpPr/>
            <p:nvPr/>
          </p:nvSpPr>
          <p:spPr>
            <a:xfrm>
              <a:off x="11037590" y="4302368"/>
              <a:ext cx="1493847" cy="48848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テキスト ボックス 51">
                  <a:extLst>
                    <a:ext uri="{FF2B5EF4-FFF2-40B4-BE49-F238E27FC236}">
                      <a16:creationId xmlns:a16="http://schemas.microsoft.com/office/drawing/2014/main" id="{84905E1D-A943-9FBC-C8B6-3458091212AD}"/>
                    </a:ext>
                  </a:extLst>
                </p:cNvPr>
                <p:cNvSpPr txBox="1"/>
                <p:nvPr/>
              </p:nvSpPr>
              <p:spPr>
                <a:xfrm>
                  <a:off x="14786640" y="10186273"/>
                  <a:ext cx="3038973" cy="43088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2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(</a:t>
                  </a:r>
                  <a:r>
                    <a:rPr kumimoji="1" lang="en-US" altLang="ja-JP" sz="2200" i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  <a:r>
                    <a:rPr kumimoji="1" lang="en-US" altLang="ja-JP" sz="2200" dirty="0">
                      <a:latin typeface="Arial" panose="020B0604020202020204" pitchFamily="34" charset="0"/>
                      <a:ea typeface="Cambria Math" panose="02040503050406030204" pitchFamily="18" charset="0"/>
                      <a:cs typeface="Arial" panose="020B0604020202020204" pitchFamily="34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ja-JP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kumimoji="1" lang="en-US" altLang="ja-JP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𝛿</m:t>
                          </m:r>
                        </m:e>
                        <m:sub>
                          <m:r>
                            <a:rPr kumimoji="1" lang="en-US" altLang="ja-JP" sz="2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sz="2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/2</m:t>
                      </m:r>
                    </m:oMath>
                  </a14:m>
                  <a:r>
                    <a:rPr kumimoji="1" lang="en-US" altLang="ja-JP" sz="2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,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ja-JP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𝛿</m:t>
                          </m:r>
                        </m:e>
                        <m:sub>
                          <m:r>
                            <a:rPr kumimoji="1" lang="en-US" altLang="ja-JP" sz="2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kumimoji="1" lang="en-US" altLang="ja-JP" sz="2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,1.5) (</a:t>
                  </a:r>
                  <a:r>
                    <a:rPr kumimoji="1" lang="en-US" altLang="ja-JP" sz="2200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r.l.u</a:t>
                  </a:r>
                  <a:r>
                    <a:rPr kumimoji="1" lang="en-US" altLang="ja-JP" sz="2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.)</a:t>
                  </a:r>
                  <a:endParaRPr kumimoji="1" lang="ja-JP" altLang="en-US" sz="2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2" name="テキスト ボックス 51">
                  <a:extLst>
                    <a:ext uri="{FF2B5EF4-FFF2-40B4-BE49-F238E27FC236}">
                      <a16:creationId xmlns:a16="http://schemas.microsoft.com/office/drawing/2014/main" id="{84905E1D-A943-9FBC-C8B6-3458091212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86640" y="10186273"/>
                  <a:ext cx="3038973" cy="430887"/>
                </a:xfrm>
                <a:prstGeom prst="rect">
                  <a:avLst/>
                </a:prstGeom>
                <a:blipFill>
                  <a:blip r:embed="rId18"/>
                  <a:stretch>
                    <a:fillRect l="-2500" t="-11429" r="-2083" b="-2285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テキスト ボックス 53">
                  <a:extLst>
                    <a:ext uri="{FF2B5EF4-FFF2-40B4-BE49-F238E27FC236}">
                      <a16:creationId xmlns:a16="http://schemas.microsoft.com/office/drawing/2014/main" id="{45E7123D-2C03-B811-082C-F24F5142682C}"/>
                    </a:ext>
                  </a:extLst>
                </p:cNvPr>
                <p:cNvSpPr txBox="1"/>
                <p:nvPr/>
              </p:nvSpPr>
              <p:spPr>
                <a:xfrm>
                  <a:off x="14793180" y="6556166"/>
                  <a:ext cx="3025893" cy="43088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2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(</a:t>
                  </a:r>
                  <a:r>
                    <a:rPr kumimoji="1" lang="en-US" altLang="ja-JP" sz="2200" i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  <a:r>
                    <a:rPr kumimoji="1" lang="en-US" altLang="ja-JP" sz="2200" dirty="0">
                      <a:latin typeface="Arial" panose="020B0604020202020204" pitchFamily="34" charset="0"/>
                      <a:ea typeface="Cambria Math" panose="02040503050406030204" pitchFamily="18" charset="0"/>
                      <a:cs typeface="Arial" panose="020B0604020202020204" pitchFamily="34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ja-JP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kumimoji="1" lang="en-US" altLang="ja-JP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𝛿</m:t>
                          </m:r>
                        </m:e>
                        <m:sub>
                          <m:r>
                            <a:rPr kumimoji="1" lang="en-US" altLang="ja-JP" sz="22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2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/2</m:t>
                      </m:r>
                    </m:oMath>
                  </a14:m>
                  <a:r>
                    <a:rPr kumimoji="1" lang="en-US" altLang="ja-JP" sz="2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,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ja-JP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𝛿</m:t>
                          </m:r>
                        </m:e>
                        <m:sub>
                          <m:r>
                            <a:rPr kumimoji="1" lang="en-US" altLang="ja-JP" sz="2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kumimoji="1" lang="en-US" altLang="ja-JP" sz="2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,1.5) (</a:t>
                  </a:r>
                  <a:r>
                    <a:rPr kumimoji="1" lang="en-US" altLang="ja-JP" sz="2200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r.l.u</a:t>
                  </a:r>
                  <a:r>
                    <a:rPr kumimoji="1" lang="en-US" altLang="ja-JP" sz="2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.)</a:t>
                  </a:r>
                  <a:endParaRPr kumimoji="1" lang="ja-JP" altLang="en-US" sz="2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4" name="テキスト ボックス 53">
                  <a:extLst>
                    <a:ext uri="{FF2B5EF4-FFF2-40B4-BE49-F238E27FC236}">
                      <a16:creationId xmlns:a16="http://schemas.microsoft.com/office/drawing/2014/main" id="{45E7123D-2C03-B811-082C-F24F514268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93180" y="6556166"/>
                  <a:ext cx="3025893" cy="430887"/>
                </a:xfrm>
                <a:prstGeom prst="rect">
                  <a:avLst/>
                </a:prstGeom>
                <a:blipFill>
                  <a:blip r:embed="rId19"/>
                  <a:stretch>
                    <a:fillRect l="-2500" t="-8571" r="-2083" b="-2571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テキスト ボックス 54">
              <a:extLst>
                <a:ext uri="{FF2B5EF4-FFF2-40B4-BE49-F238E27FC236}">
                  <a16:creationId xmlns:a16="http://schemas.microsoft.com/office/drawing/2014/main" id="{D6BC085D-9179-7312-106D-0C2522ED18DC}"/>
                </a:ext>
              </a:extLst>
            </p:cNvPr>
            <p:cNvSpPr txBox="1"/>
            <p:nvPr/>
          </p:nvSpPr>
          <p:spPr>
            <a:xfrm rot="16200000">
              <a:off x="12975807" y="4729195"/>
              <a:ext cx="2446504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Intensity (</a:t>
              </a:r>
              <a:r>
                <a:rPr kumimoji="1" lang="en-US" altLang="ja-JP" sz="2200" dirty="0" err="1">
                  <a:latin typeface="Arial" panose="020B0604020202020204" pitchFamily="34" charset="0"/>
                  <a:cs typeface="Arial" panose="020B0604020202020204" pitchFamily="34" charset="0"/>
                </a:rPr>
                <a:t>arb.unit</a:t>
              </a:r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kumimoji="1" lang="ja-JP" altLang="en-US" sz="2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B2808BE0-76C4-5FBC-E671-F33AFA7BAA1A}"/>
                </a:ext>
              </a:extLst>
            </p:cNvPr>
            <p:cNvSpPr txBox="1"/>
            <p:nvPr/>
          </p:nvSpPr>
          <p:spPr>
            <a:xfrm rot="16200000">
              <a:off x="12823989" y="8476398"/>
              <a:ext cx="2446504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Intensity (</a:t>
              </a:r>
              <a:r>
                <a:rPr kumimoji="1" lang="en-US" altLang="ja-JP" sz="2200" dirty="0" err="1">
                  <a:latin typeface="Arial" panose="020B0604020202020204" pitchFamily="34" charset="0"/>
                  <a:cs typeface="Arial" panose="020B0604020202020204" pitchFamily="34" charset="0"/>
                </a:rPr>
                <a:t>arb.unit</a:t>
              </a:r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kumimoji="1" lang="ja-JP" altLang="en-US" sz="2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テキスト ボックス 71">
              <a:extLst>
                <a:ext uri="{FF2B5EF4-FFF2-40B4-BE49-F238E27FC236}">
                  <a16:creationId xmlns:a16="http://schemas.microsoft.com/office/drawing/2014/main" id="{4057451C-8DAA-496C-6003-21DE13A2C7A6}"/>
                </a:ext>
              </a:extLst>
            </p:cNvPr>
            <p:cNvSpPr txBox="1"/>
            <p:nvPr/>
          </p:nvSpPr>
          <p:spPr>
            <a:xfrm>
              <a:off x="11180597" y="4226891"/>
              <a:ext cx="52450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800" dirty="0">
                  <a:latin typeface="Helvetica" pitchFamily="2" charset="0"/>
                </a:rPr>
                <a:t>(f)</a:t>
              </a:r>
              <a:endParaRPr kumimoji="1" lang="ja-JP" altLang="en-US" sz="2800">
                <a:latin typeface="Helvetica" pitchFamily="2" charset="0"/>
              </a:endParaRPr>
            </a:p>
          </p:txBody>
        </p:sp>
        <p:sp>
          <p:nvSpPr>
            <p:cNvPr id="73" name="テキスト ボックス 72">
              <a:extLst>
                <a:ext uri="{FF2B5EF4-FFF2-40B4-BE49-F238E27FC236}">
                  <a16:creationId xmlns:a16="http://schemas.microsoft.com/office/drawing/2014/main" id="{2E4B8F8C-9645-2FB1-5EAE-86FDB62578E0}"/>
                </a:ext>
              </a:extLst>
            </p:cNvPr>
            <p:cNvSpPr txBox="1"/>
            <p:nvPr/>
          </p:nvSpPr>
          <p:spPr>
            <a:xfrm>
              <a:off x="11784020" y="4823211"/>
              <a:ext cx="6254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800" dirty="0">
                  <a:latin typeface="Helvetica" pitchFamily="2" charset="0"/>
                </a:rPr>
                <a:t>(g)</a:t>
              </a:r>
              <a:endParaRPr kumimoji="1" lang="ja-JP" altLang="en-US" sz="2800">
                <a:latin typeface="Helvetica" pitchFamily="2" charset="0"/>
              </a:endParaRPr>
            </a:p>
          </p:txBody>
        </p:sp>
        <p:cxnSp>
          <p:nvCxnSpPr>
            <p:cNvPr id="57" name="直線コネクタ 56">
              <a:extLst>
                <a:ext uri="{FF2B5EF4-FFF2-40B4-BE49-F238E27FC236}">
                  <a16:creationId xmlns:a16="http://schemas.microsoft.com/office/drawing/2014/main" id="{A366F952-1197-2EB7-38A4-DAC17DD64D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71687" y="4205957"/>
              <a:ext cx="113674" cy="338162"/>
            </a:xfrm>
            <a:prstGeom prst="line">
              <a:avLst/>
            </a:prstGeom>
            <a:ln w="12700">
              <a:solidFill>
                <a:schemeClr val="bg1"/>
              </a:solidFill>
              <a:prstDash val="dash"/>
              <a:head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コネクタ 65">
              <a:extLst>
                <a:ext uri="{FF2B5EF4-FFF2-40B4-BE49-F238E27FC236}">
                  <a16:creationId xmlns:a16="http://schemas.microsoft.com/office/drawing/2014/main" id="{7D96C469-ABEF-8342-9422-97AB11F182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2189" y="5432298"/>
              <a:ext cx="210212" cy="199083"/>
            </a:xfrm>
            <a:prstGeom prst="line">
              <a:avLst/>
            </a:prstGeom>
            <a:ln w="12700">
              <a:solidFill>
                <a:schemeClr val="bg1"/>
              </a:solidFill>
              <a:prstDash val="dash"/>
              <a:headEnd type="none"/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コネクタ 67">
              <a:extLst>
                <a:ext uri="{FF2B5EF4-FFF2-40B4-BE49-F238E27FC236}">
                  <a16:creationId xmlns:a16="http://schemas.microsoft.com/office/drawing/2014/main" id="{E94D7F53-55C0-7CBA-AC60-5C660C92A0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71840" y="5137400"/>
              <a:ext cx="219805" cy="42800"/>
            </a:xfrm>
            <a:prstGeom prst="line">
              <a:avLst/>
            </a:prstGeom>
            <a:ln w="12700">
              <a:solidFill>
                <a:schemeClr val="bg1"/>
              </a:solidFill>
              <a:prstDash val="dash"/>
              <a:headEnd type="oval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テキスト ボックス 79">
                  <a:extLst>
                    <a:ext uri="{FF2B5EF4-FFF2-40B4-BE49-F238E27FC236}">
                      <a16:creationId xmlns:a16="http://schemas.microsoft.com/office/drawing/2014/main" id="{D6C8DA44-A1D0-CCC8-8411-4D43D1DE473B}"/>
                    </a:ext>
                  </a:extLst>
                </p:cNvPr>
                <p:cNvSpPr txBox="1"/>
                <p:nvPr/>
              </p:nvSpPr>
              <p:spPr>
                <a:xfrm>
                  <a:off x="8254464" y="5440015"/>
                  <a:ext cx="377539" cy="4939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bg1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80" name="テキスト ボックス 79">
                  <a:extLst>
                    <a:ext uri="{FF2B5EF4-FFF2-40B4-BE49-F238E27FC236}">
                      <a16:creationId xmlns:a16="http://schemas.microsoft.com/office/drawing/2014/main" id="{D6C8DA44-A1D0-CCC8-8411-4D43D1DE47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54464" y="5440015"/>
                  <a:ext cx="377539" cy="493981"/>
                </a:xfrm>
                <a:prstGeom prst="rect">
                  <a:avLst/>
                </a:prstGeom>
                <a:blipFill>
                  <a:blip r:embed="rId20"/>
                  <a:stretch>
                    <a:fillRect l="-3226" r="-25806"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直線コネクタ 82">
              <a:extLst>
                <a:ext uri="{FF2B5EF4-FFF2-40B4-BE49-F238E27FC236}">
                  <a16:creationId xmlns:a16="http://schemas.microsoft.com/office/drawing/2014/main" id="{6FF5CF4F-004D-1572-88F4-38CD9F7C6B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00" y="6556166"/>
              <a:ext cx="2199852" cy="1951647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コネクタ 87">
              <a:extLst>
                <a:ext uri="{FF2B5EF4-FFF2-40B4-BE49-F238E27FC236}">
                  <a16:creationId xmlns:a16="http://schemas.microsoft.com/office/drawing/2014/main" id="{B6EAA887-57F2-A701-FA5E-F4EC895B243F}"/>
                </a:ext>
              </a:extLst>
            </p:cNvPr>
            <p:cNvCxnSpPr>
              <a:cxnSpLocks/>
            </p:cNvCxnSpPr>
            <p:nvPr/>
          </p:nvCxnSpPr>
          <p:spPr>
            <a:xfrm>
              <a:off x="2135035" y="7349754"/>
              <a:ext cx="0" cy="1822136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矢印コネクタ 92">
              <a:extLst>
                <a:ext uri="{FF2B5EF4-FFF2-40B4-BE49-F238E27FC236}">
                  <a16:creationId xmlns:a16="http://schemas.microsoft.com/office/drawing/2014/main" id="{0E15E929-2F0F-286D-3E2A-C65556BBC26F}"/>
                </a:ext>
              </a:extLst>
            </p:cNvPr>
            <p:cNvCxnSpPr>
              <a:cxnSpLocks/>
            </p:cNvCxnSpPr>
            <p:nvPr/>
          </p:nvCxnSpPr>
          <p:spPr>
            <a:xfrm rot="19140000" flipH="1">
              <a:off x="872905" y="7895126"/>
              <a:ext cx="14400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線矢印コネクタ 95">
              <a:extLst>
                <a:ext uri="{FF2B5EF4-FFF2-40B4-BE49-F238E27FC236}">
                  <a16:creationId xmlns:a16="http://schemas.microsoft.com/office/drawing/2014/main" id="{09E93628-0EA8-3925-6539-3F27FC64DC9C}"/>
                </a:ext>
              </a:extLst>
            </p:cNvPr>
            <p:cNvCxnSpPr>
              <a:cxnSpLocks/>
            </p:cNvCxnSpPr>
            <p:nvPr/>
          </p:nvCxnSpPr>
          <p:spPr>
            <a:xfrm rot="16920000" flipH="1">
              <a:off x="1259495" y="8125699"/>
              <a:ext cx="1440000" cy="0"/>
            </a:xfrm>
            <a:prstGeom prst="straightConnector1">
              <a:avLst/>
            </a:prstGeom>
            <a:ln w="38100">
              <a:solidFill>
                <a:srgbClr val="00BC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線矢印コネクタ 96">
              <a:extLst>
                <a:ext uri="{FF2B5EF4-FFF2-40B4-BE49-F238E27FC236}">
                  <a16:creationId xmlns:a16="http://schemas.microsoft.com/office/drawing/2014/main" id="{40385A22-EBA9-4406-1BCB-F1F9416D25AE}"/>
                </a:ext>
              </a:extLst>
            </p:cNvPr>
            <p:cNvCxnSpPr>
              <a:cxnSpLocks/>
            </p:cNvCxnSpPr>
            <p:nvPr/>
          </p:nvCxnSpPr>
          <p:spPr>
            <a:xfrm rot="11880000" flipH="1">
              <a:off x="2088185" y="7590580"/>
              <a:ext cx="1054800" cy="0"/>
            </a:xfrm>
            <a:prstGeom prst="straightConnector1">
              <a:avLst/>
            </a:prstGeom>
            <a:ln w="38100">
              <a:solidFill>
                <a:srgbClr val="3803FF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テキスト ボックス 97">
              <a:extLst>
                <a:ext uri="{FF2B5EF4-FFF2-40B4-BE49-F238E27FC236}">
                  <a16:creationId xmlns:a16="http://schemas.microsoft.com/office/drawing/2014/main" id="{810265EB-A0EB-B0BA-761F-83AEED005DED}"/>
                </a:ext>
              </a:extLst>
            </p:cNvPr>
            <p:cNvSpPr txBox="1"/>
            <p:nvPr/>
          </p:nvSpPr>
          <p:spPr>
            <a:xfrm>
              <a:off x="2649058" y="7675260"/>
              <a:ext cx="4587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dirty="0">
                  <a:solidFill>
                    <a:srgbClr val="3803FF"/>
                  </a:solidFill>
                  <a:latin typeface="Helvetica" pitchFamily="2" charset="0"/>
                </a:rPr>
                <a:t>c*</a:t>
              </a:r>
              <a:endParaRPr kumimoji="1" lang="ja-JP" altLang="en-US" sz="2400">
                <a:solidFill>
                  <a:srgbClr val="3803FF"/>
                </a:solidFill>
                <a:latin typeface="Helvetica" pitchFamily="2" charset="0"/>
              </a:endParaRPr>
            </a:p>
          </p:txBody>
        </p:sp>
        <p:sp>
          <p:nvSpPr>
            <p:cNvPr id="99" name="テキスト ボックス 98">
              <a:extLst>
                <a:ext uri="{FF2B5EF4-FFF2-40B4-BE49-F238E27FC236}">
                  <a16:creationId xmlns:a16="http://schemas.microsoft.com/office/drawing/2014/main" id="{EB56CA59-6ED8-267F-F5E1-D0D9FC36287C}"/>
                </a:ext>
              </a:extLst>
            </p:cNvPr>
            <p:cNvSpPr txBox="1"/>
            <p:nvPr/>
          </p:nvSpPr>
          <p:spPr>
            <a:xfrm>
              <a:off x="1378203" y="8469780"/>
              <a:ext cx="4764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dirty="0">
                  <a:solidFill>
                    <a:srgbClr val="00BC00"/>
                  </a:solidFill>
                  <a:latin typeface="Helvetica" pitchFamily="2" charset="0"/>
                </a:rPr>
                <a:t>b*</a:t>
              </a:r>
              <a:endParaRPr kumimoji="1" lang="ja-JP" altLang="en-US" sz="2400">
                <a:solidFill>
                  <a:srgbClr val="00BC00"/>
                </a:solidFill>
                <a:latin typeface="Helvetica" pitchFamily="2" charset="0"/>
              </a:endParaRPr>
            </a:p>
          </p:txBody>
        </p:sp>
        <p:sp>
          <p:nvSpPr>
            <p:cNvPr id="100" name="テキスト ボックス 99">
              <a:extLst>
                <a:ext uri="{FF2B5EF4-FFF2-40B4-BE49-F238E27FC236}">
                  <a16:creationId xmlns:a16="http://schemas.microsoft.com/office/drawing/2014/main" id="{C82018DF-631B-21AF-B10C-1DD085F1F976}"/>
                </a:ext>
              </a:extLst>
            </p:cNvPr>
            <p:cNvSpPr txBox="1"/>
            <p:nvPr/>
          </p:nvSpPr>
          <p:spPr>
            <a:xfrm>
              <a:off x="1131123" y="7546189"/>
              <a:ext cx="4764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dirty="0">
                  <a:solidFill>
                    <a:srgbClr val="FF0000"/>
                  </a:solidFill>
                  <a:latin typeface="Helvetica" pitchFamily="2" charset="0"/>
                </a:rPr>
                <a:t>a*</a:t>
              </a:r>
              <a:endParaRPr kumimoji="1" lang="ja-JP" altLang="en-US" sz="2400">
                <a:solidFill>
                  <a:srgbClr val="FF0000"/>
                </a:solidFill>
                <a:latin typeface="Helvetica" pitchFamily="2" charset="0"/>
              </a:endParaRP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8132691E-163C-446D-49A3-86E29C416417}"/>
                </a:ext>
              </a:extLst>
            </p:cNvPr>
            <p:cNvSpPr txBox="1"/>
            <p:nvPr/>
          </p:nvSpPr>
          <p:spPr>
            <a:xfrm rot="5400000">
              <a:off x="8415516" y="8551176"/>
              <a:ext cx="252505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Intensity (</a:t>
              </a:r>
              <a:r>
                <a:rPr kumimoji="1" lang="en-US" altLang="ja-JP" sz="2200" dirty="0" err="1">
                  <a:latin typeface="Arial" panose="020B0604020202020204" pitchFamily="34" charset="0"/>
                  <a:cs typeface="Arial" panose="020B0604020202020204" pitchFamily="34" charset="0"/>
                </a:rPr>
                <a:t>arb.unit</a:t>
              </a:r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kumimoji="1" lang="ja-JP" altLang="en-US" sz="2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279A16EB-DF32-7F8E-8DFD-FEAE73369AEF}"/>
                </a:ext>
              </a:extLst>
            </p:cNvPr>
            <p:cNvSpPr txBox="1"/>
            <p:nvPr/>
          </p:nvSpPr>
          <p:spPr>
            <a:xfrm rot="5400000">
              <a:off x="8415516" y="4717432"/>
              <a:ext cx="252505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Intensity (</a:t>
              </a:r>
              <a:r>
                <a:rPr kumimoji="1" lang="en-US" altLang="ja-JP" sz="2200" dirty="0" err="1">
                  <a:latin typeface="Arial" panose="020B0604020202020204" pitchFamily="34" charset="0"/>
                  <a:cs typeface="Arial" panose="020B0604020202020204" pitchFamily="34" charset="0"/>
                </a:rPr>
                <a:t>arb.unit</a:t>
              </a:r>
              <a:r>
                <a:rPr kumimoji="1" lang="en-US" altLang="ja-JP" sz="22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kumimoji="1" lang="ja-JP" altLang="en-US" sz="2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32F529AC-ABE2-DB19-833E-0EDF78A9F9B5}"/>
                    </a:ext>
                  </a:extLst>
                </p:cNvPr>
                <p:cNvSpPr txBox="1"/>
                <p:nvPr/>
              </p:nvSpPr>
              <p:spPr>
                <a:xfrm rot="5400000">
                  <a:off x="12188141" y="8487794"/>
                  <a:ext cx="2651816" cy="43088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sz="2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kumimoji="1" lang="en-US" altLang="ja-JP" sz="2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p>
                          <m:r>
                            <a:rPr kumimoji="1" lang="en-US" altLang="ja-JP" sz="2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++</m:t>
                          </m:r>
                        </m:sup>
                      </m:sSup>
                      <m:r>
                        <a:rPr kumimoji="1" lang="en-US" altLang="ja-JP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p>
                        <m:sSupPr>
                          <m:ctrlPr>
                            <a:rPr kumimoji="1" lang="en-US" altLang="ja-JP" sz="2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kumimoji="1" lang="en-US" altLang="ja-JP" sz="2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p>
                          <m:r>
                            <a:rPr kumimoji="1" lang="en-US" altLang="ja-JP" sz="2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kumimoji="1" lang="en-US" altLang="ja-JP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</m:sup>
                      </m:sSup>
                    </m:oMath>
                  </a14:m>
                  <a:r>
                    <a:rPr kumimoji="1" lang="en-US" altLang="ja-JP" sz="2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(</a:t>
                  </a:r>
                  <a:r>
                    <a:rPr kumimoji="1" lang="en-US" altLang="ja-JP" sz="2200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arb.unit</a:t>
                  </a:r>
                  <a:r>
                    <a:rPr kumimoji="1" lang="en-US" altLang="ja-JP" sz="2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  <a:endParaRPr kumimoji="1" lang="ja-JP" altLang="en-US" sz="2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32F529AC-ABE2-DB19-833E-0EDF78A9F9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2188141" y="8487794"/>
                  <a:ext cx="2651816" cy="430887"/>
                </a:xfrm>
                <a:prstGeom prst="rect">
                  <a:avLst/>
                </a:prstGeom>
                <a:blipFill>
                  <a:blip r:embed="rId21"/>
                  <a:stretch>
                    <a:fillRect l="-26471" r="-1176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B124C6F1-2C2F-34E5-EF8F-71B6430D7730}"/>
                    </a:ext>
                  </a:extLst>
                </p:cNvPr>
                <p:cNvSpPr txBox="1"/>
                <p:nvPr/>
              </p:nvSpPr>
              <p:spPr>
                <a:xfrm rot="5400000">
                  <a:off x="12188141" y="4717432"/>
                  <a:ext cx="2651816" cy="43088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sz="2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kumimoji="1" lang="en-US" altLang="ja-JP" sz="2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p>
                          <m:r>
                            <a:rPr kumimoji="1" lang="en-US" altLang="ja-JP" sz="2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++</m:t>
                          </m:r>
                        </m:sup>
                      </m:sSup>
                      <m:r>
                        <a:rPr kumimoji="1" lang="en-US" altLang="ja-JP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p>
                        <m:sSupPr>
                          <m:ctrlPr>
                            <a:rPr kumimoji="1" lang="en-US" altLang="ja-JP" sz="2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kumimoji="1" lang="en-US" altLang="ja-JP" sz="2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p>
                          <m:r>
                            <a:rPr kumimoji="1" lang="en-US" altLang="ja-JP" sz="2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kumimoji="1" lang="en-US" altLang="ja-JP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</m:sup>
                      </m:sSup>
                    </m:oMath>
                  </a14:m>
                  <a:r>
                    <a:rPr kumimoji="1" lang="en-US" altLang="ja-JP" sz="2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(</a:t>
                  </a:r>
                  <a:r>
                    <a:rPr kumimoji="1" lang="en-US" altLang="ja-JP" sz="2200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arb.unit</a:t>
                  </a:r>
                  <a:r>
                    <a:rPr kumimoji="1" lang="en-US" altLang="ja-JP" sz="2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  <a:endParaRPr kumimoji="1" lang="ja-JP" altLang="en-US" sz="2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B124C6F1-2C2F-34E5-EF8F-71B6430D77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2188141" y="4717432"/>
                  <a:ext cx="2651816" cy="430887"/>
                </a:xfrm>
                <a:prstGeom prst="rect">
                  <a:avLst/>
                </a:prstGeom>
                <a:blipFill>
                  <a:blip r:embed="rId22"/>
                  <a:stretch>
                    <a:fillRect l="-26471" t="-478" r="-1176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10415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C5575-447D-88F1-E88B-501B41AD8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グループ化 89">
            <a:extLst>
              <a:ext uri="{FF2B5EF4-FFF2-40B4-BE49-F238E27FC236}">
                <a16:creationId xmlns:a16="http://schemas.microsoft.com/office/drawing/2014/main" id="{0DCB3399-9B73-274A-DB79-44ACA214AA68}"/>
              </a:ext>
            </a:extLst>
          </p:cNvPr>
          <p:cNvGrpSpPr/>
          <p:nvPr/>
        </p:nvGrpSpPr>
        <p:grpSpPr>
          <a:xfrm>
            <a:off x="872905" y="3065767"/>
            <a:ext cx="17428263" cy="7551393"/>
            <a:chOff x="872905" y="3065767"/>
            <a:chExt cx="17428263" cy="7551393"/>
          </a:xfrm>
        </p:grpSpPr>
        <p:grpSp>
          <p:nvGrpSpPr>
            <p:cNvPr id="78" name="グループ化 77">
              <a:extLst>
                <a:ext uri="{FF2B5EF4-FFF2-40B4-BE49-F238E27FC236}">
                  <a16:creationId xmlns:a16="http://schemas.microsoft.com/office/drawing/2014/main" id="{C58CFDE5-41F0-03C7-0D90-DAFA80C5FF7E}"/>
                </a:ext>
              </a:extLst>
            </p:cNvPr>
            <p:cNvGrpSpPr/>
            <p:nvPr/>
          </p:nvGrpSpPr>
          <p:grpSpPr>
            <a:xfrm>
              <a:off x="872905" y="3065767"/>
              <a:ext cx="17428263" cy="7551393"/>
              <a:chOff x="872905" y="3065767"/>
              <a:chExt cx="17428263" cy="7551393"/>
            </a:xfrm>
          </p:grpSpPr>
          <p:pic>
            <p:nvPicPr>
              <p:cNvPr id="58" name="図 57">
                <a:extLst>
                  <a:ext uri="{FF2B5EF4-FFF2-40B4-BE49-F238E27FC236}">
                    <a16:creationId xmlns:a16="http://schemas.microsoft.com/office/drawing/2014/main" id="{13DDC6ED-A221-EE65-7B3C-04B5CE8C35C5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4093782" y="3293205"/>
                <a:ext cx="4176000" cy="3653240"/>
              </a:xfrm>
              <a:prstGeom prst="rect">
                <a:avLst/>
              </a:prstGeom>
            </p:spPr>
          </p:pic>
          <p:pic>
            <p:nvPicPr>
              <p:cNvPr id="92" name="図 91">
                <a:extLst>
                  <a:ext uri="{FF2B5EF4-FFF2-40B4-BE49-F238E27FC236}">
                    <a16:creationId xmlns:a16="http://schemas.microsoft.com/office/drawing/2014/main" id="{539D57E6-168F-B56C-D3D1-9D688086D8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917280" y="6939999"/>
                <a:ext cx="4383888" cy="3653240"/>
              </a:xfrm>
              <a:prstGeom prst="rect">
                <a:avLst/>
              </a:prstGeom>
            </p:spPr>
          </p:pic>
          <p:pic>
            <p:nvPicPr>
              <p:cNvPr id="87" name="図 86">
                <a:extLst>
                  <a:ext uri="{FF2B5EF4-FFF2-40B4-BE49-F238E27FC236}">
                    <a16:creationId xmlns:a16="http://schemas.microsoft.com/office/drawing/2014/main" id="{1993ABE4-0C21-379C-F4B8-88C270418D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86959" y="6941948"/>
                <a:ext cx="3649343" cy="3649343"/>
              </a:xfrm>
              <a:prstGeom prst="rect">
                <a:avLst/>
              </a:prstGeom>
            </p:spPr>
          </p:pic>
          <p:pic>
            <p:nvPicPr>
              <p:cNvPr id="89" name="図 88">
                <a:extLst>
                  <a:ext uri="{FF2B5EF4-FFF2-40B4-BE49-F238E27FC236}">
                    <a16:creationId xmlns:a16="http://schemas.microsoft.com/office/drawing/2014/main" id="{C5EF6E69-E87E-16C6-1A3D-C8D163D081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085152" y="3310922"/>
                <a:ext cx="3652957" cy="3652957"/>
              </a:xfrm>
              <a:prstGeom prst="rect">
                <a:avLst/>
              </a:prstGeom>
            </p:spPr>
          </p:pic>
          <p:pic>
            <p:nvPicPr>
              <p:cNvPr id="85" name="図 84">
                <a:extLst>
                  <a:ext uri="{FF2B5EF4-FFF2-40B4-BE49-F238E27FC236}">
                    <a16:creationId xmlns:a16="http://schemas.microsoft.com/office/drawing/2014/main" id="{165C0614-4C92-D659-0F8B-BD351D39EE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35858" y="3310922"/>
                <a:ext cx="3652957" cy="3652957"/>
              </a:xfrm>
              <a:prstGeom prst="rect">
                <a:avLst/>
              </a:prstGeom>
            </p:spPr>
          </p:pic>
          <p:pic>
            <p:nvPicPr>
              <p:cNvPr id="84" name="図 83">
                <a:extLst>
                  <a:ext uri="{FF2B5EF4-FFF2-40B4-BE49-F238E27FC236}">
                    <a16:creationId xmlns:a16="http://schemas.microsoft.com/office/drawing/2014/main" id="{DB057364-7B96-03CB-D1E7-02B48601AC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09476" y="6939911"/>
                <a:ext cx="3653416" cy="3653416"/>
              </a:xfrm>
              <a:prstGeom prst="rect">
                <a:avLst/>
              </a:prstGeom>
            </p:spPr>
          </p:pic>
          <p:pic>
            <p:nvPicPr>
              <p:cNvPr id="29" name="図 28">
                <a:extLst>
                  <a:ext uri="{FF2B5EF4-FFF2-40B4-BE49-F238E27FC236}">
                    <a16:creationId xmlns:a16="http://schemas.microsoft.com/office/drawing/2014/main" id="{C2481456-A17E-15C5-E217-D15AA54F3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rcRect l="23307" t="22048" r="4567" b="21066"/>
              <a:stretch>
                <a:fillRect/>
              </a:stretch>
            </p:blipFill>
            <p:spPr>
              <a:xfrm>
                <a:off x="2047699" y="4046862"/>
                <a:ext cx="4065286" cy="5551268"/>
              </a:xfrm>
              <a:prstGeom prst="rect">
                <a:avLst/>
              </a:prstGeom>
            </p:spPr>
          </p:pic>
          <p:sp>
            <p:nvSpPr>
              <p:cNvPr id="21" name="三角形 20">
                <a:extLst>
                  <a:ext uri="{FF2B5EF4-FFF2-40B4-BE49-F238E27FC236}">
                    <a16:creationId xmlns:a16="http://schemas.microsoft.com/office/drawing/2014/main" id="{906F2ED9-EEB2-B070-7251-7F93B1C0732A}"/>
                  </a:ext>
                </a:extLst>
              </p:cNvPr>
              <p:cNvSpPr/>
              <p:nvPr/>
            </p:nvSpPr>
            <p:spPr>
              <a:xfrm rot="6000000">
                <a:off x="5850714" y="8640778"/>
                <a:ext cx="243963" cy="121472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2" name="三角形 21">
                <a:extLst>
                  <a:ext uri="{FF2B5EF4-FFF2-40B4-BE49-F238E27FC236}">
                    <a16:creationId xmlns:a16="http://schemas.microsoft.com/office/drawing/2014/main" id="{98E6DE98-6D1F-5F2F-AA12-8BC3BB5CA952}"/>
                  </a:ext>
                </a:extLst>
              </p:cNvPr>
              <p:cNvSpPr/>
              <p:nvPr/>
            </p:nvSpPr>
            <p:spPr>
              <a:xfrm>
                <a:off x="2053498" y="3885081"/>
                <a:ext cx="140908" cy="210313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3" name="三角形 22">
                <a:extLst>
                  <a:ext uri="{FF2B5EF4-FFF2-40B4-BE49-F238E27FC236}">
                    <a16:creationId xmlns:a16="http://schemas.microsoft.com/office/drawing/2014/main" id="{82B316A6-500F-E6A4-5698-FF21943066A4}"/>
                  </a:ext>
                </a:extLst>
              </p:cNvPr>
              <p:cNvSpPr/>
              <p:nvPr/>
            </p:nvSpPr>
            <p:spPr>
              <a:xfrm rot="2691792">
                <a:off x="3033171" y="6469165"/>
                <a:ext cx="243963" cy="121472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" name="テキスト ボックス 24">
                    <a:extLst>
                      <a:ext uri="{FF2B5EF4-FFF2-40B4-BE49-F238E27FC236}">
                        <a16:creationId xmlns:a16="http://schemas.microsoft.com/office/drawing/2014/main" id="{7DAE5209-22A3-9270-67E0-1175B3BB684D}"/>
                      </a:ext>
                    </a:extLst>
                  </p:cNvPr>
                  <p:cNvSpPr txBox="1"/>
                  <p:nvPr/>
                </p:nvSpPr>
                <p:spPr>
                  <a:xfrm>
                    <a:off x="5398799" y="7166786"/>
                    <a:ext cx="567548" cy="49488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acc>
                            <m:accPr>
                              <m:chr m:val="̅"/>
                              <m:ctrlP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acc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02</m:t>
                          </m:r>
                        </m:oMath>
                      </m:oMathPara>
                    </a14:m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25" name="テキスト ボックス 24">
                    <a:extLst>
                      <a:ext uri="{FF2B5EF4-FFF2-40B4-BE49-F238E27FC236}">
                        <a16:creationId xmlns:a16="http://schemas.microsoft.com/office/drawing/2014/main" id="{7DAE5209-22A3-9270-67E0-1175B3BB684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98799" y="7166786"/>
                    <a:ext cx="567548" cy="49488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6667" r="-35556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D99FBFD-5C08-C7F5-A895-6D729868FB28}"/>
                  </a:ext>
                </a:extLst>
              </p:cNvPr>
              <p:cNvSpPr txBox="1"/>
              <p:nvPr/>
            </p:nvSpPr>
            <p:spPr>
              <a:xfrm>
                <a:off x="4588743" y="8766619"/>
                <a:ext cx="1855302" cy="493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610" dirty="0">
                    <a:latin typeface="Helvetica" pitchFamily="2" charset="0"/>
                  </a:rPr>
                  <a:t>(0,0,</a:t>
                </a:r>
                <a:r>
                  <a:rPr lang="en-US" altLang="ja-JP" sz="2610" i="1" dirty="0">
                    <a:latin typeface="Helvetica" pitchFamily="2" charset="0"/>
                  </a:rPr>
                  <a:t>L</a:t>
                </a:r>
                <a:r>
                  <a:rPr lang="en-US" altLang="ja-JP" sz="2610" dirty="0">
                    <a:latin typeface="Helvetica" pitchFamily="2" charset="0"/>
                  </a:rPr>
                  <a:t>) || y</a:t>
                </a:r>
                <a:endParaRPr lang="ja-JP" altLang="en-US" sz="2610">
                  <a:latin typeface="Helvetica" pitchFamily="2" charset="0"/>
                </a:endParaRPr>
              </a:p>
            </p:txBody>
          </p:sp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C2C211C1-C031-7891-9B64-155F3B657A37}"/>
                  </a:ext>
                </a:extLst>
              </p:cNvPr>
              <p:cNvSpPr txBox="1"/>
              <p:nvPr/>
            </p:nvSpPr>
            <p:spPr>
              <a:xfrm>
                <a:off x="2177228" y="3704310"/>
                <a:ext cx="2280652" cy="493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610" dirty="0">
                    <a:latin typeface="Helvetica" pitchFamily="2" charset="0"/>
                  </a:rPr>
                  <a:t>(</a:t>
                </a:r>
                <a:r>
                  <a:rPr lang="en-US" altLang="ja-JP" sz="2610" i="1" dirty="0">
                    <a:latin typeface="Helvetica" pitchFamily="2" charset="0"/>
                  </a:rPr>
                  <a:t>K</a:t>
                </a:r>
                <a:r>
                  <a:rPr lang="en-US" altLang="ja-JP" sz="2610" dirty="0">
                    <a:latin typeface="Helvetica" pitchFamily="2" charset="0"/>
                  </a:rPr>
                  <a:t>/2,-</a:t>
                </a:r>
                <a:r>
                  <a:rPr lang="en-US" altLang="ja-JP" sz="2610" i="1" dirty="0">
                    <a:latin typeface="Helvetica" pitchFamily="2" charset="0"/>
                  </a:rPr>
                  <a:t>K</a:t>
                </a:r>
                <a:r>
                  <a:rPr lang="en-US" altLang="ja-JP" sz="2610" dirty="0">
                    <a:latin typeface="Helvetica" pitchFamily="2" charset="0"/>
                  </a:rPr>
                  <a:t>,0) || z</a:t>
                </a:r>
                <a:endParaRPr lang="ja-JP" altLang="en-US" sz="2610">
                  <a:latin typeface="Helvetica" pitchFamily="2" charset="0"/>
                </a:endParaRPr>
              </a:p>
            </p:txBody>
          </p:sp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310786B6-EE44-ACEB-7BED-CE09BE0D8B6B}"/>
                  </a:ext>
                </a:extLst>
              </p:cNvPr>
              <p:cNvSpPr txBox="1"/>
              <p:nvPr/>
            </p:nvSpPr>
            <p:spPr>
              <a:xfrm>
                <a:off x="4858815" y="5333551"/>
                <a:ext cx="1182620" cy="4493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320" dirty="0">
                    <a:latin typeface="Helvetica" pitchFamily="2" charset="0"/>
                  </a:rPr>
                  <a:t>(d), (e) </a:t>
                </a:r>
                <a:endParaRPr lang="ja-JP" altLang="en-US" sz="2320">
                  <a:latin typeface="Helvetica" pitchFamily="2" charset="0"/>
                </a:endParaRPr>
              </a:p>
            </p:txBody>
          </p:sp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F27ECC8B-BFDD-29F0-9740-D1C80AB30ACD}"/>
                  </a:ext>
                </a:extLst>
              </p:cNvPr>
              <p:cNvSpPr txBox="1"/>
              <p:nvPr/>
            </p:nvSpPr>
            <p:spPr>
              <a:xfrm>
                <a:off x="3626600" y="4719962"/>
                <a:ext cx="1146941" cy="4493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320" dirty="0">
                    <a:latin typeface="Helvetica" pitchFamily="2" charset="0"/>
                  </a:rPr>
                  <a:t>(b), (c) </a:t>
                </a:r>
                <a:endParaRPr lang="ja-JP" altLang="en-US" sz="2320">
                  <a:latin typeface="Helvetica" pitchFamily="2" charset="0"/>
                </a:endParaRPr>
              </a:p>
            </p:txBody>
          </p:sp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52FCA9EF-D8A4-3159-D7E5-188024477D0F}"/>
                  </a:ext>
                </a:extLst>
              </p:cNvPr>
              <p:cNvSpPr txBox="1"/>
              <p:nvPr/>
            </p:nvSpPr>
            <p:spPr>
              <a:xfrm>
                <a:off x="2376906" y="5724362"/>
                <a:ext cx="2109221" cy="493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610" dirty="0">
                    <a:latin typeface="Helvetica" pitchFamily="2" charset="0"/>
                  </a:rPr>
                  <a:t>(-</a:t>
                </a:r>
                <a:r>
                  <a:rPr lang="en-US" altLang="ja-JP" sz="2610" i="1" dirty="0">
                    <a:latin typeface="Helvetica" pitchFamily="2" charset="0"/>
                  </a:rPr>
                  <a:t>H</a:t>
                </a:r>
                <a:r>
                  <a:rPr lang="en-US" altLang="ja-JP" sz="2610" dirty="0">
                    <a:latin typeface="Helvetica" pitchFamily="2" charset="0"/>
                  </a:rPr>
                  <a:t>,0,0) || -x</a:t>
                </a:r>
                <a:endParaRPr lang="ja-JP" altLang="en-US" sz="2610">
                  <a:latin typeface="Helvetica" pitchFamily="2" charset="0"/>
                </a:endParaRPr>
              </a:p>
            </p:txBody>
          </p:sp>
          <p:cxnSp>
            <p:nvCxnSpPr>
              <p:cNvPr id="45" name="直線コネクタ 44">
                <a:extLst>
                  <a:ext uri="{FF2B5EF4-FFF2-40B4-BE49-F238E27FC236}">
                    <a16:creationId xmlns:a16="http://schemas.microsoft.com/office/drawing/2014/main" id="{06054020-8D7C-F114-4BDE-B30C44F384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42238" y="5902740"/>
                <a:ext cx="202633" cy="38508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線コネクタ 46">
                <a:extLst>
                  <a:ext uri="{FF2B5EF4-FFF2-40B4-BE49-F238E27FC236}">
                    <a16:creationId xmlns:a16="http://schemas.microsoft.com/office/drawing/2014/main" id="{71A480D0-3390-F9B4-9E97-86E6D61DC5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208521" y="5288178"/>
                <a:ext cx="170868" cy="72833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0" name="テキスト ボックス 59">
                    <a:extLst>
                      <a:ext uri="{FF2B5EF4-FFF2-40B4-BE49-F238E27FC236}">
                        <a16:creationId xmlns:a16="http://schemas.microsoft.com/office/drawing/2014/main" id="{323519D6-98BE-76C4-15EB-2BA04B2FB3D9}"/>
                      </a:ext>
                    </a:extLst>
                  </p:cNvPr>
                  <p:cNvSpPr txBox="1"/>
                  <p:nvPr/>
                </p:nvSpPr>
                <p:spPr>
                  <a:xfrm>
                    <a:off x="4770217" y="6328299"/>
                    <a:ext cx="377539" cy="4939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60" name="テキスト ボックス 59">
                    <a:extLst>
                      <a:ext uri="{FF2B5EF4-FFF2-40B4-BE49-F238E27FC236}">
                        <a16:creationId xmlns:a16="http://schemas.microsoft.com/office/drawing/2014/main" id="{323519D6-98BE-76C4-15EB-2BA04B2FB3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70217" y="6328299"/>
                    <a:ext cx="377539" cy="49398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6452" r="-35484" b="-50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1" name="テキスト ボックス 60">
                    <a:extLst>
                      <a:ext uri="{FF2B5EF4-FFF2-40B4-BE49-F238E27FC236}">
                        <a16:creationId xmlns:a16="http://schemas.microsoft.com/office/drawing/2014/main" id="{04EFAD82-1441-A42D-7611-7B845A03D104}"/>
                      </a:ext>
                    </a:extLst>
                  </p:cNvPr>
                  <p:cNvSpPr txBox="1"/>
                  <p:nvPr/>
                </p:nvSpPr>
                <p:spPr>
                  <a:xfrm>
                    <a:off x="3594496" y="6634934"/>
                    <a:ext cx="377539" cy="4939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61" name="テキスト ボックス 60">
                    <a:extLst>
                      <a:ext uri="{FF2B5EF4-FFF2-40B4-BE49-F238E27FC236}">
                        <a16:creationId xmlns:a16="http://schemas.microsoft.com/office/drawing/2014/main" id="{04EFAD82-1441-A42D-7611-7B845A03D10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94496" y="6634934"/>
                    <a:ext cx="377539" cy="49398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0000" r="-36667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2" name="テキスト ボックス 61">
                    <a:extLst>
                      <a:ext uri="{FF2B5EF4-FFF2-40B4-BE49-F238E27FC236}">
                        <a16:creationId xmlns:a16="http://schemas.microsoft.com/office/drawing/2014/main" id="{978B0996-F734-32C3-1D45-B38620CA3F44}"/>
                      </a:ext>
                    </a:extLst>
                  </p:cNvPr>
                  <p:cNvSpPr txBox="1"/>
                  <p:nvPr/>
                </p:nvSpPr>
                <p:spPr>
                  <a:xfrm>
                    <a:off x="3678692" y="8334749"/>
                    <a:ext cx="377539" cy="4939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62" name="テキスト ボックス 61">
                    <a:extLst>
                      <a:ext uri="{FF2B5EF4-FFF2-40B4-BE49-F238E27FC236}">
                        <a16:creationId xmlns:a16="http://schemas.microsoft.com/office/drawing/2014/main" id="{978B0996-F734-32C3-1D45-B38620CA3F4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78692" y="8334749"/>
                    <a:ext cx="377539" cy="49398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6452" r="-35484" b="-50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E5FCCBFA-E9E1-08C4-6B96-3948987D2EE2}"/>
                  </a:ext>
                </a:extLst>
              </p:cNvPr>
              <p:cNvSpPr txBox="1"/>
              <p:nvPr/>
            </p:nvSpPr>
            <p:spPr>
              <a:xfrm>
                <a:off x="1080798" y="3065767"/>
                <a:ext cx="638316" cy="5386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900" dirty="0">
                    <a:latin typeface="Helvetica" pitchFamily="2" charset="0"/>
                  </a:rPr>
                  <a:t>(a)</a:t>
                </a:r>
                <a:endParaRPr lang="ja-JP" altLang="en-US" sz="2900">
                  <a:latin typeface="Helvetica" pitchFamily="2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" name="テキスト ボックス 18">
                    <a:extLst>
                      <a:ext uri="{FF2B5EF4-FFF2-40B4-BE49-F238E27FC236}">
                        <a16:creationId xmlns:a16="http://schemas.microsoft.com/office/drawing/2014/main" id="{89896031-208F-FE36-FE96-44CDCA2FDDD3}"/>
                      </a:ext>
                    </a:extLst>
                  </p:cNvPr>
                  <p:cNvSpPr txBox="1"/>
                  <p:nvPr/>
                </p:nvSpPr>
                <p:spPr>
                  <a:xfrm>
                    <a:off x="6804269" y="4933209"/>
                    <a:ext cx="377539" cy="49398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sz="261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>
                      <a:solidFill>
                        <a:schemeClr val="tx1"/>
                      </a:solidFill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19" name="テキスト ボックス 18">
                    <a:extLst>
                      <a:ext uri="{FF2B5EF4-FFF2-40B4-BE49-F238E27FC236}">
                        <a16:creationId xmlns:a16="http://schemas.microsoft.com/office/drawing/2014/main" id="{89896031-208F-FE36-FE96-44CDCA2FDDD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04269" y="4933209"/>
                    <a:ext cx="377539" cy="493981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3226" r="-25806" b="-50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" name="テキスト ボックス 23">
                    <a:extLst>
                      <a:ext uri="{FF2B5EF4-FFF2-40B4-BE49-F238E27FC236}">
                        <a16:creationId xmlns:a16="http://schemas.microsoft.com/office/drawing/2014/main" id="{63E49E0A-BD29-F0E4-8DB2-414D1C433667}"/>
                      </a:ext>
                    </a:extLst>
                  </p:cNvPr>
                  <p:cNvSpPr txBox="1"/>
                  <p:nvPr/>
                </p:nvSpPr>
                <p:spPr>
                  <a:xfrm>
                    <a:off x="8052619" y="3798339"/>
                    <a:ext cx="377539" cy="49398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sz="261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>
                      <a:solidFill>
                        <a:schemeClr val="bg1"/>
                      </a:solidFill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24" name="テキスト ボックス 23">
                    <a:extLst>
                      <a:ext uri="{FF2B5EF4-FFF2-40B4-BE49-F238E27FC236}">
                        <a16:creationId xmlns:a16="http://schemas.microsoft.com/office/drawing/2014/main" id="{63E49E0A-BD29-F0E4-8DB2-414D1C43366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52619" y="3798339"/>
                    <a:ext cx="377539" cy="493981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6667" r="-26667" b="-7692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DD0ECCDC-42BC-3F24-5041-854B7747F9AB}"/>
                  </a:ext>
                </a:extLst>
              </p:cNvPr>
              <p:cNvSpPr txBox="1"/>
              <p:nvPr/>
            </p:nvSpPr>
            <p:spPr>
              <a:xfrm>
                <a:off x="5952767" y="3065767"/>
                <a:ext cx="638316" cy="5386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900" dirty="0">
                    <a:latin typeface="Helvetica" pitchFamily="2" charset="0"/>
                  </a:rPr>
                  <a:t>(b)</a:t>
                </a:r>
                <a:endParaRPr lang="ja-JP" altLang="en-US" sz="2900">
                  <a:latin typeface="Helvetica" pitchFamily="2" charset="0"/>
                </a:endParaRPr>
              </a:p>
            </p:txBody>
          </p:sp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EE5A5FC3-E5BC-CCF8-8B2A-60F72E573AD2}"/>
                  </a:ext>
                </a:extLst>
              </p:cNvPr>
              <p:cNvSpPr txBox="1"/>
              <p:nvPr/>
            </p:nvSpPr>
            <p:spPr>
              <a:xfrm>
                <a:off x="9740269" y="3065767"/>
                <a:ext cx="617477" cy="5386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900" dirty="0">
                    <a:latin typeface="Helvetica" pitchFamily="2" charset="0"/>
                  </a:rPr>
                  <a:t>(c)</a:t>
                </a:r>
                <a:endParaRPr lang="ja-JP" altLang="en-US" sz="2900">
                  <a:latin typeface="Helvetica" pitchFamily="2" charset="0"/>
                </a:endParaRPr>
              </a:p>
            </p:txBody>
          </p:sp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D959C964-6674-A387-B122-804B2EBF8B71}"/>
                  </a:ext>
                </a:extLst>
              </p:cNvPr>
              <p:cNvSpPr txBox="1"/>
              <p:nvPr/>
            </p:nvSpPr>
            <p:spPr>
              <a:xfrm>
                <a:off x="5952767" y="6859612"/>
                <a:ext cx="638316" cy="5386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900" dirty="0">
                    <a:latin typeface="Helvetica" pitchFamily="2" charset="0"/>
                  </a:rPr>
                  <a:t>(d)</a:t>
                </a:r>
                <a:endParaRPr lang="ja-JP" altLang="en-US" sz="2900">
                  <a:latin typeface="Helvetica" pitchFamily="2" charset="0"/>
                </a:endParaRPr>
              </a:p>
            </p:txBody>
          </p:sp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99422157-E1CF-A1C5-7E4A-9BEB5E1D55F4}"/>
                  </a:ext>
                </a:extLst>
              </p:cNvPr>
              <p:cNvSpPr txBox="1"/>
              <p:nvPr/>
            </p:nvSpPr>
            <p:spPr>
              <a:xfrm>
                <a:off x="9740269" y="6859612"/>
                <a:ext cx="638316" cy="5386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900" dirty="0">
                    <a:latin typeface="Helvetica" pitchFamily="2" charset="0"/>
                  </a:rPr>
                  <a:t>(e)</a:t>
                </a:r>
                <a:endParaRPr lang="ja-JP" altLang="en-US" sz="2900">
                  <a:latin typeface="Helvetica" pitchFamily="2" charset="0"/>
                </a:endParaRPr>
              </a:p>
            </p:txBody>
          </p:sp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799752A0-4E72-EFDB-D310-2BC7D633FE88}"/>
                  </a:ext>
                </a:extLst>
              </p:cNvPr>
              <p:cNvSpPr txBox="1"/>
              <p:nvPr/>
            </p:nvSpPr>
            <p:spPr>
              <a:xfrm>
                <a:off x="13779596" y="3065767"/>
                <a:ext cx="534121" cy="5386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900" dirty="0">
                    <a:latin typeface="Helvetica" pitchFamily="2" charset="0"/>
                  </a:rPr>
                  <a:t>(f)</a:t>
                </a:r>
                <a:endParaRPr lang="ja-JP" altLang="en-US" sz="2900">
                  <a:latin typeface="Helvetica" pitchFamily="2" charset="0"/>
                </a:endParaRPr>
              </a:p>
            </p:txBody>
          </p:sp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98542C71-097C-E752-E6DD-20845EA8E66C}"/>
                  </a:ext>
                </a:extLst>
              </p:cNvPr>
              <p:cNvSpPr txBox="1"/>
              <p:nvPr/>
            </p:nvSpPr>
            <p:spPr>
              <a:xfrm>
                <a:off x="13727498" y="6859612"/>
                <a:ext cx="638316" cy="5386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900" dirty="0">
                    <a:latin typeface="Helvetica" pitchFamily="2" charset="0"/>
                  </a:rPr>
                  <a:t>(g)</a:t>
                </a:r>
                <a:endParaRPr lang="ja-JP" altLang="en-US" sz="2900">
                  <a:latin typeface="Helvetica" pitchFamily="2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" name="テキスト ボックス 1">
                    <a:extLst>
                      <a:ext uri="{FF2B5EF4-FFF2-40B4-BE49-F238E27FC236}">
                        <a16:creationId xmlns:a16="http://schemas.microsoft.com/office/drawing/2014/main" id="{8ED92166-287E-980F-C4CB-B117C71B0341}"/>
                      </a:ext>
                    </a:extLst>
                  </p:cNvPr>
                  <p:cNvSpPr txBox="1"/>
                  <p:nvPr/>
                </p:nvSpPr>
                <p:spPr>
                  <a:xfrm>
                    <a:off x="7077115" y="8467919"/>
                    <a:ext cx="377539" cy="49398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sz="261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>
                      <a:solidFill>
                        <a:schemeClr val="bg1"/>
                      </a:solidFill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2" name="テキスト ボックス 1">
                    <a:extLst>
                      <a:ext uri="{FF2B5EF4-FFF2-40B4-BE49-F238E27FC236}">
                        <a16:creationId xmlns:a16="http://schemas.microsoft.com/office/drawing/2014/main" id="{8ED92166-287E-980F-C4CB-B117C71B034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77115" y="8467919"/>
                    <a:ext cx="377539" cy="493981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6452" r="-22581" b="-50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" name="テキスト ボックス 2">
                    <a:extLst>
                      <a:ext uri="{FF2B5EF4-FFF2-40B4-BE49-F238E27FC236}">
                        <a16:creationId xmlns:a16="http://schemas.microsoft.com/office/drawing/2014/main" id="{C32288ED-4391-FAE2-E836-12144BEE6F21}"/>
                      </a:ext>
                    </a:extLst>
                  </p:cNvPr>
                  <p:cNvSpPr txBox="1"/>
                  <p:nvPr/>
                </p:nvSpPr>
                <p:spPr>
                  <a:xfrm>
                    <a:off x="7622853" y="8453623"/>
                    <a:ext cx="1127078" cy="49398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sz="261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ja-JP" sz="261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ja-JP" sz="261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sz="261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>
                      <a:solidFill>
                        <a:schemeClr val="bg1"/>
                      </a:solidFill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3" name="テキスト ボックス 2">
                    <a:extLst>
                      <a:ext uri="{FF2B5EF4-FFF2-40B4-BE49-F238E27FC236}">
                        <a16:creationId xmlns:a16="http://schemas.microsoft.com/office/drawing/2014/main" id="{C32288ED-4391-FAE2-E836-12144BEE6F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2853" y="8453623"/>
                    <a:ext cx="1127078" cy="493981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BAC539A7-379A-8266-6477-563B4157F570}"/>
                  </a:ext>
                </a:extLst>
              </p:cNvPr>
              <p:cNvSpPr/>
              <p:nvPr/>
            </p:nvSpPr>
            <p:spPr>
              <a:xfrm>
                <a:off x="17286884" y="7564847"/>
                <a:ext cx="387800" cy="1936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14FE3B64-501C-01B7-C643-5D802B2CAD02}"/>
                  </a:ext>
                </a:extLst>
              </p:cNvPr>
              <p:cNvSpPr/>
              <p:nvPr/>
            </p:nvSpPr>
            <p:spPr>
              <a:xfrm>
                <a:off x="17286884" y="7947665"/>
                <a:ext cx="387800" cy="1936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0EB2DF01-ABF2-9C3E-3117-954AEE534E25}"/>
                  </a:ext>
                </a:extLst>
              </p:cNvPr>
              <p:cNvSpPr/>
              <p:nvPr/>
            </p:nvSpPr>
            <p:spPr>
              <a:xfrm rot="16200000">
                <a:off x="13446486" y="8636580"/>
                <a:ext cx="387800" cy="1936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718D76A8-596D-B826-1CAB-70D3904E9078}"/>
                  </a:ext>
                </a:extLst>
              </p:cNvPr>
              <p:cNvSpPr/>
              <p:nvPr/>
            </p:nvSpPr>
            <p:spPr>
              <a:xfrm rot="16200000">
                <a:off x="13445584" y="9252798"/>
                <a:ext cx="387800" cy="1936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正方形/長方形 13">
                <a:extLst>
                  <a:ext uri="{FF2B5EF4-FFF2-40B4-BE49-F238E27FC236}">
                    <a16:creationId xmlns:a16="http://schemas.microsoft.com/office/drawing/2014/main" id="{7E7460F2-C50B-4CB4-FFBA-054CE0302627}"/>
                  </a:ext>
                </a:extLst>
              </p:cNvPr>
              <p:cNvSpPr/>
              <p:nvPr/>
            </p:nvSpPr>
            <p:spPr>
              <a:xfrm rot="16200000">
                <a:off x="13470698" y="5612021"/>
                <a:ext cx="387800" cy="1936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5" name="正方形/長方形 14">
                <a:extLst>
                  <a:ext uri="{FF2B5EF4-FFF2-40B4-BE49-F238E27FC236}">
                    <a16:creationId xmlns:a16="http://schemas.microsoft.com/office/drawing/2014/main" id="{F197143E-1881-EEAA-6587-7F87E63FFA73}"/>
                  </a:ext>
                </a:extLst>
              </p:cNvPr>
              <p:cNvSpPr/>
              <p:nvPr/>
            </p:nvSpPr>
            <p:spPr>
              <a:xfrm rot="16200000">
                <a:off x="13470699" y="4988448"/>
                <a:ext cx="387800" cy="1936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956EB5F6-9FAF-15D5-7F9B-462EF96C8596}"/>
                  </a:ext>
                </a:extLst>
              </p:cNvPr>
              <p:cNvSpPr txBox="1"/>
              <p:nvPr/>
            </p:nvSpPr>
            <p:spPr>
              <a:xfrm rot="16200000">
                <a:off x="5005963" y="4717432"/>
                <a:ext cx="2745110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 (-</a:t>
                </a:r>
                <a:r>
                  <a:rPr kumimoji="1" lang="en-US" altLang="ja-JP" sz="2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K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/2, </a:t>
                </a:r>
                <a:r>
                  <a:rPr kumimoji="1" lang="en-US" altLang="ja-JP" sz="2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K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 1.5) (</a:t>
                </a:r>
                <a:r>
                  <a:rPr kumimoji="1" lang="en-US" altLang="ja-JP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r.l.u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.)</a:t>
                </a:r>
                <a:endParaRPr kumimoji="1" lang="ja-JP" altLang="en-US" sz="2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3EE35C13-FB4A-0F1E-8BBC-609D1EC76708}"/>
                  </a:ext>
                </a:extLst>
              </p:cNvPr>
              <p:cNvSpPr txBox="1"/>
              <p:nvPr/>
            </p:nvSpPr>
            <p:spPr>
              <a:xfrm rot="16200000">
                <a:off x="9342195" y="8487794"/>
                <a:ext cx="1804148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(0,0,</a:t>
                </a:r>
                <a:r>
                  <a:rPr kumimoji="1" lang="en-US" altLang="ja-JP" sz="2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) (</a:t>
                </a:r>
                <a:r>
                  <a:rPr kumimoji="1" lang="en-US" altLang="ja-JP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r.l.u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.)</a:t>
                </a:r>
                <a:endParaRPr kumimoji="1" lang="ja-JP" altLang="en-US" sz="2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639B5564-AE18-C5B7-FDE0-825717882B78}"/>
                  </a:ext>
                </a:extLst>
              </p:cNvPr>
              <p:cNvSpPr txBox="1"/>
              <p:nvPr/>
            </p:nvSpPr>
            <p:spPr>
              <a:xfrm rot="16200000">
                <a:off x="8871714" y="4717432"/>
                <a:ext cx="2745110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 (-</a:t>
                </a:r>
                <a:r>
                  <a:rPr kumimoji="1" lang="en-US" altLang="ja-JP" sz="2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K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/2, </a:t>
                </a:r>
                <a:r>
                  <a:rPr kumimoji="1" lang="en-US" altLang="ja-JP" sz="2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K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 1.5) (</a:t>
                </a:r>
                <a:r>
                  <a:rPr kumimoji="1" lang="en-US" altLang="ja-JP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r.l.u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.)</a:t>
                </a:r>
                <a:endParaRPr kumimoji="1" lang="ja-JP" altLang="en-US" sz="2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ED0CA205-9979-74D9-E1B5-92E475A8E339}"/>
                  </a:ext>
                </a:extLst>
              </p:cNvPr>
              <p:cNvSpPr txBox="1"/>
              <p:nvPr/>
            </p:nvSpPr>
            <p:spPr>
              <a:xfrm rot="16200000">
                <a:off x="5476447" y="8388914"/>
                <a:ext cx="1804148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(0,0,</a:t>
                </a:r>
                <a:r>
                  <a:rPr kumimoji="1" lang="en-US" altLang="ja-JP" sz="2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) (</a:t>
                </a:r>
                <a:r>
                  <a:rPr kumimoji="1" lang="en-US" altLang="ja-JP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r.l.u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.)</a:t>
                </a:r>
                <a:endParaRPr kumimoji="1" lang="ja-JP" altLang="en-US" sz="2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35781B6C-8633-8E17-2425-C1EFE0B10981}"/>
                  </a:ext>
                </a:extLst>
              </p:cNvPr>
              <p:cNvSpPr txBox="1"/>
              <p:nvPr/>
            </p:nvSpPr>
            <p:spPr>
              <a:xfrm>
                <a:off x="10967489" y="10186273"/>
                <a:ext cx="1850635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kumimoji="1" lang="en-US" altLang="ja-JP" sz="2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,0,0) (</a:t>
                </a:r>
                <a:r>
                  <a:rPr kumimoji="1" lang="en-US" altLang="ja-JP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r.l.u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.)</a:t>
                </a:r>
                <a:endParaRPr kumimoji="1" lang="ja-JP" altLang="en-US" sz="2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E528FC00-8F21-1B90-A4AB-A36541241105}"/>
                  </a:ext>
                </a:extLst>
              </p:cNvPr>
              <p:cNvSpPr txBox="1"/>
              <p:nvPr/>
            </p:nvSpPr>
            <p:spPr>
              <a:xfrm>
                <a:off x="7020188" y="10186273"/>
                <a:ext cx="1850635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kumimoji="1" lang="en-US" altLang="ja-JP" sz="2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,0,0) (</a:t>
                </a:r>
                <a:r>
                  <a:rPr kumimoji="1" lang="en-US" altLang="ja-JP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r.l.u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.)</a:t>
                </a:r>
                <a:endParaRPr kumimoji="1" lang="ja-JP" altLang="en-US" sz="2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5ABDEBB0-18DE-9C29-62E8-249AE734F83C}"/>
                  </a:ext>
                </a:extLst>
              </p:cNvPr>
              <p:cNvSpPr txBox="1"/>
              <p:nvPr/>
            </p:nvSpPr>
            <p:spPr>
              <a:xfrm>
                <a:off x="6902367" y="6558968"/>
                <a:ext cx="2086277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kumimoji="1" lang="en-US" altLang="ja-JP" sz="2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,0,1.5) (</a:t>
                </a:r>
                <a:r>
                  <a:rPr kumimoji="1" lang="en-US" altLang="ja-JP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r.l.u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.)</a:t>
                </a:r>
                <a:endParaRPr kumimoji="1" lang="ja-JP" altLang="en-US" sz="2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3ACE8714-2DEB-1184-BCDF-48D66ABD2779}"/>
                  </a:ext>
                </a:extLst>
              </p:cNvPr>
              <p:cNvSpPr txBox="1"/>
              <p:nvPr/>
            </p:nvSpPr>
            <p:spPr>
              <a:xfrm>
                <a:off x="10849668" y="6556166"/>
                <a:ext cx="2086277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kumimoji="1" lang="en-US" altLang="ja-JP" sz="2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,0,1.5) (</a:t>
                </a:r>
                <a:r>
                  <a:rPr kumimoji="1" lang="en-US" altLang="ja-JP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r.l.u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.)</a:t>
                </a:r>
                <a:endParaRPr kumimoji="1" lang="ja-JP" altLang="en-US" sz="2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" name="正方形/長方形 47">
                <a:extLst>
                  <a:ext uri="{FF2B5EF4-FFF2-40B4-BE49-F238E27FC236}">
                    <a16:creationId xmlns:a16="http://schemas.microsoft.com/office/drawing/2014/main" id="{6496126E-2BF4-43C2-B043-A56EDEC44C95}"/>
                  </a:ext>
                </a:extLst>
              </p:cNvPr>
              <p:cNvSpPr/>
              <p:nvPr/>
            </p:nvSpPr>
            <p:spPr>
              <a:xfrm>
                <a:off x="11037590" y="4821968"/>
                <a:ext cx="1493847" cy="55821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0" name="正方形/長方形 49">
                <a:extLst>
                  <a:ext uri="{FF2B5EF4-FFF2-40B4-BE49-F238E27FC236}">
                    <a16:creationId xmlns:a16="http://schemas.microsoft.com/office/drawing/2014/main" id="{A2364CB6-4424-64C3-4D5A-246A9DAAD603}"/>
                  </a:ext>
                </a:extLst>
              </p:cNvPr>
              <p:cNvSpPr/>
              <p:nvPr/>
            </p:nvSpPr>
            <p:spPr>
              <a:xfrm>
                <a:off x="11037590" y="4146691"/>
                <a:ext cx="1493847" cy="64415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2" name="テキスト ボックス 51">
                    <a:extLst>
                      <a:ext uri="{FF2B5EF4-FFF2-40B4-BE49-F238E27FC236}">
                        <a16:creationId xmlns:a16="http://schemas.microsoft.com/office/drawing/2014/main" id="{919E4FBF-4507-BA3F-6648-8097F0D2C476}"/>
                      </a:ext>
                    </a:extLst>
                  </p:cNvPr>
                  <p:cNvSpPr txBox="1"/>
                  <p:nvPr/>
                </p:nvSpPr>
                <p:spPr>
                  <a:xfrm>
                    <a:off x="14712751" y="10186273"/>
                    <a:ext cx="3038973" cy="430887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ja-JP" sz="22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(</a:t>
                    </a:r>
                    <a:r>
                      <a:rPr kumimoji="1" lang="en-US" altLang="ja-JP" sz="2200" i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</a:t>
                    </a:r>
                    <a:r>
                      <a:rPr kumimoji="1" lang="en-US" altLang="ja-JP" sz="2200" dirty="0">
                        <a:latin typeface="Arial" panose="020B0604020202020204" pitchFamily="34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a:rPr kumimoji="1" lang="en-US" altLang="ja-JP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𝛿</m:t>
                            </m:r>
                          </m:e>
                          <m:sub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ja-JP" sz="2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/2</m:t>
                        </m:r>
                      </m:oMath>
                    </a14:m>
                    <a:r>
                      <a:rPr kumimoji="1" lang="en-US" altLang="ja-JP" sz="22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,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𝛿</m:t>
                            </m:r>
                          </m:e>
                          <m:sub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r>
                      <a:rPr kumimoji="1" lang="en-US" altLang="ja-JP" sz="22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,1.5) (</a:t>
                    </a:r>
                    <a:r>
                      <a:rPr kumimoji="1" lang="en-US" altLang="ja-JP" sz="2200" dirty="0" err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r.l.u</a:t>
                    </a:r>
                    <a:r>
                      <a:rPr kumimoji="1" lang="en-US" altLang="ja-JP" sz="22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.)</a:t>
                    </a:r>
                    <a:endParaRPr kumimoji="1" lang="ja-JP" altLang="en-US" sz="22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>
              <p:sp>
                <p:nvSpPr>
                  <p:cNvPr id="52" name="テキスト ボックス 51">
                    <a:extLst>
                      <a:ext uri="{FF2B5EF4-FFF2-40B4-BE49-F238E27FC236}">
                        <a16:creationId xmlns:a16="http://schemas.microsoft.com/office/drawing/2014/main" id="{919E4FBF-4507-BA3F-6648-8097F0D2C47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712751" y="10186273"/>
                    <a:ext cx="3038973" cy="430887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2500" t="-11429" r="-2500" b="-2285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4" name="テキスト ボックス 53">
                    <a:extLst>
                      <a:ext uri="{FF2B5EF4-FFF2-40B4-BE49-F238E27FC236}">
                        <a16:creationId xmlns:a16="http://schemas.microsoft.com/office/drawing/2014/main" id="{FCD213B0-BF89-BE5B-9E27-795C6D5C6897}"/>
                      </a:ext>
                    </a:extLst>
                  </p:cNvPr>
                  <p:cNvSpPr txBox="1"/>
                  <p:nvPr/>
                </p:nvSpPr>
                <p:spPr>
                  <a:xfrm>
                    <a:off x="14867069" y="6556166"/>
                    <a:ext cx="3025893" cy="430887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ja-JP" sz="22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(</a:t>
                    </a:r>
                    <a:r>
                      <a:rPr kumimoji="1" lang="en-US" altLang="ja-JP" sz="2200" i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</a:t>
                    </a:r>
                    <a:r>
                      <a:rPr kumimoji="1" lang="en-US" altLang="ja-JP" sz="2200" dirty="0">
                        <a:latin typeface="Arial" panose="020B0604020202020204" pitchFamily="34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sz="2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a:rPr kumimoji="1" lang="en-US" altLang="ja-JP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𝛿</m:t>
                            </m:r>
                          </m:e>
                          <m:sub>
                            <m:r>
                              <a:rPr kumimoji="1" lang="en-US" altLang="ja-JP" sz="22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ja-JP" sz="2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/2</m:t>
                        </m:r>
                      </m:oMath>
                    </a14:m>
                    <a:r>
                      <a:rPr kumimoji="1" lang="en-US" altLang="ja-JP" sz="22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,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sz="2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𝛿</m:t>
                            </m:r>
                          </m:e>
                          <m:sub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r>
                      <a:rPr kumimoji="1" lang="en-US" altLang="ja-JP" sz="22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,1.5) (</a:t>
                    </a:r>
                    <a:r>
                      <a:rPr kumimoji="1" lang="en-US" altLang="ja-JP" sz="2200" dirty="0" err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r.l.u</a:t>
                    </a:r>
                    <a:r>
                      <a:rPr kumimoji="1" lang="en-US" altLang="ja-JP" sz="22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.)</a:t>
                    </a:r>
                    <a:endParaRPr kumimoji="1" lang="ja-JP" altLang="en-US" sz="22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>
              <p:sp>
                <p:nvSpPr>
                  <p:cNvPr id="54" name="テキスト ボックス 53">
                    <a:extLst>
                      <a:ext uri="{FF2B5EF4-FFF2-40B4-BE49-F238E27FC236}">
                        <a16:creationId xmlns:a16="http://schemas.microsoft.com/office/drawing/2014/main" id="{FCD213B0-BF89-BE5B-9E27-795C6D5C68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867069" y="6556166"/>
                    <a:ext cx="3025893" cy="430887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2510" t="-8571" r="-2510" b="-25714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5" name="テキスト ボックス 54">
                <a:extLst>
                  <a:ext uri="{FF2B5EF4-FFF2-40B4-BE49-F238E27FC236}">
                    <a16:creationId xmlns:a16="http://schemas.microsoft.com/office/drawing/2014/main" id="{B70C7A6B-E0DB-A410-5278-12ABA51AB2CD}"/>
                  </a:ext>
                </a:extLst>
              </p:cNvPr>
              <p:cNvSpPr txBox="1"/>
              <p:nvPr/>
            </p:nvSpPr>
            <p:spPr>
              <a:xfrm rot="16200000">
                <a:off x="12975807" y="4729195"/>
                <a:ext cx="2446504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Intensity (</a:t>
                </a:r>
                <a:r>
                  <a:rPr kumimoji="1" lang="en-US" altLang="ja-JP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arb.unit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kumimoji="1" lang="ja-JP" altLang="en-US" sz="2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" name="テキスト ボックス 55">
                <a:extLst>
                  <a:ext uri="{FF2B5EF4-FFF2-40B4-BE49-F238E27FC236}">
                    <a16:creationId xmlns:a16="http://schemas.microsoft.com/office/drawing/2014/main" id="{00771F72-9E73-8A50-9D5F-354186003CC1}"/>
                  </a:ext>
                </a:extLst>
              </p:cNvPr>
              <p:cNvSpPr txBox="1"/>
              <p:nvPr/>
            </p:nvSpPr>
            <p:spPr>
              <a:xfrm rot="16200000">
                <a:off x="12823989" y="8476398"/>
                <a:ext cx="2446504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Intensity (</a:t>
                </a:r>
                <a:r>
                  <a:rPr kumimoji="1" lang="en-US" altLang="ja-JP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arb.unit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kumimoji="1" lang="ja-JP" altLang="en-US" sz="2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2" name="テキスト ボックス 71">
                <a:extLst>
                  <a:ext uri="{FF2B5EF4-FFF2-40B4-BE49-F238E27FC236}">
                    <a16:creationId xmlns:a16="http://schemas.microsoft.com/office/drawing/2014/main" id="{1E76397D-FD6A-3852-B05B-0439B326C4DE}"/>
                  </a:ext>
                </a:extLst>
              </p:cNvPr>
              <p:cNvSpPr txBox="1"/>
              <p:nvPr/>
            </p:nvSpPr>
            <p:spPr>
              <a:xfrm>
                <a:off x="10921254" y="4167838"/>
                <a:ext cx="52450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800" dirty="0">
                    <a:latin typeface="Helvetica" pitchFamily="2" charset="0"/>
                  </a:rPr>
                  <a:t>(f)</a:t>
                </a:r>
                <a:endParaRPr kumimoji="1" lang="ja-JP" altLang="en-US" sz="2800">
                  <a:latin typeface="Helvetica" pitchFamily="2" charset="0"/>
                </a:endParaRPr>
              </a:p>
            </p:txBody>
          </p:sp>
          <p:sp>
            <p:nvSpPr>
              <p:cNvPr id="73" name="テキスト ボックス 72">
                <a:extLst>
                  <a:ext uri="{FF2B5EF4-FFF2-40B4-BE49-F238E27FC236}">
                    <a16:creationId xmlns:a16="http://schemas.microsoft.com/office/drawing/2014/main" id="{01E916BC-26EB-76EA-A24B-02F228EE3E12}"/>
                  </a:ext>
                </a:extLst>
              </p:cNvPr>
              <p:cNvSpPr txBox="1"/>
              <p:nvPr/>
            </p:nvSpPr>
            <p:spPr>
              <a:xfrm>
                <a:off x="12128142" y="4840190"/>
                <a:ext cx="62549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800" dirty="0">
                    <a:latin typeface="Helvetica" pitchFamily="2" charset="0"/>
                  </a:rPr>
                  <a:t>(g)</a:t>
                </a:r>
                <a:endParaRPr kumimoji="1" lang="ja-JP" altLang="en-US" sz="2800">
                  <a:latin typeface="Helvetica" pitchFamily="2" charset="0"/>
                </a:endParaRPr>
              </a:p>
            </p:txBody>
          </p:sp>
          <p:cxnSp>
            <p:nvCxnSpPr>
              <p:cNvPr id="57" name="直線コネクタ 56">
                <a:extLst>
                  <a:ext uri="{FF2B5EF4-FFF2-40B4-BE49-F238E27FC236}">
                    <a16:creationId xmlns:a16="http://schemas.microsoft.com/office/drawing/2014/main" id="{FF319A15-E477-F555-6978-49C9C70BAE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71687" y="4205957"/>
                <a:ext cx="113674" cy="338162"/>
              </a:xfrm>
              <a:prstGeom prst="line">
                <a:avLst/>
              </a:prstGeom>
              <a:ln w="12700">
                <a:solidFill>
                  <a:schemeClr val="bg1"/>
                </a:solidFill>
                <a:prstDash val="dash"/>
                <a:head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線コネクタ 65">
                <a:extLst>
                  <a:ext uri="{FF2B5EF4-FFF2-40B4-BE49-F238E27FC236}">
                    <a16:creationId xmlns:a16="http://schemas.microsoft.com/office/drawing/2014/main" id="{C624628E-A368-45C1-039D-8FF7BB5A0A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252189" y="5432298"/>
                <a:ext cx="210212" cy="199083"/>
              </a:xfrm>
              <a:prstGeom prst="line">
                <a:avLst/>
              </a:prstGeom>
              <a:ln w="12700">
                <a:solidFill>
                  <a:schemeClr val="bg1"/>
                </a:solidFill>
                <a:prstDash val="dash"/>
                <a:headEnd type="none"/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線コネクタ 67">
                <a:extLst>
                  <a:ext uri="{FF2B5EF4-FFF2-40B4-BE49-F238E27FC236}">
                    <a16:creationId xmlns:a16="http://schemas.microsoft.com/office/drawing/2014/main" id="{8C760742-8AE1-A7A5-5949-B5CA427781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1840" y="5137400"/>
                <a:ext cx="219805" cy="42800"/>
              </a:xfrm>
              <a:prstGeom prst="line">
                <a:avLst/>
              </a:prstGeom>
              <a:ln w="12700">
                <a:solidFill>
                  <a:schemeClr val="bg1"/>
                </a:solidFill>
                <a:prstDash val="dash"/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0" name="テキスト ボックス 79">
                    <a:extLst>
                      <a:ext uri="{FF2B5EF4-FFF2-40B4-BE49-F238E27FC236}">
                        <a16:creationId xmlns:a16="http://schemas.microsoft.com/office/drawing/2014/main" id="{23139FC6-7C2B-351D-343B-67C17E404520}"/>
                      </a:ext>
                    </a:extLst>
                  </p:cNvPr>
                  <p:cNvSpPr txBox="1"/>
                  <p:nvPr/>
                </p:nvSpPr>
                <p:spPr>
                  <a:xfrm>
                    <a:off x="8254464" y="5440015"/>
                    <a:ext cx="377539" cy="49398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sz="261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>
                      <a:solidFill>
                        <a:schemeClr val="bg1"/>
                      </a:solidFill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80" name="テキスト ボックス 79">
                    <a:extLst>
                      <a:ext uri="{FF2B5EF4-FFF2-40B4-BE49-F238E27FC236}">
                        <a16:creationId xmlns:a16="http://schemas.microsoft.com/office/drawing/2014/main" id="{23139FC6-7C2B-351D-343B-67C17E40452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54464" y="5440015"/>
                    <a:ext cx="377539" cy="493981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3226" r="-25806" b="-50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3" name="直線矢印コネクタ 92">
                <a:extLst>
                  <a:ext uri="{FF2B5EF4-FFF2-40B4-BE49-F238E27FC236}">
                    <a16:creationId xmlns:a16="http://schemas.microsoft.com/office/drawing/2014/main" id="{8A702C18-2DDB-EA46-8BE2-05E061106B84}"/>
                  </a:ext>
                </a:extLst>
              </p:cNvPr>
              <p:cNvCxnSpPr>
                <a:cxnSpLocks/>
              </p:cNvCxnSpPr>
              <p:nvPr/>
            </p:nvCxnSpPr>
            <p:spPr>
              <a:xfrm rot="19140000" flipH="1">
                <a:off x="872905" y="7895126"/>
                <a:ext cx="1440000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線矢印コネクタ 95">
                <a:extLst>
                  <a:ext uri="{FF2B5EF4-FFF2-40B4-BE49-F238E27FC236}">
                    <a16:creationId xmlns:a16="http://schemas.microsoft.com/office/drawing/2014/main" id="{434848EB-A11D-A451-9BAD-0B1ECBF6C156}"/>
                  </a:ext>
                </a:extLst>
              </p:cNvPr>
              <p:cNvCxnSpPr>
                <a:cxnSpLocks/>
              </p:cNvCxnSpPr>
              <p:nvPr/>
            </p:nvCxnSpPr>
            <p:spPr>
              <a:xfrm rot="16920000" flipH="1">
                <a:off x="1279815" y="8115539"/>
                <a:ext cx="1440000" cy="0"/>
              </a:xfrm>
              <a:prstGeom prst="straightConnector1">
                <a:avLst/>
              </a:prstGeom>
              <a:ln w="38100">
                <a:solidFill>
                  <a:srgbClr val="00BC00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テキスト ボックス 97">
                <a:extLst>
                  <a:ext uri="{FF2B5EF4-FFF2-40B4-BE49-F238E27FC236}">
                    <a16:creationId xmlns:a16="http://schemas.microsoft.com/office/drawing/2014/main" id="{6118F655-2EBA-5620-F050-D8082E70BD80}"/>
                  </a:ext>
                </a:extLst>
              </p:cNvPr>
              <p:cNvSpPr txBox="1"/>
              <p:nvPr/>
            </p:nvSpPr>
            <p:spPr>
              <a:xfrm>
                <a:off x="2649058" y="7675260"/>
                <a:ext cx="4587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400" dirty="0">
                    <a:solidFill>
                      <a:srgbClr val="3803FF"/>
                    </a:solidFill>
                    <a:latin typeface="Helvetica" pitchFamily="2" charset="0"/>
                  </a:rPr>
                  <a:t>c*</a:t>
                </a:r>
                <a:endParaRPr kumimoji="1" lang="ja-JP" altLang="en-US" sz="2400">
                  <a:solidFill>
                    <a:srgbClr val="3803FF"/>
                  </a:solidFill>
                  <a:latin typeface="Helvetica" pitchFamily="2" charset="0"/>
                </a:endParaRPr>
              </a:p>
            </p:txBody>
          </p:sp>
          <p:sp>
            <p:nvSpPr>
              <p:cNvPr id="99" name="テキスト ボックス 98">
                <a:extLst>
                  <a:ext uri="{FF2B5EF4-FFF2-40B4-BE49-F238E27FC236}">
                    <a16:creationId xmlns:a16="http://schemas.microsoft.com/office/drawing/2014/main" id="{83B647D2-B57A-BBE4-B6A0-DAD7EEBCAAA1}"/>
                  </a:ext>
                </a:extLst>
              </p:cNvPr>
              <p:cNvSpPr txBox="1"/>
              <p:nvPr/>
            </p:nvSpPr>
            <p:spPr>
              <a:xfrm>
                <a:off x="1378203" y="8469780"/>
                <a:ext cx="47641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400" dirty="0">
                    <a:solidFill>
                      <a:srgbClr val="00BC00"/>
                    </a:solidFill>
                    <a:latin typeface="Helvetica" pitchFamily="2" charset="0"/>
                  </a:rPr>
                  <a:t>b*</a:t>
                </a:r>
                <a:endParaRPr kumimoji="1" lang="ja-JP" altLang="en-US" sz="2400">
                  <a:solidFill>
                    <a:srgbClr val="00BC00"/>
                  </a:solidFill>
                  <a:latin typeface="Helvetica" pitchFamily="2" charset="0"/>
                </a:endParaRPr>
              </a:p>
            </p:txBody>
          </p:sp>
          <p:sp>
            <p:nvSpPr>
              <p:cNvPr id="100" name="テキスト ボックス 99">
                <a:extLst>
                  <a:ext uri="{FF2B5EF4-FFF2-40B4-BE49-F238E27FC236}">
                    <a16:creationId xmlns:a16="http://schemas.microsoft.com/office/drawing/2014/main" id="{11E77C37-0C9D-81BC-E18C-F39C6AFB5218}"/>
                  </a:ext>
                </a:extLst>
              </p:cNvPr>
              <p:cNvSpPr txBox="1"/>
              <p:nvPr/>
            </p:nvSpPr>
            <p:spPr>
              <a:xfrm>
                <a:off x="1131123" y="7546189"/>
                <a:ext cx="47641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400" dirty="0">
                    <a:solidFill>
                      <a:srgbClr val="FF0000"/>
                    </a:solidFill>
                    <a:latin typeface="Helvetica" pitchFamily="2" charset="0"/>
                  </a:rPr>
                  <a:t>a*</a:t>
                </a:r>
                <a:endParaRPr kumimoji="1" lang="ja-JP" altLang="en-US" sz="2400">
                  <a:solidFill>
                    <a:srgbClr val="FF0000"/>
                  </a:solidFill>
                  <a:latin typeface="Helvetica" pitchFamily="2" charset="0"/>
                </a:endParaRPr>
              </a:p>
            </p:txBody>
          </p:sp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86094C49-CF6F-48D7-8B7C-713EEA853292}"/>
                  </a:ext>
                </a:extLst>
              </p:cNvPr>
              <p:cNvSpPr txBox="1"/>
              <p:nvPr/>
            </p:nvSpPr>
            <p:spPr>
              <a:xfrm rot="5400000">
                <a:off x="8415516" y="8551176"/>
                <a:ext cx="2525050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Intensity (</a:t>
                </a:r>
                <a:r>
                  <a:rPr kumimoji="1" lang="en-US" altLang="ja-JP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arb.unit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kumimoji="1" lang="ja-JP" altLang="en-US" sz="2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3E0B361B-E616-BD3F-B116-26147A4BBF9C}"/>
                  </a:ext>
                </a:extLst>
              </p:cNvPr>
              <p:cNvSpPr txBox="1"/>
              <p:nvPr/>
            </p:nvSpPr>
            <p:spPr>
              <a:xfrm rot="5400000">
                <a:off x="8415516" y="4717432"/>
                <a:ext cx="2525050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Intensity (</a:t>
                </a:r>
                <a:r>
                  <a:rPr kumimoji="1" lang="en-US" altLang="ja-JP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arb.unit</a:t>
                </a:r>
                <a:r>
                  <a:rPr kumimoji="1" lang="en-US" altLang="ja-JP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kumimoji="1" lang="ja-JP" altLang="en-US" sz="2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0" name="テキスト ボックス 29">
                    <a:extLst>
                      <a:ext uri="{FF2B5EF4-FFF2-40B4-BE49-F238E27FC236}">
                        <a16:creationId xmlns:a16="http://schemas.microsoft.com/office/drawing/2014/main" id="{0EDAF0A3-3456-ED0E-C534-E6B5DE79942D}"/>
                      </a:ext>
                    </a:extLst>
                  </p:cNvPr>
                  <p:cNvSpPr txBox="1"/>
                  <p:nvPr/>
                </p:nvSpPr>
                <p:spPr>
                  <a:xfrm rot="5400000">
                    <a:off x="12188141" y="8487794"/>
                    <a:ext cx="2651816" cy="430887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ja-JP" sz="2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𝐼</m:t>
                            </m:r>
                          </m:e>
                          <m:sup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++</m:t>
                            </m:r>
                          </m:sup>
                        </m:sSup>
                        <m:r>
                          <a:rPr kumimoji="1" lang="en-US" altLang="ja-JP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sSup>
                          <m:sSupPr>
                            <m:ctrlPr>
                              <a:rPr kumimoji="1" lang="en-US" altLang="ja-JP" sz="2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𝐼</m:t>
                            </m:r>
                          </m:e>
                          <m:sup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+</m:t>
                            </m:r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</m:sup>
                        </m:sSup>
                      </m:oMath>
                    </a14:m>
                    <a:r>
                      <a:rPr kumimoji="1" lang="en-US" altLang="ja-JP" sz="22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(</a:t>
                    </a:r>
                    <a:r>
                      <a:rPr kumimoji="1" lang="en-US" altLang="ja-JP" sz="2200" dirty="0" err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arb.unit</a:t>
                    </a:r>
                    <a:r>
                      <a:rPr kumimoji="1" lang="en-US" altLang="ja-JP" sz="22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</a:t>
                    </a:r>
                    <a:endParaRPr kumimoji="1" lang="ja-JP" altLang="en-US" sz="22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>
              <p:sp>
                <p:nvSpPr>
                  <p:cNvPr id="30" name="テキスト ボックス 29">
                    <a:extLst>
                      <a:ext uri="{FF2B5EF4-FFF2-40B4-BE49-F238E27FC236}">
                        <a16:creationId xmlns:a16="http://schemas.microsoft.com/office/drawing/2014/main" id="{0EDAF0A3-3456-ED0E-C534-E6B5DE79942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5400000">
                    <a:off x="12188141" y="8487794"/>
                    <a:ext cx="2651816" cy="430887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l="-26471" r="-11765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3" name="テキスト ボックス 32">
                    <a:extLst>
                      <a:ext uri="{FF2B5EF4-FFF2-40B4-BE49-F238E27FC236}">
                        <a16:creationId xmlns:a16="http://schemas.microsoft.com/office/drawing/2014/main" id="{B0B222BF-48BB-5052-2DA3-C3D17589876B}"/>
                      </a:ext>
                    </a:extLst>
                  </p:cNvPr>
                  <p:cNvSpPr txBox="1"/>
                  <p:nvPr/>
                </p:nvSpPr>
                <p:spPr>
                  <a:xfrm rot="5400000">
                    <a:off x="12188141" y="4717432"/>
                    <a:ext cx="2651816" cy="430887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ja-JP" sz="2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𝐼</m:t>
                            </m:r>
                          </m:e>
                          <m:sup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++</m:t>
                            </m:r>
                          </m:sup>
                        </m:sSup>
                        <m:r>
                          <a:rPr kumimoji="1" lang="en-US" altLang="ja-JP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sSup>
                          <m:sSupPr>
                            <m:ctrlPr>
                              <a:rPr kumimoji="1" lang="en-US" altLang="ja-JP" sz="2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𝐼</m:t>
                            </m:r>
                          </m:e>
                          <m:sup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+</m:t>
                            </m:r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</m:sup>
                        </m:sSup>
                      </m:oMath>
                    </a14:m>
                    <a:r>
                      <a:rPr kumimoji="1" lang="en-US" altLang="ja-JP" sz="22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(</a:t>
                    </a:r>
                    <a:r>
                      <a:rPr kumimoji="1" lang="en-US" altLang="ja-JP" sz="2200" dirty="0" err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arb.unit</a:t>
                    </a:r>
                    <a:r>
                      <a:rPr kumimoji="1" lang="en-US" altLang="ja-JP" sz="22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</a:t>
                    </a:r>
                    <a:endParaRPr kumimoji="1" lang="ja-JP" altLang="en-US" sz="22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>
              <p:sp>
                <p:nvSpPr>
                  <p:cNvPr id="33" name="テキスト ボックス 32">
                    <a:extLst>
                      <a:ext uri="{FF2B5EF4-FFF2-40B4-BE49-F238E27FC236}">
                        <a16:creationId xmlns:a16="http://schemas.microsoft.com/office/drawing/2014/main" id="{B0B222BF-48BB-5052-2DA3-C3D1758987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5400000">
                    <a:off x="12188141" y="4717432"/>
                    <a:ext cx="2651816" cy="430887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l="-26471" t="-478" r="-11765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" name="三角形 15">
                <a:extLst>
                  <a:ext uri="{FF2B5EF4-FFF2-40B4-BE49-F238E27FC236}">
                    <a16:creationId xmlns:a16="http://schemas.microsoft.com/office/drawing/2014/main" id="{07390AD9-534E-1E53-D9B8-1BB3E2684EFA}"/>
                  </a:ext>
                </a:extLst>
              </p:cNvPr>
              <p:cNvSpPr/>
              <p:nvPr/>
            </p:nvSpPr>
            <p:spPr>
              <a:xfrm rot="19067099">
                <a:off x="4701807" y="6851336"/>
                <a:ext cx="166379" cy="121472"/>
              </a:xfrm>
              <a:prstGeom prst="triangle">
                <a:avLst/>
              </a:prstGeom>
              <a:solidFill>
                <a:srgbClr val="C4AC4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43" name="三角形 42">
                <a:extLst>
                  <a:ext uri="{FF2B5EF4-FFF2-40B4-BE49-F238E27FC236}">
                    <a16:creationId xmlns:a16="http://schemas.microsoft.com/office/drawing/2014/main" id="{4A8118B9-70B4-6BCF-AB52-619769D45D72}"/>
                  </a:ext>
                </a:extLst>
              </p:cNvPr>
              <p:cNvSpPr/>
              <p:nvPr/>
            </p:nvSpPr>
            <p:spPr>
              <a:xfrm rot="18514289">
                <a:off x="4162776" y="6933364"/>
                <a:ext cx="166379" cy="121472"/>
              </a:xfrm>
              <a:prstGeom prst="triangle">
                <a:avLst/>
              </a:prstGeom>
              <a:solidFill>
                <a:srgbClr val="C4AC4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63" name="三角形 62">
                <a:extLst>
                  <a:ext uri="{FF2B5EF4-FFF2-40B4-BE49-F238E27FC236}">
                    <a16:creationId xmlns:a16="http://schemas.microsoft.com/office/drawing/2014/main" id="{F6F720F9-7ABA-AC24-3B35-21B70A50E5CD}"/>
                  </a:ext>
                </a:extLst>
              </p:cNvPr>
              <p:cNvSpPr/>
              <p:nvPr/>
            </p:nvSpPr>
            <p:spPr>
              <a:xfrm rot="14392862">
                <a:off x="4335963" y="8478762"/>
                <a:ext cx="166379" cy="121472"/>
              </a:xfrm>
              <a:prstGeom prst="triangle">
                <a:avLst/>
              </a:prstGeom>
              <a:solidFill>
                <a:srgbClr val="C4AC4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67" name="直線コネクタ 66">
                <a:extLst>
                  <a:ext uri="{FF2B5EF4-FFF2-40B4-BE49-F238E27FC236}">
                    <a16:creationId xmlns:a16="http://schemas.microsoft.com/office/drawing/2014/main" id="{56F70329-04CC-8EE1-6312-F8CC95139F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2510" y="7424781"/>
                <a:ext cx="3792646" cy="124404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線矢印コネクタ 96">
                <a:extLst>
                  <a:ext uri="{FF2B5EF4-FFF2-40B4-BE49-F238E27FC236}">
                    <a16:creationId xmlns:a16="http://schemas.microsoft.com/office/drawing/2014/main" id="{747DA0B0-7D13-11AC-8C94-8C9A293A6E91}"/>
                  </a:ext>
                </a:extLst>
              </p:cNvPr>
              <p:cNvCxnSpPr>
                <a:cxnSpLocks/>
              </p:cNvCxnSpPr>
              <p:nvPr/>
            </p:nvCxnSpPr>
            <p:spPr>
              <a:xfrm rot="11880000" flipH="1">
                <a:off x="2108505" y="7590580"/>
                <a:ext cx="1054800" cy="0"/>
              </a:xfrm>
              <a:prstGeom prst="straightConnector1">
                <a:avLst/>
              </a:prstGeom>
              <a:ln w="38100">
                <a:solidFill>
                  <a:srgbClr val="3803FF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9" name="直線コネクタ 78">
              <a:extLst>
                <a:ext uri="{FF2B5EF4-FFF2-40B4-BE49-F238E27FC236}">
                  <a16:creationId xmlns:a16="http://schemas.microsoft.com/office/drawing/2014/main" id="{C07F38A9-1645-8877-E716-6F8F99CF17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6678" y="6621853"/>
              <a:ext cx="1128428" cy="1238436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線コネクタ 80">
              <a:extLst>
                <a:ext uri="{FF2B5EF4-FFF2-40B4-BE49-F238E27FC236}">
                  <a16:creationId xmlns:a16="http://schemas.microsoft.com/office/drawing/2014/main" id="{D1FA1553-87BC-32B9-2405-A6757430BA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51352" y="7990537"/>
              <a:ext cx="1118173" cy="122763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テキスト ボックス 81">
              <a:extLst>
                <a:ext uri="{FF2B5EF4-FFF2-40B4-BE49-F238E27FC236}">
                  <a16:creationId xmlns:a16="http://schemas.microsoft.com/office/drawing/2014/main" id="{547D8DD1-B944-81DA-074D-9786C6EB1193}"/>
                </a:ext>
              </a:extLst>
            </p:cNvPr>
            <p:cNvSpPr txBox="1"/>
            <p:nvPr/>
          </p:nvSpPr>
          <p:spPr>
            <a:xfrm>
              <a:off x="3381797" y="9094029"/>
              <a:ext cx="602833" cy="4493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(f) </a:t>
              </a:r>
              <a:endParaRPr lang="ja-JP" altLang="en-US" sz="2320">
                <a:latin typeface="Helvetica" pitchFamily="2" charset="0"/>
              </a:endParaRPr>
            </a:p>
          </p:txBody>
        </p:sp>
        <p:sp>
          <p:nvSpPr>
            <p:cNvPr id="86" name="テキスト ボックス 85">
              <a:extLst>
                <a:ext uri="{FF2B5EF4-FFF2-40B4-BE49-F238E27FC236}">
                  <a16:creationId xmlns:a16="http://schemas.microsoft.com/office/drawing/2014/main" id="{F5DE77BD-AF86-21FF-1E05-CC1A0FD600F5}"/>
                </a:ext>
              </a:extLst>
            </p:cNvPr>
            <p:cNvSpPr txBox="1"/>
            <p:nvPr/>
          </p:nvSpPr>
          <p:spPr>
            <a:xfrm>
              <a:off x="3282667" y="7743041"/>
              <a:ext cx="746379" cy="4493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(g) </a:t>
              </a:r>
              <a:endParaRPr lang="ja-JP" altLang="en-US" sz="232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8057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F6E73-C0D6-4302-FC4B-44268EF10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AE75B336-519C-3A86-6427-3BBCC8FD68B0}"/>
              </a:ext>
            </a:extLst>
          </p:cNvPr>
          <p:cNvCxnSpPr>
            <a:cxnSpLocks/>
          </p:cNvCxnSpPr>
          <p:nvPr/>
        </p:nvCxnSpPr>
        <p:spPr>
          <a:xfrm rot="5400000">
            <a:off x="-1984891" y="664416"/>
            <a:ext cx="3600000" cy="0"/>
          </a:xfrm>
          <a:prstGeom prst="straightConnector1">
            <a:avLst/>
          </a:prstGeom>
          <a:ln w="31750">
            <a:solidFill>
              <a:schemeClr val="tx1"/>
            </a:solidFill>
            <a:headEnd type="arrow" w="lg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6ECED460-9449-4F8F-09CC-575D7D1A9407}"/>
              </a:ext>
            </a:extLst>
          </p:cNvPr>
          <p:cNvCxnSpPr>
            <a:cxnSpLocks/>
          </p:cNvCxnSpPr>
          <p:nvPr/>
        </p:nvCxnSpPr>
        <p:spPr>
          <a:xfrm rot="-1200000">
            <a:off x="-1866968" y="597786"/>
            <a:ext cx="3240000" cy="0"/>
          </a:xfrm>
          <a:prstGeom prst="straightConnector1">
            <a:avLst/>
          </a:prstGeom>
          <a:ln w="31750">
            <a:solidFill>
              <a:schemeClr val="tx1"/>
            </a:solidFill>
            <a:headEnd type="arrow" w="lg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48DCE4A4-AE26-FBCB-DAEC-4F82154DBD46}"/>
              </a:ext>
            </a:extLst>
          </p:cNvPr>
          <p:cNvCxnSpPr>
            <a:cxnSpLocks/>
          </p:cNvCxnSpPr>
          <p:nvPr/>
        </p:nvCxnSpPr>
        <p:spPr>
          <a:xfrm rot="1200000">
            <a:off x="-1028629" y="1060585"/>
            <a:ext cx="4320000" cy="0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474CCDE0-CA29-1D99-C723-DD30C42868A9}"/>
              </a:ext>
            </a:extLst>
          </p:cNvPr>
          <p:cNvCxnSpPr>
            <a:cxnSpLocks/>
          </p:cNvCxnSpPr>
          <p:nvPr/>
        </p:nvCxnSpPr>
        <p:spPr>
          <a:xfrm>
            <a:off x="72183" y="-129403"/>
            <a:ext cx="0" cy="786834"/>
          </a:xfrm>
          <a:prstGeom prst="straightConnector1">
            <a:avLst/>
          </a:prstGeom>
          <a:ln w="50800">
            <a:solidFill>
              <a:schemeClr val="tx1"/>
            </a:solidFill>
            <a:headEnd type="triangle" w="lg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フリーフォーム 17">
            <a:extLst>
              <a:ext uri="{FF2B5EF4-FFF2-40B4-BE49-F238E27FC236}">
                <a16:creationId xmlns:a16="http://schemas.microsoft.com/office/drawing/2014/main" id="{01492996-C5EE-372F-27CC-C6D6780AD77C}"/>
              </a:ext>
            </a:extLst>
          </p:cNvPr>
          <p:cNvSpPr/>
          <p:nvPr/>
        </p:nvSpPr>
        <p:spPr>
          <a:xfrm>
            <a:off x="-450193" y="-318062"/>
            <a:ext cx="3634451" cy="2925382"/>
          </a:xfrm>
          <a:custGeom>
            <a:avLst/>
            <a:gdLst>
              <a:gd name="csX0" fmla="*/ 0 w 3634451"/>
              <a:gd name="csY0" fmla="*/ 1892010 h 2925382"/>
              <a:gd name="csX1" fmla="*/ 717630 w 3634451"/>
              <a:gd name="csY1" fmla="*/ 5337 h 2925382"/>
              <a:gd name="csX2" fmla="*/ 1446835 w 3634451"/>
              <a:gd name="csY2" fmla="*/ 2412871 h 2925382"/>
              <a:gd name="csX3" fmla="*/ 2187615 w 3634451"/>
              <a:gd name="csY3" fmla="*/ 514623 h 2925382"/>
              <a:gd name="csX4" fmla="*/ 2870522 w 3634451"/>
              <a:gd name="csY4" fmla="*/ 2922157 h 2925382"/>
              <a:gd name="csX5" fmla="*/ 3634451 w 3634451"/>
              <a:gd name="csY5" fmla="*/ 1058633 h 29253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634451" h="2925382">
                <a:moveTo>
                  <a:pt x="0" y="1892010"/>
                </a:moveTo>
                <a:cubicBezTo>
                  <a:pt x="238245" y="905268"/>
                  <a:pt x="476491" y="-81473"/>
                  <a:pt x="717630" y="5337"/>
                </a:cubicBezTo>
                <a:cubicBezTo>
                  <a:pt x="958769" y="92147"/>
                  <a:pt x="1201837" y="2327990"/>
                  <a:pt x="1446835" y="2412871"/>
                </a:cubicBezTo>
                <a:cubicBezTo>
                  <a:pt x="1691833" y="2497752"/>
                  <a:pt x="1950334" y="429742"/>
                  <a:pt x="2187615" y="514623"/>
                </a:cubicBezTo>
                <a:cubicBezTo>
                  <a:pt x="2424896" y="599504"/>
                  <a:pt x="2629383" y="2831489"/>
                  <a:pt x="2870522" y="2922157"/>
                </a:cubicBezTo>
                <a:cubicBezTo>
                  <a:pt x="3111661" y="3012825"/>
                  <a:pt x="3451185" y="1162805"/>
                  <a:pt x="3634451" y="105863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C4E6C888-D9EE-B54A-E1E4-0C362E707539}"/>
              </a:ext>
            </a:extLst>
          </p:cNvPr>
          <p:cNvCxnSpPr>
            <a:cxnSpLocks/>
          </p:cNvCxnSpPr>
          <p:nvPr/>
        </p:nvCxnSpPr>
        <p:spPr>
          <a:xfrm>
            <a:off x="432927" y="131911"/>
            <a:ext cx="0" cy="647910"/>
          </a:xfrm>
          <a:prstGeom prst="straightConnector1">
            <a:avLst/>
          </a:prstGeom>
          <a:ln w="50800">
            <a:solidFill>
              <a:schemeClr val="tx1"/>
            </a:solidFill>
            <a:headEnd type="triangle" w="lg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1EEFE43D-C2E5-5407-CA80-6335CE49BDC4}"/>
              </a:ext>
            </a:extLst>
          </p:cNvPr>
          <p:cNvCxnSpPr>
            <a:cxnSpLocks/>
          </p:cNvCxnSpPr>
          <p:nvPr/>
        </p:nvCxnSpPr>
        <p:spPr>
          <a:xfrm>
            <a:off x="1590396" y="427326"/>
            <a:ext cx="0" cy="786834"/>
          </a:xfrm>
          <a:prstGeom prst="straightConnector1">
            <a:avLst/>
          </a:prstGeom>
          <a:ln w="50800">
            <a:solidFill>
              <a:schemeClr val="tx1"/>
            </a:solidFill>
            <a:headEnd type="triangle" w="lg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94569034-58C0-5C4B-72A8-ECA6FB967016}"/>
              </a:ext>
            </a:extLst>
          </p:cNvPr>
          <p:cNvCxnSpPr>
            <a:cxnSpLocks/>
          </p:cNvCxnSpPr>
          <p:nvPr/>
        </p:nvCxnSpPr>
        <p:spPr>
          <a:xfrm>
            <a:off x="1916415" y="688640"/>
            <a:ext cx="0" cy="647910"/>
          </a:xfrm>
          <a:prstGeom prst="straightConnector1">
            <a:avLst/>
          </a:prstGeom>
          <a:ln w="50800">
            <a:solidFill>
              <a:schemeClr val="tx1"/>
            </a:solidFill>
            <a:headEnd type="triangle" w="lg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ACF01FC7-ACC2-F716-2C6B-0BFE743CE280}"/>
              </a:ext>
            </a:extLst>
          </p:cNvPr>
          <p:cNvGrpSpPr/>
          <p:nvPr/>
        </p:nvGrpSpPr>
        <p:grpSpPr>
          <a:xfrm rot="10800000">
            <a:off x="809568" y="954720"/>
            <a:ext cx="326019" cy="909224"/>
            <a:chOff x="5795152" y="5809162"/>
            <a:chExt cx="326019" cy="909224"/>
          </a:xfrm>
        </p:grpSpPr>
        <p:cxnSp>
          <p:nvCxnSpPr>
            <p:cNvPr id="24" name="直線矢印コネクタ 23">
              <a:extLst>
                <a:ext uri="{FF2B5EF4-FFF2-40B4-BE49-F238E27FC236}">
                  <a16:creationId xmlns:a16="http://schemas.microsoft.com/office/drawing/2014/main" id="{AFF7C041-9CCE-E5B9-A5B9-13A027AE1F41}"/>
                </a:ext>
              </a:extLst>
            </p:cNvPr>
            <p:cNvCxnSpPr>
              <a:cxnSpLocks/>
            </p:cNvCxnSpPr>
            <p:nvPr/>
          </p:nvCxnSpPr>
          <p:spPr>
            <a:xfrm>
              <a:off x="5795152" y="5809162"/>
              <a:ext cx="0" cy="786834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triangle" w="lg" len="lg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矢印コネクタ 24">
              <a:extLst>
                <a:ext uri="{FF2B5EF4-FFF2-40B4-BE49-F238E27FC236}">
                  <a16:creationId xmlns:a16="http://schemas.microsoft.com/office/drawing/2014/main" id="{563F642E-0A6E-46EB-F3A5-1CB026537D52}"/>
                </a:ext>
              </a:extLst>
            </p:cNvPr>
            <p:cNvCxnSpPr>
              <a:cxnSpLocks/>
            </p:cNvCxnSpPr>
            <p:nvPr/>
          </p:nvCxnSpPr>
          <p:spPr>
            <a:xfrm>
              <a:off x="6121171" y="6070476"/>
              <a:ext cx="0" cy="647910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triangle" w="lg" len="lg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04DADC61-89B5-39D5-5262-15A77B392980}"/>
              </a:ext>
            </a:extLst>
          </p:cNvPr>
          <p:cNvGrpSpPr/>
          <p:nvPr/>
        </p:nvGrpSpPr>
        <p:grpSpPr>
          <a:xfrm rot="10800000">
            <a:off x="2269903" y="1470527"/>
            <a:ext cx="326019" cy="909224"/>
            <a:chOff x="5795152" y="5809162"/>
            <a:chExt cx="326019" cy="909224"/>
          </a:xfrm>
        </p:grpSpPr>
        <p:cxnSp>
          <p:nvCxnSpPr>
            <p:cNvPr id="28" name="直線矢印コネクタ 27">
              <a:extLst>
                <a:ext uri="{FF2B5EF4-FFF2-40B4-BE49-F238E27FC236}">
                  <a16:creationId xmlns:a16="http://schemas.microsoft.com/office/drawing/2014/main" id="{C89BD0B9-3ED1-AEFE-C54F-93868F6A3941}"/>
                </a:ext>
              </a:extLst>
            </p:cNvPr>
            <p:cNvCxnSpPr>
              <a:cxnSpLocks/>
            </p:cNvCxnSpPr>
            <p:nvPr/>
          </p:nvCxnSpPr>
          <p:spPr>
            <a:xfrm>
              <a:off x="5795152" y="5809162"/>
              <a:ext cx="0" cy="786834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triangle" w="lg" len="lg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矢印コネクタ 28">
              <a:extLst>
                <a:ext uri="{FF2B5EF4-FFF2-40B4-BE49-F238E27FC236}">
                  <a16:creationId xmlns:a16="http://schemas.microsoft.com/office/drawing/2014/main" id="{69F455CF-49E4-030F-9850-33AEE9911D71}"/>
                </a:ext>
              </a:extLst>
            </p:cNvPr>
            <p:cNvCxnSpPr>
              <a:cxnSpLocks/>
            </p:cNvCxnSpPr>
            <p:nvPr/>
          </p:nvCxnSpPr>
          <p:spPr>
            <a:xfrm>
              <a:off x="6121171" y="6070476"/>
              <a:ext cx="0" cy="647910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triangle" w="lg" len="lg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EECF8845-EA62-B1DC-9833-ADE961E865B2}"/>
              </a:ext>
            </a:extLst>
          </p:cNvPr>
          <p:cNvSpPr txBox="1"/>
          <p:nvPr/>
        </p:nvSpPr>
        <p:spPr>
          <a:xfrm>
            <a:off x="-379816" y="-1780172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>
                <a:latin typeface="Helvetica" pitchFamily="2" charset="0"/>
              </a:rPr>
              <a:t>c</a:t>
            </a:r>
            <a:endParaRPr kumimoji="1" lang="ja-JP" altLang="en-US" sz="3200">
              <a:latin typeface="Helvetica" pitchFamily="2" charset="0"/>
            </a:endParaRP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0B6579F5-338B-4340-A73B-10105F49AF5F}"/>
              </a:ext>
            </a:extLst>
          </p:cNvPr>
          <p:cNvCxnSpPr>
            <a:cxnSpLocks/>
          </p:cNvCxnSpPr>
          <p:nvPr/>
        </p:nvCxnSpPr>
        <p:spPr>
          <a:xfrm rot="5400000">
            <a:off x="4633189" y="633627"/>
            <a:ext cx="3240000" cy="0"/>
          </a:xfrm>
          <a:prstGeom prst="straightConnector1">
            <a:avLst/>
          </a:prstGeom>
          <a:ln w="31750">
            <a:solidFill>
              <a:schemeClr val="tx1"/>
            </a:solidFill>
            <a:headEnd type="arrow" w="lg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C10F286F-4246-511E-7DBC-EE88EB808016}"/>
              </a:ext>
            </a:extLst>
          </p:cNvPr>
          <p:cNvCxnSpPr>
            <a:cxnSpLocks/>
          </p:cNvCxnSpPr>
          <p:nvPr/>
        </p:nvCxnSpPr>
        <p:spPr>
          <a:xfrm rot="21300000">
            <a:off x="4427043" y="759825"/>
            <a:ext cx="3240000" cy="0"/>
          </a:xfrm>
          <a:prstGeom prst="straightConnector1">
            <a:avLst/>
          </a:prstGeom>
          <a:ln w="31750">
            <a:solidFill>
              <a:schemeClr val="tx1"/>
            </a:solidFill>
            <a:headEnd type="arrow" w="lg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71592118-B141-36CF-2594-AA1915D09378}"/>
              </a:ext>
            </a:extLst>
          </p:cNvPr>
          <p:cNvCxnSpPr>
            <a:cxnSpLocks/>
          </p:cNvCxnSpPr>
          <p:nvPr/>
        </p:nvCxnSpPr>
        <p:spPr>
          <a:xfrm rot="1200000">
            <a:off x="5409451" y="1209796"/>
            <a:ext cx="4320000" cy="0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D1A2BA9A-F1FC-11A6-35A6-763D67A34ED5}"/>
              </a:ext>
            </a:extLst>
          </p:cNvPr>
          <p:cNvCxnSpPr>
            <a:cxnSpLocks/>
          </p:cNvCxnSpPr>
          <p:nvPr/>
        </p:nvCxnSpPr>
        <p:spPr>
          <a:xfrm rot="2100000">
            <a:off x="6238786" y="-693003"/>
            <a:ext cx="0" cy="2880000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headEnd type="none" w="lg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フリーフォーム 97">
            <a:extLst>
              <a:ext uri="{FF2B5EF4-FFF2-40B4-BE49-F238E27FC236}">
                <a16:creationId xmlns:a16="http://schemas.microsoft.com/office/drawing/2014/main" id="{B1CB272E-1D03-F646-78CA-CF787BE798E5}"/>
              </a:ext>
            </a:extLst>
          </p:cNvPr>
          <p:cNvSpPr/>
          <p:nvPr/>
        </p:nvSpPr>
        <p:spPr>
          <a:xfrm rot="4351041">
            <a:off x="8927965" y="1513932"/>
            <a:ext cx="286898" cy="149033"/>
          </a:xfrm>
          <a:custGeom>
            <a:avLst/>
            <a:gdLst>
              <a:gd name="csX0" fmla="*/ 0 w 604911"/>
              <a:gd name="csY0" fmla="*/ 69903 h 294986"/>
              <a:gd name="csX1" fmla="*/ 351692 w 604911"/>
              <a:gd name="csY1" fmla="*/ 13632 h 294986"/>
              <a:gd name="csX2" fmla="*/ 604911 w 604911"/>
              <a:gd name="csY2" fmla="*/ 294986 h 2949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04911" h="294986">
                <a:moveTo>
                  <a:pt x="0" y="69903"/>
                </a:moveTo>
                <a:cubicBezTo>
                  <a:pt x="125437" y="23010"/>
                  <a:pt x="250874" y="-23882"/>
                  <a:pt x="351692" y="13632"/>
                </a:cubicBezTo>
                <a:cubicBezTo>
                  <a:pt x="452510" y="51146"/>
                  <a:pt x="528710" y="173066"/>
                  <a:pt x="604911" y="294986"/>
                </a:cubicBezTo>
              </a:path>
            </a:pathLst>
          </a:custGeom>
          <a:noFill/>
          <a:ln w="25400"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58EABE22-40BB-CCC6-CD6F-A9F275BCB46A}"/>
              </a:ext>
            </a:extLst>
          </p:cNvPr>
          <p:cNvSpPr txBox="1"/>
          <p:nvPr/>
        </p:nvSpPr>
        <p:spPr>
          <a:xfrm>
            <a:off x="9169476" y="1356496"/>
            <a:ext cx="835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Helvetica" pitchFamily="2" charset="0"/>
              </a:rPr>
              <a:t>45°</a:t>
            </a:r>
            <a:endParaRPr kumimoji="1" lang="ja-JP" altLang="en-US" sz="2400">
              <a:latin typeface="Helvetica" pitchFamily="2" charset="0"/>
            </a:endParaRPr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3BDDDCB0-B289-D9D0-5E7E-987910E352A9}"/>
              </a:ext>
            </a:extLst>
          </p:cNvPr>
          <p:cNvSpPr txBox="1"/>
          <p:nvPr/>
        </p:nvSpPr>
        <p:spPr>
          <a:xfrm>
            <a:off x="5316125" y="-191241"/>
            <a:ext cx="10070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Helvetica" pitchFamily="2" charset="0"/>
              </a:rPr>
              <a:t>109°</a:t>
            </a:r>
            <a:endParaRPr kumimoji="1" lang="ja-JP" altLang="en-US" sz="2400">
              <a:latin typeface="Helvetica" pitchFamily="2" charset="0"/>
            </a:endParaRPr>
          </a:p>
        </p:txBody>
      </p: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B44288E8-D4A2-1415-CE62-3C16C3F232FC}"/>
              </a:ext>
            </a:extLst>
          </p:cNvPr>
          <p:cNvSpPr txBox="1"/>
          <p:nvPr/>
        </p:nvSpPr>
        <p:spPr>
          <a:xfrm>
            <a:off x="4167433" y="341673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>
                <a:latin typeface="Helvetica" pitchFamily="2" charset="0"/>
              </a:rPr>
              <a:t>a</a:t>
            </a:r>
            <a:endParaRPr kumimoji="1" lang="ja-JP" altLang="en-US" sz="3200">
              <a:latin typeface="Helvetica" pitchFamily="2" charset="0"/>
            </a:endParaRPr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C457BD5F-1547-2C60-1AAC-2B5DFA11FA97}"/>
              </a:ext>
            </a:extLst>
          </p:cNvPr>
          <p:cNvSpPr txBox="1"/>
          <p:nvPr/>
        </p:nvSpPr>
        <p:spPr>
          <a:xfrm>
            <a:off x="9644016" y="1961239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>
                <a:latin typeface="Helvetica" pitchFamily="2" charset="0"/>
              </a:rPr>
              <a:t>c</a:t>
            </a:r>
            <a:endParaRPr kumimoji="1" lang="ja-JP" altLang="en-US" sz="3200">
              <a:latin typeface="Helvetica" pitchFamily="2" charset="0"/>
            </a:endParaRPr>
          </a:p>
        </p:txBody>
      </p:sp>
      <p:sp>
        <p:nvSpPr>
          <p:cNvPr id="111" name="フリーフォーム 110">
            <a:extLst>
              <a:ext uri="{FF2B5EF4-FFF2-40B4-BE49-F238E27FC236}">
                <a16:creationId xmlns:a16="http://schemas.microsoft.com/office/drawing/2014/main" id="{91A1960F-98F5-3B16-5D8A-3D48965A48FC}"/>
              </a:ext>
            </a:extLst>
          </p:cNvPr>
          <p:cNvSpPr/>
          <p:nvPr/>
        </p:nvSpPr>
        <p:spPr>
          <a:xfrm rot="7796882">
            <a:off x="5600150" y="206439"/>
            <a:ext cx="1052908" cy="419992"/>
          </a:xfrm>
          <a:custGeom>
            <a:avLst/>
            <a:gdLst>
              <a:gd name="csX0" fmla="*/ 0 w 613317"/>
              <a:gd name="csY0" fmla="*/ 0 h 154704"/>
              <a:gd name="csX1" fmla="*/ 262696 w 613317"/>
              <a:gd name="csY1" fmla="*/ 150757 h 154704"/>
              <a:gd name="csX2" fmla="*/ 613317 w 613317"/>
              <a:gd name="csY2" fmla="*/ 78059 h 1547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13317" h="154704">
                <a:moveTo>
                  <a:pt x="0" y="0"/>
                </a:moveTo>
                <a:cubicBezTo>
                  <a:pt x="99432" y="93856"/>
                  <a:pt x="160477" y="137747"/>
                  <a:pt x="262696" y="150757"/>
                </a:cubicBezTo>
                <a:cubicBezTo>
                  <a:pt x="364915" y="163767"/>
                  <a:pt x="508309" y="145895"/>
                  <a:pt x="613317" y="78059"/>
                </a:cubicBezTo>
              </a:path>
            </a:pathLst>
          </a:custGeom>
          <a:noFill/>
          <a:ln w="25400">
            <a:solidFill>
              <a:schemeClr val="tx1"/>
            </a:solidFill>
            <a:headEnd type="arrow" w="lg" len="lg"/>
            <a:tailEnd type="arrow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4" name="直線矢印コネクタ 113">
            <a:extLst>
              <a:ext uri="{FF2B5EF4-FFF2-40B4-BE49-F238E27FC236}">
                <a16:creationId xmlns:a16="http://schemas.microsoft.com/office/drawing/2014/main" id="{36554A0A-CF7C-AE6D-9DEF-4CAB148B65EF}"/>
              </a:ext>
            </a:extLst>
          </p:cNvPr>
          <p:cNvCxnSpPr>
            <a:cxnSpLocks/>
          </p:cNvCxnSpPr>
          <p:nvPr/>
        </p:nvCxnSpPr>
        <p:spPr>
          <a:xfrm flipH="1">
            <a:off x="6245499" y="552078"/>
            <a:ext cx="373076" cy="173968"/>
          </a:xfrm>
          <a:prstGeom prst="straightConnector1">
            <a:avLst/>
          </a:prstGeom>
          <a:ln w="508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直線矢印コネクタ 117">
            <a:extLst>
              <a:ext uri="{FF2B5EF4-FFF2-40B4-BE49-F238E27FC236}">
                <a16:creationId xmlns:a16="http://schemas.microsoft.com/office/drawing/2014/main" id="{A32DDCC6-BDC1-99D3-593E-019B7FBEBD24}"/>
              </a:ext>
            </a:extLst>
          </p:cNvPr>
          <p:cNvCxnSpPr>
            <a:cxnSpLocks/>
          </p:cNvCxnSpPr>
          <p:nvPr/>
        </p:nvCxnSpPr>
        <p:spPr>
          <a:xfrm flipH="1">
            <a:off x="7466757" y="765000"/>
            <a:ext cx="880287" cy="410484"/>
          </a:xfrm>
          <a:prstGeom prst="straightConnector1">
            <a:avLst/>
          </a:prstGeom>
          <a:ln w="508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直線矢印コネクタ 119">
            <a:extLst>
              <a:ext uri="{FF2B5EF4-FFF2-40B4-BE49-F238E27FC236}">
                <a16:creationId xmlns:a16="http://schemas.microsoft.com/office/drawing/2014/main" id="{595EEC11-9035-D7CC-B97A-A87528B2B3E6}"/>
              </a:ext>
            </a:extLst>
          </p:cNvPr>
          <p:cNvCxnSpPr>
            <a:cxnSpLocks/>
          </p:cNvCxnSpPr>
          <p:nvPr/>
        </p:nvCxnSpPr>
        <p:spPr>
          <a:xfrm flipH="1">
            <a:off x="7871796" y="1112695"/>
            <a:ext cx="423991" cy="197710"/>
          </a:xfrm>
          <a:prstGeom prst="straightConnector1">
            <a:avLst/>
          </a:prstGeom>
          <a:ln w="508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直線矢印コネクタ 121">
            <a:extLst>
              <a:ext uri="{FF2B5EF4-FFF2-40B4-BE49-F238E27FC236}">
                <a16:creationId xmlns:a16="http://schemas.microsoft.com/office/drawing/2014/main" id="{EC1A761C-F3F6-D0B5-C050-B6705DBD6971}"/>
              </a:ext>
            </a:extLst>
          </p:cNvPr>
          <p:cNvCxnSpPr>
            <a:cxnSpLocks/>
          </p:cNvCxnSpPr>
          <p:nvPr/>
        </p:nvCxnSpPr>
        <p:spPr>
          <a:xfrm flipH="1">
            <a:off x="8957679" y="1314914"/>
            <a:ext cx="832716" cy="388301"/>
          </a:xfrm>
          <a:prstGeom prst="straightConnector1">
            <a:avLst/>
          </a:prstGeom>
          <a:ln w="508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直線矢印コネクタ 123">
            <a:extLst>
              <a:ext uri="{FF2B5EF4-FFF2-40B4-BE49-F238E27FC236}">
                <a16:creationId xmlns:a16="http://schemas.microsoft.com/office/drawing/2014/main" id="{3EBDC082-5EB4-91CF-0C78-837672B9B5E7}"/>
              </a:ext>
            </a:extLst>
          </p:cNvPr>
          <p:cNvCxnSpPr>
            <a:cxnSpLocks/>
          </p:cNvCxnSpPr>
          <p:nvPr/>
        </p:nvCxnSpPr>
        <p:spPr>
          <a:xfrm flipV="1">
            <a:off x="6708944" y="1010951"/>
            <a:ext cx="309962" cy="144538"/>
          </a:xfrm>
          <a:prstGeom prst="straightConnector1">
            <a:avLst/>
          </a:prstGeom>
          <a:ln w="508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直線矢印コネクタ 126">
            <a:extLst>
              <a:ext uri="{FF2B5EF4-FFF2-40B4-BE49-F238E27FC236}">
                <a16:creationId xmlns:a16="http://schemas.microsoft.com/office/drawing/2014/main" id="{56D6EBBE-A62E-ED70-E91A-BBB754992545}"/>
              </a:ext>
            </a:extLst>
          </p:cNvPr>
          <p:cNvCxnSpPr>
            <a:cxnSpLocks/>
          </p:cNvCxnSpPr>
          <p:nvPr/>
        </p:nvCxnSpPr>
        <p:spPr>
          <a:xfrm flipV="1">
            <a:off x="6689050" y="1128358"/>
            <a:ext cx="592687" cy="276375"/>
          </a:xfrm>
          <a:prstGeom prst="straightConnector1">
            <a:avLst/>
          </a:prstGeom>
          <a:ln w="508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直線矢印コネクタ 130">
            <a:extLst>
              <a:ext uri="{FF2B5EF4-FFF2-40B4-BE49-F238E27FC236}">
                <a16:creationId xmlns:a16="http://schemas.microsoft.com/office/drawing/2014/main" id="{CD05434B-0F64-6258-2C7A-56E6BB7A02B2}"/>
              </a:ext>
            </a:extLst>
          </p:cNvPr>
          <p:cNvCxnSpPr>
            <a:cxnSpLocks/>
          </p:cNvCxnSpPr>
          <p:nvPr/>
        </p:nvCxnSpPr>
        <p:spPr>
          <a:xfrm flipV="1">
            <a:off x="7946275" y="1476983"/>
            <a:ext cx="309962" cy="144538"/>
          </a:xfrm>
          <a:prstGeom prst="straightConnector1">
            <a:avLst/>
          </a:prstGeom>
          <a:ln w="508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2A7EF69C-52DA-6B0F-98BB-97F4ABC42E3F}"/>
              </a:ext>
            </a:extLst>
          </p:cNvPr>
          <p:cNvCxnSpPr>
            <a:cxnSpLocks/>
          </p:cNvCxnSpPr>
          <p:nvPr/>
        </p:nvCxnSpPr>
        <p:spPr>
          <a:xfrm flipV="1">
            <a:off x="7926381" y="1594390"/>
            <a:ext cx="592687" cy="276375"/>
          </a:xfrm>
          <a:prstGeom prst="straightConnector1">
            <a:avLst/>
          </a:prstGeom>
          <a:ln w="508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フリーフォーム 3">
            <a:extLst>
              <a:ext uri="{FF2B5EF4-FFF2-40B4-BE49-F238E27FC236}">
                <a16:creationId xmlns:a16="http://schemas.microsoft.com/office/drawing/2014/main" id="{3979A14B-3D01-1CF8-CC3E-10620AD6B8F6}"/>
              </a:ext>
            </a:extLst>
          </p:cNvPr>
          <p:cNvSpPr/>
          <p:nvPr/>
        </p:nvSpPr>
        <p:spPr>
          <a:xfrm>
            <a:off x="5170402" y="278488"/>
            <a:ext cx="4469088" cy="2524105"/>
          </a:xfrm>
          <a:custGeom>
            <a:avLst/>
            <a:gdLst>
              <a:gd name="csX0" fmla="*/ 0 w 4469088"/>
              <a:gd name="csY0" fmla="*/ 969625 h 2524105"/>
              <a:gd name="csX1" fmla="*/ 1572768 w 4469088"/>
              <a:gd name="csY1" fmla="*/ 9505 h 2524105"/>
              <a:gd name="csX2" fmla="*/ 1426464 w 4469088"/>
              <a:gd name="csY2" fmla="*/ 1490833 h 2524105"/>
              <a:gd name="csX3" fmla="*/ 2944368 w 4469088"/>
              <a:gd name="csY3" fmla="*/ 521569 h 2524105"/>
              <a:gd name="csX4" fmla="*/ 2798064 w 4469088"/>
              <a:gd name="csY4" fmla="*/ 2002897 h 2524105"/>
              <a:gd name="csX5" fmla="*/ 4361688 w 4469088"/>
              <a:gd name="csY5" fmla="*/ 1033633 h 2524105"/>
              <a:gd name="csX6" fmla="*/ 4206240 w 4469088"/>
              <a:gd name="csY6" fmla="*/ 2524105 h 25241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469088" h="2524105">
                <a:moveTo>
                  <a:pt x="0" y="969625"/>
                </a:moveTo>
                <a:cubicBezTo>
                  <a:pt x="667512" y="446131"/>
                  <a:pt x="1335024" y="-77363"/>
                  <a:pt x="1572768" y="9505"/>
                </a:cubicBezTo>
                <a:cubicBezTo>
                  <a:pt x="1810512" y="96373"/>
                  <a:pt x="1197864" y="1405489"/>
                  <a:pt x="1426464" y="1490833"/>
                </a:cubicBezTo>
                <a:cubicBezTo>
                  <a:pt x="1655064" y="1576177"/>
                  <a:pt x="2715768" y="436225"/>
                  <a:pt x="2944368" y="521569"/>
                </a:cubicBezTo>
                <a:cubicBezTo>
                  <a:pt x="3172968" y="606913"/>
                  <a:pt x="2561844" y="1917553"/>
                  <a:pt x="2798064" y="2002897"/>
                </a:cubicBezTo>
                <a:cubicBezTo>
                  <a:pt x="3034284" y="2088241"/>
                  <a:pt x="4126992" y="946765"/>
                  <a:pt x="4361688" y="1033633"/>
                </a:cubicBezTo>
                <a:cubicBezTo>
                  <a:pt x="4596384" y="1120501"/>
                  <a:pt x="4401312" y="1822303"/>
                  <a:pt x="4206240" y="252410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6E379007-3394-4E2D-779B-99C70BD6E98F}"/>
              </a:ext>
            </a:extLst>
          </p:cNvPr>
          <p:cNvCxnSpPr>
            <a:cxnSpLocks/>
          </p:cNvCxnSpPr>
          <p:nvPr/>
        </p:nvCxnSpPr>
        <p:spPr>
          <a:xfrm rot="10200000">
            <a:off x="16114076" y="8220955"/>
            <a:ext cx="3240000" cy="0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D09DC2D5-0303-25E1-BE9E-9EA7006F0F26}"/>
              </a:ext>
            </a:extLst>
          </p:cNvPr>
          <p:cNvCxnSpPr>
            <a:cxnSpLocks/>
          </p:cNvCxnSpPr>
          <p:nvPr/>
        </p:nvCxnSpPr>
        <p:spPr>
          <a:xfrm rot="-4200000">
            <a:off x="18263538" y="6417343"/>
            <a:ext cx="3240000" cy="0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C4552309-4784-C026-739D-9F92D71ADBC5}"/>
              </a:ext>
            </a:extLst>
          </p:cNvPr>
          <p:cNvCxnSpPr>
            <a:cxnSpLocks/>
          </p:cNvCxnSpPr>
          <p:nvPr/>
        </p:nvCxnSpPr>
        <p:spPr>
          <a:xfrm rot="6000000">
            <a:off x="17428155" y="9535034"/>
            <a:ext cx="3240000" cy="0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図 16">
            <a:extLst>
              <a:ext uri="{FF2B5EF4-FFF2-40B4-BE49-F238E27FC236}">
                <a16:creationId xmlns:a16="http://schemas.microsoft.com/office/drawing/2014/main" id="{7BBBB13D-15EF-504E-416E-5356E17EC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884733" y="2885428"/>
            <a:ext cx="5867400" cy="6832600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910B12E3-D253-3940-729C-99AA261CE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7500" y="2666482"/>
            <a:ext cx="3759200" cy="7112000"/>
          </a:xfrm>
          <a:prstGeom prst="rect">
            <a:avLst/>
          </a:prstGeom>
        </p:spPr>
      </p:pic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58BC56BD-49EF-26F8-99DC-850456503E49}"/>
              </a:ext>
            </a:extLst>
          </p:cNvPr>
          <p:cNvCxnSpPr>
            <a:cxnSpLocks/>
          </p:cNvCxnSpPr>
          <p:nvPr/>
        </p:nvCxnSpPr>
        <p:spPr>
          <a:xfrm rot="-480000">
            <a:off x="3516237" y="8730667"/>
            <a:ext cx="2088000" cy="0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D37AB6AF-E3A5-E837-9D37-C40E9C8AA84D}"/>
              </a:ext>
            </a:extLst>
          </p:cNvPr>
          <p:cNvCxnSpPr>
            <a:cxnSpLocks/>
          </p:cNvCxnSpPr>
          <p:nvPr/>
        </p:nvCxnSpPr>
        <p:spPr>
          <a:xfrm rot="-5400000">
            <a:off x="1819307" y="7135939"/>
            <a:ext cx="3456000" cy="0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D07AB9DB-9C49-9F39-D05F-7247146015B5}"/>
              </a:ext>
            </a:extLst>
          </p:cNvPr>
          <p:cNvCxnSpPr>
            <a:cxnSpLocks/>
          </p:cNvCxnSpPr>
          <p:nvPr/>
        </p:nvCxnSpPr>
        <p:spPr>
          <a:xfrm rot="6600000">
            <a:off x="2677647" y="9484931"/>
            <a:ext cx="1296000" cy="0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F237EE59-D7AF-93B7-30D4-DCC87D296567}"/>
              </a:ext>
            </a:extLst>
          </p:cNvPr>
          <p:cNvCxnSpPr>
            <a:cxnSpLocks/>
          </p:cNvCxnSpPr>
          <p:nvPr/>
        </p:nvCxnSpPr>
        <p:spPr>
          <a:xfrm rot="-4860000">
            <a:off x="2140888" y="7178520"/>
            <a:ext cx="3384000" cy="0"/>
          </a:xfrm>
          <a:prstGeom prst="straightConnector1">
            <a:avLst/>
          </a:prstGeom>
          <a:ln w="31750">
            <a:solidFill>
              <a:srgbClr val="FF0000"/>
            </a:solidFill>
            <a:prstDash val="solid"/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E3D30C37-3FB3-170B-D881-45B2E0556D9F}"/>
              </a:ext>
            </a:extLst>
          </p:cNvPr>
          <p:cNvCxnSpPr>
            <a:cxnSpLocks/>
          </p:cNvCxnSpPr>
          <p:nvPr/>
        </p:nvCxnSpPr>
        <p:spPr>
          <a:xfrm rot="-2100000">
            <a:off x="3421525" y="8442349"/>
            <a:ext cx="1512000" cy="0"/>
          </a:xfrm>
          <a:prstGeom prst="straightConnector1">
            <a:avLst/>
          </a:prstGeom>
          <a:ln w="254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CD20BFD6-B287-08B7-C81A-86DDFD829451}"/>
              </a:ext>
            </a:extLst>
          </p:cNvPr>
          <p:cNvCxnSpPr>
            <a:cxnSpLocks/>
          </p:cNvCxnSpPr>
          <p:nvPr/>
        </p:nvCxnSpPr>
        <p:spPr>
          <a:xfrm rot="-240000">
            <a:off x="3571153" y="8820323"/>
            <a:ext cx="1260000" cy="0"/>
          </a:xfrm>
          <a:prstGeom prst="straightConnector1">
            <a:avLst/>
          </a:prstGeom>
          <a:ln w="31750">
            <a:solidFill>
              <a:schemeClr val="tx1">
                <a:lumMod val="50000"/>
                <a:lumOff val="50000"/>
              </a:schemeClr>
            </a:solidFill>
            <a:headEnd type="none" w="lg" len="lg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フリーフォーム 45">
            <a:extLst>
              <a:ext uri="{FF2B5EF4-FFF2-40B4-BE49-F238E27FC236}">
                <a16:creationId xmlns:a16="http://schemas.microsoft.com/office/drawing/2014/main" id="{740CBB8E-7CB7-C32C-E52D-F4472E5A1605}"/>
              </a:ext>
            </a:extLst>
          </p:cNvPr>
          <p:cNvSpPr/>
          <p:nvPr/>
        </p:nvSpPr>
        <p:spPr>
          <a:xfrm>
            <a:off x="2286000" y="4582886"/>
            <a:ext cx="3091543" cy="5627914"/>
          </a:xfrm>
          <a:custGeom>
            <a:avLst/>
            <a:gdLst>
              <a:gd name="csX0" fmla="*/ 0 w 3091543"/>
              <a:gd name="csY0" fmla="*/ 5627914 h 5627914"/>
              <a:gd name="csX1" fmla="*/ 2525486 w 3091543"/>
              <a:gd name="csY1" fmla="*/ 3407228 h 5627914"/>
              <a:gd name="csX2" fmla="*/ 163286 w 3091543"/>
              <a:gd name="csY2" fmla="*/ 4593771 h 5627914"/>
              <a:gd name="csX3" fmla="*/ 2688771 w 3091543"/>
              <a:gd name="csY3" fmla="*/ 2318657 h 5627914"/>
              <a:gd name="csX4" fmla="*/ 326571 w 3091543"/>
              <a:gd name="csY4" fmla="*/ 3505200 h 5627914"/>
              <a:gd name="csX5" fmla="*/ 2895600 w 3091543"/>
              <a:gd name="csY5" fmla="*/ 1175657 h 5627914"/>
              <a:gd name="csX6" fmla="*/ 500743 w 3091543"/>
              <a:gd name="csY6" fmla="*/ 2394857 h 5627914"/>
              <a:gd name="csX7" fmla="*/ 3091543 w 3091543"/>
              <a:gd name="csY7" fmla="*/ 0 h 56279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091543" h="5627914">
                <a:moveTo>
                  <a:pt x="0" y="5627914"/>
                </a:moveTo>
                <a:cubicBezTo>
                  <a:pt x="1249136" y="4603749"/>
                  <a:pt x="2498272" y="3579585"/>
                  <a:pt x="2525486" y="3407228"/>
                </a:cubicBezTo>
                <a:cubicBezTo>
                  <a:pt x="2552700" y="3234871"/>
                  <a:pt x="136072" y="4775199"/>
                  <a:pt x="163286" y="4593771"/>
                </a:cubicBezTo>
                <a:cubicBezTo>
                  <a:pt x="190500" y="4412342"/>
                  <a:pt x="2661557" y="2500085"/>
                  <a:pt x="2688771" y="2318657"/>
                </a:cubicBezTo>
                <a:cubicBezTo>
                  <a:pt x="2715985" y="2137228"/>
                  <a:pt x="292100" y="3695700"/>
                  <a:pt x="326571" y="3505200"/>
                </a:cubicBezTo>
                <a:cubicBezTo>
                  <a:pt x="361042" y="3314700"/>
                  <a:pt x="2866571" y="1360714"/>
                  <a:pt x="2895600" y="1175657"/>
                </a:cubicBezTo>
                <a:cubicBezTo>
                  <a:pt x="2924629" y="990600"/>
                  <a:pt x="468086" y="2590800"/>
                  <a:pt x="500743" y="2394857"/>
                </a:cubicBezTo>
                <a:cubicBezTo>
                  <a:pt x="533400" y="2198914"/>
                  <a:pt x="1812471" y="1099457"/>
                  <a:pt x="3091543" y="0"/>
                </a:cubicBezTo>
              </a:path>
            </a:pathLst>
          </a:custGeom>
          <a:noFill/>
          <a:ln w="158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C4C1B665-65E5-392D-6568-3C9E8FF96A4F}"/>
              </a:ext>
            </a:extLst>
          </p:cNvPr>
          <p:cNvCxnSpPr>
            <a:cxnSpLocks/>
          </p:cNvCxnSpPr>
          <p:nvPr/>
        </p:nvCxnSpPr>
        <p:spPr>
          <a:xfrm rot="5400000">
            <a:off x="4373715" y="8401932"/>
            <a:ext cx="828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8F2E595C-8F0F-FEFB-C812-4449FF700290}"/>
              </a:ext>
            </a:extLst>
          </p:cNvPr>
          <p:cNvCxnSpPr>
            <a:cxnSpLocks/>
          </p:cNvCxnSpPr>
          <p:nvPr/>
        </p:nvCxnSpPr>
        <p:spPr>
          <a:xfrm rot="-2100000">
            <a:off x="2909971" y="8709307"/>
            <a:ext cx="792000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DCBD5ABA-EFF5-3C7D-D5BC-DE6FD264B043}"/>
              </a:ext>
            </a:extLst>
          </p:cNvPr>
          <p:cNvCxnSpPr>
            <a:cxnSpLocks/>
          </p:cNvCxnSpPr>
          <p:nvPr/>
        </p:nvCxnSpPr>
        <p:spPr>
          <a:xfrm rot="-2100000">
            <a:off x="3614377" y="7461720"/>
            <a:ext cx="1260000" cy="0"/>
          </a:xfrm>
          <a:prstGeom prst="straightConnector1">
            <a:avLst/>
          </a:prstGeom>
          <a:ln w="254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20C2281D-2466-96A9-A419-6E1DD9D5B568}"/>
              </a:ext>
            </a:extLst>
          </p:cNvPr>
          <p:cNvCxnSpPr>
            <a:cxnSpLocks/>
          </p:cNvCxnSpPr>
          <p:nvPr/>
        </p:nvCxnSpPr>
        <p:spPr>
          <a:xfrm rot="-2100000">
            <a:off x="2639890" y="6520771"/>
            <a:ext cx="1512000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FCAF3FBF-C5E9-0390-65CB-AC8F1C027342}"/>
              </a:ext>
            </a:extLst>
          </p:cNvPr>
          <p:cNvCxnSpPr>
            <a:cxnSpLocks/>
          </p:cNvCxnSpPr>
          <p:nvPr/>
        </p:nvCxnSpPr>
        <p:spPr>
          <a:xfrm rot="-2100000">
            <a:off x="3801574" y="6518817"/>
            <a:ext cx="936000" cy="0"/>
          </a:xfrm>
          <a:prstGeom prst="straightConnector1">
            <a:avLst/>
          </a:prstGeom>
          <a:ln w="254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C5810C7D-46FA-3B36-306C-718ABE0F46CA}"/>
              </a:ext>
            </a:extLst>
          </p:cNvPr>
          <p:cNvCxnSpPr>
            <a:cxnSpLocks/>
          </p:cNvCxnSpPr>
          <p:nvPr/>
        </p:nvCxnSpPr>
        <p:spPr>
          <a:xfrm rot="-2100000">
            <a:off x="3231525" y="7628557"/>
            <a:ext cx="612000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5AB92CB3-3F37-125B-B170-8DC0AF9127B6}"/>
              </a:ext>
            </a:extLst>
          </p:cNvPr>
          <p:cNvCxnSpPr>
            <a:cxnSpLocks/>
          </p:cNvCxnSpPr>
          <p:nvPr/>
        </p:nvCxnSpPr>
        <p:spPr>
          <a:xfrm rot="-2100000">
            <a:off x="3155653" y="8300661"/>
            <a:ext cx="576000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BAE08F79-4CCF-612B-4ECA-BBB07B2682AA}"/>
              </a:ext>
            </a:extLst>
          </p:cNvPr>
          <p:cNvCxnSpPr>
            <a:cxnSpLocks/>
          </p:cNvCxnSpPr>
          <p:nvPr/>
        </p:nvCxnSpPr>
        <p:spPr>
          <a:xfrm rot="-2100000">
            <a:off x="2936743" y="7389451"/>
            <a:ext cx="1008000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D56B67EE-8262-0F7C-ADEF-7873ABDB5BA7}"/>
              </a:ext>
            </a:extLst>
          </p:cNvPr>
          <p:cNvCxnSpPr>
            <a:cxnSpLocks/>
          </p:cNvCxnSpPr>
          <p:nvPr/>
        </p:nvCxnSpPr>
        <p:spPr>
          <a:xfrm rot="-2100000">
            <a:off x="3910717" y="6327759"/>
            <a:ext cx="396000" cy="0"/>
          </a:xfrm>
          <a:prstGeom prst="straightConnector1">
            <a:avLst/>
          </a:prstGeom>
          <a:ln w="254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フリーフォーム 64">
            <a:extLst>
              <a:ext uri="{FF2B5EF4-FFF2-40B4-BE49-F238E27FC236}">
                <a16:creationId xmlns:a16="http://schemas.microsoft.com/office/drawing/2014/main" id="{E2A4A8FE-4A44-7E1B-C248-7C751B9AC348}"/>
              </a:ext>
            </a:extLst>
          </p:cNvPr>
          <p:cNvSpPr/>
          <p:nvPr/>
        </p:nvSpPr>
        <p:spPr>
          <a:xfrm>
            <a:off x="3421981" y="8814844"/>
            <a:ext cx="1061082" cy="390132"/>
          </a:xfrm>
          <a:custGeom>
            <a:avLst/>
            <a:gdLst>
              <a:gd name="csX0" fmla="*/ 0 w 2033068"/>
              <a:gd name="csY0" fmla="*/ 678230 h 686794"/>
              <a:gd name="csX1" fmla="*/ 496562 w 2033068"/>
              <a:gd name="csY1" fmla="*/ 684286 h 686794"/>
              <a:gd name="csX2" fmla="*/ 938623 w 2033068"/>
              <a:gd name="csY2" fmla="*/ 641896 h 686794"/>
              <a:gd name="csX3" fmla="*/ 1356461 w 2033068"/>
              <a:gd name="csY3" fmla="*/ 563173 h 686794"/>
              <a:gd name="csX4" fmla="*/ 1653187 w 2033068"/>
              <a:gd name="csY4" fmla="*/ 460227 h 686794"/>
              <a:gd name="csX5" fmla="*/ 1913579 w 2033068"/>
              <a:gd name="csY5" fmla="*/ 327004 h 686794"/>
              <a:gd name="csX6" fmla="*/ 2022580 w 2033068"/>
              <a:gd name="csY6" fmla="*/ 163502 h 686794"/>
              <a:gd name="csX7" fmla="*/ 2022580 w 2033068"/>
              <a:gd name="csY7" fmla="*/ 78723 h 686794"/>
              <a:gd name="csX8" fmla="*/ 1968080 w 2033068"/>
              <a:gd name="csY8" fmla="*/ 0 h 6867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33068" h="686794">
                <a:moveTo>
                  <a:pt x="0" y="678230"/>
                </a:moveTo>
                <a:cubicBezTo>
                  <a:pt x="170062" y="684286"/>
                  <a:pt x="340125" y="690342"/>
                  <a:pt x="496562" y="684286"/>
                </a:cubicBezTo>
                <a:cubicBezTo>
                  <a:pt x="652999" y="678230"/>
                  <a:pt x="795307" y="662081"/>
                  <a:pt x="938623" y="641896"/>
                </a:cubicBezTo>
                <a:cubicBezTo>
                  <a:pt x="1081939" y="621711"/>
                  <a:pt x="1237367" y="593451"/>
                  <a:pt x="1356461" y="563173"/>
                </a:cubicBezTo>
                <a:cubicBezTo>
                  <a:pt x="1475555" y="532895"/>
                  <a:pt x="1560334" y="499588"/>
                  <a:pt x="1653187" y="460227"/>
                </a:cubicBezTo>
                <a:cubicBezTo>
                  <a:pt x="1746040" y="420866"/>
                  <a:pt x="1852013" y="376458"/>
                  <a:pt x="1913579" y="327004"/>
                </a:cubicBezTo>
                <a:cubicBezTo>
                  <a:pt x="1975145" y="277550"/>
                  <a:pt x="2004413" y="204882"/>
                  <a:pt x="2022580" y="163502"/>
                </a:cubicBezTo>
                <a:cubicBezTo>
                  <a:pt x="2040747" y="122122"/>
                  <a:pt x="2031663" y="105973"/>
                  <a:pt x="2022580" y="78723"/>
                </a:cubicBezTo>
                <a:cubicBezTo>
                  <a:pt x="2013497" y="51473"/>
                  <a:pt x="1990788" y="25736"/>
                  <a:pt x="1968080" y="0"/>
                </a:cubicBezTo>
              </a:path>
            </a:pathLst>
          </a:cu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フリーフォーム 66">
            <a:extLst>
              <a:ext uri="{FF2B5EF4-FFF2-40B4-BE49-F238E27FC236}">
                <a16:creationId xmlns:a16="http://schemas.microsoft.com/office/drawing/2014/main" id="{B937F0EA-F2A7-43BC-41B6-1B8593F2ED17}"/>
              </a:ext>
            </a:extLst>
          </p:cNvPr>
          <p:cNvSpPr/>
          <p:nvPr/>
        </p:nvSpPr>
        <p:spPr>
          <a:xfrm>
            <a:off x="3552898" y="8250788"/>
            <a:ext cx="558412" cy="216137"/>
          </a:xfrm>
          <a:custGeom>
            <a:avLst/>
            <a:gdLst>
              <a:gd name="csX0" fmla="*/ 0 w 558412"/>
              <a:gd name="csY0" fmla="*/ 34653 h 216137"/>
              <a:gd name="csX1" fmla="*/ 349007 w 558412"/>
              <a:gd name="csY1" fmla="*/ 13713 h 216137"/>
              <a:gd name="csX2" fmla="*/ 558412 w 558412"/>
              <a:gd name="csY2" fmla="*/ 216137 h 216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8412" h="216137">
                <a:moveTo>
                  <a:pt x="0" y="34653"/>
                </a:moveTo>
                <a:cubicBezTo>
                  <a:pt x="127969" y="9059"/>
                  <a:pt x="255938" y="-16534"/>
                  <a:pt x="349007" y="13713"/>
                </a:cubicBezTo>
                <a:cubicBezTo>
                  <a:pt x="442076" y="43960"/>
                  <a:pt x="500244" y="130048"/>
                  <a:pt x="558412" y="216137"/>
                </a:cubicBezTo>
              </a:path>
            </a:pathLst>
          </a:cu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8" name="直線矢印コネクタ 67">
            <a:extLst>
              <a:ext uri="{FF2B5EF4-FFF2-40B4-BE49-F238E27FC236}">
                <a16:creationId xmlns:a16="http://schemas.microsoft.com/office/drawing/2014/main" id="{60F73747-C25E-AF38-BD6B-DB0BA41F2C1F}"/>
              </a:ext>
            </a:extLst>
          </p:cNvPr>
          <p:cNvCxnSpPr>
            <a:cxnSpLocks/>
          </p:cNvCxnSpPr>
          <p:nvPr/>
        </p:nvCxnSpPr>
        <p:spPr>
          <a:xfrm rot="-480000">
            <a:off x="6680819" y="8613719"/>
            <a:ext cx="2088000" cy="0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099AB793-7104-A49F-224D-4FDC2056243A}"/>
              </a:ext>
            </a:extLst>
          </p:cNvPr>
          <p:cNvCxnSpPr>
            <a:cxnSpLocks/>
          </p:cNvCxnSpPr>
          <p:nvPr/>
        </p:nvCxnSpPr>
        <p:spPr>
          <a:xfrm rot="-5400000">
            <a:off x="4983889" y="7018991"/>
            <a:ext cx="3456000" cy="0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線矢印コネクタ 69">
            <a:extLst>
              <a:ext uri="{FF2B5EF4-FFF2-40B4-BE49-F238E27FC236}">
                <a16:creationId xmlns:a16="http://schemas.microsoft.com/office/drawing/2014/main" id="{474CCD52-1AA8-6D3E-BE7B-5BCAD485562D}"/>
              </a:ext>
            </a:extLst>
          </p:cNvPr>
          <p:cNvCxnSpPr>
            <a:cxnSpLocks/>
          </p:cNvCxnSpPr>
          <p:nvPr/>
        </p:nvCxnSpPr>
        <p:spPr>
          <a:xfrm rot="6600000">
            <a:off x="5842229" y="9367983"/>
            <a:ext cx="1296000" cy="0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7F893792-4CE6-6DFD-9AD1-3544F0EC1C4B}"/>
              </a:ext>
            </a:extLst>
          </p:cNvPr>
          <p:cNvCxnSpPr>
            <a:cxnSpLocks/>
          </p:cNvCxnSpPr>
          <p:nvPr/>
        </p:nvCxnSpPr>
        <p:spPr>
          <a:xfrm rot="-4860000">
            <a:off x="5305470" y="7061572"/>
            <a:ext cx="3384000" cy="0"/>
          </a:xfrm>
          <a:prstGeom prst="straightConnector1">
            <a:avLst/>
          </a:prstGeom>
          <a:ln w="31750">
            <a:solidFill>
              <a:srgbClr val="FF0000"/>
            </a:solidFill>
            <a:prstDash val="solid"/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フリーフォーム 85">
            <a:extLst>
              <a:ext uri="{FF2B5EF4-FFF2-40B4-BE49-F238E27FC236}">
                <a16:creationId xmlns:a16="http://schemas.microsoft.com/office/drawing/2014/main" id="{41E75D4D-8DD8-5A73-3F40-3673C04E285D}"/>
              </a:ext>
            </a:extLst>
          </p:cNvPr>
          <p:cNvSpPr/>
          <p:nvPr/>
        </p:nvSpPr>
        <p:spPr>
          <a:xfrm>
            <a:off x="6643396" y="3312367"/>
            <a:ext cx="727788" cy="6466115"/>
          </a:xfrm>
          <a:custGeom>
            <a:avLst/>
            <a:gdLst>
              <a:gd name="csX0" fmla="*/ 0 w 727788"/>
              <a:gd name="csY0" fmla="*/ 6466115 h 6466115"/>
              <a:gd name="csX1" fmla="*/ 65314 w 727788"/>
              <a:gd name="csY1" fmla="*/ 4068147 h 6466115"/>
              <a:gd name="csX2" fmla="*/ 177282 w 727788"/>
              <a:gd name="csY2" fmla="*/ 6120882 h 6466115"/>
              <a:gd name="csX3" fmla="*/ 279918 w 727788"/>
              <a:gd name="csY3" fmla="*/ 2733870 h 6466115"/>
              <a:gd name="csX4" fmla="*/ 373224 w 727788"/>
              <a:gd name="csY4" fmla="*/ 4833257 h 6466115"/>
              <a:gd name="csX5" fmla="*/ 494522 w 727788"/>
              <a:gd name="csY5" fmla="*/ 1399592 h 6466115"/>
              <a:gd name="csX6" fmla="*/ 606490 w 727788"/>
              <a:gd name="csY6" fmla="*/ 3564294 h 6466115"/>
              <a:gd name="csX7" fmla="*/ 727788 w 727788"/>
              <a:gd name="csY7" fmla="*/ 0 h 64661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727788" h="6466115">
                <a:moveTo>
                  <a:pt x="0" y="6466115"/>
                </a:moveTo>
                <a:cubicBezTo>
                  <a:pt x="17883" y="5295900"/>
                  <a:pt x="35767" y="4125686"/>
                  <a:pt x="65314" y="4068147"/>
                </a:cubicBezTo>
                <a:cubicBezTo>
                  <a:pt x="94861" y="4010608"/>
                  <a:pt x="141515" y="6343261"/>
                  <a:pt x="177282" y="6120882"/>
                </a:cubicBezTo>
                <a:cubicBezTo>
                  <a:pt x="213049" y="5898502"/>
                  <a:pt x="247261" y="2948474"/>
                  <a:pt x="279918" y="2733870"/>
                </a:cubicBezTo>
                <a:cubicBezTo>
                  <a:pt x="312575" y="2519266"/>
                  <a:pt x="337457" y="5055637"/>
                  <a:pt x="373224" y="4833257"/>
                </a:cubicBezTo>
                <a:cubicBezTo>
                  <a:pt x="408991" y="4610877"/>
                  <a:pt x="455644" y="1611086"/>
                  <a:pt x="494522" y="1399592"/>
                </a:cubicBezTo>
                <a:cubicBezTo>
                  <a:pt x="533400" y="1188098"/>
                  <a:pt x="567612" y="3797559"/>
                  <a:pt x="606490" y="3564294"/>
                </a:cubicBezTo>
                <a:cubicBezTo>
                  <a:pt x="645368" y="3331029"/>
                  <a:pt x="686578" y="1665514"/>
                  <a:pt x="727788" y="0"/>
                </a:cubicBezTo>
              </a:path>
            </a:pathLst>
          </a:custGeom>
          <a:noFill/>
          <a:ln w="158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6" name="直線矢印コネクタ 75">
            <a:extLst>
              <a:ext uri="{FF2B5EF4-FFF2-40B4-BE49-F238E27FC236}">
                <a16:creationId xmlns:a16="http://schemas.microsoft.com/office/drawing/2014/main" id="{8312CF21-62CB-23A0-8116-441087BE72D4}"/>
              </a:ext>
            </a:extLst>
          </p:cNvPr>
          <p:cNvCxnSpPr>
            <a:cxnSpLocks/>
          </p:cNvCxnSpPr>
          <p:nvPr/>
        </p:nvCxnSpPr>
        <p:spPr>
          <a:xfrm rot="5400000">
            <a:off x="6042944" y="8093016"/>
            <a:ext cx="1332000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C7732A3-6F54-64F7-E3C5-994CB569D2F6}"/>
              </a:ext>
            </a:extLst>
          </p:cNvPr>
          <p:cNvCxnSpPr>
            <a:cxnSpLocks/>
          </p:cNvCxnSpPr>
          <p:nvPr/>
        </p:nvCxnSpPr>
        <p:spPr>
          <a:xfrm rot="5400000">
            <a:off x="6797668" y="7205572"/>
            <a:ext cx="288000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矢印コネクタ 87">
            <a:extLst>
              <a:ext uri="{FF2B5EF4-FFF2-40B4-BE49-F238E27FC236}">
                <a16:creationId xmlns:a16="http://schemas.microsoft.com/office/drawing/2014/main" id="{4B129410-E222-F73B-3288-D355C4063411}"/>
              </a:ext>
            </a:extLst>
          </p:cNvPr>
          <p:cNvCxnSpPr>
            <a:cxnSpLocks/>
          </p:cNvCxnSpPr>
          <p:nvPr/>
        </p:nvCxnSpPr>
        <p:spPr>
          <a:xfrm rot="5400000">
            <a:off x="6875308" y="6067728"/>
            <a:ext cx="468000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42787649-C84F-0630-71B1-896E8B15945E}"/>
              </a:ext>
            </a:extLst>
          </p:cNvPr>
          <p:cNvCxnSpPr>
            <a:cxnSpLocks/>
          </p:cNvCxnSpPr>
          <p:nvPr/>
        </p:nvCxnSpPr>
        <p:spPr>
          <a:xfrm rot="5400000">
            <a:off x="6931188" y="5741351"/>
            <a:ext cx="468000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直線矢印コネクタ 89">
            <a:extLst>
              <a:ext uri="{FF2B5EF4-FFF2-40B4-BE49-F238E27FC236}">
                <a16:creationId xmlns:a16="http://schemas.microsoft.com/office/drawing/2014/main" id="{0032B51E-7F0A-B997-4B3C-C4DA1DD7DCD2}"/>
              </a:ext>
            </a:extLst>
          </p:cNvPr>
          <p:cNvCxnSpPr>
            <a:cxnSpLocks/>
          </p:cNvCxnSpPr>
          <p:nvPr/>
        </p:nvCxnSpPr>
        <p:spPr>
          <a:xfrm rot="5400000">
            <a:off x="6608598" y="7400218"/>
            <a:ext cx="792000" cy="0"/>
          </a:xfrm>
          <a:prstGeom prst="straightConnector1">
            <a:avLst/>
          </a:prstGeom>
          <a:ln w="254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6E75D068-A85F-CCFF-CC9E-71A7F10199B1}"/>
              </a:ext>
            </a:extLst>
          </p:cNvPr>
          <p:cNvCxnSpPr>
            <a:cxnSpLocks/>
          </p:cNvCxnSpPr>
          <p:nvPr/>
        </p:nvCxnSpPr>
        <p:spPr>
          <a:xfrm rot="5400000">
            <a:off x="6827038" y="5995671"/>
            <a:ext cx="792000" cy="0"/>
          </a:xfrm>
          <a:prstGeom prst="straightConnector1">
            <a:avLst/>
          </a:prstGeom>
          <a:ln w="254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079988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3B799-A3A9-17C3-B692-4C951FCC1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06BE53E4-2422-D78F-D575-C09DD59FC54C}"/>
              </a:ext>
            </a:extLst>
          </p:cNvPr>
          <p:cNvGrpSpPr/>
          <p:nvPr/>
        </p:nvGrpSpPr>
        <p:grpSpPr>
          <a:xfrm>
            <a:off x="1397795" y="2712762"/>
            <a:ext cx="7442426" cy="5769151"/>
            <a:chOff x="5580051" y="4301719"/>
            <a:chExt cx="7442426" cy="5769151"/>
          </a:xfrm>
        </p:grpSpPr>
        <p:cxnSp>
          <p:nvCxnSpPr>
            <p:cNvPr id="21" name="直線矢印コネクタ 20">
              <a:extLst>
                <a:ext uri="{FF2B5EF4-FFF2-40B4-BE49-F238E27FC236}">
                  <a16:creationId xmlns:a16="http://schemas.microsoft.com/office/drawing/2014/main" id="{5E165795-1D6B-311A-1864-C3D0C333997A}"/>
                </a:ext>
              </a:extLst>
            </p:cNvPr>
            <p:cNvCxnSpPr>
              <a:cxnSpLocks/>
            </p:cNvCxnSpPr>
            <p:nvPr/>
          </p:nvCxnSpPr>
          <p:spPr>
            <a:xfrm rot="-480000">
              <a:off x="10934477" y="8496771"/>
              <a:ext cx="208800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lg" len="lg"/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矢印コネクタ 34">
              <a:extLst>
                <a:ext uri="{FF2B5EF4-FFF2-40B4-BE49-F238E27FC236}">
                  <a16:creationId xmlns:a16="http://schemas.microsoft.com/office/drawing/2014/main" id="{63287829-D307-67D7-49BA-E3AB1941F082}"/>
                </a:ext>
              </a:extLst>
            </p:cNvPr>
            <p:cNvCxnSpPr>
              <a:cxnSpLocks/>
            </p:cNvCxnSpPr>
            <p:nvPr/>
          </p:nvCxnSpPr>
          <p:spPr>
            <a:xfrm rot="-5400000">
              <a:off x="9237547" y="6902043"/>
              <a:ext cx="345600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lg" len="lg"/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矢印コネクタ 35">
              <a:extLst>
                <a:ext uri="{FF2B5EF4-FFF2-40B4-BE49-F238E27FC236}">
                  <a16:creationId xmlns:a16="http://schemas.microsoft.com/office/drawing/2014/main" id="{37A6AD7D-ADE2-00FE-878F-51E641796240}"/>
                </a:ext>
              </a:extLst>
            </p:cNvPr>
            <p:cNvCxnSpPr>
              <a:cxnSpLocks/>
            </p:cNvCxnSpPr>
            <p:nvPr/>
          </p:nvCxnSpPr>
          <p:spPr>
            <a:xfrm rot="6600000">
              <a:off x="10095887" y="9251035"/>
              <a:ext cx="129600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lg" len="lg"/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矢印コネクタ 36">
              <a:extLst>
                <a:ext uri="{FF2B5EF4-FFF2-40B4-BE49-F238E27FC236}">
                  <a16:creationId xmlns:a16="http://schemas.microsoft.com/office/drawing/2014/main" id="{5CD63C5F-7266-82F8-943E-93B2D60C51B6}"/>
                </a:ext>
              </a:extLst>
            </p:cNvPr>
            <p:cNvCxnSpPr>
              <a:cxnSpLocks/>
            </p:cNvCxnSpPr>
            <p:nvPr/>
          </p:nvCxnSpPr>
          <p:spPr>
            <a:xfrm rot="-4860000">
              <a:off x="9559128" y="6944624"/>
              <a:ext cx="3384000" cy="0"/>
            </a:xfrm>
            <a:prstGeom prst="straightConnector1">
              <a:avLst/>
            </a:prstGeom>
            <a:ln w="31750">
              <a:solidFill>
                <a:srgbClr val="FF0000"/>
              </a:solidFill>
              <a:prstDash val="solid"/>
              <a:headEnd type="non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矢印コネクタ 37">
              <a:extLst>
                <a:ext uri="{FF2B5EF4-FFF2-40B4-BE49-F238E27FC236}">
                  <a16:creationId xmlns:a16="http://schemas.microsoft.com/office/drawing/2014/main" id="{15A1FA79-A85D-F8FA-13BB-AEFD0F9BF7DD}"/>
                </a:ext>
              </a:extLst>
            </p:cNvPr>
            <p:cNvCxnSpPr>
              <a:cxnSpLocks/>
            </p:cNvCxnSpPr>
            <p:nvPr/>
          </p:nvCxnSpPr>
          <p:spPr>
            <a:xfrm rot="-2100000">
              <a:off x="10839765" y="8208453"/>
              <a:ext cx="1512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矢印コネクタ 41">
              <a:extLst>
                <a:ext uri="{FF2B5EF4-FFF2-40B4-BE49-F238E27FC236}">
                  <a16:creationId xmlns:a16="http://schemas.microsoft.com/office/drawing/2014/main" id="{230B3917-05BC-BECB-1D5D-1435434239B5}"/>
                </a:ext>
              </a:extLst>
            </p:cNvPr>
            <p:cNvCxnSpPr>
              <a:cxnSpLocks/>
            </p:cNvCxnSpPr>
            <p:nvPr/>
          </p:nvCxnSpPr>
          <p:spPr>
            <a:xfrm rot="-240000">
              <a:off x="10989393" y="8586427"/>
              <a:ext cx="1260000" cy="0"/>
            </a:xfrm>
            <a:prstGeom prst="straightConnector1">
              <a:avLst/>
            </a:prstGeom>
            <a:ln w="31750">
              <a:solidFill>
                <a:schemeClr val="tx1">
                  <a:lumMod val="50000"/>
                  <a:lumOff val="50000"/>
                </a:schemeClr>
              </a:solidFill>
              <a:headEnd type="none" w="lg" len="lg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フリーフォーム 45">
              <a:extLst>
                <a:ext uri="{FF2B5EF4-FFF2-40B4-BE49-F238E27FC236}">
                  <a16:creationId xmlns:a16="http://schemas.microsoft.com/office/drawing/2014/main" id="{35E5EE3B-43A2-A360-2E9F-0C7A83A7F572}"/>
                </a:ext>
              </a:extLst>
            </p:cNvPr>
            <p:cNvSpPr/>
            <p:nvPr/>
          </p:nvSpPr>
          <p:spPr>
            <a:xfrm>
              <a:off x="9704240" y="4603823"/>
              <a:ext cx="2895855" cy="5373081"/>
            </a:xfrm>
            <a:custGeom>
              <a:avLst/>
              <a:gdLst>
                <a:gd name="csX0" fmla="*/ 0 w 2895855"/>
                <a:gd name="csY0" fmla="*/ 5373081 h 5373081"/>
                <a:gd name="csX1" fmla="*/ 2525486 w 2895855"/>
                <a:gd name="csY1" fmla="*/ 3152395 h 5373081"/>
                <a:gd name="csX2" fmla="*/ 163286 w 2895855"/>
                <a:gd name="csY2" fmla="*/ 4338938 h 5373081"/>
                <a:gd name="csX3" fmla="*/ 2688771 w 2895855"/>
                <a:gd name="csY3" fmla="*/ 2063824 h 5373081"/>
                <a:gd name="csX4" fmla="*/ 326571 w 2895855"/>
                <a:gd name="csY4" fmla="*/ 3250367 h 5373081"/>
                <a:gd name="csX5" fmla="*/ 2895600 w 2895855"/>
                <a:gd name="csY5" fmla="*/ 920824 h 5373081"/>
                <a:gd name="csX6" fmla="*/ 500743 w 2895855"/>
                <a:gd name="csY6" fmla="*/ 2140024 h 5373081"/>
                <a:gd name="csX7" fmla="*/ 2791740 w 2895855"/>
                <a:gd name="csY7" fmla="*/ 0 h 53730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895855" h="5373081">
                  <a:moveTo>
                    <a:pt x="0" y="5373081"/>
                  </a:moveTo>
                  <a:cubicBezTo>
                    <a:pt x="1249136" y="4348916"/>
                    <a:pt x="2498272" y="3324752"/>
                    <a:pt x="2525486" y="3152395"/>
                  </a:cubicBezTo>
                  <a:cubicBezTo>
                    <a:pt x="2552700" y="2980038"/>
                    <a:pt x="136072" y="4520366"/>
                    <a:pt x="163286" y="4338938"/>
                  </a:cubicBezTo>
                  <a:cubicBezTo>
                    <a:pt x="190500" y="4157509"/>
                    <a:pt x="2661557" y="2245252"/>
                    <a:pt x="2688771" y="2063824"/>
                  </a:cubicBezTo>
                  <a:cubicBezTo>
                    <a:pt x="2715985" y="1882395"/>
                    <a:pt x="292100" y="3440867"/>
                    <a:pt x="326571" y="3250367"/>
                  </a:cubicBezTo>
                  <a:cubicBezTo>
                    <a:pt x="361042" y="3059867"/>
                    <a:pt x="2866571" y="1105881"/>
                    <a:pt x="2895600" y="920824"/>
                  </a:cubicBezTo>
                  <a:cubicBezTo>
                    <a:pt x="2924629" y="735767"/>
                    <a:pt x="468086" y="2335967"/>
                    <a:pt x="500743" y="2140024"/>
                  </a:cubicBezTo>
                  <a:cubicBezTo>
                    <a:pt x="533400" y="1944081"/>
                    <a:pt x="1512668" y="1099457"/>
                    <a:pt x="2791740" y="0"/>
                  </a:cubicBezTo>
                </a:path>
              </a:pathLst>
            </a:cu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7FE917EA-BF4C-EE8C-1937-1FD0D498E67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791955" y="8168036"/>
              <a:ext cx="82800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矢印コネクタ 50">
              <a:extLst>
                <a:ext uri="{FF2B5EF4-FFF2-40B4-BE49-F238E27FC236}">
                  <a16:creationId xmlns:a16="http://schemas.microsoft.com/office/drawing/2014/main" id="{698FD35E-57F0-C7C3-06D7-48B58E529DA3}"/>
                </a:ext>
              </a:extLst>
            </p:cNvPr>
            <p:cNvCxnSpPr>
              <a:cxnSpLocks/>
            </p:cNvCxnSpPr>
            <p:nvPr/>
          </p:nvCxnSpPr>
          <p:spPr>
            <a:xfrm rot="-2100000">
              <a:off x="10328211" y="8475411"/>
              <a:ext cx="792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矢印コネクタ 51">
              <a:extLst>
                <a:ext uri="{FF2B5EF4-FFF2-40B4-BE49-F238E27FC236}">
                  <a16:creationId xmlns:a16="http://schemas.microsoft.com/office/drawing/2014/main" id="{1EF3F228-BE8A-88AC-3E3E-7A52ADE9D5EE}"/>
                </a:ext>
              </a:extLst>
            </p:cNvPr>
            <p:cNvCxnSpPr>
              <a:cxnSpLocks/>
            </p:cNvCxnSpPr>
            <p:nvPr/>
          </p:nvCxnSpPr>
          <p:spPr>
            <a:xfrm rot="-2100000">
              <a:off x="11032617" y="7227824"/>
              <a:ext cx="126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矢印コネクタ 53">
              <a:extLst>
                <a:ext uri="{FF2B5EF4-FFF2-40B4-BE49-F238E27FC236}">
                  <a16:creationId xmlns:a16="http://schemas.microsoft.com/office/drawing/2014/main" id="{C511987A-FD44-9DD6-7E77-1B0EFA46FE57}"/>
                </a:ext>
              </a:extLst>
            </p:cNvPr>
            <p:cNvCxnSpPr>
              <a:cxnSpLocks/>
            </p:cNvCxnSpPr>
            <p:nvPr/>
          </p:nvCxnSpPr>
          <p:spPr>
            <a:xfrm rot="-2100000">
              <a:off x="10058130" y="6286875"/>
              <a:ext cx="1512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矢印コネクタ 54">
              <a:extLst>
                <a:ext uri="{FF2B5EF4-FFF2-40B4-BE49-F238E27FC236}">
                  <a16:creationId xmlns:a16="http://schemas.microsoft.com/office/drawing/2014/main" id="{B35C8440-6F9F-3DAD-49E3-E9DDA4787A97}"/>
                </a:ext>
              </a:extLst>
            </p:cNvPr>
            <p:cNvCxnSpPr>
              <a:cxnSpLocks/>
            </p:cNvCxnSpPr>
            <p:nvPr/>
          </p:nvCxnSpPr>
          <p:spPr>
            <a:xfrm rot="-2100000">
              <a:off x="11219814" y="6284921"/>
              <a:ext cx="936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矢印コネクタ 55">
              <a:extLst>
                <a:ext uri="{FF2B5EF4-FFF2-40B4-BE49-F238E27FC236}">
                  <a16:creationId xmlns:a16="http://schemas.microsoft.com/office/drawing/2014/main" id="{9BC297F0-79D3-C640-E63F-9CFDB9EB7922}"/>
                </a:ext>
              </a:extLst>
            </p:cNvPr>
            <p:cNvCxnSpPr>
              <a:cxnSpLocks/>
            </p:cNvCxnSpPr>
            <p:nvPr/>
          </p:nvCxnSpPr>
          <p:spPr>
            <a:xfrm rot="-2100000">
              <a:off x="10649765" y="7394661"/>
              <a:ext cx="612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矢印コネクタ 56">
              <a:extLst>
                <a:ext uri="{FF2B5EF4-FFF2-40B4-BE49-F238E27FC236}">
                  <a16:creationId xmlns:a16="http://schemas.microsoft.com/office/drawing/2014/main" id="{1E81EF03-E35F-390A-658A-14883AA7D963}"/>
                </a:ext>
              </a:extLst>
            </p:cNvPr>
            <p:cNvCxnSpPr>
              <a:cxnSpLocks/>
            </p:cNvCxnSpPr>
            <p:nvPr/>
          </p:nvCxnSpPr>
          <p:spPr>
            <a:xfrm rot="-2100000">
              <a:off x="10573893" y="8066765"/>
              <a:ext cx="576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矢印コネクタ 58">
              <a:extLst>
                <a:ext uri="{FF2B5EF4-FFF2-40B4-BE49-F238E27FC236}">
                  <a16:creationId xmlns:a16="http://schemas.microsoft.com/office/drawing/2014/main" id="{70465325-244E-9CBF-F087-5DE48D0E0226}"/>
                </a:ext>
              </a:extLst>
            </p:cNvPr>
            <p:cNvCxnSpPr>
              <a:cxnSpLocks/>
            </p:cNvCxnSpPr>
            <p:nvPr/>
          </p:nvCxnSpPr>
          <p:spPr>
            <a:xfrm rot="-2100000">
              <a:off x="10354983" y="7155555"/>
              <a:ext cx="1008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矢印コネクタ 59">
              <a:extLst>
                <a:ext uri="{FF2B5EF4-FFF2-40B4-BE49-F238E27FC236}">
                  <a16:creationId xmlns:a16="http://schemas.microsoft.com/office/drawing/2014/main" id="{5ABEC7D3-1D98-9991-98BB-5A8CD5AFC749}"/>
                </a:ext>
              </a:extLst>
            </p:cNvPr>
            <p:cNvCxnSpPr>
              <a:cxnSpLocks/>
            </p:cNvCxnSpPr>
            <p:nvPr/>
          </p:nvCxnSpPr>
          <p:spPr>
            <a:xfrm rot="-2100000">
              <a:off x="11328957" y="6093863"/>
              <a:ext cx="396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フリーフォーム 64">
              <a:extLst>
                <a:ext uri="{FF2B5EF4-FFF2-40B4-BE49-F238E27FC236}">
                  <a16:creationId xmlns:a16="http://schemas.microsoft.com/office/drawing/2014/main" id="{6E8B9223-540A-E3F2-0E04-B5979FB3B5CB}"/>
                </a:ext>
              </a:extLst>
            </p:cNvPr>
            <p:cNvSpPr/>
            <p:nvPr/>
          </p:nvSpPr>
          <p:spPr>
            <a:xfrm>
              <a:off x="10840221" y="8580948"/>
              <a:ext cx="1061082" cy="390132"/>
            </a:xfrm>
            <a:custGeom>
              <a:avLst/>
              <a:gdLst>
                <a:gd name="csX0" fmla="*/ 0 w 2033068"/>
                <a:gd name="csY0" fmla="*/ 678230 h 686794"/>
                <a:gd name="csX1" fmla="*/ 496562 w 2033068"/>
                <a:gd name="csY1" fmla="*/ 684286 h 686794"/>
                <a:gd name="csX2" fmla="*/ 938623 w 2033068"/>
                <a:gd name="csY2" fmla="*/ 641896 h 686794"/>
                <a:gd name="csX3" fmla="*/ 1356461 w 2033068"/>
                <a:gd name="csY3" fmla="*/ 563173 h 686794"/>
                <a:gd name="csX4" fmla="*/ 1653187 w 2033068"/>
                <a:gd name="csY4" fmla="*/ 460227 h 686794"/>
                <a:gd name="csX5" fmla="*/ 1913579 w 2033068"/>
                <a:gd name="csY5" fmla="*/ 327004 h 686794"/>
                <a:gd name="csX6" fmla="*/ 2022580 w 2033068"/>
                <a:gd name="csY6" fmla="*/ 163502 h 686794"/>
                <a:gd name="csX7" fmla="*/ 2022580 w 2033068"/>
                <a:gd name="csY7" fmla="*/ 78723 h 686794"/>
                <a:gd name="csX8" fmla="*/ 1968080 w 2033068"/>
                <a:gd name="csY8" fmla="*/ 0 h 686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33068" h="686794">
                  <a:moveTo>
                    <a:pt x="0" y="678230"/>
                  </a:moveTo>
                  <a:cubicBezTo>
                    <a:pt x="170062" y="684286"/>
                    <a:pt x="340125" y="690342"/>
                    <a:pt x="496562" y="684286"/>
                  </a:cubicBezTo>
                  <a:cubicBezTo>
                    <a:pt x="652999" y="678230"/>
                    <a:pt x="795307" y="662081"/>
                    <a:pt x="938623" y="641896"/>
                  </a:cubicBezTo>
                  <a:cubicBezTo>
                    <a:pt x="1081939" y="621711"/>
                    <a:pt x="1237367" y="593451"/>
                    <a:pt x="1356461" y="563173"/>
                  </a:cubicBezTo>
                  <a:cubicBezTo>
                    <a:pt x="1475555" y="532895"/>
                    <a:pt x="1560334" y="499588"/>
                    <a:pt x="1653187" y="460227"/>
                  </a:cubicBezTo>
                  <a:cubicBezTo>
                    <a:pt x="1746040" y="420866"/>
                    <a:pt x="1852013" y="376458"/>
                    <a:pt x="1913579" y="327004"/>
                  </a:cubicBezTo>
                  <a:cubicBezTo>
                    <a:pt x="1975145" y="277550"/>
                    <a:pt x="2004413" y="204882"/>
                    <a:pt x="2022580" y="163502"/>
                  </a:cubicBezTo>
                  <a:cubicBezTo>
                    <a:pt x="2040747" y="122122"/>
                    <a:pt x="2031663" y="105973"/>
                    <a:pt x="2022580" y="78723"/>
                  </a:cubicBezTo>
                  <a:cubicBezTo>
                    <a:pt x="2013497" y="51473"/>
                    <a:pt x="1990788" y="25736"/>
                    <a:pt x="1968080" y="0"/>
                  </a:cubicBezTo>
                </a:path>
              </a:pathLst>
            </a:cu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フリーフォーム 66">
              <a:extLst>
                <a:ext uri="{FF2B5EF4-FFF2-40B4-BE49-F238E27FC236}">
                  <a16:creationId xmlns:a16="http://schemas.microsoft.com/office/drawing/2014/main" id="{6A36C363-48B1-A14D-4742-FBA5E2391607}"/>
                </a:ext>
              </a:extLst>
            </p:cNvPr>
            <p:cNvSpPr/>
            <p:nvPr/>
          </p:nvSpPr>
          <p:spPr>
            <a:xfrm>
              <a:off x="10971138" y="8016892"/>
              <a:ext cx="558412" cy="216137"/>
            </a:xfrm>
            <a:custGeom>
              <a:avLst/>
              <a:gdLst>
                <a:gd name="csX0" fmla="*/ 0 w 558412"/>
                <a:gd name="csY0" fmla="*/ 34653 h 216137"/>
                <a:gd name="csX1" fmla="*/ 349007 w 558412"/>
                <a:gd name="csY1" fmla="*/ 13713 h 216137"/>
                <a:gd name="csX2" fmla="*/ 558412 w 558412"/>
                <a:gd name="csY2" fmla="*/ 216137 h 2161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58412" h="216137">
                  <a:moveTo>
                    <a:pt x="0" y="34653"/>
                  </a:moveTo>
                  <a:cubicBezTo>
                    <a:pt x="127969" y="9059"/>
                    <a:pt x="255938" y="-16534"/>
                    <a:pt x="349007" y="13713"/>
                  </a:cubicBezTo>
                  <a:cubicBezTo>
                    <a:pt x="442076" y="43960"/>
                    <a:pt x="500244" y="130048"/>
                    <a:pt x="558412" y="216137"/>
                  </a:cubicBezTo>
                </a:path>
              </a:pathLst>
            </a:cu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68" name="直線矢印コネクタ 67">
              <a:extLst>
                <a:ext uri="{FF2B5EF4-FFF2-40B4-BE49-F238E27FC236}">
                  <a16:creationId xmlns:a16="http://schemas.microsoft.com/office/drawing/2014/main" id="{26FF27E9-3C74-FEC1-E46D-8E7B06670939}"/>
                </a:ext>
              </a:extLst>
            </p:cNvPr>
            <p:cNvCxnSpPr>
              <a:cxnSpLocks/>
            </p:cNvCxnSpPr>
            <p:nvPr/>
          </p:nvCxnSpPr>
          <p:spPr>
            <a:xfrm rot="-480000">
              <a:off x="6680819" y="8613719"/>
              <a:ext cx="208800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lg" len="lg"/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矢印コネクタ 68">
              <a:extLst>
                <a:ext uri="{FF2B5EF4-FFF2-40B4-BE49-F238E27FC236}">
                  <a16:creationId xmlns:a16="http://schemas.microsoft.com/office/drawing/2014/main" id="{55DC1F5C-C196-7F39-3B8A-ABC10F9008F1}"/>
                </a:ext>
              </a:extLst>
            </p:cNvPr>
            <p:cNvCxnSpPr>
              <a:cxnSpLocks/>
            </p:cNvCxnSpPr>
            <p:nvPr/>
          </p:nvCxnSpPr>
          <p:spPr>
            <a:xfrm rot="-5400000">
              <a:off x="4983889" y="7018991"/>
              <a:ext cx="345600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lg" len="lg"/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矢印コネクタ 69">
              <a:extLst>
                <a:ext uri="{FF2B5EF4-FFF2-40B4-BE49-F238E27FC236}">
                  <a16:creationId xmlns:a16="http://schemas.microsoft.com/office/drawing/2014/main" id="{2A692F1A-4458-B652-61B3-1A47E93A65B4}"/>
                </a:ext>
              </a:extLst>
            </p:cNvPr>
            <p:cNvCxnSpPr>
              <a:cxnSpLocks/>
            </p:cNvCxnSpPr>
            <p:nvPr/>
          </p:nvCxnSpPr>
          <p:spPr>
            <a:xfrm rot="6600000">
              <a:off x="5842229" y="9367983"/>
              <a:ext cx="129600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lg" len="lg"/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矢印コネクタ 70">
              <a:extLst>
                <a:ext uri="{FF2B5EF4-FFF2-40B4-BE49-F238E27FC236}">
                  <a16:creationId xmlns:a16="http://schemas.microsoft.com/office/drawing/2014/main" id="{6E9BBA79-5395-0B28-F16B-A6B27B0A8FFB}"/>
                </a:ext>
              </a:extLst>
            </p:cNvPr>
            <p:cNvCxnSpPr>
              <a:cxnSpLocks/>
            </p:cNvCxnSpPr>
            <p:nvPr/>
          </p:nvCxnSpPr>
          <p:spPr>
            <a:xfrm rot="-4860000">
              <a:off x="5305470" y="7061572"/>
              <a:ext cx="3384000" cy="0"/>
            </a:xfrm>
            <a:prstGeom prst="straightConnector1">
              <a:avLst/>
            </a:prstGeom>
            <a:ln w="31750">
              <a:solidFill>
                <a:srgbClr val="FF0000"/>
              </a:solidFill>
              <a:prstDash val="solid"/>
              <a:headEnd type="non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フリーフォーム 85">
              <a:extLst>
                <a:ext uri="{FF2B5EF4-FFF2-40B4-BE49-F238E27FC236}">
                  <a16:creationId xmlns:a16="http://schemas.microsoft.com/office/drawing/2014/main" id="{176465E6-A8E7-4088-D093-A2A75A9FD21D}"/>
                </a:ext>
              </a:extLst>
            </p:cNvPr>
            <p:cNvSpPr/>
            <p:nvPr/>
          </p:nvSpPr>
          <p:spPr>
            <a:xfrm>
              <a:off x="6643395" y="4301719"/>
              <a:ext cx="712797" cy="5476764"/>
            </a:xfrm>
            <a:custGeom>
              <a:avLst/>
              <a:gdLst>
                <a:gd name="csX0" fmla="*/ 0 w 712797"/>
                <a:gd name="csY0" fmla="*/ 5476764 h 5476764"/>
                <a:gd name="csX1" fmla="*/ 65314 w 712797"/>
                <a:gd name="csY1" fmla="*/ 3078796 h 5476764"/>
                <a:gd name="csX2" fmla="*/ 177282 w 712797"/>
                <a:gd name="csY2" fmla="*/ 5131531 h 5476764"/>
                <a:gd name="csX3" fmla="*/ 279918 w 712797"/>
                <a:gd name="csY3" fmla="*/ 1744519 h 5476764"/>
                <a:gd name="csX4" fmla="*/ 373224 w 712797"/>
                <a:gd name="csY4" fmla="*/ 3843906 h 5476764"/>
                <a:gd name="csX5" fmla="*/ 494522 w 712797"/>
                <a:gd name="csY5" fmla="*/ 410241 h 5476764"/>
                <a:gd name="csX6" fmla="*/ 606490 w 712797"/>
                <a:gd name="csY6" fmla="*/ 2574943 h 5476764"/>
                <a:gd name="csX7" fmla="*/ 712797 w 712797"/>
                <a:gd name="csY7" fmla="*/ 0 h 54767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712797" h="5476764">
                  <a:moveTo>
                    <a:pt x="0" y="5476764"/>
                  </a:moveTo>
                  <a:cubicBezTo>
                    <a:pt x="17883" y="4306549"/>
                    <a:pt x="35767" y="3136335"/>
                    <a:pt x="65314" y="3078796"/>
                  </a:cubicBezTo>
                  <a:cubicBezTo>
                    <a:pt x="94861" y="3021257"/>
                    <a:pt x="141515" y="5353910"/>
                    <a:pt x="177282" y="5131531"/>
                  </a:cubicBezTo>
                  <a:cubicBezTo>
                    <a:pt x="213049" y="4909151"/>
                    <a:pt x="247261" y="1959123"/>
                    <a:pt x="279918" y="1744519"/>
                  </a:cubicBezTo>
                  <a:cubicBezTo>
                    <a:pt x="312575" y="1529915"/>
                    <a:pt x="337457" y="4066286"/>
                    <a:pt x="373224" y="3843906"/>
                  </a:cubicBezTo>
                  <a:cubicBezTo>
                    <a:pt x="408991" y="3621526"/>
                    <a:pt x="455644" y="621735"/>
                    <a:pt x="494522" y="410241"/>
                  </a:cubicBezTo>
                  <a:cubicBezTo>
                    <a:pt x="533400" y="198747"/>
                    <a:pt x="567612" y="2808208"/>
                    <a:pt x="606490" y="2574943"/>
                  </a:cubicBezTo>
                  <a:cubicBezTo>
                    <a:pt x="645368" y="2341678"/>
                    <a:pt x="671587" y="1665514"/>
                    <a:pt x="712797" y="0"/>
                  </a:cubicBezTo>
                </a:path>
              </a:pathLst>
            </a:cu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76" name="直線矢印コネクタ 75">
              <a:extLst>
                <a:ext uri="{FF2B5EF4-FFF2-40B4-BE49-F238E27FC236}">
                  <a16:creationId xmlns:a16="http://schemas.microsoft.com/office/drawing/2014/main" id="{DF6CC908-08B1-0274-D88D-CEF4EA6B329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42944" y="8093016"/>
              <a:ext cx="1332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矢印コネクタ 86">
              <a:extLst>
                <a:ext uri="{FF2B5EF4-FFF2-40B4-BE49-F238E27FC236}">
                  <a16:creationId xmlns:a16="http://schemas.microsoft.com/office/drawing/2014/main" id="{D19FB6D9-058E-8BBA-23DD-69BC03A7DA0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797668" y="7205572"/>
              <a:ext cx="288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矢印コネクタ 87">
              <a:extLst>
                <a:ext uri="{FF2B5EF4-FFF2-40B4-BE49-F238E27FC236}">
                  <a16:creationId xmlns:a16="http://schemas.microsoft.com/office/drawing/2014/main" id="{99E0AD3A-1D60-2B42-2051-6CE7D7DA972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875308" y="6067728"/>
              <a:ext cx="468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線矢印コネクタ 88">
              <a:extLst>
                <a:ext uri="{FF2B5EF4-FFF2-40B4-BE49-F238E27FC236}">
                  <a16:creationId xmlns:a16="http://schemas.microsoft.com/office/drawing/2014/main" id="{DFE10858-2FF7-70F9-BBBD-EC6EF2B5690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931188" y="5741351"/>
              <a:ext cx="468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線矢印コネクタ 89">
              <a:extLst>
                <a:ext uri="{FF2B5EF4-FFF2-40B4-BE49-F238E27FC236}">
                  <a16:creationId xmlns:a16="http://schemas.microsoft.com/office/drawing/2014/main" id="{5C541373-54FA-C8AD-FAD1-D15868F25CD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608598" y="7400218"/>
              <a:ext cx="792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矢印コネクタ 90">
              <a:extLst>
                <a:ext uri="{FF2B5EF4-FFF2-40B4-BE49-F238E27FC236}">
                  <a16:creationId xmlns:a16="http://schemas.microsoft.com/office/drawing/2014/main" id="{6B8CD73B-ECFC-95B1-C1FA-93B653856F5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827038" y="5995671"/>
              <a:ext cx="792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95A49839-0092-4A2E-B0A8-86EC67E4F4E0}"/>
                </a:ext>
              </a:extLst>
            </p:cNvPr>
            <p:cNvSpPr txBox="1"/>
            <p:nvPr/>
          </p:nvSpPr>
          <p:spPr>
            <a:xfrm>
              <a:off x="5773228" y="9486095"/>
              <a:ext cx="41229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3200" dirty="0">
                  <a:latin typeface="Helvetica" pitchFamily="2" charset="0"/>
                </a:rPr>
                <a:t>a</a:t>
              </a:r>
              <a:endParaRPr kumimoji="1" lang="ja-JP" altLang="en-US" sz="3200">
                <a:latin typeface="Helvetica" pitchFamily="2" charset="0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61E4F0A0-A513-2AD6-0A3F-9FDE0C763D91}"/>
                </a:ext>
              </a:extLst>
            </p:cNvPr>
            <p:cNvSpPr txBox="1"/>
            <p:nvPr/>
          </p:nvSpPr>
          <p:spPr>
            <a:xfrm>
              <a:off x="8183895" y="7839933"/>
              <a:ext cx="41229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3200" dirty="0">
                  <a:latin typeface="Helvetica" pitchFamily="2" charset="0"/>
                </a:rPr>
                <a:t>b</a:t>
              </a:r>
              <a:endParaRPr kumimoji="1" lang="ja-JP" altLang="en-US" sz="3200">
                <a:latin typeface="Helvetica" pitchFamily="2" charset="0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DB392B64-94DE-5B5A-FF8D-D5DCBACEDECC}"/>
                </a:ext>
              </a:extLst>
            </p:cNvPr>
            <p:cNvSpPr txBox="1"/>
            <p:nvPr/>
          </p:nvSpPr>
          <p:spPr>
            <a:xfrm>
              <a:off x="6311431" y="4935963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3200" dirty="0">
                  <a:latin typeface="Helvetica" pitchFamily="2" charset="0"/>
                </a:rPr>
                <a:t>c</a:t>
              </a:r>
              <a:endParaRPr kumimoji="1" lang="ja-JP" altLang="en-US" sz="3200">
                <a:latin typeface="Helvetica" pitchFamily="2" charset="0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1CCE9BC6-F70D-EC9B-EA5F-0B1A4E022A7D}"/>
                </a:ext>
              </a:extLst>
            </p:cNvPr>
            <p:cNvSpPr txBox="1"/>
            <p:nvPr/>
          </p:nvSpPr>
          <p:spPr>
            <a:xfrm>
              <a:off x="7287661" y="4981067"/>
              <a:ext cx="56457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3200" dirty="0">
                  <a:solidFill>
                    <a:srgbClr val="FF0000"/>
                  </a:solidFill>
                  <a:latin typeface="Helvetica" pitchFamily="2" charset="0"/>
                </a:rPr>
                <a:t>q</a:t>
              </a:r>
              <a:r>
                <a:rPr kumimoji="1" lang="en-US" altLang="ja-JP" sz="3200" baseline="-25000" dirty="0">
                  <a:solidFill>
                    <a:srgbClr val="FF0000"/>
                  </a:solidFill>
                  <a:latin typeface="Helvetica" pitchFamily="2" charset="0"/>
                </a:rPr>
                <a:t>1</a:t>
              </a:r>
              <a:endParaRPr kumimoji="1" lang="ja-JP" altLang="en-US" sz="3200" baseline="-25000">
                <a:solidFill>
                  <a:srgbClr val="FF0000"/>
                </a:solidFill>
                <a:latin typeface="Helvetica" pitchFamily="2" charset="0"/>
              </a:endParaRP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1544139D-9AFC-957D-2BFB-4342F779D142}"/>
                </a:ext>
              </a:extLst>
            </p:cNvPr>
            <p:cNvSpPr txBox="1"/>
            <p:nvPr/>
          </p:nvSpPr>
          <p:spPr>
            <a:xfrm>
              <a:off x="10004651" y="9486095"/>
              <a:ext cx="41229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3200" dirty="0">
                  <a:latin typeface="Helvetica" pitchFamily="2" charset="0"/>
                </a:rPr>
                <a:t>a</a:t>
              </a:r>
              <a:endParaRPr kumimoji="1" lang="ja-JP" altLang="en-US" sz="3200">
                <a:latin typeface="Helvetica" pitchFamily="2" charset="0"/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C5916B8C-5E21-5793-779D-2591A3F564DA}"/>
                </a:ext>
              </a:extLst>
            </p:cNvPr>
            <p:cNvSpPr txBox="1"/>
            <p:nvPr/>
          </p:nvSpPr>
          <p:spPr>
            <a:xfrm>
              <a:off x="12415318" y="7839933"/>
              <a:ext cx="41229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3200" dirty="0">
                  <a:latin typeface="Helvetica" pitchFamily="2" charset="0"/>
                </a:rPr>
                <a:t>b</a:t>
              </a:r>
              <a:endParaRPr kumimoji="1" lang="ja-JP" altLang="en-US" sz="3200">
                <a:latin typeface="Helvetica" pitchFamily="2" charset="0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F4D9BAD6-7B54-CF6F-3D0A-4837351CDAB1}"/>
                </a:ext>
              </a:extLst>
            </p:cNvPr>
            <p:cNvSpPr txBox="1"/>
            <p:nvPr/>
          </p:nvSpPr>
          <p:spPr>
            <a:xfrm>
              <a:off x="10542854" y="4935963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3200" dirty="0">
                  <a:latin typeface="Helvetica" pitchFamily="2" charset="0"/>
                </a:rPr>
                <a:t>c</a:t>
              </a:r>
              <a:endParaRPr kumimoji="1" lang="ja-JP" altLang="en-US" sz="3200">
                <a:latin typeface="Helvetica" pitchFamily="2" charset="0"/>
              </a:endParaRPr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51CBD69F-1348-9DD4-5798-E017BBE0BFF4}"/>
                </a:ext>
              </a:extLst>
            </p:cNvPr>
            <p:cNvSpPr txBox="1"/>
            <p:nvPr/>
          </p:nvSpPr>
          <p:spPr>
            <a:xfrm>
              <a:off x="11519084" y="4981067"/>
              <a:ext cx="56457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3200" dirty="0">
                  <a:solidFill>
                    <a:srgbClr val="FF0000"/>
                  </a:solidFill>
                  <a:latin typeface="Helvetica" pitchFamily="2" charset="0"/>
                </a:rPr>
                <a:t>q</a:t>
              </a:r>
              <a:r>
                <a:rPr kumimoji="1" lang="en-US" altLang="ja-JP" sz="3200" baseline="-25000" dirty="0">
                  <a:solidFill>
                    <a:srgbClr val="FF0000"/>
                  </a:solidFill>
                  <a:latin typeface="Helvetica" pitchFamily="2" charset="0"/>
                </a:rPr>
                <a:t>1</a:t>
              </a:r>
              <a:endParaRPr kumimoji="1" lang="ja-JP" altLang="en-US" sz="3200" baseline="-25000">
                <a:solidFill>
                  <a:srgbClr val="FF0000"/>
                </a:solidFill>
                <a:latin typeface="Helvetica" pitchFamily="2" charset="0"/>
              </a:endParaRPr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A3B0123B-A5F6-1400-616A-8A72809BD59D}"/>
                </a:ext>
              </a:extLst>
            </p:cNvPr>
            <p:cNvSpPr txBox="1"/>
            <p:nvPr/>
          </p:nvSpPr>
          <p:spPr>
            <a:xfrm>
              <a:off x="11414672" y="8782424"/>
              <a:ext cx="127791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3200" dirty="0">
                  <a:latin typeface="Helvetica" pitchFamily="2" charset="0"/>
                </a:rPr>
                <a:t>108°</a:t>
              </a:r>
              <a:endParaRPr kumimoji="1" lang="ja-JP" altLang="en-US" sz="3200">
                <a:latin typeface="Helvetica" pitchFamily="2" charset="0"/>
              </a:endParaRPr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FF60C8D9-2CA0-E631-75F6-D72CC9C524A2}"/>
                </a:ext>
              </a:extLst>
            </p:cNvPr>
            <p:cNvSpPr txBox="1"/>
            <p:nvPr/>
          </p:nvSpPr>
          <p:spPr>
            <a:xfrm>
              <a:off x="11155574" y="7547545"/>
              <a:ext cx="105028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3200" dirty="0">
                  <a:latin typeface="Helvetica" pitchFamily="2" charset="0"/>
                </a:rPr>
                <a:t>49°</a:t>
              </a:r>
              <a:endParaRPr kumimoji="1" lang="ja-JP" altLang="en-US" sz="3200">
                <a:latin typeface="Helvetica" pitchFamily="2" charset="0"/>
              </a:endParaRP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9186F15E-CCFE-E2B7-7B6D-76BD936D2CCE}"/>
                </a:ext>
              </a:extLst>
            </p:cNvPr>
            <p:cNvSpPr txBox="1"/>
            <p:nvPr/>
          </p:nvSpPr>
          <p:spPr>
            <a:xfrm>
              <a:off x="5580051" y="4459291"/>
              <a:ext cx="638316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(a)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2FF8F39F-4B67-4710-320B-F77B14E477B5}"/>
                </a:ext>
              </a:extLst>
            </p:cNvPr>
            <p:cNvSpPr txBox="1"/>
            <p:nvPr/>
          </p:nvSpPr>
          <p:spPr>
            <a:xfrm>
              <a:off x="9804389" y="4459291"/>
              <a:ext cx="638316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(b)</a:t>
              </a:r>
              <a:endParaRPr lang="ja-JP" altLang="en-US" sz="2900">
                <a:latin typeface="Helvetica" pitchFamily="2" charset="0"/>
              </a:endParaRPr>
            </a:p>
          </p:txBody>
        </p:sp>
      </p:grp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32496782-0CB1-3803-448F-E6F10DFBAD1A}"/>
              </a:ext>
            </a:extLst>
          </p:cNvPr>
          <p:cNvGrpSpPr/>
          <p:nvPr/>
        </p:nvGrpSpPr>
        <p:grpSpPr>
          <a:xfrm>
            <a:off x="9679145" y="3014866"/>
            <a:ext cx="7442426" cy="4758566"/>
            <a:chOff x="5580051" y="4301719"/>
            <a:chExt cx="7442426" cy="5769151"/>
          </a:xfrm>
        </p:grpSpPr>
        <p:cxnSp>
          <p:nvCxnSpPr>
            <p:cNvPr id="50" name="直線矢印コネクタ 49">
              <a:extLst>
                <a:ext uri="{FF2B5EF4-FFF2-40B4-BE49-F238E27FC236}">
                  <a16:creationId xmlns:a16="http://schemas.microsoft.com/office/drawing/2014/main" id="{6E36C3FF-DC42-0417-E554-39D61353CAF4}"/>
                </a:ext>
              </a:extLst>
            </p:cNvPr>
            <p:cNvCxnSpPr>
              <a:cxnSpLocks/>
            </p:cNvCxnSpPr>
            <p:nvPr/>
          </p:nvCxnSpPr>
          <p:spPr>
            <a:xfrm rot="-480000">
              <a:off x="10934477" y="8496771"/>
              <a:ext cx="208800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lg" len="lg"/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矢印コネクタ 52">
              <a:extLst>
                <a:ext uri="{FF2B5EF4-FFF2-40B4-BE49-F238E27FC236}">
                  <a16:creationId xmlns:a16="http://schemas.microsoft.com/office/drawing/2014/main" id="{65C08B73-7F4C-EE5B-7483-CF1BB10D4BBD}"/>
                </a:ext>
              </a:extLst>
            </p:cNvPr>
            <p:cNvCxnSpPr>
              <a:cxnSpLocks/>
            </p:cNvCxnSpPr>
            <p:nvPr/>
          </p:nvCxnSpPr>
          <p:spPr>
            <a:xfrm rot="-5400000">
              <a:off x="9237547" y="6902043"/>
              <a:ext cx="345600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lg" len="lg"/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矢印コネクタ 57">
              <a:extLst>
                <a:ext uri="{FF2B5EF4-FFF2-40B4-BE49-F238E27FC236}">
                  <a16:creationId xmlns:a16="http://schemas.microsoft.com/office/drawing/2014/main" id="{C24E92B7-7FEC-33CF-A332-7E7178F5DEDF}"/>
                </a:ext>
              </a:extLst>
            </p:cNvPr>
            <p:cNvCxnSpPr>
              <a:cxnSpLocks/>
            </p:cNvCxnSpPr>
            <p:nvPr/>
          </p:nvCxnSpPr>
          <p:spPr>
            <a:xfrm rot="6600000">
              <a:off x="10095887" y="9251035"/>
              <a:ext cx="129600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lg" len="lg"/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矢印コネクタ 60">
              <a:extLst>
                <a:ext uri="{FF2B5EF4-FFF2-40B4-BE49-F238E27FC236}">
                  <a16:creationId xmlns:a16="http://schemas.microsoft.com/office/drawing/2014/main" id="{263963A8-7D5D-1D6F-BB70-528EBBE45D05}"/>
                </a:ext>
              </a:extLst>
            </p:cNvPr>
            <p:cNvCxnSpPr>
              <a:cxnSpLocks/>
            </p:cNvCxnSpPr>
            <p:nvPr/>
          </p:nvCxnSpPr>
          <p:spPr>
            <a:xfrm rot="-4860000">
              <a:off x="9559128" y="6944624"/>
              <a:ext cx="3384000" cy="0"/>
            </a:xfrm>
            <a:prstGeom prst="straightConnector1">
              <a:avLst/>
            </a:prstGeom>
            <a:ln w="31750">
              <a:solidFill>
                <a:srgbClr val="FF0000"/>
              </a:solidFill>
              <a:prstDash val="solid"/>
              <a:headEnd type="non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矢印コネクタ 61">
              <a:extLst>
                <a:ext uri="{FF2B5EF4-FFF2-40B4-BE49-F238E27FC236}">
                  <a16:creationId xmlns:a16="http://schemas.microsoft.com/office/drawing/2014/main" id="{26478333-BB7F-1835-4056-4474919732B2}"/>
                </a:ext>
              </a:extLst>
            </p:cNvPr>
            <p:cNvCxnSpPr>
              <a:cxnSpLocks/>
            </p:cNvCxnSpPr>
            <p:nvPr/>
          </p:nvCxnSpPr>
          <p:spPr>
            <a:xfrm rot="-2100000">
              <a:off x="10839765" y="8208453"/>
              <a:ext cx="1512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矢印コネクタ 62">
              <a:extLst>
                <a:ext uri="{FF2B5EF4-FFF2-40B4-BE49-F238E27FC236}">
                  <a16:creationId xmlns:a16="http://schemas.microsoft.com/office/drawing/2014/main" id="{77C696C5-89A8-350B-3B3F-7571ABA702B3}"/>
                </a:ext>
              </a:extLst>
            </p:cNvPr>
            <p:cNvCxnSpPr>
              <a:cxnSpLocks/>
            </p:cNvCxnSpPr>
            <p:nvPr/>
          </p:nvCxnSpPr>
          <p:spPr>
            <a:xfrm rot="-240000">
              <a:off x="10989393" y="8586427"/>
              <a:ext cx="1260000" cy="0"/>
            </a:xfrm>
            <a:prstGeom prst="straightConnector1">
              <a:avLst/>
            </a:prstGeom>
            <a:ln w="31750">
              <a:solidFill>
                <a:schemeClr val="tx1">
                  <a:lumMod val="50000"/>
                  <a:lumOff val="50000"/>
                </a:schemeClr>
              </a:solidFill>
              <a:headEnd type="none" w="lg" len="lg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フリーフォーム 63">
              <a:extLst>
                <a:ext uri="{FF2B5EF4-FFF2-40B4-BE49-F238E27FC236}">
                  <a16:creationId xmlns:a16="http://schemas.microsoft.com/office/drawing/2014/main" id="{8D4FC70F-99CF-CD3F-AC5B-9245C47020BC}"/>
                </a:ext>
              </a:extLst>
            </p:cNvPr>
            <p:cNvSpPr/>
            <p:nvPr/>
          </p:nvSpPr>
          <p:spPr>
            <a:xfrm>
              <a:off x="9704240" y="4603823"/>
              <a:ext cx="2895855" cy="5373081"/>
            </a:xfrm>
            <a:custGeom>
              <a:avLst/>
              <a:gdLst>
                <a:gd name="csX0" fmla="*/ 0 w 2895855"/>
                <a:gd name="csY0" fmla="*/ 5373081 h 5373081"/>
                <a:gd name="csX1" fmla="*/ 2525486 w 2895855"/>
                <a:gd name="csY1" fmla="*/ 3152395 h 5373081"/>
                <a:gd name="csX2" fmla="*/ 163286 w 2895855"/>
                <a:gd name="csY2" fmla="*/ 4338938 h 5373081"/>
                <a:gd name="csX3" fmla="*/ 2688771 w 2895855"/>
                <a:gd name="csY3" fmla="*/ 2063824 h 5373081"/>
                <a:gd name="csX4" fmla="*/ 326571 w 2895855"/>
                <a:gd name="csY4" fmla="*/ 3250367 h 5373081"/>
                <a:gd name="csX5" fmla="*/ 2895600 w 2895855"/>
                <a:gd name="csY5" fmla="*/ 920824 h 5373081"/>
                <a:gd name="csX6" fmla="*/ 500743 w 2895855"/>
                <a:gd name="csY6" fmla="*/ 2140024 h 5373081"/>
                <a:gd name="csX7" fmla="*/ 2791740 w 2895855"/>
                <a:gd name="csY7" fmla="*/ 0 h 53730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895855" h="5373081">
                  <a:moveTo>
                    <a:pt x="0" y="5373081"/>
                  </a:moveTo>
                  <a:cubicBezTo>
                    <a:pt x="1249136" y="4348916"/>
                    <a:pt x="2498272" y="3324752"/>
                    <a:pt x="2525486" y="3152395"/>
                  </a:cubicBezTo>
                  <a:cubicBezTo>
                    <a:pt x="2552700" y="2980038"/>
                    <a:pt x="136072" y="4520366"/>
                    <a:pt x="163286" y="4338938"/>
                  </a:cubicBezTo>
                  <a:cubicBezTo>
                    <a:pt x="190500" y="4157509"/>
                    <a:pt x="2661557" y="2245252"/>
                    <a:pt x="2688771" y="2063824"/>
                  </a:cubicBezTo>
                  <a:cubicBezTo>
                    <a:pt x="2715985" y="1882395"/>
                    <a:pt x="292100" y="3440867"/>
                    <a:pt x="326571" y="3250367"/>
                  </a:cubicBezTo>
                  <a:cubicBezTo>
                    <a:pt x="361042" y="3059867"/>
                    <a:pt x="2866571" y="1105881"/>
                    <a:pt x="2895600" y="920824"/>
                  </a:cubicBezTo>
                  <a:cubicBezTo>
                    <a:pt x="2924629" y="735767"/>
                    <a:pt x="468086" y="2335967"/>
                    <a:pt x="500743" y="2140024"/>
                  </a:cubicBezTo>
                  <a:cubicBezTo>
                    <a:pt x="533400" y="1944081"/>
                    <a:pt x="1512668" y="1099457"/>
                    <a:pt x="2791740" y="0"/>
                  </a:cubicBezTo>
                </a:path>
              </a:pathLst>
            </a:cu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66" name="直線コネクタ 65">
              <a:extLst>
                <a:ext uri="{FF2B5EF4-FFF2-40B4-BE49-F238E27FC236}">
                  <a16:creationId xmlns:a16="http://schemas.microsoft.com/office/drawing/2014/main" id="{977A6C74-DE7E-6B28-2BF8-B3214F52F0A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791955" y="8168036"/>
              <a:ext cx="82800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矢印コネクタ 71">
              <a:extLst>
                <a:ext uri="{FF2B5EF4-FFF2-40B4-BE49-F238E27FC236}">
                  <a16:creationId xmlns:a16="http://schemas.microsoft.com/office/drawing/2014/main" id="{26B834EE-1C5F-C14F-7DB3-F659DA5B6619}"/>
                </a:ext>
              </a:extLst>
            </p:cNvPr>
            <p:cNvCxnSpPr>
              <a:cxnSpLocks/>
            </p:cNvCxnSpPr>
            <p:nvPr/>
          </p:nvCxnSpPr>
          <p:spPr>
            <a:xfrm rot="-2100000">
              <a:off x="10328211" y="8475411"/>
              <a:ext cx="792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矢印コネクタ 72">
              <a:extLst>
                <a:ext uri="{FF2B5EF4-FFF2-40B4-BE49-F238E27FC236}">
                  <a16:creationId xmlns:a16="http://schemas.microsoft.com/office/drawing/2014/main" id="{DD3D7DDA-133D-B2EB-4388-0030AF3B28DE}"/>
                </a:ext>
              </a:extLst>
            </p:cNvPr>
            <p:cNvCxnSpPr>
              <a:cxnSpLocks/>
            </p:cNvCxnSpPr>
            <p:nvPr/>
          </p:nvCxnSpPr>
          <p:spPr>
            <a:xfrm rot="-2100000">
              <a:off x="11032617" y="7227824"/>
              <a:ext cx="126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矢印コネクタ 73">
              <a:extLst>
                <a:ext uri="{FF2B5EF4-FFF2-40B4-BE49-F238E27FC236}">
                  <a16:creationId xmlns:a16="http://schemas.microsoft.com/office/drawing/2014/main" id="{35D09689-52A0-920C-576F-709850219DEA}"/>
                </a:ext>
              </a:extLst>
            </p:cNvPr>
            <p:cNvCxnSpPr>
              <a:cxnSpLocks/>
            </p:cNvCxnSpPr>
            <p:nvPr/>
          </p:nvCxnSpPr>
          <p:spPr>
            <a:xfrm rot="-2100000">
              <a:off x="10058130" y="6286875"/>
              <a:ext cx="1512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矢印コネクタ 74">
              <a:extLst>
                <a:ext uri="{FF2B5EF4-FFF2-40B4-BE49-F238E27FC236}">
                  <a16:creationId xmlns:a16="http://schemas.microsoft.com/office/drawing/2014/main" id="{7EA6998E-0EAF-1BE0-E89E-334398AA14A0}"/>
                </a:ext>
              </a:extLst>
            </p:cNvPr>
            <p:cNvCxnSpPr>
              <a:cxnSpLocks/>
            </p:cNvCxnSpPr>
            <p:nvPr/>
          </p:nvCxnSpPr>
          <p:spPr>
            <a:xfrm rot="-2100000">
              <a:off x="11219814" y="6284921"/>
              <a:ext cx="936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矢印コネクタ 76">
              <a:extLst>
                <a:ext uri="{FF2B5EF4-FFF2-40B4-BE49-F238E27FC236}">
                  <a16:creationId xmlns:a16="http://schemas.microsoft.com/office/drawing/2014/main" id="{6B97C4C0-60DA-3442-A778-D9DDD27BDC13}"/>
                </a:ext>
              </a:extLst>
            </p:cNvPr>
            <p:cNvCxnSpPr>
              <a:cxnSpLocks/>
            </p:cNvCxnSpPr>
            <p:nvPr/>
          </p:nvCxnSpPr>
          <p:spPr>
            <a:xfrm rot="-2100000">
              <a:off x="10649765" y="7394661"/>
              <a:ext cx="612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線矢印コネクタ 77">
              <a:extLst>
                <a:ext uri="{FF2B5EF4-FFF2-40B4-BE49-F238E27FC236}">
                  <a16:creationId xmlns:a16="http://schemas.microsoft.com/office/drawing/2014/main" id="{072A94B8-3853-8FB6-D0F8-CA8B7B144CB1}"/>
                </a:ext>
              </a:extLst>
            </p:cNvPr>
            <p:cNvCxnSpPr>
              <a:cxnSpLocks/>
            </p:cNvCxnSpPr>
            <p:nvPr/>
          </p:nvCxnSpPr>
          <p:spPr>
            <a:xfrm rot="-2100000">
              <a:off x="10573893" y="8066765"/>
              <a:ext cx="576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線矢印コネクタ 78">
              <a:extLst>
                <a:ext uri="{FF2B5EF4-FFF2-40B4-BE49-F238E27FC236}">
                  <a16:creationId xmlns:a16="http://schemas.microsoft.com/office/drawing/2014/main" id="{BDCE66B5-04B8-9B75-A9A6-3B32C05505B3}"/>
                </a:ext>
              </a:extLst>
            </p:cNvPr>
            <p:cNvCxnSpPr>
              <a:cxnSpLocks/>
            </p:cNvCxnSpPr>
            <p:nvPr/>
          </p:nvCxnSpPr>
          <p:spPr>
            <a:xfrm rot="-2100000">
              <a:off x="10354983" y="7155555"/>
              <a:ext cx="1008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線矢印コネクタ 79">
              <a:extLst>
                <a:ext uri="{FF2B5EF4-FFF2-40B4-BE49-F238E27FC236}">
                  <a16:creationId xmlns:a16="http://schemas.microsoft.com/office/drawing/2014/main" id="{6050F767-25E0-E043-43CF-ED39A39E37E7}"/>
                </a:ext>
              </a:extLst>
            </p:cNvPr>
            <p:cNvCxnSpPr>
              <a:cxnSpLocks/>
            </p:cNvCxnSpPr>
            <p:nvPr/>
          </p:nvCxnSpPr>
          <p:spPr>
            <a:xfrm rot="-2100000">
              <a:off x="11328957" y="6093863"/>
              <a:ext cx="396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フリーフォーム 80">
              <a:extLst>
                <a:ext uri="{FF2B5EF4-FFF2-40B4-BE49-F238E27FC236}">
                  <a16:creationId xmlns:a16="http://schemas.microsoft.com/office/drawing/2014/main" id="{88368E10-68D8-11FA-FC37-7EE0990BC2C5}"/>
                </a:ext>
              </a:extLst>
            </p:cNvPr>
            <p:cNvSpPr/>
            <p:nvPr/>
          </p:nvSpPr>
          <p:spPr>
            <a:xfrm>
              <a:off x="10840221" y="8580948"/>
              <a:ext cx="1061082" cy="390132"/>
            </a:xfrm>
            <a:custGeom>
              <a:avLst/>
              <a:gdLst>
                <a:gd name="csX0" fmla="*/ 0 w 2033068"/>
                <a:gd name="csY0" fmla="*/ 678230 h 686794"/>
                <a:gd name="csX1" fmla="*/ 496562 w 2033068"/>
                <a:gd name="csY1" fmla="*/ 684286 h 686794"/>
                <a:gd name="csX2" fmla="*/ 938623 w 2033068"/>
                <a:gd name="csY2" fmla="*/ 641896 h 686794"/>
                <a:gd name="csX3" fmla="*/ 1356461 w 2033068"/>
                <a:gd name="csY3" fmla="*/ 563173 h 686794"/>
                <a:gd name="csX4" fmla="*/ 1653187 w 2033068"/>
                <a:gd name="csY4" fmla="*/ 460227 h 686794"/>
                <a:gd name="csX5" fmla="*/ 1913579 w 2033068"/>
                <a:gd name="csY5" fmla="*/ 327004 h 686794"/>
                <a:gd name="csX6" fmla="*/ 2022580 w 2033068"/>
                <a:gd name="csY6" fmla="*/ 163502 h 686794"/>
                <a:gd name="csX7" fmla="*/ 2022580 w 2033068"/>
                <a:gd name="csY7" fmla="*/ 78723 h 686794"/>
                <a:gd name="csX8" fmla="*/ 1968080 w 2033068"/>
                <a:gd name="csY8" fmla="*/ 0 h 686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33068" h="686794">
                  <a:moveTo>
                    <a:pt x="0" y="678230"/>
                  </a:moveTo>
                  <a:cubicBezTo>
                    <a:pt x="170062" y="684286"/>
                    <a:pt x="340125" y="690342"/>
                    <a:pt x="496562" y="684286"/>
                  </a:cubicBezTo>
                  <a:cubicBezTo>
                    <a:pt x="652999" y="678230"/>
                    <a:pt x="795307" y="662081"/>
                    <a:pt x="938623" y="641896"/>
                  </a:cubicBezTo>
                  <a:cubicBezTo>
                    <a:pt x="1081939" y="621711"/>
                    <a:pt x="1237367" y="593451"/>
                    <a:pt x="1356461" y="563173"/>
                  </a:cubicBezTo>
                  <a:cubicBezTo>
                    <a:pt x="1475555" y="532895"/>
                    <a:pt x="1560334" y="499588"/>
                    <a:pt x="1653187" y="460227"/>
                  </a:cubicBezTo>
                  <a:cubicBezTo>
                    <a:pt x="1746040" y="420866"/>
                    <a:pt x="1852013" y="376458"/>
                    <a:pt x="1913579" y="327004"/>
                  </a:cubicBezTo>
                  <a:cubicBezTo>
                    <a:pt x="1975145" y="277550"/>
                    <a:pt x="2004413" y="204882"/>
                    <a:pt x="2022580" y="163502"/>
                  </a:cubicBezTo>
                  <a:cubicBezTo>
                    <a:pt x="2040747" y="122122"/>
                    <a:pt x="2031663" y="105973"/>
                    <a:pt x="2022580" y="78723"/>
                  </a:cubicBezTo>
                  <a:cubicBezTo>
                    <a:pt x="2013497" y="51473"/>
                    <a:pt x="1990788" y="25736"/>
                    <a:pt x="1968080" y="0"/>
                  </a:cubicBezTo>
                </a:path>
              </a:pathLst>
            </a:cu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" name="フリーフォーム 81">
              <a:extLst>
                <a:ext uri="{FF2B5EF4-FFF2-40B4-BE49-F238E27FC236}">
                  <a16:creationId xmlns:a16="http://schemas.microsoft.com/office/drawing/2014/main" id="{CEDDFFE8-F957-537E-8B41-C701B06694AA}"/>
                </a:ext>
              </a:extLst>
            </p:cNvPr>
            <p:cNvSpPr/>
            <p:nvPr/>
          </p:nvSpPr>
          <p:spPr>
            <a:xfrm>
              <a:off x="10971138" y="8016892"/>
              <a:ext cx="558412" cy="216137"/>
            </a:xfrm>
            <a:custGeom>
              <a:avLst/>
              <a:gdLst>
                <a:gd name="csX0" fmla="*/ 0 w 558412"/>
                <a:gd name="csY0" fmla="*/ 34653 h 216137"/>
                <a:gd name="csX1" fmla="*/ 349007 w 558412"/>
                <a:gd name="csY1" fmla="*/ 13713 h 216137"/>
                <a:gd name="csX2" fmla="*/ 558412 w 558412"/>
                <a:gd name="csY2" fmla="*/ 216137 h 2161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58412" h="216137">
                  <a:moveTo>
                    <a:pt x="0" y="34653"/>
                  </a:moveTo>
                  <a:cubicBezTo>
                    <a:pt x="127969" y="9059"/>
                    <a:pt x="255938" y="-16534"/>
                    <a:pt x="349007" y="13713"/>
                  </a:cubicBezTo>
                  <a:cubicBezTo>
                    <a:pt x="442076" y="43960"/>
                    <a:pt x="500244" y="130048"/>
                    <a:pt x="558412" y="216137"/>
                  </a:cubicBezTo>
                </a:path>
              </a:pathLst>
            </a:cu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83" name="直線矢印コネクタ 82">
              <a:extLst>
                <a:ext uri="{FF2B5EF4-FFF2-40B4-BE49-F238E27FC236}">
                  <a16:creationId xmlns:a16="http://schemas.microsoft.com/office/drawing/2014/main" id="{EE2ED69A-0955-7BD3-3B2F-D36336B65344}"/>
                </a:ext>
              </a:extLst>
            </p:cNvPr>
            <p:cNvCxnSpPr>
              <a:cxnSpLocks/>
            </p:cNvCxnSpPr>
            <p:nvPr/>
          </p:nvCxnSpPr>
          <p:spPr>
            <a:xfrm rot="-480000">
              <a:off x="6680819" y="8613719"/>
              <a:ext cx="208800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lg" len="lg"/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矢印コネクタ 83">
              <a:extLst>
                <a:ext uri="{FF2B5EF4-FFF2-40B4-BE49-F238E27FC236}">
                  <a16:creationId xmlns:a16="http://schemas.microsoft.com/office/drawing/2014/main" id="{800BEFAB-A1DF-CA8D-D26F-ED0ABA592CC1}"/>
                </a:ext>
              </a:extLst>
            </p:cNvPr>
            <p:cNvCxnSpPr>
              <a:cxnSpLocks/>
            </p:cNvCxnSpPr>
            <p:nvPr/>
          </p:nvCxnSpPr>
          <p:spPr>
            <a:xfrm rot="-5400000">
              <a:off x="4983889" y="7018991"/>
              <a:ext cx="345600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lg" len="lg"/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矢印コネクタ 84">
              <a:extLst>
                <a:ext uri="{FF2B5EF4-FFF2-40B4-BE49-F238E27FC236}">
                  <a16:creationId xmlns:a16="http://schemas.microsoft.com/office/drawing/2014/main" id="{0D22A607-DBBF-CAF0-24E8-09361AD8047C}"/>
                </a:ext>
              </a:extLst>
            </p:cNvPr>
            <p:cNvCxnSpPr>
              <a:cxnSpLocks/>
            </p:cNvCxnSpPr>
            <p:nvPr/>
          </p:nvCxnSpPr>
          <p:spPr>
            <a:xfrm rot="6600000">
              <a:off x="5842229" y="9367983"/>
              <a:ext cx="129600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lg" len="lg"/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線矢印コネクタ 91">
              <a:extLst>
                <a:ext uri="{FF2B5EF4-FFF2-40B4-BE49-F238E27FC236}">
                  <a16:creationId xmlns:a16="http://schemas.microsoft.com/office/drawing/2014/main" id="{9196BAD4-A40E-2942-5CCA-A67F6687EAB4}"/>
                </a:ext>
              </a:extLst>
            </p:cNvPr>
            <p:cNvCxnSpPr>
              <a:cxnSpLocks/>
            </p:cNvCxnSpPr>
            <p:nvPr/>
          </p:nvCxnSpPr>
          <p:spPr>
            <a:xfrm rot="-4860000">
              <a:off x="5305470" y="7061572"/>
              <a:ext cx="3384000" cy="0"/>
            </a:xfrm>
            <a:prstGeom prst="straightConnector1">
              <a:avLst/>
            </a:prstGeom>
            <a:ln w="31750">
              <a:solidFill>
                <a:srgbClr val="FF0000"/>
              </a:solidFill>
              <a:prstDash val="solid"/>
              <a:headEnd type="non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フリーフォーム 92">
              <a:extLst>
                <a:ext uri="{FF2B5EF4-FFF2-40B4-BE49-F238E27FC236}">
                  <a16:creationId xmlns:a16="http://schemas.microsoft.com/office/drawing/2014/main" id="{CC9A8AC6-5269-3E14-61AC-F69CC0122E9E}"/>
                </a:ext>
              </a:extLst>
            </p:cNvPr>
            <p:cNvSpPr/>
            <p:nvPr/>
          </p:nvSpPr>
          <p:spPr>
            <a:xfrm>
              <a:off x="6643395" y="4301719"/>
              <a:ext cx="712797" cy="5476764"/>
            </a:xfrm>
            <a:custGeom>
              <a:avLst/>
              <a:gdLst>
                <a:gd name="csX0" fmla="*/ 0 w 712797"/>
                <a:gd name="csY0" fmla="*/ 5476764 h 5476764"/>
                <a:gd name="csX1" fmla="*/ 65314 w 712797"/>
                <a:gd name="csY1" fmla="*/ 3078796 h 5476764"/>
                <a:gd name="csX2" fmla="*/ 177282 w 712797"/>
                <a:gd name="csY2" fmla="*/ 5131531 h 5476764"/>
                <a:gd name="csX3" fmla="*/ 279918 w 712797"/>
                <a:gd name="csY3" fmla="*/ 1744519 h 5476764"/>
                <a:gd name="csX4" fmla="*/ 373224 w 712797"/>
                <a:gd name="csY4" fmla="*/ 3843906 h 5476764"/>
                <a:gd name="csX5" fmla="*/ 494522 w 712797"/>
                <a:gd name="csY5" fmla="*/ 410241 h 5476764"/>
                <a:gd name="csX6" fmla="*/ 606490 w 712797"/>
                <a:gd name="csY6" fmla="*/ 2574943 h 5476764"/>
                <a:gd name="csX7" fmla="*/ 712797 w 712797"/>
                <a:gd name="csY7" fmla="*/ 0 h 54767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712797" h="5476764">
                  <a:moveTo>
                    <a:pt x="0" y="5476764"/>
                  </a:moveTo>
                  <a:cubicBezTo>
                    <a:pt x="17883" y="4306549"/>
                    <a:pt x="35767" y="3136335"/>
                    <a:pt x="65314" y="3078796"/>
                  </a:cubicBezTo>
                  <a:cubicBezTo>
                    <a:pt x="94861" y="3021257"/>
                    <a:pt x="141515" y="5353910"/>
                    <a:pt x="177282" y="5131531"/>
                  </a:cubicBezTo>
                  <a:cubicBezTo>
                    <a:pt x="213049" y="4909151"/>
                    <a:pt x="247261" y="1959123"/>
                    <a:pt x="279918" y="1744519"/>
                  </a:cubicBezTo>
                  <a:cubicBezTo>
                    <a:pt x="312575" y="1529915"/>
                    <a:pt x="337457" y="4066286"/>
                    <a:pt x="373224" y="3843906"/>
                  </a:cubicBezTo>
                  <a:cubicBezTo>
                    <a:pt x="408991" y="3621526"/>
                    <a:pt x="455644" y="621735"/>
                    <a:pt x="494522" y="410241"/>
                  </a:cubicBezTo>
                  <a:cubicBezTo>
                    <a:pt x="533400" y="198747"/>
                    <a:pt x="567612" y="2808208"/>
                    <a:pt x="606490" y="2574943"/>
                  </a:cubicBezTo>
                  <a:cubicBezTo>
                    <a:pt x="645368" y="2341678"/>
                    <a:pt x="671587" y="1665514"/>
                    <a:pt x="712797" y="0"/>
                  </a:cubicBezTo>
                </a:path>
              </a:pathLst>
            </a:cu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94" name="直線矢印コネクタ 93">
              <a:extLst>
                <a:ext uri="{FF2B5EF4-FFF2-40B4-BE49-F238E27FC236}">
                  <a16:creationId xmlns:a16="http://schemas.microsoft.com/office/drawing/2014/main" id="{073C1470-7EE9-E416-CE5A-453846732D6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42944" y="8093016"/>
              <a:ext cx="1332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矢印コネクタ 94">
              <a:extLst>
                <a:ext uri="{FF2B5EF4-FFF2-40B4-BE49-F238E27FC236}">
                  <a16:creationId xmlns:a16="http://schemas.microsoft.com/office/drawing/2014/main" id="{2C055544-26E6-71A0-2DBC-67199882A9B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797668" y="7205572"/>
              <a:ext cx="288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線矢印コネクタ 95">
              <a:extLst>
                <a:ext uri="{FF2B5EF4-FFF2-40B4-BE49-F238E27FC236}">
                  <a16:creationId xmlns:a16="http://schemas.microsoft.com/office/drawing/2014/main" id="{CFEB4729-6885-1636-2CC0-9A0CFA23231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875308" y="6067728"/>
              <a:ext cx="468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線矢印コネクタ 96">
              <a:extLst>
                <a:ext uri="{FF2B5EF4-FFF2-40B4-BE49-F238E27FC236}">
                  <a16:creationId xmlns:a16="http://schemas.microsoft.com/office/drawing/2014/main" id="{1A19E8D5-14C4-0952-EBB7-5390720C044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931188" y="5741351"/>
              <a:ext cx="468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矢印コネクタ 99">
              <a:extLst>
                <a:ext uri="{FF2B5EF4-FFF2-40B4-BE49-F238E27FC236}">
                  <a16:creationId xmlns:a16="http://schemas.microsoft.com/office/drawing/2014/main" id="{C2DB8047-A003-CDAD-F887-59449778D6F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608598" y="7400218"/>
              <a:ext cx="792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線矢印コネクタ 103">
              <a:extLst>
                <a:ext uri="{FF2B5EF4-FFF2-40B4-BE49-F238E27FC236}">
                  <a16:creationId xmlns:a16="http://schemas.microsoft.com/office/drawing/2014/main" id="{0F025F67-BAE7-308D-AE0E-A3E3101262D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827038" y="5995671"/>
              <a:ext cx="792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テキスト ボックス 104">
              <a:extLst>
                <a:ext uri="{FF2B5EF4-FFF2-40B4-BE49-F238E27FC236}">
                  <a16:creationId xmlns:a16="http://schemas.microsoft.com/office/drawing/2014/main" id="{E557F5B7-2DE1-AC90-D3CB-EB5DCB784F35}"/>
                </a:ext>
              </a:extLst>
            </p:cNvPr>
            <p:cNvSpPr txBox="1"/>
            <p:nvPr/>
          </p:nvSpPr>
          <p:spPr>
            <a:xfrm>
              <a:off x="5773228" y="9486095"/>
              <a:ext cx="41229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3200" dirty="0">
                  <a:latin typeface="Helvetica" pitchFamily="2" charset="0"/>
                </a:rPr>
                <a:t>a</a:t>
              </a:r>
              <a:endParaRPr kumimoji="1" lang="ja-JP" altLang="en-US" sz="3200">
                <a:latin typeface="Helvetica" pitchFamily="2" charset="0"/>
              </a:endParaRPr>
            </a:p>
          </p:txBody>
        </p:sp>
        <p:sp>
          <p:nvSpPr>
            <p:cNvPr id="106" name="テキスト ボックス 105">
              <a:extLst>
                <a:ext uri="{FF2B5EF4-FFF2-40B4-BE49-F238E27FC236}">
                  <a16:creationId xmlns:a16="http://schemas.microsoft.com/office/drawing/2014/main" id="{DF3C00BE-36E3-8E16-C614-8F6221F1DF60}"/>
                </a:ext>
              </a:extLst>
            </p:cNvPr>
            <p:cNvSpPr txBox="1"/>
            <p:nvPr/>
          </p:nvSpPr>
          <p:spPr>
            <a:xfrm>
              <a:off x="8183895" y="7839933"/>
              <a:ext cx="41229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3200" dirty="0">
                  <a:latin typeface="Helvetica" pitchFamily="2" charset="0"/>
                </a:rPr>
                <a:t>b</a:t>
              </a:r>
              <a:endParaRPr kumimoji="1" lang="ja-JP" altLang="en-US" sz="3200">
                <a:latin typeface="Helvetica" pitchFamily="2" charset="0"/>
              </a:endParaRPr>
            </a:p>
          </p:txBody>
        </p:sp>
        <p:sp>
          <p:nvSpPr>
            <p:cNvPr id="107" name="テキスト ボックス 106">
              <a:extLst>
                <a:ext uri="{FF2B5EF4-FFF2-40B4-BE49-F238E27FC236}">
                  <a16:creationId xmlns:a16="http://schemas.microsoft.com/office/drawing/2014/main" id="{9665C616-2712-F57F-D9E7-842F8533CCE2}"/>
                </a:ext>
              </a:extLst>
            </p:cNvPr>
            <p:cNvSpPr txBox="1"/>
            <p:nvPr/>
          </p:nvSpPr>
          <p:spPr>
            <a:xfrm>
              <a:off x="6311431" y="4935963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3200" dirty="0">
                  <a:latin typeface="Helvetica" pitchFamily="2" charset="0"/>
                </a:rPr>
                <a:t>c</a:t>
              </a:r>
              <a:endParaRPr kumimoji="1" lang="ja-JP" altLang="en-US" sz="3200">
                <a:latin typeface="Helvetica" pitchFamily="2" charset="0"/>
              </a:endParaRPr>
            </a:p>
          </p:txBody>
        </p:sp>
        <p:sp>
          <p:nvSpPr>
            <p:cNvPr id="108" name="テキスト ボックス 107">
              <a:extLst>
                <a:ext uri="{FF2B5EF4-FFF2-40B4-BE49-F238E27FC236}">
                  <a16:creationId xmlns:a16="http://schemas.microsoft.com/office/drawing/2014/main" id="{F6D13A76-A4CD-D48A-4DB5-A05088750C89}"/>
                </a:ext>
              </a:extLst>
            </p:cNvPr>
            <p:cNvSpPr txBox="1"/>
            <p:nvPr/>
          </p:nvSpPr>
          <p:spPr>
            <a:xfrm>
              <a:off x="7287661" y="4981067"/>
              <a:ext cx="56457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3200" dirty="0">
                  <a:solidFill>
                    <a:srgbClr val="FF0000"/>
                  </a:solidFill>
                  <a:latin typeface="Helvetica" pitchFamily="2" charset="0"/>
                </a:rPr>
                <a:t>q</a:t>
              </a:r>
              <a:r>
                <a:rPr kumimoji="1" lang="en-US" altLang="ja-JP" sz="3200" baseline="-25000" dirty="0">
                  <a:solidFill>
                    <a:srgbClr val="FF0000"/>
                  </a:solidFill>
                  <a:latin typeface="Helvetica" pitchFamily="2" charset="0"/>
                </a:rPr>
                <a:t>1</a:t>
              </a:r>
              <a:endParaRPr kumimoji="1" lang="ja-JP" altLang="en-US" sz="3200" baseline="-25000">
                <a:solidFill>
                  <a:srgbClr val="FF0000"/>
                </a:solidFill>
                <a:latin typeface="Helvetica" pitchFamily="2" charset="0"/>
              </a:endParaRPr>
            </a:p>
          </p:txBody>
        </p:sp>
        <p:sp>
          <p:nvSpPr>
            <p:cNvPr id="109" name="テキスト ボックス 108">
              <a:extLst>
                <a:ext uri="{FF2B5EF4-FFF2-40B4-BE49-F238E27FC236}">
                  <a16:creationId xmlns:a16="http://schemas.microsoft.com/office/drawing/2014/main" id="{4A143BD1-E443-9E93-EA0F-23DDFC1ADA42}"/>
                </a:ext>
              </a:extLst>
            </p:cNvPr>
            <p:cNvSpPr txBox="1"/>
            <p:nvPr/>
          </p:nvSpPr>
          <p:spPr>
            <a:xfrm>
              <a:off x="10004651" y="9486095"/>
              <a:ext cx="41229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3200" dirty="0">
                  <a:latin typeface="Helvetica" pitchFamily="2" charset="0"/>
                </a:rPr>
                <a:t>a</a:t>
              </a:r>
              <a:endParaRPr kumimoji="1" lang="ja-JP" altLang="en-US" sz="3200">
                <a:latin typeface="Helvetica" pitchFamily="2" charset="0"/>
              </a:endParaRPr>
            </a:p>
          </p:txBody>
        </p:sp>
        <p:sp>
          <p:nvSpPr>
            <p:cNvPr id="110" name="テキスト ボックス 109">
              <a:extLst>
                <a:ext uri="{FF2B5EF4-FFF2-40B4-BE49-F238E27FC236}">
                  <a16:creationId xmlns:a16="http://schemas.microsoft.com/office/drawing/2014/main" id="{C87A2F30-478F-4786-677E-26B4D9DB06E2}"/>
                </a:ext>
              </a:extLst>
            </p:cNvPr>
            <p:cNvSpPr txBox="1"/>
            <p:nvPr/>
          </p:nvSpPr>
          <p:spPr>
            <a:xfrm>
              <a:off x="12415318" y="7839933"/>
              <a:ext cx="41229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3200" dirty="0">
                  <a:latin typeface="Helvetica" pitchFamily="2" charset="0"/>
                </a:rPr>
                <a:t>b</a:t>
              </a:r>
              <a:endParaRPr kumimoji="1" lang="ja-JP" altLang="en-US" sz="3200">
                <a:latin typeface="Helvetica" pitchFamily="2" charset="0"/>
              </a:endParaRPr>
            </a:p>
          </p:txBody>
        </p:sp>
        <p:sp>
          <p:nvSpPr>
            <p:cNvPr id="112" name="テキスト ボックス 111">
              <a:extLst>
                <a:ext uri="{FF2B5EF4-FFF2-40B4-BE49-F238E27FC236}">
                  <a16:creationId xmlns:a16="http://schemas.microsoft.com/office/drawing/2014/main" id="{64E52F19-4062-82D9-F3B3-B0F92F200213}"/>
                </a:ext>
              </a:extLst>
            </p:cNvPr>
            <p:cNvSpPr txBox="1"/>
            <p:nvPr/>
          </p:nvSpPr>
          <p:spPr>
            <a:xfrm>
              <a:off x="10542854" y="4935963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3200" dirty="0">
                  <a:latin typeface="Helvetica" pitchFamily="2" charset="0"/>
                </a:rPr>
                <a:t>c</a:t>
              </a:r>
              <a:endParaRPr kumimoji="1" lang="ja-JP" altLang="en-US" sz="3200">
                <a:latin typeface="Helvetica" pitchFamily="2" charset="0"/>
              </a:endParaRPr>
            </a:p>
          </p:txBody>
        </p:sp>
        <p:sp>
          <p:nvSpPr>
            <p:cNvPr id="113" name="テキスト ボックス 112">
              <a:extLst>
                <a:ext uri="{FF2B5EF4-FFF2-40B4-BE49-F238E27FC236}">
                  <a16:creationId xmlns:a16="http://schemas.microsoft.com/office/drawing/2014/main" id="{9C9348CC-865A-63C0-1169-73A9E2F3A362}"/>
                </a:ext>
              </a:extLst>
            </p:cNvPr>
            <p:cNvSpPr txBox="1"/>
            <p:nvPr/>
          </p:nvSpPr>
          <p:spPr>
            <a:xfrm>
              <a:off x="11519084" y="4981067"/>
              <a:ext cx="56457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3200" dirty="0">
                  <a:solidFill>
                    <a:srgbClr val="FF0000"/>
                  </a:solidFill>
                  <a:latin typeface="Helvetica" pitchFamily="2" charset="0"/>
                </a:rPr>
                <a:t>q</a:t>
              </a:r>
              <a:r>
                <a:rPr kumimoji="1" lang="en-US" altLang="ja-JP" sz="3200" baseline="-25000" dirty="0">
                  <a:solidFill>
                    <a:srgbClr val="FF0000"/>
                  </a:solidFill>
                  <a:latin typeface="Helvetica" pitchFamily="2" charset="0"/>
                </a:rPr>
                <a:t>1</a:t>
              </a:r>
              <a:endParaRPr kumimoji="1" lang="ja-JP" altLang="en-US" sz="3200" baseline="-25000">
                <a:solidFill>
                  <a:srgbClr val="FF0000"/>
                </a:solidFill>
                <a:latin typeface="Helvetica" pitchFamily="2" charset="0"/>
              </a:endParaRPr>
            </a:p>
          </p:txBody>
        </p:sp>
        <p:sp>
          <p:nvSpPr>
            <p:cNvPr id="115" name="テキスト ボックス 114">
              <a:extLst>
                <a:ext uri="{FF2B5EF4-FFF2-40B4-BE49-F238E27FC236}">
                  <a16:creationId xmlns:a16="http://schemas.microsoft.com/office/drawing/2014/main" id="{ED3D2BB2-B9CB-BD53-D630-A60FC8F3CF9D}"/>
                </a:ext>
              </a:extLst>
            </p:cNvPr>
            <p:cNvSpPr txBox="1"/>
            <p:nvPr/>
          </p:nvSpPr>
          <p:spPr>
            <a:xfrm>
              <a:off x="11414672" y="8782424"/>
              <a:ext cx="1444626" cy="6343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800" dirty="0">
                  <a:latin typeface="Helvetica" pitchFamily="2" charset="0"/>
                </a:rPr>
                <a:t>108.5°</a:t>
              </a:r>
              <a:endParaRPr kumimoji="1" lang="ja-JP" altLang="en-US" sz="2800">
                <a:latin typeface="Helvetica" pitchFamily="2" charset="0"/>
              </a:endParaRPr>
            </a:p>
          </p:txBody>
        </p:sp>
        <p:sp>
          <p:nvSpPr>
            <p:cNvPr id="116" name="テキスト ボックス 115">
              <a:extLst>
                <a:ext uri="{FF2B5EF4-FFF2-40B4-BE49-F238E27FC236}">
                  <a16:creationId xmlns:a16="http://schemas.microsoft.com/office/drawing/2014/main" id="{7B2E2AE6-86AE-1F1C-6E32-B8874DDD7326}"/>
                </a:ext>
              </a:extLst>
            </p:cNvPr>
            <p:cNvSpPr txBox="1"/>
            <p:nvPr/>
          </p:nvSpPr>
          <p:spPr>
            <a:xfrm>
              <a:off x="11120850" y="7360952"/>
              <a:ext cx="1244251" cy="6343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800" dirty="0">
                  <a:latin typeface="Helvetica" pitchFamily="2" charset="0"/>
                </a:rPr>
                <a:t>49.5°</a:t>
              </a:r>
              <a:endParaRPr kumimoji="1" lang="ja-JP" altLang="en-US" sz="2800">
                <a:latin typeface="Helvetica" pitchFamily="2" charset="0"/>
              </a:endParaRPr>
            </a:p>
          </p:txBody>
        </p:sp>
        <p:sp>
          <p:nvSpPr>
            <p:cNvPr id="117" name="テキスト ボックス 116">
              <a:extLst>
                <a:ext uri="{FF2B5EF4-FFF2-40B4-BE49-F238E27FC236}">
                  <a16:creationId xmlns:a16="http://schemas.microsoft.com/office/drawing/2014/main" id="{26CF4315-F3C3-9543-6519-ED42B99E89CF}"/>
                </a:ext>
              </a:extLst>
            </p:cNvPr>
            <p:cNvSpPr txBox="1"/>
            <p:nvPr/>
          </p:nvSpPr>
          <p:spPr>
            <a:xfrm>
              <a:off x="5580051" y="4459291"/>
              <a:ext cx="638316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(a)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119" name="テキスト ボックス 118">
              <a:extLst>
                <a:ext uri="{FF2B5EF4-FFF2-40B4-BE49-F238E27FC236}">
                  <a16:creationId xmlns:a16="http://schemas.microsoft.com/office/drawing/2014/main" id="{FBD67358-94F0-1053-7B73-4AE05463DA69}"/>
                </a:ext>
              </a:extLst>
            </p:cNvPr>
            <p:cNvSpPr txBox="1"/>
            <p:nvPr/>
          </p:nvSpPr>
          <p:spPr>
            <a:xfrm>
              <a:off x="9804389" y="4459291"/>
              <a:ext cx="638316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(b)</a:t>
              </a:r>
              <a:endParaRPr lang="ja-JP" altLang="en-US" sz="2900">
                <a:latin typeface="Helvetica" pitchFamily="2" charset="0"/>
              </a:endParaRPr>
            </a:p>
          </p:txBody>
        </p:sp>
      </p:grpSp>
      <p:cxnSp>
        <p:nvCxnSpPr>
          <p:cNvPr id="121" name="直線矢印コネクタ 120">
            <a:extLst>
              <a:ext uri="{FF2B5EF4-FFF2-40B4-BE49-F238E27FC236}">
                <a16:creationId xmlns:a16="http://schemas.microsoft.com/office/drawing/2014/main" id="{522F41FA-F399-2F6D-D807-AE1B7312EC4D}"/>
              </a:ext>
            </a:extLst>
          </p:cNvPr>
          <p:cNvCxnSpPr>
            <a:cxnSpLocks/>
          </p:cNvCxnSpPr>
          <p:nvPr/>
        </p:nvCxnSpPr>
        <p:spPr>
          <a:xfrm rot="5400000">
            <a:off x="10608512" y="6619233"/>
            <a:ext cx="653265" cy="0"/>
          </a:xfrm>
          <a:prstGeom prst="straightConnector1">
            <a:avLst/>
          </a:prstGeom>
          <a:ln w="254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687039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図 263">
            <a:extLst>
              <a:ext uri="{FF2B5EF4-FFF2-40B4-BE49-F238E27FC236}">
                <a16:creationId xmlns:a16="http://schemas.microsoft.com/office/drawing/2014/main" id="{E7B06F01-19A2-A634-FE4D-CF6AC53AF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9017" y="8296275"/>
            <a:ext cx="4254500" cy="3949700"/>
          </a:xfrm>
          <a:prstGeom prst="rect">
            <a:avLst/>
          </a:prstGeom>
        </p:spPr>
      </p:pic>
      <p:pic>
        <p:nvPicPr>
          <p:cNvPr id="84" name="図 83">
            <a:extLst>
              <a:ext uri="{FF2B5EF4-FFF2-40B4-BE49-F238E27FC236}">
                <a16:creationId xmlns:a16="http://schemas.microsoft.com/office/drawing/2014/main" id="{189C1267-9E44-14B9-7846-0A9243857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57484" y="-807993"/>
            <a:ext cx="4565500" cy="4464493"/>
          </a:xfrm>
          <a:prstGeom prst="rect">
            <a:avLst/>
          </a:prstGeom>
        </p:spPr>
      </p:pic>
      <p:grpSp>
        <p:nvGrpSpPr>
          <p:cNvPr id="287" name="グループ化 286">
            <a:extLst>
              <a:ext uri="{FF2B5EF4-FFF2-40B4-BE49-F238E27FC236}">
                <a16:creationId xmlns:a16="http://schemas.microsoft.com/office/drawing/2014/main" id="{CBFA37CD-BCB4-BC3E-2883-483B86EA36E4}"/>
              </a:ext>
            </a:extLst>
          </p:cNvPr>
          <p:cNvGrpSpPr/>
          <p:nvPr/>
        </p:nvGrpSpPr>
        <p:grpSpPr>
          <a:xfrm>
            <a:off x="1279792" y="1935387"/>
            <a:ext cx="10442549" cy="4771311"/>
            <a:chOff x="1279792" y="1935387"/>
            <a:chExt cx="10442549" cy="4771311"/>
          </a:xfrm>
        </p:grpSpPr>
        <p:grpSp>
          <p:nvGrpSpPr>
            <p:cNvPr id="282" name="グループ化 281">
              <a:extLst>
                <a:ext uri="{FF2B5EF4-FFF2-40B4-BE49-F238E27FC236}">
                  <a16:creationId xmlns:a16="http://schemas.microsoft.com/office/drawing/2014/main" id="{AB16EC73-80AC-C2FF-E355-99EF02EEFBCD}"/>
                </a:ext>
              </a:extLst>
            </p:cNvPr>
            <p:cNvGrpSpPr/>
            <p:nvPr/>
          </p:nvGrpSpPr>
          <p:grpSpPr>
            <a:xfrm>
              <a:off x="1279792" y="1935387"/>
              <a:ext cx="10442549" cy="4771311"/>
              <a:chOff x="3392371" y="2881318"/>
              <a:chExt cx="10442549" cy="4771311"/>
            </a:xfrm>
          </p:grpSpPr>
          <p:cxnSp>
            <p:nvCxnSpPr>
              <p:cNvPr id="280" name="直線矢印コネクタ 279">
                <a:extLst>
                  <a:ext uri="{FF2B5EF4-FFF2-40B4-BE49-F238E27FC236}">
                    <a16:creationId xmlns:a16="http://schemas.microsoft.com/office/drawing/2014/main" id="{A6963601-0E80-244F-D9C4-0FB79EDABE8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29540" y="5833271"/>
                <a:ext cx="2182372" cy="107035"/>
              </a:xfrm>
              <a:prstGeom prst="straightConnector1">
                <a:avLst/>
              </a:prstGeom>
              <a:ln w="25400">
                <a:solidFill>
                  <a:srgbClr val="941100"/>
                </a:solidFill>
                <a:headEnd type="none" w="lg" len="lg"/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81" name="テキスト ボックス 280">
                    <a:extLst>
                      <a:ext uri="{FF2B5EF4-FFF2-40B4-BE49-F238E27FC236}">
                        <a16:creationId xmlns:a16="http://schemas.microsoft.com/office/drawing/2014/main" id="{58D5C621-9923-2B0B-ECE1-0DFCBDE51F35}"/>
                      </a:ext>
                    </a:extLst>
                  </p:cNvPr>
                  <p:cNvSpPr txBox="1"/>
                  <p:nvPr/>
                </p:nvSpPr>
                <p:spPr>
                  <a:xfrm>
                    <a:off x="11173686" y="5315592"/>
                    <a:ext cx="986424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sz="3200" b="0" i="1" smtClean="0">
                                <a:solidFill>
                                  <a:srgbClr val="9411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200" b="0" i="1" smtClean="0">
                                <a:solidFill>
                                  <a:srgbClr val="9411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kumimoji="1" lang="en-US" altLang="ja-JP" sz="3200" b="0" i="1" smtClean="0">
                                <a:solidFill>
                                  <a:srgbClr val="9411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a14:m>
                    <a:r>
                      <a:rPr kumimoji="1" lang="en-US" altLang="ja-JP" sz="3200" dirty="0">
                        <a:solidFill>
                          <a:srgbClr val="941100"/>
                        </a:solidFill>
                        <a:latin typeface="Helvetica" pitchFamily="2" charset="0"/>
                      </a:rPr>
                      <a:t>||z</a:t>
                    </a:r>
                    <a:endParaRPr kumimoji="1" lang="ja-JP" altLang="en-US" sz="3200">
                      <a:solidFill>
                        <a:srgbClr val="941100"/>
                      </a:solidFill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281" name="テキスト ボックス 280">
                    <a:extLst>
                      <a:ext uri="{FF2B5EF4-FFF2-40B4-BE49-F238E27FC236}">
                        <a16:creationId xmlns:a16="http://schemas.microsoft.com/office/drawing/2014/main" id="{58D5C621-9923-2B0B-ECE1-0DFCBDE51F3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73686" y="5315592"/>
                    <a:ext cx="986424" cy="58477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5063" t="-14894" r="-15190" b="-34043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8" name="テキスト ボックス 137">
                    <a:extLst>
                      <a:ext uri="{FF2B5EF4-FFF2-40B4-BE49-F238E27FC236}">
                        <a16:creationId xmlns:a16="http://schemas.microsoft.com/office/drawing/2014/main" id="{3836A6F4-E813-7E08-4091-7064A06481E1}"/>
                      </a:ext>
                    </a:extLst>
                  </p:cNvPr>
                  <p:cNvSpPr txBox="1"/>
                  <p:nvPr/>
                </p:nvSpPr>
                <p:spPr>
                  <a:xfrm>
                    <a:off x="7742432" y="6880519"/>
                    <a:ext cx="913455" cy="61587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>
                          <m:sSubSup>
                            <m:sSubSupPr>
                              <m:ctrlPr>
                                <a:rPr kumimoji="1" lang="en-US" altLang="ja-JP" sz="3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ja-JP" sz="3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kumimoji="1" lang="en-US" altLang="ja-JP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kumimoji="1" lang="en-US" altLang="ja-JP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ab</m:t>
                              </m:r>
                            </m:sup>
                          </m:sSubSup>
                        </m:oMath>
                      </m:oMathPara>
                    </a14:m>
                    <a:endParaRPr kumimoji="1" lang="ja-JP" altLang="en-US" sz="3200">
                      <a:solidFill>
                        <a:schemeClr val="tx1"/>
                      </a:solidFill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138" name="テキスト ボックス 137">
                    <a:extLst>
                      <a:ext uri="{FF2B5EF4-FFF2-40B4-BE49-F238E27FC236}">
                        <a16:creationId xmlns:a16="http://schemas.microsoft.com/office/drawing/2014/main" id="{3836A6F4-E813-7E08-4091-7064A06481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42432" y="6880519"/>
                    <a:ext cx="913455" cy="61587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2245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73" name="グループ化 272">
                <a:extLst>
                  <a:ext uri="{FF2B5EF4-FFF2-40B4-BE49-F238E27FC236}">
                    <a16:creationId xmlns:a16="http://schemas.microsoft.com/office/drawing/2014/main" id="{C0905D45-B175-D34E-25D3-FD78B635F437}"/>
                  </a:ext>
                </a:extLst>
              </p:cNvPr>
              <p:cNvGrpSpPr/>
              <p:nvPr/>
            </p:nvGrpSpPr>
            <p:grpSpPr>
              <a:xfrm>
                <a:off x="8398129" y="2881318"/>
                <a:ext cx="5436791" cy="4771311"/>
                <a:chOff x="8533209" y="2767017"/>
                <a:chExt cx="5436791" cy="4771311"/>
              </a:xfrm>
            </p:grpSpPr>
            <p:cxnSp>
              <p:nvCxnSpPr>
                <p:cNvPr id="163" name="直線矢印コネクタ 162">
                  <a:extLst>
                    <a:ext uri="{FF2B5EF4-FFF2-40B4-BE49-F238E27FC236}">
                      <a16:creationId xmlns:a16="http://schemas.microsoft.com/office/drawing/2014/main" id="{A828180F-2572-2A76-C4EF-4A701CB337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285701" y="5489262"/>
                  <a:ext cx="1961835" cy="33666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lg" len="lg"/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直線矢印コネクタ 163">
                  <a:extLst>
                    <a:ext uri="{FF2B5EF4-FFF2-40B4-BE49-F238E27FC236}">
                      <a16:creationId xmlns:a16="http://schemas.microsoft.com/office/drawing/2014/main" id="{A23E24D2-4DC8-B97D-BB20-E90D16218D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275015" y="3545255"/>
                  <a:ext cx="0" cy="230400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lg" len="lg"/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6" name="テキスト ボックス 165">
                  <a:extLst>
                    <a:ext uri="{FF2B5EF4-FFF2-40B4-BE49-F238E27FC236}">
                      <a16:creationId xmlns:a16="http://schemas.microsoft.com/office/drawing/2014/main" id="{1127209D-9A22-5251-3B5F-4B78912EAA94}"/>
                    </a:ext>
                  </a:extLst>
                </p:cNvPr>
                <p:cNvSpPr txBox="1"/>
                <p:nvPr/>
              </p:nvSpPr>
              <p:spPr>
                <a:xfrm>
                  <a:off x="9487269" y="7055988"/>
                  <a:ext cx="412292" cy="4823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3200" dirty="0">
                      <a:latin typeface="Helvetica" pitchFamily="2" charset="0"/>
                    </a:rPr>
                    <a:t>a</a:t>
                  </a:r>
                  <a:endParaRPr kumimoji="1" lang="ja-JP" altLang="en-US" sz="3200">
                    <a:latin typeface="Helvetica" pitchFamily="2" charset="0"/>
                  </a:endParaRPr>
                </a:p>
              </p:txBody>
            </p:sp>
            <p:sp>
              <p:nvSpPr>
                <p:cNvPr id="167" name="テキスト ボックス 166">
                  <a:extLst>
                    <a:ext uri="{FF2B5EF4-FFF2-40B4-BE49-F238E27FC236}">
                      <a16:creationId xmlns:a16="http://schemas.microsoft.com/office/drawing/2014/main" id="{07564ED6-1B52-F64D-59B6-819A836E89CB}"/>
                    </a:ext>
                  </a:extLst>
                </p:cNvPr>
                <p:cNvSpPr txBox="1"/>
                <p:nvPr/>
              </p:nvSpPr>
              <p:spPr>
                <a:xfrm>
                  <a:off x="10896790" y="4967102"/>
                  <a:ext cx="412292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sz="3200" dirty="0">
                      <a:latin typeface="Helvetica" pitchFamily="2" charset="0"/>
                    </a:rPr>
                    <a:t>b</a:t>
                  </a:r>
                  <a:endParaRPr kumimoji="1" lang="ja-JP" altLang="en-US" sz="3200">
                    <a:latin typeface="Helvetica" pitchFamily="2" charset="0"/>
                  </a:endParaRPr>
                </a:p>
              </p:txBody>
            </p:sp>
            <p:sp>
              <p:nvSpPr>
                <p:cNvPr id="168" name="テキスト ボックス 167">
                  <a:extLst>
                    <a:ext uri="{FF2B5EF4-FFF2-40B4-BE49-F238E27FC236}">
                      <a16:creationId xmlns:a16="http://schemas.microsoft.com/office/drawing/2014/main" id="{9404FDFA-6D9A-BC28-CD99-A17DE035B442}"/>
                    </a:ext>
                  </a:extLst>
                </p:cNvPr>
                <p:cNvSpPr txBox="1"/>
                <p:nvPr/>
              </p:nvSpPr>
              <p:spPr>
                <a:xfrm>
                  <a:off x="9315746" y="3384708"/>
                  <a:ext cx="80983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3200" dirty="0">
                      <a:latin typeface="Helvetica" pitchFamily="2" charset="0"/>
                    </a:rPr>
                    <a:t>c||y</a:t>
                  </a:r>
                  <a:endParaRPr kumimoji="1" lang="ja-JP" altLang="en-US" sz="3200">
                    <a:latin typeface="Helvetica" pitchFamily="2" charset="0"/>
                  </a:endParaRPr>
                </a:p>
              </p:txBody>
            </p:sp>
            <p:cxnSp>
              <p:nvCxnSpPr>
                <p:cNvPr id="169" name="直線矢印コネクタ 168">
                  <a:extLst>
                    <a:ext uri="{FF2B5EF4-FFF2-40B4-BE49-F238E27FC236}">
                      <a16:creationId xmlns:a16="http://schemas.microsoft.com/office/drawing/2014/main" id="{0F552283-D02D-F298-96BF-56C965E280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70405" y="5832286"/>
                  <a:ext cx="4090233" cy="970977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prstDash val="solid"/>
                  <a:headEnd type="none" w="lg" len="lg"/>
                  <a:tailEnd type="arrow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直線矢印コネクタ 172">
                  <a:extLst>
                    <a:ext uri="{FF2B5EF4-FFF2-40B4-BE49-F238E27FC236}">
                      <a16:creationId xmlns:a16="http://schemas.microsoft.com/office/drawing/2014/main" id="{BDF1A5B9-9F6A-0B12-4E21-AB65A92FCA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561782" y="5588270"/>
                  <a:ext cx="670254" cy="541037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none"/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2" name="フリーフォーム 201">
                  <a:extLst>
                    <a:ext uri="{FF2B5EF4-FFF2-40B4-BE49-F238E27FC236}">
                      <a16:creationId xmlns:a16="http://schemas.microsoft.com/office/drawing/2014/main" id="{AE4CE200-85AC-C1F4-18A9-5BB3351356E7}"/>
                    </a:ext>
                  </a:extLst>
                </p:cNvPr>
                <p:cNvSpPr/>
                <p:nvPr/>
              </p:nvSpPr>
              <p:spPr>
                <a:xfrm>
                  <a:off x="8727440" y="5253535"/>
                  <a:ext cx="5242560" cy="2023568"/>
                </a:xfrm>
                <a:custGeom>
                  <a:avLst/>
                  <a:gdLst>
                    <a:gd name="csX0" fmla="*/ 0 w 5242560"/>
                    <a:gd name="csY0" fmla="*/ 659585 h 2023568"/>
                    <a:gd name="csX1" fmla="*/ 1270000 w 5242560"/>
                    <a:gd name="csY1" fmla="*/ 19505 h 2023568"/>
                    <a:gd name="csX2" fmla="*/ 426720 w 5242560"/>
                    <a:gd name="csY2" fmla="*/ 1319985 h 2023568"/>
                    <a:gd name="csX3" fmla="*/ 2499360 w 5242560"/>
                    <a:gd name="csY3" fmla="*/ 324305 h 2023568"/>
                    <a:gd name="csX4" fmla="*/ 1666240 w 5242560"/>
                    <a:gd name="csY4" fmla="*/ 1645105 h 2023568"/>
                    <a:gd name="csX5" fmla="*/ 3830320 w 5242560"/>
                    <a:gd name="csY5" fmla="*/ 649425 h 2023568"/>
                    <a:gd name="csX6" fmla="*/ 3017520 w 5242560"/>
                    <a:gd name="csY6" fmla="*/ 2021025 h 2023568"/>
                    <a:gd name="csX7" fmla="*/ 5242560 w 5242560"/>
                    <a:gd name="csY7" fmla="*/ 1015185 h 202356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5242560" h="2023568">
                      <a:moveTo>
                        <a:pt x="0" y="659585"/>
                      </a:moveTo>
                      <a:cubicBezTo>
                        <a:pt x="599440" y="284511"/>
                        <a:pt x="1198880" y="-90562"/>
                        <a:pt x="1270000" y="19505"/>
                      </a:cubicBezTo>
                      <a:cubicBezTo>
                        <a:pt x="1341120" y="129572"/>
                        <a:pt x="221827" y="1269185"/>
                        <a:pt x="426720" y="1319985"/>
                      </a:cubicBezTo>
                      <a:cubicBezTo>
                        <a:pt x="631613" y="1370785"/>
                        <a:pt x="2292773" y="270118"/>
                        <a:pt x="2499360" y="324305"/>
                      </a:cubicBezTo>
                      <a:cubicBezTo>
                        <a:pt x="2705947" y="378492"/>
                        <a:pt x="1444413" y="1590918"/>
                        <a:pt x="1666240" y="1645105"/>
                      </a:cubicBezTo>
                      <a:cubicBezTo>
                        <a:pt x="1888067" y="1699292"/>
                        <a:pt x="3605107" y="586772"/>
                        <a:pt x="3830320" y="649425"/>
                      </a:cubicBezTo>
                      <a:cubicBezTo>
                        <a:pt x="4055533" y="712078"/>
                        <a:pt x="2782147" y="1960065"/>
                        <a:pt x="3017520" y="2021025"/>
                      </a:cubicBezTo>
                      <a:cubicBezTo>
                        <a:pt x="3252893" y="2081985"/>
                        <a:pt x="4958080" y="1027038"/>
                        <a:pt x="5242560" y="1015185"/>
                      </a:cubicBezTo>
                    </a:path>
                  </a:pathLst>
                </a:custGeom>
                <a:noFill/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cxnSp>
              <p:nvCxnSpPr>
                <p:cNvPr id="204" name="直線矢印コネクタ 203">
                  <a:extLst>
                    <a:ext uri="{FF2B5EF4-FFF2-40B4-BE49-F238E27FC236}">
                      <a16:creationId xmlns:a16="http://schemas.microsoft.com/office/drawing/2014/main" id="{C4BC5964-5489-E9FD-3F03-A365D33520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629544" y="6143628"/>
                  <a:ext cx="324799" cy="262182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none"/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直線矢印コネクタ 204">
                  <a:extLst>
                    <a:ext uri="{FF2B5EF4-FFF2-40B4-BE49-F238E27FC236}">
                      <a16:creationId xmlns:a16="http://schemas.microsoft.com/office/drawing/2014/main" id="{F53803E5-8797-85BF-C3DD-4AD9FF520B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898913" y="5910331"/>
                  <a:ext cx="685514" cy="553355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none"/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直線矢印コネクタ 205">
                  <a:extLst>
                    <a:ext uri="{FF2B5EF4-FFF2-40B4-BE49-F238E27FC236}">
                      <a16:creationId xmlns:a16="http://schemas.microsoft.com/office/drawing/2014/main" id="{018C5F77-9BE4-5216-4851-FDBD20B503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262434" y="5903796"/>
                  <a:ext cx="221534" cy="178825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none"/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直線矢印コネクタ 206">
                  <a:extLst>
                    <a:ext uri="{FF2B5EF4-FFF2-40B4-BE49-F238E27FC236}">
                      <a16:creationId xmlns:a16="http://schemas.microsoft.com/office/drawing/2014/main" id="{211882D6-C0C4-E314-359F-7E87C236A8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292046" y="5266233"/>
                  <a:ext cx="685514" cy="553355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none"/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直線矢印コネクタ 208">
                  <a:extLst>
                    <a:ext uri="{FF2B5EF4-FFF2-40B4-BE49-F238E27FC236}">
                      <a16:creationId xmlns:a16="http://schemas.microsoft.com/office/drawing/2014/main" id="{D9EEE5F3-938C-439D-FD4A-2A1C3269D7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454688" y="5629379"/>
                  <a:ext cx="319987" cy="258297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none"/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直線矢印コネクタ 209">
                  <a:extLst>
                    <a:ext uri="{FF2B5EF4-FFF2-40B4-BE49-F238E27FC236}">
                      <a16:creationId xmlns:a16="http://schemas.microsoft.com/office/drawing/2014/main" id="{79C481C6-5E17-5F86-1E82-D0EE608EA8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181546" y="5943531"/>
                  <a:ext cx="571285" cy="461148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triangle" w="lg" len="lg"/>
                  <a:tailEnd type="non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直線矢印コネクタ 210">
                  <a:extLst>
                    <a:ext uri="{FF2B5EF4-FFF2-40B4-BE49-F238E27FC236}">
                      <a16:creationId xmlns:a16="http://schemas.microsoft.com/office/drawing/2014/main" id="{2B93F76C-F72A-8C3A-2646-7896AC85C3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466608" y="6010906"/>
                  <a:ext cx="560918" cy="45278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triangle" w="lg" len="lg"/>
                  <a:tailEnd type="non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直線矢印コネクタ 220">
                  <a:extLst>
                    <a:ext uri="{FF2B5EF4-FFF2-40B4-BE49-F238E27FC236}">
                      <a16:creationId xmlns:a16="http://schemas.microsoft.com/office/drawing/2014/main" id="{70EA3564-D23A-66DA-723B-6B2EB0A73C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373201" y="6265319"/>
                  <a:ext cx="726464" cy="58641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triangle" w="lg" len="lg"/>
                  <a:tailEnd type="non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直線矢印コネクタ 223">
                  <a:extLst>
                    <a:ext uri="{FF2B5EF4-FFF2-40B4-BE49-F238E27FC236}">
                      <a16:creationId xmlns:a16="http://schemas.microsoft.com/office/drawing/2014/main" id="{86EED0E3-8338-C571-43D2-F796CC7BCB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968023" y="6343079"/>
                  <a:ext cx="400158" cy="323012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triangle" w="lg" len="lg"/>
                  <a:tailEnd type="non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直線矢印コネクタ 225">
                  <a:extLst>
                    <a:ext uri="{FF2B5EF4-FFF2-40B4-BE49-F238E27FC236}">
                      <a16:creationId xmlns:a16="http://schemas.microsoft.com/office/drawing/2014/main" id="{7765BD33-0B22-6D76-0150-F9144C2865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732661" y="6581778"/>
                  <a:ext cx="726464" cy="58641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triangle" w="lg" len="lg"/>
                  <a:tailEnd type="non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直線矢印コネクタ 226">
                  <a:extLst>
                    <a:ext uri="{FF2B5EF4-FFF2-40B4-BE49-F238E27FC236}">
                      <a16:creationId xmlns:a16="http://schemas.microsoft.com/office/drawing/2014/main" id="{2EED3403-FECD-EB85-5AB9-A0AF6A5B91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123336" y="6659538"/>
                  <a:ext cx="604305" cy="487802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triangle" w="lg" len="lg"/>
                  <a:tailEnd type="non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30" name="テキスト ボックス 229">
                      <a:extLst>
                        <a:ext uri="{FF2B5EF4-FFF2-40B4-BE49-F238E27FC236}">
                          <a16:creationId xmlns:a16="http://schemas.microsoft.com/office/drawing/2014/main" id="{7906824B-CEE9-E5AF-E971-EB3C4E28230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881754" y="6772883"/>
                      <a:ext cx="913455" cy="61587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>
                            <m:sSubSup>
                              <m:sSubSupPr>
                                <m:ctrlPr>
                                  <a:rPr kumimoji="1" lang="en-US" altLang="ja-JP" sz="3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ja-JP" sz="3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kumimoji="1" lang="en-US" altLang="ja-JP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kumimoji="1" lang="en-US" altLang="ja-JP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ab</m:t>
                                </m:r>
                              </m:sup>
                            </m:sSubSup>
                          </m:oMath>
                        </m:oMathPara>
                      </a14:m>
                      <a:endParaRPr kumimoji="1" lang="ja-JP" altLang="en-US" sz="320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p:txBody>
                </p:sp>
              </mc:Choice>
              <mc:Fallback>
                <p:sp>
                  <p:nvSpPr>
                    <p:cNvPr id="230" name="テキスト ボックス 229">
                      <a:extLst>
                        <a:ext uri="{FF2B5EF4-FFF2-40B4-BE49-F238E27FC236}">
                          <a16:creationId xmlns:a16="http://schemas.microsoft.com/office/drawing/2014/main" id="{7906824B-CEE9-E5AF-E971-EB3C4E28230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881754" y="6772883"/>
                      <a:ext cx="913455" cy="615874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b="-1224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61" name="グループ化 260">
                  <a:extLst>
                    <a:ext uri="{FF2B5EF4-FFF2-40B4-BE49-F238E27FC236}">
                      <a16:creationId xmlns:a16="http://schemas.microsoft.com/office/drawing/2014/main" id="{DE724569-61CD-2196-43CD-D1CEC6DBB5FC}"/>
                    </a:ext>
                  </a:extLst>
                </p:cNvPr>
                <p:cNvGrpSpPr/>
                <p:nvPr/>
              </p:nvGrpSpPr>
              <p:grpSpPr>
                <a:xfrm>
                  <a:off x="10057428" y="2767017"/>
                  <a:ext cx="3889380" cy="2163906"/>
                  <a:chOff x="10343185" y="2867033"/>
                  <a:chExt cx="3889380" cy="2163906"/>
                </a:xfrm>
              </p:grpSpPr>
              <p:sp>
                <p:nvSpPr>
                  <p:cNvPr id="231" name="平行四辺形 230">
                    <a:extLst>
                      <a:ext uri="{FF2B5EF4-FFF2-40B4-BE49-F238E27FC236}">
                        <a16:creationId xmlns:a16="http://schemas.microsoft.com/office/drawing/2014/main" id="{33DB8473-11AA-21A8-455F-1F94ECAF246B}"/>
                      </a:ext>
                    </a:extLst>
                  </p:cNvPr>
                  <p:cNvSpPr/>
                  <p:nvPr/>
                </p:nvSpPr>
                <p:spPr>
                  <a:xfrm>
                    <a:off x="10343185" y="3918845"/>
                    <a:ext cx="3889380" cy="1112094"/>
                  </a:xfrm>
                  <a:prstGeom prst="parallelogram">
                    <a:avLst>
                      <a:gd name="adj" fmla="val 100228"/>
                    </a:avLst>
                  </a:prstGeom>
                  <a:noFill/>
                  <a:ln w="127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cxnSp>
                <p:nvCxnSpPr>
                  <p:cNvPr id="232" name="直線矢印コネクタ 231">
                    <a:extLst>
                      <a:ext uri="{FF2B5EF4-FFF2-40B4-BE49-F238E27FC236}">
                        <a16:creationId xmlns:a16="http://schemas.microsoft.com/office/drawing/2014/main" id="{7040B4D2-7532-2F89-5AEB-F6340842892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599726" y="4019624"/>
                    <a:ext cx="1171259" cy="200997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headEnd type="none" w="lg" len="lg"/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3" name="直線矢印コネクタ 232">
                    <a:extLst>
                      <a:ext uri="{FF2B5EF4-FFF2-40B4-BE49-F238E27FC236}">
                        <a16:creationId xmlns:a16="http://schemas.microsoft.com/office/drawing/2014/main" id="{6C671A39-4F9D-9185-C333-FAB4A3054F9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589040" y="2876652"/>
                    <a:ext cx="0" cy="1367296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headEnd type="none" w="lg" len="lg"/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4" name="直線矢印コネクタ 233">
                    <a:extLst>
                      <a:ext uri="{FF2B5EF4-FFF2-40B4-BE49-F238E27FC236}">
                        <a16:creationId xmlns:a16="http://schemas.microsoft.com/office/drawing/2014/main" id="{586F11AB-860A-7C43-45D8-2425A6E4B57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1590000" y="4220621"/>
                    <a:ext cx="97801" cy="762205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headEnd type="none" w="lg" len="lg"/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9" name="直線矢印コネクタ 238">
                    <a:extLst>
                      <a:ext uri="{FF2B5EF4-FFF2-40B4-BE49-F238E27FC236}">
                        <a16:creationId xmlns:a16="http://schemas.microsoft.com/office/drawing/2014/main" id="{E868FB70-885A-7E63-4892-8E3E706CD1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598767" y="3453571"/>
                    <a:ext cx="949326" cy="766307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none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2" name="直線矢印コネクタ 241">
                    <a:extLst>
                      <a:ext uri="{FF2B5EF4-FFF2-40B4-BE49-F238E27FC236}">
                        <a16:creationId xmlns:a16="http://schemas.microsoft.com/office/drawing/2014/main" id="{D744D606-D28D-8D19-59B1-0BE21A3527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2510767" y="3472838"/>
                    <a:ext cx="0" cy="690712"/>
                  </a:xfrm>
                  <a:prstGeom prst="straightConnector1">
                    <a:avLst/>
                  </a:prstGeom>
                  <a:ln w="22225" cap="rnd">
                    <a:solidFill>
                      <a:schemeClr val="tx1"/>
                    </a:solidFill>
                    <a:prstDash val="sysDot"/>
                    <a:headEnd type="non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7" name="直線矢印コネクタ 246">
                    <a:extLst>
                      <a:ext uri="{FF2B5EF4-FFF2-40B4-BE49-F238E27FC236}">
                        <a16:creationId xmlns:a16="http://schemas.microsoft.com/office/drawing/2014/main" id="{D584F32D-693E-D686-1652-D61C6731EFD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1589040" y="4163550"/>
                    <a:ext cx="921727" cy="67250"/>
                  </a:xfrm>
                  <a:prstGeom prst="straightConnector1">
                    <a:avLst/>
                  </a:prstGeom>
                  <a:ln w="22225" cap="rnd">
                    <a:solidFill>
                      <a:schemeClr val="tx1"/>
                    </a:solidFill>
                    <a:prstDash val="sysDot"/>
                    <a:round/>
                    <a:headEnd type="non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51" name="円弧 250">
                    <a:extLst>
                      <a:ext uri="{FF2B5EF4-FFF2-40B4-BE49-F238E27FC236}">
                        <a16:creationId xmlns:a16="http://schemas.microsoft.com/office/drawing/2014/main" id="{F0015A59-6D8A-C8FD-53EE-71DFF459DE60}"/>
                      </a:ext>
                    </a:extLst>
                  </p:cNvPr>
                  <p:cNvSpPr/>
                  <p:nvPr/>
                </p:nvSpPr>
                <p:spPr>
                  <a:xfrm rot="6093443">
                    <a:off x="11291145" y="3654506"/>
                    <a:ext cx="914400" cy="914400"/>
                  </a:xfrm>
                  <a:prstGeom prst="arc">
                    <a:avLst/>
                  </a:prstGeom>
                  <a:ln w="12700">
                    <a:solidFill>
                      <a:srgbClr val="941651"/>
                    </a:solidFill>
                    <a:headEnd type="triangle"/>
                    <a:tailEnd type="non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52" name="円弧 251">
                    <a:extLst>
                      <a:ext uri="{FF2B5EF4-FFF2-40B4-BE49-F238E27FC236}">
                        <a16:creationId xmlns:a16="http://schemas.microsoft.com/office/drawing/2014/main" id="{573FAD3B-C023-0F0A-9E66-A43820C17FC7}"/>
                      </a:ext>
                    </a:extLst>
                  </p:cNvPr>
                  <p:cNvSpPr/>
                  <p:nvPr/>
                </p:nvSpPr>
                <p:spPr>
                  <a:xfrm rot="19869030">
                    <a:off x="11425616" y="3601105"/>
                    <a:ext cx="747050" cy="747050"/>
                  </a:xfrm>
                  <a:prstGeom prst="arc">
                    <a:avLst/>
                  </a:prstGeom>
                  <a:ln w="12700">
                    <a:solidFill>
                      <a:schemeClr val="accent1"/>
                    </a:solidFill>
                    <a:headEnd type="none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>
                      <a:solidFill>
                        <a:schemeClr val="accent1"/>
                      </a:solidFill>
                    </a:endParaRPr>
                  </a:p>
                </p:txBody>
              </p:sp>
              <p:sp>
                <p:nvSpPr>
                  <p:cNvPr id="253" name="テキスト ボックス 252">
                    <a:extLst>
                      <a:ext uri="{FF2B5EF4-FFF2-40B4-BE49-F238E27FC236}">
                        <a16:creationId xmlns:a16="http://schemas.microsoft.com/office/drawing/2014/main" id="{33539BF7-F663-3884-1CCE-6C75E5A7A6DC}"/>
                      </a:ext>
                    </a:extLst>
                  </p:cNvPr>
                  <p:cNvSpPr txBox="1"/>
                  <p:nvPr/>
                </p:nvSpPr>
                <p:spPr>
                  <a:xfrm>
                    <a:off x="11234853" y="4501381"/>
                    <a:ext cx="35618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ja-JP" sz="2400" dirty="0">
                        <a:latin typeface="Helvetica" pitchFamily="2" charset="0"/>
                      </a:rPr>
                      <a:t>a</a:t>
                    </a:r>
                    <a:endParaRPr kumimoji="1" lang="ja-JP" altLang="en-US" sz="2400">
                      <a:latin typeface="Helvetica" pitchFamily="2" charset="0"/>
                    </a:endParaRPr>
                  </a:p>
                </p:txBody>
              </p:sp>
              <p:sp>
                <p:nvSpPr>
                  <p:cNvPr id="254" name="テキスト ボックス 253">
                    <a:extLst>
                      <a:ext uri="{FF2B5EF4-FFF2-40B4-BE49-F238E27FC236}">
                        <a16:creationId xmlns:a16="http://schemas.microsoft.com/office/drawing/2014/main" id="{AEB3A726-D49B-E314-E291-99FC7A46CF14}"/>
                      </a:ext>
                    </a:extLst>
                  </p:cNvPr>
                  <p:cNvSpPr txBox="1"/>
                  <p:nvPr/>
                </p:nvSpPr>
                <p:spPr>
                  <a:xfrm>
                    <a:off x="12705285" y="3848232"/>
                    <a:ext cx="41229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kumimoji="1" lang="en-US" altLang="ja-JP" sz="2400" dirty="0">
                        <a:latin typeface="Helvetica" pitchFamily="2" charset="0"/>
                      </a:rPr>
                      <a:t>b</a:t>
                    </a:r>
                    <a:endParaRPr kumimoji="1" lang="ja-JP" altLang="en-US" sz="2400">
                      <a:latin typeface="Helvetica" pitchFamily="2" charset="0"/>
                    </a:endParaRPr>
                  </a:p>
                </p:txBody>
              </p:sp>
              <p:sp>
                <p:nvSpPr>
                  <p:cNvPr id="255" name="テキスト ボックス 254">
                    <a:extLst>
                      <a:ext uri="{FF2B5EF4-FFF2-40B4-BE49-F238E27FC236}">
                        <a16:creationId xmlns:a16="http://schemas.microsoft.com/office/drawing/2014/main" id="{1168DFFE-E3DE-C4B0-8E8B-3F0C3684A863}"/>
                      </a:ext>
                    </a:extLst>
                  </p:cNvPr>
                  <p:cNvSpPr txBox="1"/>
                  <p:nvPr/>
                </p:nvSpPr>
                <p:spPr>
                  <a:xfrm>
                    <a:off x="11138795" y="2867033"/>
                    <a:ext cx="338554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ja-JP" sz="2400" dirty="0">
                        <a:latin typeface="Helvetica" pitchFamily="2" charset="0"/>
                      </a:rPr>
                      <a:t>c</a:t>
                    </a:r>
                    <a:endParaRPr kumimoji="1" lang="ja-JP" altLang="en-US" sz="2400">
                      <a:latin typeface="Helvetica" pitchFamily="2" charset="0"/>
                    </a:endParaRPr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56" name="テキスト ボックス 255">
                        <a:extLst>
                          <a:ext uri="{FF2B5EF4-FFF2-40B4-BE49-F238E27FC236}">
                            <a16:creationId xmlns:a16="http://schemas.microsoft.com/office/drawing/2014/main" id="{9BD37570-505B-BB1E-E9CF-F3AB19655D6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706934" y="4376721"/>
                        <a:ext cx="1742400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14:m>
                          <m:oMathPara xmlns:m="http://schemas.openxmlformats.org/officeDocument/2006/math">
                            <m:oMath>
                              <m:r>
                                <a:rPr kumimoji="1" lang="en-US" altLang="ja-JP" sz="2400" i="1" smtClean="0">
                                  <a:solidFill>
                                    <a:srgbClr val="9416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rgbClr val="9416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=108.5°</m:t>
                              </m:r>
                            </m:oMath>
                          </m:oMathPara>
                        </a14:m>
                        <a:endParaRPr kumimoji="1" lang="ja-JP" altLang="en-US" sz="2400">
                          <a:solidFill>
                            <a:srgbClr val="941651"/>
                          </a:solidFill>
                          <a:latin typeface="Helvetica" pitchFamily="2" charset="0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256" name="テキスト ボックス 255">
                        <a:extLst>
                          <a:ext uri="{FF2B5EF4-FFF2-40B4-BE49-F238E27FC236}">
                            <a16:creationId xmlns:a16="http://schemas.microsoft.com/office/drawing/2014/main" id="{9BD37570-505B-BB1E-E9CF-F3AB19655D6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706934" y="4376721"/>
                        <a:ext cx="1742400" cy="461665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 b="-8108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57" name="テキスト ボックス 256">
                        <a:extLst>
                          <a:ext uri="{FF2B5EF4-FFF2-40B4-BE49-F238E27FC236}">
                            <a16:creationId xmlns:a16="http://schemas.microsoft.com/office/drawing/2014/main" id="{60F7556B-97DF-3025-4B45-BE381C7756C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477349" y="3010595"/>
                        <a:ext cx="1539652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r>
                                <a:rPr kumimoji="1" lang="en-US" altLang="ja-JP" sz="24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=49.5°</m:t>
                              </m:r>
                            </m:oMath>
                          </m:oMathPara>
                        </a14:m>
                        <a:endParaRPr kumimoji="1" lang="ja-JP" altLang="en-US" sz="2400">
                          <a:solidFill>
                            <a:schemeClr val="accent1"/>
                          </a:solidFill>
                          <a:latin typeface="Helvetica" pitchFamily="2" charset="0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257" name="テキスト ボックス 256">
                        <a:extLst>
                          <a:ext uri="{FF2B5EF4-FFF2-40B4-BE49-F238E27FC236}">
                            <a16:creationId xmlns:a16="http://schemas.microsoft.com/office/drawing/2014/main" id="{60F7556B-97DF-3025-4B45-BE381C7756C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477349" y="3010595"/>
                        <a:ext cx="1539652" cy="461665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259" name="テキスト ボックス 258">
                  <a:extLst>
                    <a:ext uri="{FF2B5EF4-FFF2-40B4-BE49-F238E27FC236}">
                      <a16:creationId xmlns:a16="http://schemas.microsoft.com/office/drawing/2014/main" id="{BDCEC4A6-3CA7-44A4-BBF5-05E68A6C35BF}"/>
                    </a:ext>
                  </a:extLst>
                </p:cNvPr>
                <p:cNvSpPr txBox="1"/>
                <p:nvPr/>
              </p:nvSpPr>
              <p:spPr>
                <a:xfrm>
                  <a:off x="8533209" y="2865813"/>
                  <a:ext cx="748923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3600" dirty="0">
                      <a:latin typeface="Helvetica" pitchFamily="2" charset="0"/>
                    </a:rPr>
                    <a:t>(b)</a:t>
                  </a:r>
                  <a:endParaRPr kumimoji="1" lang="ja-JP" altLang="en-US" sz="3600">
                    <a:latin typeface="Helvetica" pitchFamily="2" charset="0"/>
                  </a:endParaRPr>
                </a:p>
              </p:txBody>
            </p:sp>
            <p:cxnSp>
              <p:nvCxnSpPr>
                <p:cNvPr id="165" name="直線矢印コネクタ 164">
                  <a:extLst>
                    <a:ext uri="{FF2B5EF4-FFF2-40B4-BE49-F238E27FC236}">
                      <a16:creationId xmlns:a16="http://schemas.microsoft.com/office/drawing/2014/main" id="{E64EF558-44FB-EB7F-3881-C4B8B3FBA6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79383" y="5832286"/>
                  <a:ext cx="202862" cy="158099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lg" len="lg"/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グループ化 271">
                <a:extLst>
                  <a:ext uri="{FF2B5EF4-FFF2-40B4-BE49-F238E27FC236}">
                    <a16:creationId xmlns:a16="http://schemas.microsoft.com/office/drawing/2014/main" id="{C2CBB37E-EF10-F319-8FD3-3CB0CC0CCFB9}"/>
                  </a:ext>
                </a:extLst>
              </p:cNvPr>
              <p:cNvGrpSpPr/>
              <p:nvPr/>
            </p:nvGrpSpPr>
            <p:grpSpPr>
              <a:xfrm>
                <a:off x="3392371" y="2980114"/>
                <a:ext cx="4833379" cy="4669459"/>
                <a:chOff x="3392371" y="2980114"/>
                <a:chExt cx="4833379" cy="4669459"/>
              </a:xfrm>
            </p:grpSpPr>
            <p:cxnSp>
              <p:nvCxnSpPr>
                <p:cNvPr id="266" name="直線矢印コネクタ 265">
                  <a:extLst>
                    <a:ext uri="{FF2B5EF4-FFF2-40B4-BE49-F238E27FC236}">
                      <a16:creationId xmlns:a16="http://schemas.microsoft.com/office/drawing/2014/main" id="{7651363A-5544-3953-2409-F19B027ACF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136805" y="5836700"/>
                  <a:ext cx="2182372" cy="107035"/>
                </a:xfrm>
                <a:prstGeom prst="straightConnector1">
                  <a:avLst/>
                </a:prstGeom>
                <a:ln w="25400">
                  <a:solidFill>
                    <a:srgbClr val="941100"/>
                  </a:solidFill>
                  <a:headEnd type="none" w="lg" len="lg"/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65" name="グループ化 264">
                  <a:extLst>
                    <a:ext uri="{FF2B5EF4-FFF2-40B4-BE49-F238E27FC236}">
                      <a16:creationId xmlns:a16="http://schemas.microsoft.com/office/drawing/2014/main" id="{37E3062B-550E-002D-575B-6EB125BFD350}"/>
                    </a:ext>
                  </a:extLst>
                </p:cNvPr>
                <p:cNvGrpSpPr/>
                <p:nvPr/>
              </p:nvGrpSpPr>
              <p:grpSpPr>
                <a:xfrm>
                  <a:off x="3392371" y="2980114"/>
                  <a:ext cx="4833379" cy="4669459"/>
                  <a:chOff x="3392371" y="2980114"/>
                  <a:chExt cx="4833379" cy="4669459"/>
                </a:xfrm>
              </p:grpSpPr>
              <p:cxnSp>
                <p:nvCxnSpPr>
                  <p:cNvPr id="104" name="直線矢印コネクタ 103">
                    <a:extLst>
                      <a:ext uri="{FF2B5EF4-FFF2-40B4-BE49-F238E27FC236}">
                        <a16:creationId xmlns:a16="http://schemas.microsoft.com/office/drawing/2014/main" id="{9887B9BA-B069-1AC0-0445-193C5AF3540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149776" y="5600507"/>
                    <a:ext cx="1961835" cy="336666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headEnd type="none" w="lg" len="lg"/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" name="直線矢印コネクタ 104">
                    <a:extLst>
                      <a:ext uri="{FF2B5EF4-FFF2-40B4-BE49-F238E27FC236}">
                        <a16:creationId xmlns:a16="http://schemas.microsoft.com/office/drawing/2014/main" id="{A4F3B25D-0E99-0660-E1C3-5E9A198FA14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139902" y="3656500"/>
                    <a:ext cx="0" cy="2304000"/>
                  </a:xfrm>
                  <a:prstGeom prst="straightConnector1">
                    <a:avLst/>
                  </a:prstGeom>
                  <a:ln w="19050" cap="flat" cmpd="sng">
                    <a:solidFill>
                      <a:schemeClr val="tx1"/>
                    </a:solidFill>
                    <a:headEnd type="none" w="sm" len="lg"/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直線矢印コネクタ 105">
                    <a:extLst>
                      <a:ext uri="{FF2B5EF4-FFF2-40B4-BE49-F238E27FC236}">
                        <a16:creationId xmlns:a16="http://schemas.microsoft.com/office/drawing/2014/main" id="{F6B7D549-5A22-52D6-795E-87E2E08B15D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38840" y="5943531"/>
                    <a:ext cx="202862" cy="1580993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headEnd type="none" w="lg" len="lg"/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7" name="テキスト ボックス 106">
                    <a:extLst>
                      <a:ext uri="{FF2B5EF4-FFF2-40B4-BE49-F238E27FC236}">
                        <a16:creationId xmlns:a16="http://schemas.microsoft.com/office/drawing/2014/main" id="{0436DC6C-FAA6-41F4-2181-A6AB5D69B244}"/>
                      </a:ext>
                    </a:extLst>
                  </p:cNvPr>
                  <p:cNvSpPr txBox="1"/>
                  <p:nvPr/>
                </p:nvSpPr>
                <p:spPr>
                  <a:xfrm>
                    <a:off x="4342108" y="7167233"/>
                    <a:ext cx="412292" cy="48234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ja-JP" sz="3200" dirty="0">
                        <a:latin typeface="Helvetica" pitchFamily="2" charset="0"/>
                      </a:rPr>
                      <a:t>a</a:t>
                    </a:r>
                    <a:endParaRPr kumimoji="1" lang="ja-JP" altLang="en-US" sz="3200">
                      <a:latin typeface="Helvetica" pitchFamily="2" charset="0"/>
                    </a:endParaRPr>
                  </a:p>
                </p:txBody>
              </p:sp>
              <p:sp>
                <p:nvSpPr>
                  <p:cNvPr id="108" name="テキスト ボックス 107">
                    <a:extLst>
                      <a:ext uri="{FF2B5EF4-FFF2-40B4-BE49-F238E27FC236}">
                        <a16:creationId xmlns:a16="http://schemas.microsoft.com/office/drawing/2014/main" id="{D4E98586-4F7F-A5CC-E8A4-6AE0E2B7226F}"/>
                      </a:ext>
                    </a:extLst>
                  </p:cNvPr>
                  <p:cNvSpPr txBox="1"/>
                  <p:nvPr/>
                </p:nvSpPr>
                <p:spPr>
                  <a:xfrm>
                    <a:off x="5751629" y="5078347"/>
                    <a:ext cx="412292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kumimoji="1" lang="en-US" altLang="ja-JP" sz="3200" dirty="0">
                        <a:latin typeface="Helvetica" pitchFamily="2" charset="0"/>
                      </a:rPr>
                      <a:t>b</a:t>
                    </a:r>
                    <a:endParaRPr kumimoji="1" lang="ja-JP" altLang="en-US" sz="3200">
                      <a:latin typeface="Helvetica" pitchFamily="2" charset="0"/>
                    </a:endParaRPr>
                  </a:p>
                </p:txBody>
              </p:sp>
              <p:sp>
                <p:nvSpPr>
                  <p:cNvPr id="109" name="テキスト ボックス 108">
                    <a:extLst>
                      <a:ext uri="{FF2B5EF4-FFF2-40B4-BE49-F238E27FC236}">
                        <a16:creationId xmlns:a16="http://schemas.microsoft.com/office/drawing/2014/main" id="{5850D560-78C8-1994-DC7D-D66B2C22F7C2}"/>
                      </a:ext>
                    </a:extLst>
                  </p:cNvPr>
                  <p:cNvSpPr txBox="1"/>
                  <p:nvPr/>
                </p:nvSpPr>
                <p:spPr>
                  <a:xfrm>
                    <a:off x="4170585" y="3495953"/>
                    <a:ext cx="809837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ja-JP" sz="3200" dirty="0">
                        <a:latin typeface="Helvetica" pitchFamily="2" charset="0"/>
                      </a:rPr>
                      <a:t>c||y</a:t>
                    </a:r>
                    <a:endParaRPr kumimoji="1" lang="ja-JP" altLang="en-US" sz="3200">
                      <a:latin typeface="Helvetica" pitchFamily="2" charset="0"/>
                    </a:endParaRPr>
                  </a:p>
                </p:txBody>
              </p:sp>
              <p:cxnSp>
                <p:nvCxnSpPr>
                  <p:cNvPr id="110" name="直線矢印コネクタ 109">
                    <a:extLst>
                      <a:ext uri="{FF2B5EF4-FFF2-40B4-BE49-F238E27FC236}">
                        <a16:creationId xmlns:a16="http://schemas.microsoft.com/office/drawing/2014/main" id="{F12917AC-EBD1-4120-57DD-1F793F0E4B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25244" y="5943531"/>
                    <a:ext cx="4090233" cy="970977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  <a:headEnd type="none" w="lg" len="lg"/>
                    <a:tailEnd type="arrow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2" name="直線矢印コネクタ 111">
                    <a:extLst>
                      <a:ext uri="{FF2B5EF4-FFF2-40B4-BE49-F238E27FC236}">
                        <a16:creationId xmlns:a16="http://schemas.microsoft.com/office/drawing/2014/main" id="{1C97BDAE-27A8-2447-CF52-ED32D144858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137866" y="5186121"/>
                    <a:ext cx="0" cy="756000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none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2" name="直線矢印コネクタ 121">
                    <a:extLst>
                      <a:ext uri="{FF2B5EF4-FFF2-40B4-BE49-F238E27FC236}">
                        <a16:creationId xmlns:a16="http://schemas.microsoft.com/office/drawing/2014/main" id="{2010195D-1CDF-D9C7-F412-70886257BB9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333010" y="5663122"/>
                    <a:ext cx="0" cy="331866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none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" name="直線矢印コネクタ 123">
                    <a:extLst>
                      <a:ext uri="{FF2B5EF4-FFF2-40B4-BE49-F238E27FC236}">
                        <a16:creationId xmlns:a16="http://schemas.microsoft.com/office/drawing/2014/main" id="{7D53B89C-E44C-A1C0-2D51-CDC3833CF8C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130793" y="5974287"/>
                    <a:ext cx="0" cy="218185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none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7" name="直線矢印コネクタ 126">
                    <a:extLst>
                      <a:ext uri="{FF2B5EF4-FFF2-40B4-BE49-F238E27FC236}">
                        <a16:creationId xmlns:a16="http://schemas.microsoft.com/office/drawing/2014/main" id="{BA3BF608-1B19-B5E2-EEA1-DEA5578092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396125" y="5450440"/>
                    <a:ext cx="0" cy="792000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none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9" name="直線矢印コネクタ 128">
                    <a:extLst>
                      <a:ext uri="{FF2B5EF4-FFF2-40B4-BE49-F238E27FC236}">
                        <a16:creationId xmlns:a16="http://schemas.microsoft.com/office/drawing/2014/main" id="{05E82387-AFBF-3207-F1BF-0C0AAF03A84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492793" y="6291747"/>
                    <a:ext cx="0" cy="216000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none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1" name="直線矢印コネクタ 130">
                    <a:extLst>
                      <a:ext uri="{FF2B5EF4-FFF2-40B4-BE49-F238E27FC236}">
                        <a16:creationId xmlns:a16="http://schemas.microsoft.com/office/drawing/2014/main" id="{322B29C2-6E7C-0A18-48AD-B940DA0D52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578582" y="6043415"/>
                    <a:ext cx="0" cy="454821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" name="直線矢印コネクタ 132">
                    <a:extLst>
                      <a:ext uri="{FF2B5EF4-FFF2-40B4-BE49-F238E27FC236}">
                        <a16:creationId xmlns:a16="http://schemas.microsoft.com/office/drawing/2014/main" id="{45CDA080-49EA-9FA8-3737-C98045B0BD3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954525" y="6360091"/>
                    <a:ext cx="0" cy="612000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" name="直線矢印コネクタ 133">
                    <a:extLst>
                      <a:ext uri="{FF2B5EF4-FFF2-40B4-BE49-F238E27FC236}">
                        <a16:creationId xmlns:a16="http://schemas.microsoft.com/office/drawing/2014/main" id="{4822E1C9-1AC1-2EF7-A953-076C532B06F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308863" y="6689348"/>
                    <a:ext cx="0" cy="503999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6" name="直線矢印コネクタ 135">
                    <a:extLst>
                      <a:ext uri="{FF2B5EF4-FFF2-40B4-BE49-F238E27FC236}">
                        <a16:creationId xmlns:a16="http://schemas.microsoft.com/office/drawing/2014/main" id="{B4D674A7-9D74-4CF5-7429-D9533474DE6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575291" y="6748858"/>
                    <a:ext cx="0" cy="756000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1" name="フリーフォーム 150">
                    <a:extLst>
                      <a:ext uri="{FF2B5EF4-FFF2-40B4-BE49-F238E27FC236}">
                        <a16:creationId xmlns:a16="http://schemas.microsoft.com/office/drawing/2014/main" id="{DFD56DAD-2DF0-61B9-7D5B-2E001F462BC8}"/>
                      </a:ext>
                    </a:extLst>
                  </p:cNvPr>
                  <p:cNvSpPr/>
                  <p:nvPr/>
                </p:nvSpPr>
                <p:spPr>
                  <a:xfrm>
                    <a:off x="3581831" y="5164514"/>
                    <a:ext cx="4643919" cy="2378342"/>
                  </a:xfrm>
                  <a:custGeom>
                    <a:avLst/>
                    <a:gdLst>
                      <a:gd name="csX0" fmla="*/ 0 w 4643919"/>
                      <a:gd name="csY0" fmla="*/ 1349302 h 2378342"/>
                      <a:gd name="csX1" fmla="*/ 534256 w 4643919"/>
                      <a:gd name="csY1" fmla="*/ 3387 h 2378342"/>
                      <a:gd name="csX2" fmla="*/ 1202076 w 4643919"/>
                      <a:gd name="csY2" fmla="*/ 1698623 h 2378342"/>
                      <a:gd name="csX3" fmla="*/ 1839074 w 4643919"/>
                      <a:gd name="csY3" fmla="*/ 291064 h 2378342"/>
                      <a:gd name="csX4" fmla="*/ 2517168 w 4643919"/>
                      <a:gd name="csY4" fmla="*/ 2017122 h 2378342"/>
                      <a:gd name="csX5" fmla="*/ 3205537 w 4643919"/>
                      <a:gd name="csY5" fmla="*/ 568466 h 2378342"/>
                      <a:gd name="csX6" fmla="*/ 3924728 w 4643919"/>
                      <a:gd name="csY6" fmla="*/ 2376717 h 2378342"/>
                      <a:gd name="csX7" fmla="*/ 4643919 w 4643919"/>
                      <a:gd name="csY7" fmla="*/ 907513 h 237834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</a:cxnLst>
                    <a:rect l="l" t="t" r="r" b="b"/>
                    <a:pathLst>
                      <a:path w="4643919" h="2378342">
                        <a:moveTo>
                          <a:pt x="0" y="1349302"/>
                        </a:moveTo>
                        <a:cubicBezTo>
                          <a:pt x="166955" y="647234"/>
                          <a:pt x="333910" y="-54833"/>
                          <a:pt x="534256" y="3387"/>
                        </a:cubicBezTo>
                        <a:cubicBezTo>
                          <a:pt x="734602" y="61607"/>
                          <a:pt x="984606" y="1650677"/>
                          <a:pt x="1202076" y="1698623"/>
                        </a:cubicBezTo>
                        <a:cubicBezTo>
                          <a:pt x="1419546" y="1746569"/>
                          <a:pt x="1619892" y="237981"/>
                          <a:pt x="1839074" y="291064"/>
                        </a:cubicBezTo>
                        <a:cubicBezTo>
                          <a:pt x="2058256" y="344147"/>
                          <a:pt x="2289424" y="1970888"/>
                          <a:pt x="2517168" y="2017122"/>
                        </a:cubicBezTo>
                        <a:cubicBezTo>
                          <a:pt x="2744912" y="2063356"/>
                          <a:pt x="2970944" y="508534"/>
                          <a:pt x="3205537" y="568466"/>
                        </a:cubicBezTo>
                        <a:cubicBezTo>
                          <a:pt x="3440130" y="628398"/>
                          <a:pt x="3684998" y="2320209"/>
                          <a:pt x="3924728" y="2376717"/>
                        </a:cubicBezTo>
                        <a:cubicBezTo>
                          <a:pt x="4164458" y="2433225"/>
                          <a:pt x="4464121" y="998268"/>
                          <a:pt x="4643919" y="907513"/>
                        </a:cubicBezTo>
                      </a:path>
                    </a:pathLst>
                  </a:custGeom>
                  <a:noFill/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cxnSp>
                <p:nvCxnSpPr>
                  <p:cNvPr id="154" name="直線矢印コネクタ 153">
                    <a:extLst>
                      <a:ext uri="{FF2B5EF4-FFF2-40B4-BE49-F238E27FC236}">
                        <a16:creationId xmlns:a16="http://schemas.microsoft.com/office/drawing/2014/main" id="{07D39736-9719-9D8D-358F-F1C7A822384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862910" y="6103786"/>
                    <a:ext cx="0" cy="720000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" name="直線矢印コネクタ 156">
                    <a:extLst>
                      <a:ext uri="{FF2B5EF4-FFF2-40B4-BE49-F238E27FC236}">
                        <a16:creationId xmlns:a16="http://schemas.microsoft.com/office/drawing/2014/main" id="{C44EBA3B-0BB4-3AD2-1CB9-F9A99A9F0D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680453" y="5994988"/>
                    <a:ext cx="0" cy="324000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none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" name="直線矢印コネクタ 157">
                    <a:extLst>
                      <a:ext uri="{FF2B5EF4-FFF2-40B4-BE49-F238E27FC236}">
                        <a16:creationId xmlns:a16="http://schemas.microsoft.com/office/drawing/2014/main" id="{CAD95791-1B1B-3DFF-3C07-57ED2A544B1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216107" y="6424796"/>
                    <a:ext cx="0" cy="648000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9" name="直線矢印コネクタ 158">
                    <a:extLst>
                      <a:ext uri="{FF2B5EF4-FFF2-40B4-BE49-F238E27FC236}">
                        <a16:creationId xmlns:a16="http://schemas.microsoft.com/office/drawing/2014/main" id="{901CFF10-1DBF-39E0-DAB0-CAAE9D9AC3D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844446" y="6815348"/>
                    <a:ext cx="0" cy="180000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0" name="直線矢印コネクタ 159">
                    <a:extLst>
                      <a:ext uri="{FF2B5EF4-FFF2-40B4-BE49-F238E27FC236}">
                        <a16:creationId xmlns:a16="http://schemas.microsoft.com/office/drawing/2014/main" id="{7EF6D1E7-C927-BED9-6C80-DDC4EF6DF3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763474" y="5724988"/>
                    <a:ext cx="0" cy="864000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none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1" name="直線矢印コネクタ 160">
                    <a:extLst>
                      <a:ext uri="{FF2B5EF4-FFF2-40B4-BE49-F238E27FC236}">
                        <a16:creationId xmlns:a16="http://schemas.microsoft.com/office/drawing/2014/main" id="{92F72021-C7B6-7E35-9F8A-6D4A2F66407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034154" y="6242440"/>
                    <a:ext cx="0" cy="396000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none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58" name="テキスト ボックス 257">
                    <a:extLst>
                      <a:ext uri="{FF2B5EF4-FFF2-40B4-BE49-F238E27FC236}">
                        <a16:creationId xmlns:a16="http://schemas.microsoft.com/office/drawing/2014/main" id="{A7FB55BE-EF59-D798-8B77-95B2F86A4EF6}"/>
                      </a:ext>
                    </a:extLst>
                  </p:cNvPr>
                  <p:cNvSpPr txBox="1"/>
                  <p:nvPr/>
                </p:nvSpPr>
                <p:spPr>
                  <a:xfrm>
                    <a:off x="3392371" y="2980114"/>
                    <a:ext cx="748923" cy="6463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ja-JP" sz="3600" dirty="0">
                        <a:latin typeface="Helvetica" pitchFamily="2" charset="0"/>
                      </a:rPr>
                      <a:t>(a)</a:t>
                    </a:r>
                    <a:endParaRPr kumimoji="1" lang="ja-JP" altLang="en-US" sz="3600">
                      <a:latin typeface="Helvetica" pitchFamily="2" charset="0"/>
                    </a:endParaRPr>
                  </a:p>
                </p:txBody>
              </p:sp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69" name="テキスト ボックス 268">
                      <a:extLst>
                        <a:ext uri="{FF2B5EF4-FFF2-40B4-BE49-F238E27FC236}">
                          <a16:creationId xmlns:a16="http://schemas.microsoft.com/office/drawing/2014/main" id="{F07DBD9B-90CD-0031-E16A-80F89955800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80951" y="5319021"/>
                      <a:ext cx="986424" cy="58477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ja-JP" sz="3200" b="0" i="1" smtClean="0">
                                  <a:solidFill>
                                    <a:srgbClr val="9411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3200" b="0" i="1" smtClean="0">
                                  <a:solidFill>
                                    <a:srgbClr val="9411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1" lang="en-US" altLang="ja-JP" sz="3200" b="0" i="1" smtClean="0">
                                  <a:solidFill>
                                    <a:srgbClr val="9411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a14:m>
                      <a:r>
                        <a:rPr kumimoji="1" lang="en-US" altLang="ja-JP" sz="3200" dirty="0">
                          <a:solidFill>
                            <a:srgbClr val="941100"/>
                          </a:solidFill>
                          <a:latin typeface="Helvetica" pitchFamily="2" charset="0"/>
                        </a:rPr>
                        <a:t>||z</a:t>
                      </a:r>
                      <a:endParaRPr kumimoji="1" lang="ja-JP" altLang="en-US" sz="3200">
                        <a:solidFill>
                          <a:srgbClr val="941100"/>
                        </a:solidFill>
                        <a:latin typeface="Helvetica" pitchFamily="2" charset="0"/>
                      </a:endParaRPr>
                    </a:p>
                  </p:txBody>
                </p:sp>
              </mc:Choice>
              <mc:Fallback>
                <p:sp>
                  <p:nvSpPr>
                    <p:cNvPr id="269" name="テキスト ボックス 268">
                      <a:extLst>
                        <a:ext uri="{FF2B5EF4-FFF2-40B4-BE49-F238E27FC236}">
                          <a16:creationId xmlns:a16="http://schemas.microsoft.com/office/drawing/2014/main" id="{F07DBD9B-90CD-0031-E16A-80F89955800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80951" y="5319021"/>
                      <a:ext cx="986424" cy="584775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l="-5128" t="-12766" r="-15385" b="-340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4" name="テキスト ボックス 283">
                  <a:extLst>
                    <a:ext uri="{FF2B5EF4-FFF2-40B4-BE49-F238E27FC236}">
                      <a16:creationId xmlns:a16="http://schemas.microsoft.com/office/drawing/2014/main" id="{29EF6796-06E1-B738-89C5-8135E65798A1}"/>
                    </a:ext>
                  </a:extLst>
                </p:cNvPr>
                <p:cNvSpPr txBox="1"/>
                <p:nvPr/>
              </p:nvSpPr>
              <p:spPr>
                <a:xfrm>
                  <a:off x="9946506" y="2345430"/>
                  <a:ext cx="41229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r>
                          <a:rPr kumimoji="1" lang="en-US" altLang="ja-JP" sz="2400" b="1" i="0" smtClean="0">
                            <a:latin typeface="Cambria Math" panose="02040503050406030204" pitchFamily="18" charset="0"/>
                          </a:rPr>
                          <m:t>𝐌</m:t>
                        </m:r>
                      </m:oMath>
                    </m:oMathPara>
                  </a14:m>
                  <a:endParaRPr kumimoji="1" lang="ja-JP" altLang="en-US" sz="2400" b="1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284" name="テキスト ボックス 283">
                  <a:extLst>
                    <a:ext uri="{FF2B5EF4-FFF2-40B4-BE49-F238E27FC236}">
                      <a16:creationId xmlns:a16="http://schemas.microsoft.com/office/drawing/2014/main" id="{29EF6796-06E1-B738-89C5-8135E65798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6506" y="2345430"/>
                  <a:ext cx="412292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6061" r="-1212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5" name="テキスト ボックス 284">
                  <a:extLst>
                    <a:ext uri="{FF2B5EF4-FFF2-40B4-BE49-F238E27FC236}">
                      <a16:creationId xmlns:a16="http://schemas.microsoft.com/office/drawing/2014/main" id="{E16A0435-9612-4E4A-4AC0-EA3CB80C4196}"/>
                    </a:ext>
                  </a:extLst>
                </p:cNvPr>
                <p:cNvSpPr txBox="1"/>
                <p:nvPr/>
              </p:nvSpPr>
              <p:spPr>
                <a:xfrm>
                  <a:off x="1964240" y="3932629"/>
                  <a:ext cx="41229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r>
                          <a:rPr kumimoji="1" lang="en-US" altLang="ja-JP" sz="2400" b="1" i="0" smtClean="0">
                            <a:latin typeface="Cambria Math" panose="02040503050406030204" pitchFamily="18" charset="0"/>
                          </a:rPr>
                          <m:t>𝐌</m:t>
                        </m:r>
                      </m:oMath>
                    </m:oMathPara>
                  </a14:m>
                  <a:endParaRPr kumimoji="1" lang="ja-JP" altLang="en-US" sz="2400" b="1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285" name="テキスト ボックス 284">
                  <a:extLst>
                    <a:ext uri="{FF2B5EF4-FFF2-40B4-BE49-F238E27FC236}">
                      <a16:creationId xmlns:a16="http://schemas.microsoft.com/office/drawing/2014/main" id="{E16A0435-9612-4E4A-4AC0-EA3CB80C41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4240" y="3932629"/>
                  <a:ext cx="412292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2941" r="-882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6" name="テキスト ボックス 285">
                  <a:extLst>
                    <a:ext uri="{FF2B5EF4-FFF2-40B4-BE49-F238E27FC236}">
                      <a16:creationId xmlns:a16="http://schemas.microsoft.com/office/drawing/2014/main" id="{256B8DDE-2EC4-CCAB-F4AA-601E9BB28DBA}"/>
                    </a:ext>
                  </a:extLst>
                </p:cNvPr>
                <p:cNvSpPr txBox="1"/>
                <p:nvPr/>
              </p:nvSpPr>
              <p:spPr>
                <a:xfrm>
                  <a:off x="7712101" y="4191702"/>
                  <a:ext cx="41229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r>
                          <a:rPr kumimoji="1" lang="en-US" altLang="ja-JP" sz="2400" b="1" i="0" smtClean="0">
                            <a:latin typeface="Cambria Math" panose="02040503050406030204" pitchFamily="18" charset="0"/>
                          </a:rPr>
                          <m:t>𝐌</m:t>
                        </m:r>
                      </m:oMath>
                    </m:oMathPara>
                  </a14:m>
                  <a:endParaRPr kumimoji="1" lang="ja-JP" altLang="en-US" sz="2400" b="1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286" name="テキスト ボックス 285">
                  <a:extLst>
                    <a:ext uri="{FF2B5EF4-FFF2-40B4-BE49-F238E27FC236}">
                      <a16:creationId xmlns:a16="http://schemas.microsoft.com/office/drawing/2014/main" id="{256B8DDE-2EC4-CCAB-F4AA-601E9BB28D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2101" y="4191702"/>
                  <a:ext cx="412292" cy="461665"/>
                </a:xfrm>
                <a:prstGeom prst="rect">
                  <a:avLst/>
                </a:prstGeom>
                <a:blipFill>
                  <a:blip r:embed="rId13"/>
                  <a:stretch>
                    <a:fillRect l="-3030" r="-1212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653760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A328C-5FD0-74E1-70DF-A94D6E765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図 263">
            <a:extLst>
              <a:ext uri="{FF2B5EF4-FFF2-40B4-BE49-F238E27FC236}">
                <a16:creationId xmlns:a16="http://schemas.microsoft.com/office/drawing/2014/main" id="{0531C0AD-AEAF-B335-B4BF-94CDD02F3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9017" y="8296275"/>
            <a:ext cx="4254500" cy="3949700"/>
          </a:xfrm>
          <a:prstGeom prst="rect">
            <a:avLst/>
          </a:prstGeom>
        </p:spPr>
      </p:pic>
      <p:pic>
        <p:nvPicPr>
          <p:cNvPr id="84" name="図 83">
            <a:extLst>
              <a:ext uri="{FF2B5EF4-FFF2-40B4-BE49-F238E27FC236}">
                <a16:creationId xmlns:a16="http://schemas.microsoft.com/office/drawing/2014/main" id="{CC6FBE7B-42E9-8494-C233-C2E6C3963A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57484" y="-807993"/>
            <a:ext cx="4565500" cy="4464493"/>
          </a:xfrm>
          <a:prstGeom prst="rect">
            <a:avLst/>
          </a:prstGeom>
        </p:spPr>
      </p:pic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9790C4B9-3CA9-8BF3-FEA5-60CF0B81A62B}"/>
              </a:ext>
            </a:extLst>
          </p:cNvPr>
          <p:cNvGrpSpPr/>
          <p:nvPr/>
        </p:nvGrpSpPr>
        <p:grpSpPr>
          <a:xfrm>
            <a:off x="6285550" y="1935387"/>
            <a:ext cx="5436791" cy="4771311"/>
            <a:chOff x="6285550" y="1935387"/>
            <a:chExt cx="5436791" cy="4771311"/>
          </a:xfrm>
        </p:grpSpPr>
        <p:cxnSp>
          <p:nvCxnSpPr>
            <p:cNvPr id="280" name="直線矢印コネクタ 279">
              <a:extLst>
                <a:ext uri="{FF2B5EF4-FFF2-40B4-BE49-F238E27FC236}">
                  <a16:creationId xmlns:a16="http://schemas.microsoft.com/office/drawing/2014/main" id="{C6802E03-9C24-A549-FC27-C4CDDE1FFE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6961" y="4887340"/>
              <a:ext cx="2182372" cy="107035"/>
            </a:xfrm>
            <a:prstGeom prst="straightConnector1">
              <a:avLst/>
            </a:prstGeom>
            <a:ln w="25400">
              <a:solidFill>
                <a:srgbClr val="941100"/>
              </a:solidFill>
              <a:headEnd type="none" w="lg" len="lg"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1" name="テキスト ボックス 280">
                  <a:extLst>
                    <a:ext uri="{FF2B5EF4-FFF2-40B4-BE49-F238E27FC236}">
                      <a16:creationId xmlns:a16="http://schemas.microsoft.com/office/drawing/2014/main" id="{DAB0BC3A-B500-2F27-731E-092575DE3F11}"/>
                    </a:ext>
                  </a:extLst>
                </p:cNvPr>
                <p:cNvSpPr txBox="1"/>
                <p:nvPr/>
              </p:nvSpPr>
              <p:spPr>
                <a:xfrm>
                  <a:off x="9061107" y="4369661"/>
                  <a:ext cx="98642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3200" b="0" i="1" smtClean="0">
                              <a:solidFill>
                                <a:srgbClr val="9411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200" b="0" i="1" smtClean="0">
                              <a:solidFill>
                                <a:srgbClr val="9411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kumimoji="1" lang="en-US" altLang="ja-JP" sz="3200" b="0" i="1" smtClean="0">
                              <a:solidFill>
                                <a:srgbClr val="9411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a14:m>
                  <a:r>
                    <a:rPr kumimoji="1" lang="en-US" altLang="ja-JP" sz="3200" dirty="0">
                      <a:solidFill>
                        <a:srgbClr val="941100"/>
                      </a:solidFill>
                      <a:latin typeface="Helvetica" pitchFamily="2" charset="0"/>
                    </a:rPr>
                    <a:t>||z</a:t>
                  </a:r>
                  <a:endParaRPr kumimoji="1" lang="ja-JP" altLang="en-US" sz="3200">
                    <a:solidFill>
                      <a:srgbClr val="941100"/>
                    </a:solidFill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281" name="テキスト ボックス 280">
                  <a:extLst>
                    <a:ext uri="{FF2B5EF4-FFF2-40B4-BE49-F238E27FC236}">
                      <a16:creationId xmlns:a16="http://schemas.microsoft.com/office/drawing/2014/main" id="{DAB0BC3A-B500-2F27-731E-092575DE3F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1107" y="4369661"/>
                  <a:ext cx="986424" cy="584775"/>
                </a:xfrm>
                <a:prstGeom prst="rect">
                  <a:avLst/>
                </a:prstGeom>
                <a:blipFill>
                  <a:blip r:embed="rId5"/>
                  <a:stretch>
                    <a:fillRect l="-5063" t="-14894" r="-15190" b="-340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73" name="グループ化 272">
              <a:extLst>
                <a:ext uri="{FF2B5EF4-FFF2-40B4-BE49-F238E27FC236}">
                  <a16:creationId xmlns:a16="http://schemas.microsoft.com/office/drawing/2014/main" id="{72D22CA1-DC40-5697-342A-E5199AEC4E44}"/>
                </a:ext>
              </a:extLst>
            </p:cNvPr>
            <p:cNvGrpSpPr/>
            <p:nvPr/>
          </p:nvGrpSpPr>
          <p:grpSpPr>
            <a:xfrm>
              <a:off x="6285550" y="1935387"/>
              <a:ext cx="5436791" cy="4771311"/>
              <a:chOff x="8533209" y="2767017"/>
              <a:chExt cx="5436791" cy="4771311"/>
            </a:xfrm>
          </p:grpSpPr>
          <p:cxnSp>
            <p:nvCxnSpPr>
              <p:cNvPr id="163" name="直線矢印コネクタ 162">
                <a:extLst>
                  <a:ext uri="{FF2B5EF4-FFF2-40B4-BE49-F238E27FC236}">
                    <a16:creationId xmlns:a16="http://schemas.microsoft.com/office/drawing/2014/main" id="{5E85A150-C993-C361-735F-B35FE500791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285701" y="5489262"/>
                <a:ext cx="1961835" cy="33666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lg" len="lg"/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線矢印コネクタ 163">
                <a:extLst>
                  <a:ext uri="{FF2B5EF4-FFF2-40B4-BE49-F238E27FC236}">
                    <a16:creationId xmlns:a16="http://schemas.microsoft.com/office/drawing/2014/main" id="{B6AA5369-ADD0-56AE-5B19-A9F55464748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275015" y="3545255"/>
                <a:ext cx="0" cy="230400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lg" len="lg"/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6" name="テキスト ボックス 165">
                <a:extLst>
                  <a:ext uri="{FF2B5EF4-FFF2-40B4-BE49-F238E27FC236}">
                    <a16:creationId xmlns:a16="http://schemas.microsoft.com/office/drawing/2014/main" id="{CF5F370C-9D32-57EB-D7E7-E47752CA4E05}"/>
                  </a:ext>
                </a:extLst>
              </p:cNvPr>
              <p:cNvSpPr txBox="1"/>
              <p:nvPr/>
            </p:nvSpPr>
            <p:spPr>
              <a:xfrm>
                <a:off x="9487269" y="7055988"/>
                <a:ext cx="412292" cy="4823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200" dirty="0">
                    <a:latin typeface="Helvetica" pitchFamily="2" charset="0"/>
                  </a:rPr>
                  <a:t>a</a:t>
                </a:r>
                <a:endParaRPr kumimoji="1" lang="ja-JP" altLang="en-US" sz="3200">
                  <a:latin typeface="Helvetica" pitchFamily="2" charset="0"/>
                </a:endParaRPr>
              </a:p>
            </p:txBody>
          </p:sp>
          <p:sp>
            <p:nvSpPr>
              <p:cNvPr id="167" name="テキスト ボックス 166">
                <a:extLst>
                  <a:ext uri="{FF2B5EF4-FFF2-40B4-BE49-F238E27FC236}">
                    <a16:creationId xmlns:a16="http://schemas.microsoft.com/office/drawing/2014/main" id="{559E0F99-88D7-52E7-F214-14BFDA0D949A}"/>
                  </a:ext>
                </a:extLst>
              </p:cNvPr>
              <p:cNvSpPr txBox="1"/>
              <p:nvPr/>
            </p:nvSpPr>
            <p:spPr>
              <a:xfrm>
                <a:off x="10896790" y="4967102"/>
                <a:ext cx="41229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3200" dirty="0">
                    <a:latin typeface="Helvetica" pitchFamily="2" charset="0"/>
                  </a:rPr>
                  <a:t>b</a:t>
                </a:r>
                <a:endParaRPr kumimoji="1" lang="ja-JP" altLang="en-US" sz="3200">
                  <a:latin typeface="Helvetica" pitchFamily="2" charset="0"/>
                </a:endParaRPr>
              </a:p>
            </p:txBody>
          </p:sp>
          <p:sp>
            <p:nvSpPr>
              <p:cNvPr id="168" name="テキスト ボックス 167">
                <a:extLst>
                  <a:ext uri="{FF2B5EF4-FFF2-40B4-BE49-F238E27FC236}">
                    <a16:creationId xmlns:a16="http://schemas.microsoft.com/office/drawing/2014/main" id="{C7C32B1A-E23D-5976-2928-BD85FFC7A97B}"/>
                  </a:ext>
                </a:extLst>
              </p:cNvPr>
              <p:cNvSpPr txBox="1"/>
              <p:nvPr/>
            </p:nvSpPr>
            <p:spPr>
              <a:xfrm>
                <a:off x="9315746" y="3384708"/>
                <a:ext cx="80983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200" dirty="0">
                    <a:latin typeface="Helvetica" pitchFamily="2" charset="0"/>
                  </a:rPr>
                  <a:t>c||y</a:t>
                </a:r>
                <a:endParaRPr kumimoji="1" lang="ja-JP" altLang="en-US" sz="3200">
                  <a:latin typeface="Helvetica" pitchFamily="2" charset="0"/>
                </a:endParaRPr>
              </a:p>
            </p:txBody>
          </p:sp>
          <p:cxnSp>
            <p:nvCxnSpPr>
              <p:cNvPr id="169" name="直線矢印コネクタ 168">
                <a:extLst>
                  <a:ext uri="{FF2B5EF4-FFF2-40B4-BE49-F238E27FC236}">
                    <a16:creationId xmlns:a16="http://schemas.microsoft.com/office/drawing/2014/main" id="{2E8E2D9F-C107-0304-9C8B-23954CC650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70405" y="5832286"/>
                <a:ext cx="4090233" cy="97097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headEnd type="none" w="lg" len="lg"/>
                <a:tailEnd type="arrow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直線矢印コネクタ 172">
                <a:extLst>
                  <a:ext uri="{FF2B5EF4-FFF2-40B4-BE49-F238E27FC236}">
                    <a16:creationId xmlns:a16="http://schemas.microsoft.com/office/drawing/2014/main" id="{5FF512D0-EA91-E262-1203-7F93E8204F1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61782" y="5588270"/>
                <a:ext cx="670254" cy="54103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none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2" name="フリーフォーム 201">
                <a:extLst>
                  <a:ext uri="{FF2B5EF4-FFF2-40B4-BE49-F238E27FC236}">
                    <a16:creationId xmlns:a16="http://schemas.microsoft.com/office/drawing/2014/main" id="{2BBC57AC-6C47-85D4-A7DB-F12AA6E0CE18}"/>
                  </a:ext>
                </a:extLst>
              </p:cNvPr>
              <p:cNvSpPr/>
              <p:nvPr/>
            </p:nvSpPr>
            <p:spPr>
              <a:xfrm>
                <a:off x="8727440" y="5253535"/>
                <a:ext cx="5242560" cy="2023568"/>
              </a:xfrm>
              <a:custGeom>
                <a:avLst/>
                <a:gdLst>
                  <a:gd name="csX0" fmla="*/ 0 w 5242560"/>
                  <a:gd name="csY0" fmla="*/ 659585 h 2023568"/>
                  <a:gd name="csX1" fmla="*/ 1270000 w 5242560"/>
                  <a:gd name="csY1" fmla="*/ 19505 h 2023568"/>
                  <a:gd name="csX2" fmla="*/ 426720 w 5242560"/>
                  <a:gd name="csY2" fmla="*/ 1319985 h 2023568"/>
                  <a:gd name="csX3" fmla="*/ 2499360 w 5242560"/>
                  <a:gd name="csY3" fmla="*/ 324305 h 2023568"/>
                  <a:gd name="csX4" fmla="*/ 1666240 w 5242560"/>
                  <a:gd name="csY4" fmla="*/ 1645105 h 2023568"/>
                  <a:gd name="csX5" fmla="*/ 3830320 w 5242560"/>
                  <a:gd name="csY5" fmla="*/ 649425 h 2023568"/>
                  <a:gd name="csX6" fmla="*/ 3017520 w 5242560"/>
                  <a:gd name="csY6" fmla="*/ 2021025 h 2023568"/>
                  <a:gd name="csX7" fmla="*/ 5242560 w 5242560"/>
                  <a:gd name="csY7" fmla="*/ 1015185 h 20235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5242560" h="2023568">
                    <a:moveTo>
                      <a:pt x="0" y="659585"/>
                    </a:moveTo>
                    <a:cubicBezTo>
                      <a:pt x="599440" y="284511"/>
                      <a:pt x="1198880" y="-90562"/>
                      <a:pt x="1270000" y="19505"/>
                    </a:cubicBezTo>
                    <a:cubicBezTo>
                      <a:pt x="1341120" y="129572"/>
                      <a:pt x="221827" y="1269185"/>
                      <a:pt x="426720" y="1319985"/>
                    </a:cubicBezTo>
                    <a:cubicBezTo>
                      <a:pt x="631613" y="1370785"/>
                      <a:pt x="2292773" y="270118"/>
                      <a:pt x="2499360" y="324305"/>
                    </a:cubicBezTo>
                    <a:cubicBezTo>
                      <a:pt x="2705947" y="378492"/>
                      <a:pt x="1444413" y="1590918"/>
                      <a:pt x="1666240" y="1645105"/>
                    </a:cubicBezTo>
                    <a:cubicBezTo>
                      <a:pt x="1888067" y="1699292"/>
                      <a:pt x="3605107" y="586772"/>
                      <a:pt x="3830320" y="649425"/>
                    </a:cubicBezTo>
                    <a:cubicBezTo>
                      <a:pt x="4055533" y="712078"/>
                      <a:pt x="2782147" y="1960065"/>
                      <a:pt x="3017520" y="2021025"/>
                    </a:cubicBezTo>
                    <a:cubicBezTo>
                      <a:pt x="3252893" y="2081985"/>
                      <a:pt x="4958080" y="1027038"/>
                      <a:pt x="5242560" y="1015185"/>
                    </a:cubicBezTo>
                  </a:path>
                </a:pathLst>
              </a:cu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204" name="直線矢印コネクタ 203">
                <a:extLst>
                  <a:ext uri="{FF2B5EF4-FFF2-40B4-BE49-F238E27FC236}">
                    <a16:creationId xmlns:a16="http://schemas.microsoft.com/office/drawing/2014/main" id="{FCD86306-39B8-BF39-091E-62ECDEC435D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629544" y="6143628"/>
                <a:ext cx="324799" cy="26218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none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直線矢印コネクタ 204">
                <a:extLst>
                  <a:ext uri="{FF2B5EF4-FFF2-40B4-BE49-F238E27FC236}">
                    <a16:creationId xmlns:a16="http://schemas.microsoft.com/office/drawing/2014/main" id="{916B28E3-53EF-B666-EB74-14FBDB24DB1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898913" y="5910331"/>
                <a:ext cx="685514" cy="55335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none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直線矢印コネクタ 205">
                <a:extLst>
                  <a:ext uri="{FF2B5EF4-FFF2-40B4-BE49-F238E27FC236}">
                    <a16:creationId xmlns:a16="http://schemas.microsoft.com/office/drawing/2014/main" id="{14F45D53-B583-D29F-C5A9-9DAF2B0CFD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62434" y="5903796"/>
                <a:ext cx="221534" cy="17882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none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直線矢印コネクタ 206">
                <a:extLst>
                  <a:ext uri="{FF2B5EF4-FFF2-40B4-BE49-F238E27FC236}">
                    <a16:creationId xmlns:a16="http://schemas.microsoft.com/office/drawing/2014/main" id="{D3BE72B9-3988-3E1B-0D17-C26678C3C9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292046" y="5266233"/>
                <a:ext cx="685514" cy="55335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none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直線矢印コネクタ 208">
                <a:extLst>
                  <a:ext uri="{FF2B5EF4-FFF2-40B4-BE49-F238E27FC236}">
                    <a16:creationId xmlns:a16="http://schemas.microsoft.com/office/drawing/2014/main" id="{7DA013ED-2AA2-9058-5FA7-D2190BE1B9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454688" y="5629379"/>
                <a:ext cx="319987" cy="25829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none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直線矢印コネクタ 209">
                <a:extLst>
                  <a:ext uri="{FF2B5EF4-FFF2-40B4-BE49-F238E27FC236}">
                    <a16:creationId xmlns:a16="http://schemas.microsoft.com/office/drawing/2014/main" id="{586966BF-EFB8-F5B4-9C2D-74617C63282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81546" y="5943531"/>
                <a:ext cx="571285" cy="46114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直線矢印コネクタ 210">
                <a:extLst>
                  <a:ext uri="{FF2B5EF4-FFF2-40B4-BE49-F238E27FC236}">
                    <a16:creationId xmlns:a16="http://schemas.microsoft.com/office/drawing/2014/main" id="{1E59E8A8-22C3-04DC-5A80-D9728C3E5C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466608" y="6010906"/>
                <a:ext cx="560918" cy="45278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直線矢印コネクタ 220">
                <a:extLst>
                  <a:ext uri="{FF2B5EF4-FFF2-40B4-BE49-F238E27FC236}">
                    <a16:creationId xmlns:a16="http://schemas.microsoft.com/office/drawing/2014/main" id="{C8B8D9AF-1657-6547-0664-98ECBD6886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373201" y="6265319"/>
                <a:ext cx="726464" cy="58641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直線矢印コネクタ 223">
                <a:extLst>
                  <a:ext uri="{FF2B5EF4-FFF2-40B4-BE49-F238E27FC236}">
                    <a16:creationId xmlns:a16="http://schemas.microsoft.com/office/drawing/2014/main" id="{5C42B42A-B0E1-EAFD-49FB-92A807BF1B3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968023" y="6343079"/>
                <a:ext cx="400158" cy="32301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直線矢印コネクタ 225">
                <a:extLst>
                  <a:ext uri="{FF2B5EF4-FFF2-40B4-BE49-F238E27FC236}">
                    <a16:creationId xmlns:a16="http://schemas.microsoft.com/office/drawing/2014/main" id="{7F475EC7-7700-2D09-65C4-7077C042ECB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732661" y="6581778"/>
                <a:ext cx="726464" cy="58641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直線矢印コネクタ 226">
                <a:extLst>
                  <a:ext uri="{FF2B5EF4-FFF2-40B4-BE49-F238E27FC236}">
                    <a16:creationId xmlns:a16="http://schemas.microsoft.com/office/drawing/2014/main" id="{5BD4A9F8-55D1-5E56-C137-5EDA0E7376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123336" y="6659538"/>
                <a:ext cx="604305" cy="48780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0" name="テキスト ボックス 229">
                    <a:extLst>
                      <a:ext uri="{FF2B5EF4-FFF2-40B4-BE49-F238E27FC236}">
                        <a16:creationId xmlns:a16="http://schemas.microsoft.com/office/drawing/2014/main" id="{3EBE5AC6-0E56-2C2F-A17E-71C77547D16A}"/>
                      </a:ext>
                    </a:extLst>
                  </p:cNvPr>
                  <p:cNvSpPr txBox="1"/>
                  <p:nvPr/>
                </p:nvSpPr>
                <p:spPr>
                  <a:xfrm>
                    <a:off x="12881754" y="6772883"/>
                    <a:ext cx="889411" cy="61587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>
                          <m:sSubSup>
                            <m:sSubSupPr>
                              <m:ctrlPr>
                                <a:rPr kumimoji="1" lang="en-US" altLang="ja-JP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ja-JP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b>
                              <m:r>
                                <a:rPr kumimoji="1" lang="en-US" altLang="ja-JP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kumimoji="1" lang="en-US" altLang="ja-JP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ab</m:t>
                              </m:r>
                            </m:sup>
                          </m:sSubSup>
                        </m:oMath>
                      </m:oMathPara>
                    </a14:m>
                    <a:endParaRPr kumimoji="1" lang="ja-JP" altLang="en-US" sz="3200">
                      <a:solidFill>
                        <a:schemeClr val="tx1"/>
                      </a:solidFill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230" name="テキスト ボックス 229">
                    <a:extLst>
                      <a:ext uri="{FF2B5EF4-FFF2-40B4-BE49-F238E27FC236}">
                        <a16:creationId xmlns:a16="http://schemas.microsoft.com/office/drawing/2014/main" id="{3EBE5AC6-0E56-2C2F-A17E-71C77547D16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881754" y="6772883"/>
                    <a:ext cx="889411" cy="61587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0204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61" name="グループ化 260">
                <a:extLst>
                  <a:ext uri="{FF2B5EF4-FFF2-40B4-BE49-F238E27FC236}">
                    <a16:creationId xmlns:a16="http://schemas.microsoft.com/office/drawing/2014/main" id="{8C0334A9-8E6F-2B2F-9DC3-ABA233330E67}"/>
                  </a:ext>
                </a:extLst>
              </p:cNvPr>
              <p:cNvGrpSpPr/>
              <p:nvPr/>
            </p:nvGrpSpPr>
            <p:grpSpPr>
              <a:xfrm>
                <a:off x="10057428" y="2767017"/>
                <a:ext cx="3889380" cy="2163906"/>
                <a:chOff x="10343185" y="2867033"/>
                <a:chExt cx="3889380" cy="2163906"/>
              </a:xfrm>
            </p:grpSpPr>
            <p:sp>
              <p:nvSpPr>
                <p:cNvPr id="231" name="平行四辺形 230">
                  <a:extLst>
                    <a:ext uri="{FF2B5EF4-FFF2-40B4-BE49-F238E27FC236}">
                      <a16:creationId xmlns:a16="http://schemas.microsoft.com/office/drawing/2014/main" id="{BE1BF830-F467-CBA6-B876-5BD9116E3BA6}"/>
                    </a:ext>
                  </a:extLst>
                </p:cNvPr>
                <p:cNvSpPr/>
                <p:nvPr/>
              </p:nvSpPr>
              <p:spPr>
                <a:xfrm>
                  <a:off x="10343185" y="3918845"/>
                  <a:ext cx="3889380" cy="1112094"/>
                </a:xfrm>
                <a:prstGeom prst="parallelogram">
                  <a:avLst>
                    <a:gd name="adj" fmla="val 100228"/>
                  </a:avLst>
                </a:prstGeom>
                <a:noFill/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cxnSp>
              <p:nvCxnSpPr>
                <p:cNvPr id="232" name="直線矢印コネクタ 231">
                  <a:extLst>
                    <a:ext uri="{FF2B5EF4-FFF2-40B4-BE49-F238E27FC236}">
                      <a16:creationId xmlns:a16="http://schemas.microsoft.com/office/drawing/2014/main" id="{E01E418C-3BC6-9ED6-3DCC-748B0A5CA8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599726" y="4019624"/>
                  <a:ext cx="1171259" cy="200997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lg" len="lg"/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直線矢印コネクタ 232">
                  <a:extLst>
                    <a:ext uri="{FF2B5EF4-FFF2-40B4-BE49-F238E27FC236}">
                      <a16:creationId xmlns:a16="http://schemas.microsoft.com/office/drawing/2014/main" id="{6E18FAE3-E042-F26F-6E21-5638FBFBE6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589040" y="2876652"/>
                  <a:ext cx="0" cy="136729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lg" len="lg"/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直線矢印コネクタ 233">
                  <a:extLst>
                    <a:ext uri="{FF2B5EF4-FFF2-40B4-BE49-F238E27FC236}">
                      <a16:creationId xmlns:a16="http://schemas.microsoft.com/office/drawing/2014/main" id="{23F137DD-586A-7C48-D5D0-5656EF2C63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590000" y="4220621"/>
                  <a:ext cx="97801" cy="762205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lg" len="lg"/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直線矢印コネクタ 238">
                  <a:extLst>
                    <a:ext uri="{FF2B5EF4-FFF2-40B4-BE49-F238E27FC236}">
                      <a16:creationId xmlns:a16="http://schemas.microsoft.com/office/drawing/2014/main" id="{D9116120-A0C7-9CF6-979E-1E7E3F3D6F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598767" y="3453571"/>
                  <a:ext cx="949326" cy="766307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none"/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直線矢印コネクタ 241">
                  <a:extLst>
                    <a:ext uri="{FF2B5EF4-FFF2-40B4-BE49-F238E27FC236}">
                      <a16:creationId xmlns:a16="http://schemas.microsoft.com/office/drawing/2014/main" id="{27071F90-5056-85CB-33B6-2405F8D127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510767" y="3472838"/>
                  <a:ext cx="0" cy="690712"/>
                </a:xfrm>
                <a:prstGeom prst="straightConnector1">
                  <a:avLst/>
                </a:prstGeom>
                <a:ln w="22225" cap="rnd">
                  <a:solidFill>
                    <a:schemeClr val="tx1"/>
                  </a:solidFill>
                  <a:prstDash val="sysDot"/>
                  <a:headEnd type="none" w="lg" len="lg"/>
                  <a:tailEnd type="non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直線矢印コネクタ 246">
                  <a:extLst>
                    <a:ext uri="{FF2B5EF4-FFF2-40B4-BE49-F238E27FC236}">
                      <a16:creationId xmlns:a16="http://schemas.microsoft.com/office/drawing/2014/main" id="{2E99CE61-6A70-71C5-925D-58B3C1F698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589040" y="4163550"/>
                  <a:ext cx="921727" cy="67250"/>
                </a:xfrm>
                <a:prstGeom prst="straightConnector1">
                  <a:avLst/>
                </a:prstGeom>
                <a:ln w="22225" cap="rnd">
                  <a:solidFill>
                    <a:schemeClr val="tx1"/>
                  </a:solidFill>
                  <a:prstDash val="sysDot"/>
                  <a:round/>
                  <a:headEnd type="none" w="lg" len="lg"/>
                  <a:tailEnd type="non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1" name="円弧 250">
                  <a:extLst>
                    <a:ext uri="{FF2B5EF4-FFF2-40B4-BE49-F238E27FC236}">
                      <a16:creationId xmlns:a16="http://schemas.microsoft.com/office/drawing/2014/main" id="{594BCE07-DA41-3755-03A6-C3ECEFEDA5AD}"/>
                    </a:ext>
                  </a:extLst>
                </p:cNvPr>
                <p:cNvSpPr/>
                <p:nvPr/>
              </p:nvSpPr>
              <p:spPr>
                <a:xfrm rot="6093443">
                  <a:off x="11291145" y="3654506"/>
                  <a:ext cx="914400" cy="914400"/>
                </a:xfrm>
                <a:prstGeom prst="arc">
                  <a:avLst/>
                </a:prstGeom>
                <a:ln w="12700">
                  <a:solidFill>
                    <a:srgbClr val="941651"/>
                  </a:solidFill>
                  <a:headEnd type="triangle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252" name="円弧 251">
                  <a:extLst>
                    <a:ext uri="{FF2B5EF4-FFF2-40B4-BE49-F238E27FC236}">
                      <a16:creationId xmlns:a16="http://schemas.microsoft.com/office/drawing/2014/main" id="{78EC55B0-BF2C-F4A4-999F-3B03AFB351B0}"/>
                    </a:ext>
                  </a:extLst>
                </p:cNvPr>
                <p:cNvSpPr/>
                <p:nvPr/>
              </p:nvSpPr>
              <p:spPr>
                <a:xfrm rot="19869030">
                  <a:off x="11425616" y="3601105"/>
                  <a:ext cx="747050" cy="747050"/>
                </a:xfrm>
                <a:prstGeom prst="arc">
                  <a:avLst/>
                </a:prstGeom>
                <a:ln w="12700">
                  <a:solidFill>
                    <a:schemeClr val="accent1"/>
                  </a:solidFill>
                  <a:headEnd type="non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253" name="テキスト ボックス 252">
                  <a:extLst>
                    <a:ext uri="{FF2B5EF4-FFF2-40B4-BE49-F238E27FC236}">
                      <a16:creationId xmlns:a16="http://schemas.microsoft.com/office/drawing/2014/main" id="{7BE02B2B-026C-A899-0925-F5EA37D98351}"/>
                    </a:ext>
                  </a:extLst>
                </p:cNvPr>
                <p:cNvSpPr txBox="1"/>
                <p:nvPr/>
              </p:nvSpPr>
              <p:spPr>
                <a:xfrm>
                  <a:off x="11234853" y="4501381"/>
                  <a:ext cx="35618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2400" dirty="0">
                      <a:latin typeface="Helvetica" pitchFamily="2" charset="0"/>
                    </a:rPr>
                    <a:t>a</a:t>
                  </a:r>
                  <a:endParaRPr kumimoji="1" lang="ja-JP" altLang="en-US" sz="2400">
                    <a:latin typeface="Helvetica" pitchFamily="2" charset="0"/>
                  </a:endParaRPr>
                </a:p>
              </p:txBody>
            </p:sp>
            <p:sp>
              <p:nvSpPr>
                <p:cNvPr id="254" name="テキスト ボックス 253">
                  <a:extLst>
                    <a:ext uri="{FF2B5EF4-FFF2-40B4-BE49-F238E27FC236}">
                      <a16:creationId xmlns:a16="http://schemas.microsoft.com/office/drawing/2014/main" id="{7C042775-EEC6-DC55-9B18-88334190B224}"/>
                    </a:ext>
                  </a:extLst>
                </p:cNvPr>
                <p:cNvSpPr txBox="1"/>
                <p:nvPr/>
              </p:nvSpPr>
              <p:spPr>
                <a:xfrm>
                  <a:off x="12705285" y="3848232"/>
                  <a:ext cx="41229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sz="2400" dirty="0">
                      <a:latin typeface="Helvetica" pitchFamily="2" charset="0"/>
                    </a:rPr>
                    <a:t>b</a:t>
                  </a:r>
                  <a:endParaRPr kumimoji="1" lang="ja-JP" altLang="en-US" sz="2400">
                    <a:latin typeface="Helvetica" pitchFamily="2" charset="0"/>
                  </a:endParaRPr>
                </a:p>
              </p:txBody>
            </p:sp>
            <p:sp>
              <p:nvSpPr>
                <p:cNvPr id="255" name="テキスト ボックス 254">
                  <a:extLst>
                    <a:ext uri="{FF2B5EF4-FFF2-40B4-BE49-F238E27FC236}">
                      <a16:creationId xmlns:a16="http://schemas.microsoft.com/office/drawing/2014/main" id="{27D271C1-9409-33DE-AEA4-9115D5BB6E07}"/>
                    </a:ext>
                  </a:extLst>
                </p:cNvPr>
                <p:cNvSpPr txBox="1"/>
                <p:nvPr/>
              </p:nvSpPr>
              <p:spPr>
                <a:xfrm>
                  <a:off x="11138795" y="2867033"/>
                  <a:ext cx="33855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2400" dirty="0">
                      <a:latin typeface="Helvetica" pitchFamily="2" charset="0"/>
                    </a:rPr>
                    <a:t>c</a:t>
                  </a:r>
                  <a:endParaRPr kumimoji="1" lang="ja-JP" altLang="en-US" sz="2400">
                    <a:latin typeface="Helvetica" pitchFamily="2" charset="0"/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56" name="テキスト ボックス 255">
                      <a:extLst>
                        <a:ext uri="{FF2B5EF4-FFF2-40B4-BE49-F238E27FC236}">
                          <a16:creationId xmlns:a16="http://schemas.microsoft.com/office/drawing/2014/main" id="{899853FD-BFA7-2928-8CEB-26737960228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706934" y="4376721"/>
                      <a:ext cx="1742400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>
                            <m:r>
                              <a:rPr kumimoji="1" lang="en-US" altLang="ja-JP" sz="2400" i="1" smtClean="0">
                                <a:solidFill>
                                  <a:srgbClr val="94165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  <m:r>
                              <a:rPr kumimoji="1" lang="en-US" altLang="ja-JP" sz="2400" b="0" i="1" smtClean="0">
                                <a:solidFill>
                                  <a:srgbClr val="94165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=108.5°</m:t>
                            </m:r>
                          </m:oMath>
                        </m:oMathPara>
                      </a14:m>
                      <a:endParaRPr kumimoji="1" lang="ja-JP" altLang="en-US" sz="2400">
                        <a:solidFill>
                          <a:srgbClr val="941651"/>
                        </a:solidFill>
                        <a:latin typeface="Helvetica" pitchFamily="2" charset="0"/>
                      </a:endParaRPr>
                    </a:p>
                  </p:txBody>
                </p:sp>
              </mc:Choice>
              <mc:Fallback>
                <p:sp>
                  <p:nvSpPr>
                    <p:cNvPr id="256" name="テキスト ボックス 255">
                      <a:extLst>
                        <a:ext uri="{FF2B5EF4-FFF2-40B4-BE49-F238E27FC236}">
                          <a16:creationId xmlns:a16="http://schemas.microsoft.com/office/drawing/2014/main" id="{899853FD-BFA7-2928-8CEB-26737960228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706934" y="4376721"/>
                      <a:ext cx="1742400" cy="46166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b="-810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57" name="テキスト ボックス 256">
                      <a:extLst>
                        <a:ext uri="{FF2B5EF4-FFF2-40B4-BE49-F238E27FC236}">
                          <a16:creationId xmlns:a16="http://schemas.microsoft.com/office/drawing/2014/main" id="{8717434B-4C27-F863-C27F-ED59F3E4072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477349" y="3010595"/>
                      <a:ext cx="1539652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kumimoji="1" lang="en-US" altLang="ja-JP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kumimoji="1" lang="en-US" altLang="ja-JP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=49.5°</m:t>
                            </m:r>
                          </m:oMath>
                        </m:oMathPara>
                      </a14:m>
                      <a:endParaRPr kumimoji="1" lang="ja-JP" altLang="en-US" sz="2400">
                        <a:solidFill>
                          <a:schemeClr val="accent1"/>
                        </a:solidFill>
                        <a:latin typeface="Helvetica" pitchFamily="2" charset="0"/>
                      </a:endParaRPr>
                    </a:p>
                  </p:txBody>
                </p:sp>
              </mc:Choice>
              <mc:Fallback>
                <p:sp>
                  <p:nvSpPr>
                    <p:cNvPr id="257" name="テキスト ボックス 256">
                      <a:extLst>
                        <a:ext uri="{FF2B5EF4-FFF2-40B4-BE49-F238E27FC236}">
                          <a16:creationId xmlns:a16="http://schemas.microsoft.com/office/drawing/2014/main" id="{8717434B-4C27-F863-C27F-ED59F3E4072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477349" y="3010595"/>
                      <a:ext cx="1539652" cy="461665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259" name="テキスト ボックス 258">
                <a:extLst>
                  <a:ext uri="{FF2B5EF4-FFF2-40B4-BE49-F238E27FC236}">
                    <a16:creationId xmlns:a16="http://schemas.microsoft.com/office/drawing/2014/main" id="{E1008FB2-C557-9B58-E84F-6A9BB91F9543}"/>
                  </a:ext>
                </a:extLst>
              </p:cNvPr>
              <p:cNvSpPr txBox="1"/>
              <p:nvPr/>
            </p:nvSpPr>
            <p:spPr>
              <a:xfrm>
                <a:off x="8533209" y="2865813"/>
                <a:ext cx="74892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600" dirty="0">
                    <a:latin typeface="Helvetica" pitchFamily="2" charset="0"/>
                  </a:rPr>
                  <a:t>(b)</a:t>
                </a:r>
                <a:endParaRPr kumimoji="1" lang="ja-JP" altLang="en-US" sz="3600">
                  <a:latin typeface="Helvetica" pitchFamily="2" charset="0"/>
                </a:endParaRPr>
              </a:p>
            </p:txBody>
          </p:sp>
          <p:cxnSp>
            <p:nvCxnSpPr>
              <p:cNvPr id="165" name="直線矢印コネクタ 164">
                <a:extLst>
                  <a:ext uri="{FF2B5EF4-FFF2-40B4-BE49-F238E27FC236}">
                    <a16:creationId xmlns:a16="http://schemas.microsoft.com/office/drawing/2014/main" id="{96455C1F-5FED-400A-1EF4-63C4A41B0A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79383" y="5832286"/>
                <a:ext cx="202862" cy="158099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lg" len="lg"/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4" name="テキスト ボックス 283">
                  <a:extLst>
                    <a:ext uri="{FF2B5EF4-FFF2-40B4-BE49-F238E27FC236}">
                      <a16:creationId xmlns:a16="http://schemas.microsoft.com/office/drawing/2014/main" id="{FBB4F601-C53D-6329-4E99-BE016E9E2482}"/>
                    </a:ext>
                  </a:extLst>
                </p:cNvPr>
                <p:cNvSpPr txBox="1"/>
                <p:nvPr/>
              </p:nvSpPr>
              <p:spPr>
                <a:xfrm>
                  <a:off x="9946506" y="2345430"/>
                  <a:ext cx="41229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r>
                          <a:rPr kumimoji="1" lang="en-US" altLang="ja-JP" sz="2400" b="1" i="0" smtClean="0">
                            <a:latin typeface="Cambria Math" panose="02040503050406030204" pitchFamily="18" charset="0"/>
                          </a:rPr>
                          <m:t>𝐌</m:t>
                        </m:r>
                      </m:oMath>
                    </m:oMathPara>
                  </a14:m>
                  <a:endParaRPr kumimoji="1" lang="ja-JP" altLang="en-US" sz="2400" b="1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284" name="テキスト ボックス 283">
                  <a:extLst>
                    <a:ext uri="{FF2B5EF4-FFF2-40B4-BE49-F238E27FC236}">
                      <a16:creationId xmlns:a16="http://schemas.microsoft.com/office/drawing/2014/main" id="{FBB4F601-C53D-6329-4E99-BE016E9E24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6506" y="2345430"/>
                  <a:ext cx="412292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6061" r="-1212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6" name="テキスト ボックス 285">
                  <a:extLst>
                    <a:ext uri="{FF2B5EF4-FFF2-40B4-BE49-F238E27FC236}">
                      <a16:creationId xmlns:a16="http://schemas.microsoft.com/office/drawing/2014/main" id="{B8EF81C1-5F4B-9FDB-16A0-E80BC09E6D36}"/>
                    </a:ext>
                  </a:extLst>
                </p:cNvPr>
                <p:cNvSpPr txBox="1"/>
                <p:nvPr/>
              </p:nvSpPr>
              <p:spPr>
                <a:xfrm>
                  <a:off x="7712101" y="4191702"/>
                  <a:ext cx="41229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r>
                          <a:rPr kumimoji="1" lang="en-US" altLang="ja-JP" sz="2400" b="1" i="0" smtClean="0">
                            <a:latin typeface="Cambria Math" panose="02040503050406030204" pitchFamily="18" charset="0"/>
                          </a:rPr>
                          <m:t>𝐌</m:t>
                        </m:r>
                      </m:oMath>
                    </m:oMathPara>
                  </a14:m>
                  <a:endParaRPr kumimoji="1" lang="ja-JP" altLang="en-US" sz="2400" b="1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286" name="テキスト ボックス 285">
                  <a:extLst>
                    <a:ext uri="{FF2B5EF4-FFF2-40B4-BE49-F238E27FC236}">
                      <a16:creationId xmlns:a16="http://schemas.microsoft.com/office/drawing/2014/main" id="{B8EF81C1-5F4B-9FDB-16A0-E80BC09E6D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2101" y="4191702"/>
                  <a:ext cx="412292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3030" r="-1212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205502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696AD-24FC-FE95-8A31-7313891C7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E62AB0FB-4779-3755-2B03-08F6A12DE98A}"/>
              </a:ext>
            </a:extLst>
          </p:cNvPr>
          <p:cNvGrpSpPr/>
          <p:nvPr/>
        </p:nvGrpSpPr>
        <p:grpSpPr>
          <a:xfrm>
            <a:off x="8470863" y="2781305"/>
            <a:ext cx="5761698" cy="4757023"/>
            <a:chOff x="8470863" y="2781305"/>
            <a:chExt cx="5761698" cy="4757023"/>
          </a:xfrm>
        </p:grpSpPr>
        <p:cxnSp>
          <p:nvCxnSpPr>
            <p:cNvPr id="163" name="直線矢印コネクタ 162">
              <a:extLst>
                <a:ext uri="{FF2B5EF4-FFF2-40B4-BE49-F238E27FC236}">
                  <a16:creationId xmlns:a16="http://schemas.microsoft.com/office/drawing/2014/main" id="{A03CA436-20D2-AB88-8B42-989F501BE5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85701" y="5489262"/>
              <a:ext cx="1961835" cy="336666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lg" len="lg"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線矢印コネクタ 163">
              <a:extLst>
                <a:ext uri="{FF2B5EF4-FFF2-40B4-BE49-F238E27FC236}">
                  <a16:creationId xmlns:a16="http://schemas.microsoft.com/office/drawing/2014/main" id="{E7810ACC-E17A-0686-7AAA-04D6D101C6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75015" y="3545255"/>
              <a:ext cx="0" cy="230400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lg" len="lg"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線矢印コネクタ 164">
              <a:extLst>
                <a:ext uri="{FF2B5EF4-FFF2-40B4-BE49-F238E27FC236}">
                  <a16:creationId xmlns:a16="http://schemas.microsoft.com/office/drawing/2014/main" id="{7D9FE88E-8372-7FD7-962C-1F0DD009AF3D}"/>
                </a:ext>
              </a:extLst>
            </p:cNvPr>
            <p:cNvCxnSpPr>
              <a:cxnSpLocks/>
            </p:cNvCxnSpPr>
            <p:nvPr/>
          </p:nvCxnSpPr>
          <p:spPr>
            <a:xfrm>
              <a:off x="9279383" y="5832286"/>
              <a:ext cx="202862" cy="1580993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lg" len="lg"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テキスト ボックス 165">
              <a:extLst>
                <a:ext uri="{FF2B5EF4-FFF2-40B4-BE49-F238E27FC236}">
                  <a16:creationId xmlns:a16="http://schemas.microsoft.com/office/drawing/2014/main" id="{81DD1B30-878C-71B6-8E86-2E55CF4FD4F3}"/>
                </a:ext>
              </a:extLst>
            </p:cNvPr>
            <p:cNvSpPr txBox="1"/>
            <p:nvPr/>
          </p:nvSpPr>
          <p:spPr>
            <a:xfrm>
              <a:off x="9487269" y="7055988"/>
              <a:ext cx="412292" cy="4823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3200" dirty="0">
                  <a:latin typeface="Helvetica" pitchFamily="2" charset="0"/>
                </a:rPr>
                <a:t>a</a:t>
              </a:r>
              <a:endParaRPr kumimoji="1" lang="ja-JP" altLang="en-US" sz="3200">
                <a:latin typeface="Helvetica" pitchFamily="2" charset="0"/>
              </a:endParaRPr>
            </a:p>
          </p:txBody>
        </p:sp>
        <p:sp>
          <p:nvSpPr>
            <p:cNvPr id="167" name="テキスト ボックス 166">
              <a:extLst>
                <a:ext uri="{FF2B5EF4-FFF2-40B4-BE49-F238E27FC236}">
                  <a16:creationId xmlns:a16="http://schemas.microsoft.com/office/drawing/2014/main" id="{CAD8427E-5EC0-0C2C-74AF-0F897752D3DF}"/>
                </a:ext>
              </a:extLst>
            </p:cNvPr>
            <p:cNvSpPr txBox="1"/>
            <p:nvPr/>
          </p:nvSpPr>
          <p:spPr>
            <a:xfrm>
              <a:off x="10896790" y="4967102"/>
              <a:ext cx="41229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3200" dirty="0">
                  <a:latin typeface="Helvetica" pitchFamily="2" charset="0"/>
                </a:rPr>
                <a:t>b</a:t>
              </a:r>
              <a:endParaRPr kumimoji="1" lang="ja-JP" altLang="en-US" sz="3200">
                <a:latin typeface="Helvetica" pitchFamily="2" charset="0"/>
              </a:endParaRPr>
            </a:p>
          </p:txBody>
        </p:sp>
        <p:sp>
          <p:nvSpPr>
            <p:cNvPr id="168" name="テキスト ボックス 167">
              <a:extLst>
                <a:ext uri="{FF2B5EF4-FFF2-40B4-BE49-F238E27FC236}">
                  <a16:creationId xmlns:a16="http://schemas.microsoft.com/office/drawing/2014/main" id="{D3CC7ACC-6BAB-AF08-6B30-4F5FB31D4B71}"/>
                </a:ext>
              </a:extLst>
            </p:cNvPr>
            <p:cNvSpPr txBox="1"/>
            <p:nvPr/>
          </p:nvSpPr>
          <p:spPr>
            <a:xfrm>
              <a:off x="9315746" y="3384708"/>
              <a:ext cx="80983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3200" dirty="0">
                  <a:latin typeface="Helvetica" pitchFamily="2" charset="0"/>
                </a:rPr>
                <a:t>c||y</a:t>
              </a:r>
              <a:endParaRPr kumimoji="1" lang="ja-JP" altLang="en-US" sz="3200">
                <a:latin typeface="Helvetica" pitchFamily="2" charset="0"/>
              </a:endParaRPr>
            </a:p>
          </p:txBody>
        </p:sp>
        <p:cxnSp>
          <p:nvCxnSpPr>
            <p:cNvPr id="169" name="直線矢印コネクタ 168">
              <a:extLst>
                <a:ext uri="{FF2B5EF4-FFF2-40B4-BE49-F238E27FC236}">
                  <a16:creationId xmlns:a16="http://schemas.microsoft.com/office/drawing/2014/main" id="{0C3FFAF6-9AC2-2351-2BE6-056FA1385C6C}"/>
                </a:ext>
              </a:extLst>
            </p:cNvPr>
            <p:cNvCxnSpPr>
              <a:cxnSpLocks/>
            </p:cNvCxnSpPr>
            <p:nvPr/>
          </p:nvCxnSpPr>
          <p:spPr>
            <a:xfrm>
              <a:off x="9270405" y="5832286"/>
              <a:ext cx="4090233" cy="970977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lgDash"/>
              <a:headEnd type="none" w="lg" len="lg"/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線矢印コネクタ 172">
              <a:extLst>
                <a:ext uri="{FF2B5EF4-FFF2-40B4-BE49-F238E27FC236}">
                  <a16:creationId xmlns:a16="http://schemas.microsoft.com/office/drawing/2014/main" id="{24DD851B-EE50-4E90-B5C1-64CD0A7D44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70491" y="5579561"/>
              <a:ext cx="670254" cy="54103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フリーフォーム 201">
              <a:extLst>
                <a:ext uri="{FF2B5EF4-FFF2-40B4-BE49-F238E27FC236}">
                  <a16:creationId xmlns:a16="http://schemas.microsoft.com/office/drawing/2014/main" id="{FB0B28C2-211F-C76E-07C9-F41920B6B66A}"/>
                </a:ext>
              </a:extLst>
            </p:cNvPr>
            <p:cNvSpPr/>
            <p:nvPr/>
          </p:nvSpPr>
          <p:spPr>
            <a:xfrm>
              <a:off x="8727440" y="5253535"/>
              <a:ext cx="5242560" cy="2023568"/>
            </a:xfrm>
            <a:custGeom>
              <a:avLst/>
              <a:gdLst>
                <a:gd name="csX0" fmla="*/ 0 w 5242560"/>
                <a:gd name="csY0" fmla="*/ 659585 h 2023568"/>
                <a:gd name="csX1" fmla="*/ 1270000 w 5242560"/>
                <a:gd name="csY1" fmla="*/ 19505 h 2023568"/>
                <a:gd name="csX2" fmla="*/ 426720 w 5242560"/>
                <a:gd name="csY2" fmla="*/ 1319985 h 2023568"/>
                <a:gd name="csX3" fmla="*/ 2499360 w 5242560"/>
                <a:gd name="csY3" fmla="*/ 324305 h 2023568"/>
                <a:gd name="csX4" fmla="*/ 1666240 w 5242560"/>
                <a:gd name="csY4" fmla="*/ 1645105 h 2023568"/>
                <a:gd name="csX5" fmla="*/ 3830320 w 5242560"/>
                <a:gd name="csY5" fmla="*/ 649425 h 2023568"/>
                <a:gd name="csX6" fmla="*/ 3017520 w 5242560"/>
                <a:gd name="csY6" fmla="*/ 2021025 h 2023568"/>
                <a:gd name="csX7" fmla="*/ 5242560 w 5242560"/>
                <a:gd name="csY7" fmla="*/ 1015185 h 20235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5242560" h="2023568">
                  <a:moveTo>
                    <a:pt x="0" y="659585"/>
                  </a:moveTo>
                  <a:cubicBezTo>
                    <a:pt x="599440" y="284511"/>
                    <a:pt x="1198880" y="-90562"/>
                    <a:pt x="1270000" y="19505"/>
                  </a:cubicBezTo>
                  <a:cubicBezTo>
                    <a:pt x="1341120" y="129572"/>
                    <a:pt x="221827" y="1269185"/>
                    <a:pt x="426720" y="1319985"/>
                  </a:cubicBezTo>
                  <a:cubicBezTo>
                    <a:pt x="631613" y="1370785"/>
                    <a:pt x="2292773" y="270118"/>
                    <a:pt x="2499360" y="324305"/>
                  </a:cubicBezTo>
                  <a:cubicBezTo>
                    <a:pt x="2705947" y="378492"/>
                    <a:pt x="1444413" y="1590918"/>
                    <a:pt x="1666240" y="1645105"/>
                  </a:cubicBezTo>
                  <a:cubicBezTo>
                    <a:pt x="1888067" y="1699292"/>
                    <a:pt x="3605107" y="586772"/>
                    <a:pt x="3830320" y="649425"/>
                  </a:cubicBezTo>
                  <a:cubicBezTo>
                    <a:pt x="4055533" y="712078"/>
                    <a:pt x="2782147" y="1960065"/>
                    <a:pt x="3017520" y="2021025"/>
                  </a:cubicBezTo>
                  <a:cubicBezTo>
                    <a:pt x="3252893" y="2081985"/>
                    <a:pt x="4958080" y="1027038"/>
                    <a:pt x="5242560" y="1015185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04" name="直線矢印コネクタ 203">
              <a:extLst>
                <a:ext uri="{FF2B5EF4-FFF2-40B4-BE49-F238E27FC236}">
                  <a16:creationId xmlns:a16="http://schemas.microsoft.com/office/drawing/2014/main" id="{4D7E70AB-6189-BAEA-F390-F32BF5B344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29544" y="6143628"/>
              <a:ext cx="324799" cy="26218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線矢印コネクタ 204">
              <a:extLst>
                <a:ext uri="{FF2B5EF4-FFF2-40B4-BE49-F238E27FC236}">
                  <a16:creationId xmlns:a16="http://schemas.microsoft.com/office/drawing/2014/main" id="{30A116F2-F782-2281-1978-ADA3D25DD9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98913" y="5910331"/>
              <a:ext cx="685514" cy="55335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線矢印コネクタ 205">
              <a:extLst>
                <a:ext uri="{FF2B5EF4-FFF2-40B4-BE49-F238E27FC236}">
                  <a16:creationId xmlns:a16="http://schemas.microsoft.com/office/drawing/2014/main" id="{D2411040-A400-A7F2-13BF-C28025365E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62434" y="5903796"/>
              <a:ext cx="221534" cy="17882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線矢印コネクタ 206">
              <a:extLst>
                <a:ext uri="{FF2B5EF4-FFF2-40B4-BE49-F238E27FC236}">
                  <a16:creationId xmlns:a16="http://schemas.microsoft.com/office/drawing/2014/main" id="{AF06A5C6-7D89-FDF1-48EF-13D3849B57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92046" y="5266233"/>
              <a:ext cx="685514" cy="55335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線矢印コネクタ 208">
              <a:extLst>
                <a:ext uri="{FF2B5EF4-FFF2-40B4-BE49-F238E27FC236}">
                  <a16:creationId xmlns:a16="http://schemas.microsoft.com/office/drawing/2014/main" id="{32E09F30-E748-1EB3-5C86-7987D07BF3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54688" y="5629379"/>
              <a:ext cx="319987" cy="25829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線矢印コネクタ 209">
              <a:extLst>
                <a:ext uri="{FF2B5EF4-FFF2-40B4-BE49-F238E27FC236}">
                  <a16:creationId xmlns:a16="http://schemas.microsoft.com/office/drawing/2014/main" id="{F52C9ACF-2999-5D8B-8B98-A38CF3B7B8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1546" y="5943531"/>
              <a:ext cx="571285" cy="461148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線矢印コネクタ 210">
              <a:extLst>
                <a:ext uri="{FF2B5EF4-FFF2-40B4-BE49-F238E27FC236}">
                  <a16:creationId xmlns:a16="http://schemas.microsoft.com/office/drawing/2014/main" id="{9EDBBF35-703E-54B6-E79D-DD45E315C5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66608" y="6010906"/>
              <a:ext cx="560918" cy="45278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線矢印コネクタ 220">
              <a:extLst>
                <a:ext uri="{FF2B5EF4-FFF2-40B4-BE49-F238E27FC236}">
                  <a16:creationId xmlns:a16="http://schemas.microsoft.com/office/drawing/2014/main" id="{EC8BCC66-867A-B183-1A34-EDA58F2213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73201" y="6265319"/>
              <a:ext cx="726464" cy="58641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線矢印コネクタ 223">
              <a:extLst>
                <a:ext uri="{FF2B5EF4-FFF2-40B4-BE49-F238E27FC236}">
                  <a16:creationId xmlns:a16="http://schemas.microsoft.com/office/drawing/2014/main" id="{95430ECD-4FCC-1059-933C-6ECB913116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68023" y="6343079"/>
              <a:ext cx="400158" cy="323012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直線矢印コネクタ 225">
              <a:extLst>
                <a:ext uri="{FF2B5EF4-FFF2-40B4-BE49-F238E27FC236}">
                  <a16:creationId xmlns:a16="http://schemas.microsoft.com/office/drawing/2014/main" id="{93014E2D-F477-36A1-4EB7-2D2C6CB17B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32661" y="6581778"/>
              <a:ext cx="726464" cy="58641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線矢印コネクタ 226">
              <a:extLst>
                <a:ext uri="{FF2B5EF4-FFF2-40B4-BE49-F238E27FC236}">
                  <a16:creationId xmlns:a16="http://schemas.microsoft.com/office/drawing/2014/main" id="{03A7DDB2-F4BA-398C-57CB-25179AEBF8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123336" y="6659538"/>
              <a:ext cx="604305" cy="487802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0" name="テキスト ボックス 229">
                  <a:extLst>
                    <a:ext uri="{FF2B5EF4-FFF2-40B4-BE49-F238E27FC236}">
                      <a16:creationId xmlns:a16="http://schemas.microsoft.com/office/drawing/2014/main" id="{2F186307-9D93-74BA-4F37-28D8920CABA2}"/>
                    </a:ext>
                  </a:extLst>
                </p:cNvPr>
                <p:cNvSpPr txBox="1"/>
                <p:nvPr/>
              </p:nvSpPr>
              <p:spPr>
                <a:xfrm>
                  <a:off x="12809017" y="6887184"/>
                  <a:ext cx="889411" cy="6158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kumimoji="1" lang="en-US" altLang="ja-JP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kumimoji="1" lang="en-US" altLang="ja-JP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kumimoji="1" lang="en-US" altLang="ja-JP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kumimoji="1" lang="en-US" altLang="ja-JP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ab</m:t>
                            </m:r>
                          </m:sup>
                        </m:sSubSup>
                      </m:oMath>
                    </m:oMathPara>
                  </a14:m>
                  <a:endParaRPr kumimoji="1" lang="ja-JP" altLang="en-US" sz="3200">
                    <a:solidFill>
                      <a:schemeClr val="tx1"/>
                    </a:solidFill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230" name="テキスト ボックス 229">
                  <a:extLst>
                    <a:ext uri="{FF2B5EF4-FFF2-40B4-BE49-F238E27FC236}">
                      <a16:creationId xmlns:a16="http://schemas.microsoft.com/office/drawing/2014/main" id="{2F186307-9D93-74BA-4F37-28D8920CAB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09017" y="6887184"/>
                  <a:ext cx="889411" cy="615874"/>
                </a:xfrm>
                <a:prstGeom prst="rect">
                  <a:avLst/>
                </a:prstGeom>
                <a:blipFill>
                  <a:blip r:embed="rId3"/>
                  <a:stretch>
                    <a:fillRect b="-1224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320AAA02-543F-8272-0326-1261EC19B47C}"/>
                </a:ext>
              </a:extLst>
            </p:cNvPr>
            <p:cNvGrpSpPr/>
            <p:nvPr/>
          </p:nvGrpSpPr>
          <p:grpSpPr>
            <a:xfrm>
              <a:off x="10343181" y="2781305"/>
              <a:ext cx="3889380" cy="2163906"/>
              <a:chOff x="11086140" y="2867033"/>
              <a:chExt cx="3889380" cy="2163906"/>
            </a:xfrm>
          </p:grpSpPr>
          <p:sp>
            <p:nvSpPr>
              <p:cNvPr id="231" name="平行四辺形 230">
                <a:extLst>
                  <a:ext uri="{FF2B5EF4-FFF2-40B4-BE49-F238E27FC236}">
                    <a16:creationId xmlns:a16="http://schemas.microsoft.com/office/drawing/2014/main" id="{7934D4E3-7323-95C8-2BDC-7BA2B6B53546}"/>
                  </a:ext>
                </a:extLst>
              </p:cNvPr>
              <p:cNvSpPr/>
              <p:nvPr/>
            </p:nvSpPr>
            <p:spPr>
              <a:xfrm>
                <a:off x="11086140" y="3918845"/>
                <a:ext cx="3889380" cy="1112094"/>
              </a:xfrm>
              <a:prstGeom prst="parallelogram">
                <a:avLst>
                  <a:gd name="adj" fmla="val 100228"/>
                </a:avLst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232" name="直線矢印コネクタ 231">
                <a:extLst>
                  <a:ext uri="{FF2B5EF4-FFF2-40B4-BE49-F238E27FC236}">
                    <a16:creationId xmlns:a16="http://schemas.microsoft.com/office/drawing/2014/main" id="{8197EA76-643C-A4D4-F10C-CBF537C1BA2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342681" y="4019624"/>
                <a:ext cx="1171259" cy="20099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none" w="lg" len="lg"/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直線矢印コネクタ 232">
                <a:extLst>
                  <a:ext uri="{FF2B5EF4-FFF2-40B4-BE49-F238E27FC236}">
                    <a16:creationId xmlns:a16="http://schemas.microsoft.com/office/drawing/2014/main" id="{ACD8F7EE-3417-BF64-8F85-D302B098B4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331995" y="2876652"/>
                <a:ext cx="0" cy="136729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none" w="lg" len="lg"/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直線矢印コネクタ 233">
                <a:extLst>
                  <a:ext uri="{FF2B5EF4-FFF2-40B4-BE49-F238E27FC236}">
                    <a16:creationId xmlns:a16="http://schemas.microsoft.com/office/drawing/2014/main" id="{60270E70-E1BB-6167-C03C-806A892AE6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32955" y="4220621"/>
                <a:ext cx="97801" cy="76220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none" w="lg" len="lg"/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直線矢印コネクタ 238">
                <a:extLst>
                  <a:ext uri="{FF2B5EF4-FFF2-40B4-BE49-F238E27FC236}">
                    <a16:creationId xmlns:a16="http://schemas.microsoft.com/office/drawing/2014/main" id="{35B231CC-AFEA-C292-B2F2-607E861CFF1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341722" y="3453571"/>
                <a:ext cx="949326" cy="7663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直線矢印コネクタ 241">
                <a:extLst>
                  <a:ext uri="{FF2B5EF4-FFF2-40B4-BE49-F238E27FC236}">
                    <a16:creationId xmlns:a16="http://schemas.microsoft.com/office/drawing/2014/main" id="{66997248-81C0-5282-2445-F6C92C6509B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253722" y="3472838"/>
                <a:ext cx="0" cy="690712"/>
              </a:xfrm>
              <a:prstGeom prst="straightConnector1">
                <a:avLst/>
              </a:prstGeom>
              <a:ln w="22225" cap="rnd">
                <a:solidFill>
                  <a:schemeClr val="tx1"/>
                </a:solidFill>
                <a:prstDash val="sysDot"/>
                <a:headEnd type="non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直線矢印コネクタ 246">
                <a:extLst>
                  <a:ext uri="{FF2B5EF4-FFF2-40B4-BE49-F238E27FC236}">
                    <a16:creationId xmlns:a16="http://schemas.microsoft.com/office/drawing/2014/main" id="{A29E01FB-A89A-D32D-BE1E-3D42D227D6C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331995" y="4163550"/>
                <a:ext cx="921727" cy="67250"/>
              </a:xfrm>
              <a:prstGeom prst="straightConnector1">
                <a:avLst/>
              </a:prstGeom>
              <a:ln w="22225" cap="rnd">
                <a:solidFill>
                  <a:schemeClr val="tx1"/>
                </a:solidFill>
                <a:prstDash val="sysDot"/>
                <a:round/>
                <a:headEnd type="non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1" name="円弧 250">
                <a:extLst>
                  <a:ext uri="{FF2B5EF4-FFF2-40B4-BE49-F238E27FC236}">
                    <a16:creationId xmlns:a16="http://schemas.microsoft.com/office/drawing/2014/main" id="{030F01CB-A9E5-0891-05EC-24AA59099BC0}"/>
                  </a:ext>
                </a:extLst>
              </p:cNvPr>
              <p:cNvSpPr/>
              <p:nvPr/>
            </p:nvSpPr>
            <p:spPr>
              <a:xfrm rot="6093443">
                <a:off x="12034100" y="3654506"/>
                <a:ext cx="914400" cy="914400"/>
              </a:xfrm>
              <a:prstGeom prst="arc">
                <a:avLst/>
              </a:prstGeom>
              <a:ln w="12700">
                <a:solidFill>
                  <a:srgbClr val="941651"/>
                </a:solidFill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52" name="円弧 251">
                <a:extLst>
                  <a:ext uri="{FF2B5EF4-FFF2-40B4-BE49-F238E27FC236}">
                    <a16:creationId xmlns:a16="http://schemas.microsoft.com/office/drawing/2014/main" id="{F1B237A4-A305-1B3E-EBA6-7E1FA9E5387D}"/>
                  </a:ext>
                </a:extLst>
              </p:cNvPr>
              <p:cNvSpPr/>
              <p:nvPr/>
            </p:nvSpPr>
            <p:spPr>
              <a:xfrm rot="19869030">
                <a:off x="12168571" y="3601105"/>
                <a:ext cx="747050" cy="747050"/>
              </a:xfrm>
              <a:prstGeom prst="arc">
                <a:avLst/>
              </a:prstGeom>
              <a:ln w="12700">
                <a:solidFill>
                  <a:schemeClr val="accent1"/>
                </a:solidFill>
                <a:headEnd type="non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53" name="テキスト ボックス 252">
                <a:extLst>
                  <a:ext uri="{FF2B5EF4-FFF2-40B4-BE49-F238E27FC236}">
                    <a16:creationId xmlns:a16="http://schemas.microsoft.com/office/drawing/2014/main" id="{CD693B73-A97B-9216-B881-0CA02A20B7A0}"/>
                  </a:ext>
                </a:extLst>
              </p:cNvPr>
              <p:cNvSpPr txBox="1"/>
              <p:nvPr/>
            </p:nvSpPr>
            <p:spPr>
              <a:xfrm>
                <a:off x="11977808" y="4501381"/>
                <a:ext cx="3561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400" dirty="0">
                    <a:latin typeface="Helvetica" pitchFamily="2" charset="0"/>
                  </a:rPr>
                  <a:t>a</a:t>
                </a:r>
                <a:endParaRPr kumimoji="1" lang="ja-JP" altLang="en-US" sz="2400">
                  <a:latin typeface="Helvetica" pitchFamily="2" charset="0"/>
                </a:endParaRPr>
              </a:p>
            </p:txBody>
          </p:sp>
          <p:sp>
            <p:nvSpPr>
              <p:cNvPr id="254" name="テキスト ボックス 253">
                <a:extLst>
                  <a:ext uri="{FF2B5EF4-FFF2-40B4-BE49-F238E27FC236}">
                    <a16:creationId xmlns:a16="http://schemas.microsoft.com/office/drawing/2014/main" id="{DE6B54CC-0567-D03D-F33A-65B4374E97D1}"/>
                  </a:ext>
                </a:extLst>
              </p:cNvPr>
              <p:cNvSpPr txBox="1"/>
              <p:nvPr/>
            </p:nvSpPr>
            <p:spPr>
              <a:xfrm>
                <a:off x="13448240" y="3848232"/>
                <a:ext cx="4122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400" dirty="0">
                    <a:latin typeface="Helvetica" pitchFamily="2" charset="0"/>
                  </a:rPr>
                  <a:t>b</a:t>
                </a:r>
                <a:endParaRPr kumimoji="1" lang="ja-JP" altLang="en-US" sz="2400">
                  <a:latin typeface="Helvetica" pitchFamily="2" charset="0"/>
                </a:endParaRPr>
              </a:p>
            </p:txBody>
          </p:sp>
          <p:sp>
            <p:nvSpPr>
              <p:cNvPr id="255" name="テキスト ボックス 254">
                <a:extLst>
                  <a:ext uri="{FF2B5EF4-FFF2-40B4-BE49-F238E27FC236}">
                    <a16:creationId xmlns:a16="http://schemas.microsoft.com/office/drawing/2014/main" id="{E2C7EA0C-27E1-7DD6-2F8D-81E629FBE989}"/>
                  </a:ext>
                </a:extLst>
              </p:cNvPr>
              <p:cNvSpPr txBox="1"/>
              <p:nvPr/>
            </p:nvSpPr>
            <p:spPr>
              <a:xfrm>
                <a:off x="11708327" y="2867033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400" dirty="0">
                    <a:latin typeface="Helvetica" pitchFamily="2" charset="0"/>
                  </a:rPr>
                  <a:t>c||y</a:t>
                </a:r>
                <a:endParaRPr kumimoji="1" lang="ja-JP" altLang="en-US" sz="2400">
                  <a:latin typeface="Helvetica" pitchFamily="2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6" name="テキスト ボックス 255">
                    <a:extLst>
                      <a:ext uri="{FF2B5EF4-FFF2-40B4-BE49-F238E27FC236}">
                        <a16:creationId xmlns:a16="http://schemas.microsoft.com/office/drawing/2014/main" id="{C646AAF2-180B-855E-E2F8-EF58158A19BD}"/>
                      </a:ext>
                    </a:extLst>
                  </p:cNvPr>
                  <p:cNvSpPr txBox="1"/>
                  <p:nvPr/>
                </p:nvSpPr>
                <p:spPr>
                  <a:xfrm>
                    <a:off x="12449889" y="4376721"/>
                    <a:ext cx="1742400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>
                          <m:r>
                            <a:rPr kumimoji="1" lang="en-US" altLang="ja-JP" sz="2400" i="1" smtClean="0">
                              <a:solidFill>
                                <a:srgbClr val="9416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  <m:r>
                            <a:rPr kumimoji="1" lang="en-US" altLang="ja-JP" sz="2400" b="0" i="1" smtClean="0">
                              <a:solidFill>
                                <a:srgbClr val="9416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=108.5°</m:t>
                          </m:r>
                        </m:oMath>
                      </m:oMathPara>
                    </a14:m>
                    <a:endParaRPr kumimoji="1" lang="ja-JP" altLang="en-US" sz="2400">
                      <a:solidFill>
                        <a:srgbClr val="941651"/>
                      </a:solidFill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256" name="テキスト ボックス 255">
                    <a:extLst>
                      <a:ext uri="{FF2B5EF4-FFF2-40B4-BE49-F238E27FC236}">
                        <a16:creationId xmlns:a16="http://schemas.microsoft.com/office/drawing/2014/main" id="{C646AAF2-180B-855E-E2F8-EF58158A19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449889" y="4376721"/>
                    <a:ext cx="1742400" cy="46166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5263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7" name="テキスト ボックス 256">
                    <a:extLst>
                      <a:ext uri="{FF2B5EF4-FFF2-40B4-BE49-F238E27FC236}">
                        <a16:creationId xmlns:a16="http://schemas.microsoft.com/office/drawing/2014/main" id="{280ED6D0-9303-E05C-26FE-B8C198D6EFA1}"/>
                      </a:ext>
                    </a:extLst>
                  </p:cNvPr>
                  <p:cNvSpPr txBox="1"/>
                  <p:nvPr/>
                </p:nvSpPr>
                <p:spPr>
                  <a:xfrm>
                    <a:off x="12275712" y="3054183"/>
                    <a:ext cx="1539652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kumimoji="1" lang="en-US" altLang="ja-JP" sz="2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kumimoji="1" lang="en-US" altLang="ja-JP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=49.5°</m:t>
                          </m:r>
                        </m:oMath>
                      </m:oMathPara>
                    </a14:m>
                    <a:endParaRPr kumimoji="1" lang="ja-JP" altLang="en-US" sz="2400">
                      <a:solidFill>
                        <a:schemeClr val="accent1"/>
                      </a:solidFill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257" name="テキスト ボックス 256">
                    <a:extLst>
                      <a:ext uri="{FF2B5EF4-FFF2-40B4-BE49-F238E27FC236}">
                        <a16:creationId xmlns:a16="http://schemas.microsoft.com/office/drawing/2014/main" id="{280ED6D0-9303-E05C-26FE-B8C198D6EF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275712" y="3054183"/>
                    <a:ext cx="1539652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59" name="テキスト ボックス 258">
              <a:extLst>
                <a:ext uri="{FF2B5EF4-FFF2-40B4-BE49-F238E27FC236}">
                  <a16:creationId xmlns:a16="http://schemas.microsoft.com/office/drawing/2014/main" id="{582577C7-A443-06F4-4B7C-FD395A1BECB3}"/>
                </a:ext>
              </a:extLst>
            </p:cNvPr>
            <p:cNvSpPr txBox="1"/>
            <p:nvPr/>
          </p:nvSpPr>
          <p:spPr>
            <a:xfrm>
              <a:off x="8470863" y="2969723"/>
              <a:ext cx="74892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3600" dirty="0">
                  <a:latin typeface="Helvetica" pitchFamily="2" charset="0"/>
                </a:rPr>
                <a:t>(b)</a:t>
              </a:r>
              <a:endParaRPr kumimoji="1" lang="ja-JP" altLang="en-US" sz="360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184210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669C5-120C-6FD5-762B-A2930C11F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図 63">
            <a:extLst>
              <a:ext uri="{FF2B5EF4-FFF2-40B4-BE49-F238E27FC236}">
                <a16:creationId xmlns:a16="http://schemas.microsoft.com/office/drawing/2014/main" id="{77439EC4-A9D5-DBF5-54A3-A6C77F5BE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046" y="4460532"/>
            <a:ext cx="4656629" cy="4656629"/>
          </a:xfrm>
          <a:prstGeom prst="rect">
            <a:avLst/>
          </a:prstGeom>
        </p:spPr>
      </p:pic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13886033-57CC-20DC-3728-42FB54D36906}"/>
              </a:ext>
            </a:extLst>
          </p:cNvPr>
          <p:cNvGrpSpPr/>
          <p:nvPr/>
        </p:nvGrpSpPr>
        <p:grpSpPr>
          <a:xfrm>
            <a:off x="4224256" y="4551176"/>
            <a:ext cx="4656629" cy="4656629"/>
            <a:chOff x="1672403" y="3305754"/>
            <a:chExt cx="3653417" cy="3653417"/>
          </a:xfrm>
        </p:grpSpPr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A6A71BC0-49AA-CDCF-350F-47001A67053B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72403" y="3305754"/>
              <a:ext cx="3653417" cy="365341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8B3B6943-8A07-E7B6-651E-BC64CCE30E77}"/>
                    </a:ext>
                  </a:extLst>
                </p:cNvPr>
                <p:cNvSpPr txBox="1"/>
                <p:nvPr/>
              </p:nvSpPr>
              <p:spPr>
                <a:xfrm>
                  <a:off x="2566524" y="4260311"/>
                  <a:ext cx="377539" cy="3875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bg1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1C134112-0B99-B025-29E3-8343A4614B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6524" y="4260311"/>
                  <a:ext cx="377539" cy="387559"/>
                </a:xfrm>
                <a:prstGeom prst="rect">
                  <a:avLst/>
                </a:prstGeom>
                <a:blipFill>
                  <a:blip r:embed="rId5"/>
                  <a:stretch>
                    <a:fillRect l="-5128" b="-769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8B2A122D-D092-4D5E-8568-B7F995631330}"/>
                    </a:ext>
                  </a:extLst>
                </p:cNvPr>
                <p:cNvSpPr txBox="1"/>
                <p:nvPr/>
              </p:nvSpPr>
              <p:spPr>
                <a:xfrm>
                  <a:off x="3720339" y="3762752"/>
                  <a:ext cx="377539" cy="3875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bg1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E8FA3BCA-A848-47E9-44A0-671100F4F0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0339" y="3762752"/>
                  <a:ext cx="377539" cy="387559"/>
                </a:xfrm>
                <a:prstGeom prst="rect">
                  <a:avLst/>
                </a:prstGeom>
                <a:blipFill>
                  <a:blip r:embed="rId6"/>
                  <a:stretch>
                    <a:fillRect l="-5263"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846F7C54-7653-E62B-DF1D-8CDF7AE953AD}"/>
                    </a:ext>
                  </a:extLst>
                </p:cNvPr>
                <p:cNvSpPr txBox="1"/>
                <p:nvPr/>
              </p:nvSpPr>
              <p:spPr>
                <a:xfrm>
                  <a:off x="3909109" y="4903528"/>
                  <a:ext cx="377539" cy="3875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bg1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22E2EEB0-E004-3818-9FFF-04D864689A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9109" y="4903528"/>
                  <a:ext cx="377539" cy="387559"/>
                </a:xfrm>
                <a:prstGeom prst="rect">
                  <a:avLst/>
                </a:prstGeom>
                <a:blipFill>
                  <a:blip r:embed="rId7"/>
                  <a:stretch>
                    <a:fillRect l="-5128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8" name="図 17">
            <a:extLst>
              <a:ext uri="{FF2B5EF4-FFF2-40B4-BE49-F238E27FC236}">
                <a16:creationId xmlns:a16="http://schemas.microsoft.com/office/drawing/2014/main" id="{EF0D301B-F261-8F6F-3213-104445574D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33835" y="7217317"/>
            <a:ext cx="5309735" cy="3318584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B108262C-2B11-DCF4-CE06-8F207E4B731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33835" y="3378832"/>
            <a:ext cx="5309732" cy="3318583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F69A78C-84EE-2D5B-79EC-47A6D8336A33}"/>
              </a:ext>
            </a:extLst>
          </p:cNvPr>
          <p:cNvSpPr txBox="1"/>
          <p:nvPr/>
        </p:nvSpPr>
        <p:spPr>
          <a:xfrm>
            <a:off x="4224256" y="734518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Unpol</a:t>
            </a:r>
            <a:r>
              <a:rPr kumimoji="1" lang="en-US" altLang="ja-JP" dirty="0"/>
              <a:t> 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873782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D6224210-8A84-C70F-AB0D-C6E47C20DD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035" t="19854" r="7074" b="42295"/>
          <a:stretch>
            <a:fillRect/>
          </a:stretch>
        </p:blipFill>
        <p:spPr>
          <a:xfrm>
            <a:off x="10363671" y="4278095"/>
            <a:ext cx="6783661" cy="492069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AD1A11D-78F8-D43A-2275-2EBD5A82EF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91" t="32396" r="57233" b="31851"/>
          <a:stretch>
            <a:fillRect/>
          </a:stretch>
        </p:blipFill>
        <p:spPr>
          <a:xfrm>
            <a:off x="3283937" y="4152898"/>
            <a:ext cx="6239059" cy="5461081"/>
          </a:xfrm>
          <a:prstGeom prst="rect">
            <a:avLst/>
          </a:prstGeom>
        </p:spPr>
      </p:pic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0967137E-B497-80B3-5FC3-777F0ECDE15C}"/>
              </a:ext>
            </a:extLst>
          </p:cNvPr>
          <p:cNvSpPr>
            <a:spLocks/>
          </p:cNvSpPr>
          <p:nvPr/>
        </p:nvSpPr>
        <p:spPr>
          <a:xfrm>
            <a:off x="4823659" y="4278094"/>
            <a:ext cx="2493342" cy="14819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2D59DB7-763D-FB52-96A2-39C95BAE990E}"/>
              </a:ext>
            </a:extLst>
          </p:cNvPr>
          <p:cNvSpPr>
            <a:spLocks/>
          </p:cNvSpPr>
          <p:nvPr/>
        </p:nvSpPr>
        <p:spPr>
          <a:xfrm>
            <a:off x="4088783" y="5341175"/>
            <a:ext cx="2493342" cy="21369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035D50F-AF62-F121-34F2-FF59DEAC96C5}"/>
              </a:ext>
            </a:extLst>
          </p:cNvPr>
          <p:cNvSpPr>
            <a:spLocks/>
          </p:cNvSpPr>
          <p:nvPr/>
        </p:nvSpPr>
        <p:spPr>
          <a:xfrm>
            <a:off x="5204763" y="5576297"/>
            <a:ext cx="2493342" cy="17399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60D1E9EB-A672-8665-DB97-39E37506176D}"/>
              </a:ext>
            </a:extLst>
          </p:cNvPr>
          <p:cNvCxnSpPr>
            <a:cxnSpLocks/>
          </p:cNvCxnSpPr>
          <p:nvPr/>
        </p:nvCxnSpPr>
        <p:spPr>
          <a:xfrm>
            <a:off x="7531319" y="4941138"/>
            <a:ext cx="0" cy="240145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98949D95-EC9C-F28C-75CF-03C76B6E54D6}"/>
              </a:ext>
            </a:extLst>
          </p:cNvPr>
          <p:cNvCxnSpPr>
            <a:cxnSpLocks/>
          </p:cNvCxnSpPr>
          <p:nvPr/>
        </p:nvCxnSpPr>
        <p:spPr>
          <a:xfrm>
            <a:off x="3950195" y="6265691"/>
            <a:ext cx="4192383" cy="0"/>
          </a:xfrm>
          <a:prstGeom prst="line">
            <a:avLst/>
          </a:prstGeom>
          <a:ln w="6350">
            <a:solidFill>
              <a:srgbClr val="99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7D0D6C9-7EFE-6174-F461-4458D11A14C9}"/>
              </a:ext>
            </a:extLst>
          </p:cNvPr>
          <p:cNvSpPr/>
          <p:nvPr/>
        </p:nvSpPr>
        <p:spPr>
          <a:xfrm>
            <a:off x="-808135" y="4893556"/>
            <a:ext cx="460302" cy="152201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06E33F6-60D2-2ED5-4CFC-E871AEFC2418}"/>
              </a:ext>
            </a:extLst>
          </p:cNvPr>
          <p:cNvSpPr/>
          <p:nvPr/>
        </p:nvSpPr>
        <p:spPr>
          <a:xfrm>
            <a:off x="4500806" y="4995899"/>
            <a:ext cx="1697796" cy="220553"/>
          </a:xfrm>
          <a:prstGeom prst="rect">
            <a:avLst/>
          </a:prstGeom>
          <a:solidFill>
            <a:schemeClr val="bg1">
              <a:lumMod val="50000"/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BF71808-DFD0-7B37-2DDC-D3FFE3695A32}"/>
              </a:ext>
            </a:extLst>
          </p:cNvPr>
          <p:cNvSpPr/>
          <p:nvPr/>
        </p:nvSpPr>
        <p:spPr>
          <a:xfrm>
            <a:off x="-1412631" y="5225682"/>
            <a:ext cx="223392" cy="3550605"/>
          </a:xfrm>
          <a:prstGeom prst="rect">
            <a:avLst/>
          </a:prstGeom>
          <a:solidFill>
            <a:schemeClr val="bg1">
              <a:lumMod val="50000"/>
              <a:alpha val="29804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1283968-087B-D71A-3373-1E68F78086F2}"/>
              </a:ext>
            </a:extLst>
          </p:cNvPr>
          <p:cNvSpPr/>
          <p:nvPr/>
        </p:nvSpPr>
        <p:spPr>
          <a:xfrm>
            <a:off x="5975220" y="5225680"/>
            <a:ext cx="223392" cy="3550606"/>
          </a:xfrm>
          <a:prstGeom prst="rect">
            <a:avLst/>
          </a:prstGeom>
          <a:solidFill>
            <a:schemeClr val="bg1">
              <a:lumMod val="50000"/>
              <a:alpha val="29804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92D6BF6-B024-7295-0F9D-1D09ED54487D}"/>
              </a:ext>
            </a:extLst>
          </p:cNvPr>
          <p:cNvSpPr/>
          <p:nvPr/>
        </p:nvSpPr>
        <p:spPr>
          <a:xfrm>
            <a:off x="4614532" y="5487085"/>
            <a:ext cx="1442375" cy="194947"/>
          </a:xfrm>
          <a:prstGeom prst="rect">
            <a:avLst/>
          </a:prstGeom>
          <a:solidFill>
            <a:schemeClr val="accent2"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6937011-057C-D696-2E73-DB9DE0641CC8}"/>
              </a:ext>
            </a:extLst>
          </p:cNvPr>
          <p:cNvSpPr/>
          <p:nvPr/>
        </p:nvSpPr>
        <p:spPr>
          <a:xfrm>
            <a:off x="4623645" y="6849354"/>
            <a:ext cx="1442375" cy="194947"/>
          </a:xfrm>
          <a:prstGeom prst="rect">
            <a:avLst/>
          </a:prstGeom>
          <a:solidFill>
            <a:schemeClr val="accent2"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3A1E43E-0794-0668-91A1-5F143436C8E4}"/>
              </a:ext>
            </a:extLst>
          </p:cNvPr>
          <p:cNvSpPr/>
          <p:nvPr/>
        </p:nvSpPr>
        <p:spPr>
          <a:xfrm>
            <a:off x="6150903" y="5806757"/>
            <a:ext cx="1148959" cy="87921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A5CC8D5-45B8-1C5D-292A-29124508D396}"/>
              </a:ext>
            </a:extLst>
          </p:cNvPr>
          <p:cNvSpPr/>
          <p:nvPr/>
        </p:nvSpPr>
        <p:spPr>
          <a:xfrm>
            <a:off x="4129585" y="7331078"/>
            <a:ext cx="3109503" cy="135495"/>
          </a:xfrm>
          <a:prstGeom prst="rect">
            <a:avLst/>
          </a:prstGeom>
          <a:solidFill>
            <a:schemeClr val="tx2">
              <a:lumMod val="50000"/>
              <a:lumOff val="5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5EF4726-49C8-20E9-0770-3B94B270A4AE}"/>
              </a:ext>
            </a:extLst>
          </p:cNvPr>
          <p:cNvSpPr/>
          <p:nvPr/>
        </p:nvSpPr>
        <p:spPr>
          <a:xfrm>
            <a:off x="4500806" y="5693761"/>
            <a:ext cx="1697796" cy="66282"/>
          </a:xfrm>
          <a:prstGeom prst="rect">
            <a:avLst/>
          </a:prstGeom>
          <a:solidFill>
            <a:schemeClr val="bg1">
              <a:lumMod val="50000"/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15E7CB37-C681-AABD-54AC-78EA6B0ED6BA}"/>
              </a:ext>
            </a:extLst>
          </p:cNvPr>
          <p:cNvSpPr/>
          <p:nvPr/>
        </p:nvSpPr>
        <p:spPr>
          <a:xfrm>
            <a:off x="4500806" y="7055946"/>
            <a:ext cx="1697796" cy="66282"/>
          </a:xfrm>
          <a:prstGeom prst="rect">
            <a:avLst/>
          </a:prstGeom>
          <a:solidFill>
            <a:schemeClr val="bg1">
              <a:lumMod val="50000"/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FBAFDA75-32DE-CF75-ECD7-E830A6DD8594}"/>
              </a:ext>
            </a:extLst>
          </p:cNvPr>
          <p:cNvSpPr/>
          <p:nvPr/>
        </p:nvSpPr>
        <p:spPr>
          <a:xfrm>
            <a:off x="6150900" y="6703594"/>
            <a:ext cx="1148940" cy="97870"/>
          </a:xfrm>
          <a:prstGeom prst="rect">
            <a:avLst/>
          </a:prstGeom>
          <a:solidFill>
            <a:schemeClr val="tx2">
              <a:lumMod val="50000"/>
              <a:lumOff val="5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EEBDE48A-905E-1244-D8B8-8F1E3B0510A5}"/>
              </a:ext>
            </a:extLst>
          </p:cNvPr>
          <p:cNvSpPr/>
          <p:nvPr/>
        </p:nvSpPr>
        <p:spPr>
          <a:xfrm rot="5400000">
            <a:off x="6692385" y="7023502"/>
            <a:ext cx="529613" cy="85536"/>
          </a:xfrm>
          <a:prstGeom prst="rect">
            <a:avLst/>
          </a:prstGeom>
          <a:solidFill>
            <a:schemeClr val="tx2">
              <a:lumMod val="50000"/>
              <a:lumOff val="5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F04C406-A292-F0A2-EF33-0E8F770D880E}"/>
              </a:ext>
            </a:extLst>
          </p:cNvPr>
          <p:cNvSpPr/>
          <p:nvPr/>
        </p:nvSpPr>
        <p:spPr>
          <a:xfrm rot="5400000">
            <a:off x="6191495" y="7023886"/>
            <a:ext cx="529613" cy="85536"/>
          </a:xfrm>
          <a:prstGeom prst="rect">
            <a:avLst/>
          </a:prstGeom>
          <a:solidFill>
            <a:schemeClr val="tx2">
              <a:lumMod val="50000"/>
              <a:lumOff val="5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68ECE270-45A8-D19B-EC7A-F82F1981DC22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-583533" y="4654495"/>
            <a:ext cx="0" cy="2823588"/>
          </a:xfrm>
          <a:prstGeom prst="line">
            <a:avLst/>
          </a:prstGeom>
          <a:ln w="9525">
            <a:solidFill>
              <a:srgbClr val="B0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80421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3EBB5-0CED-5095-6915-5B0360DE2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273CCB41-9238-C248-9AC0-E0F9B95B6B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035" t="19854" r="7074" b="42295"/>
          <a:stretch>
            <a:fillRect/>
          </a:stretch>
        </p:blipFill>
        <p:spPr>
          <a:xfrm>
            <a:off x="10363671" y="4278095"/>
            <a:ext cx="6783661" cy="492069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BB09ADB6-3119-27F2-63C5-D1819C7823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91" t="32396" r="57233" b="31851"/>
          <a:stretch>
            <a:fillRect/>
          </a:stretch>
        </p:blipFill>
        <p:spPr>
          <a:xfrm>
            <a:off x="3283937" y="4152898"/>
            <a:ext cx="6239059" cy="5461081"/>
          </a:xfrm>
          <a:prstGeom prst="rect">
            <a:avLst/>
          </a:prstGeom>
        </p:spPr>
      </p:pic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65F42A04-0F52-3BC6-78E8-F22A4E4AF343}"/>
              </a:ext>
            </a:extLst>
          </p:cNvPr>
          <p:cNvSpPr>
            <a:spLocks/>
          </p:cNvSpPr>
          <p:nvPr/>
        </p:nvSpPr>
        <p:spPr>
          <a:xfrm>
            <a:off x="4823659" y="4278094"/>
            <a:ext cx="2493342" cy="14819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DDD0F68-0752-0F28-7979-B72F0BC9D828}"/>
              </a:ext>
            </a:extLst>
          </p:cNvPr>
          <p:cNvSpPr>
            <a:spLocks/>
          </p:cNvSpPr>
          <p:nvPr/>
        </p:nvSpPr>
        <p:spPr>
          <a:xfrm>
            <a:off x="4088783" y="5341175"/>
            <a:ext cx="2493342" cy="21369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04E0C90-AA15-53A6-AD54-0AD17518EFA0}"/>
              </a:ext>
            </a:extLst>
          </p:cNvPr>
          <p:cNvSpPr>
            <a:spLocks/>
          </p:cNvSpPr>
          <p:nvPr/>
        </p:nvSpPr>
        <p:spPr>
          <a:xfrm>
            <a:off x="5204763" y="5576297"/>
            <a:ext cx="2493342" cy="17399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DFC22278-AD3B-619B-BDA6-07B010328D3D}"/>
              </a:ext>
            </a:extLst>
          </p:cNvPr>
          <p:cNvCxnSpPr>
            <a:cxnSpLocks/>
          </p:cNvCxnSpPr>
          <p:nvPr/>
        </p:nvCxnSpPr>
        <p:spPr>
          <a:xfrm>
            <a:off x="7531319" y="4941138"/>
            <a:ext cx="0" cy="240145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B2E8EB44-345D-5086-F7F8-BE772099FAA5}"/>
              </a:ext>
            </a:extLst>
          </p:cNvPr>
          <p:cNvCxnSpPr>
            <a:cxnSpLocks/>
          </p:cNvCxnSpPr>
          <p:nvPr/>
        </p:nvCxnSpPr>
        <p:spPr>
          <a:xfrm>
            <a:off x="3950195" y="6265691"/>
            <a:ext cx="4192383" cy="0"/>
          </a:xfrm>
          <a:prstGeom prst="line">
            <a:avLst/>
          </a:prstGeom>
          <a:ln w="6350">
            <a:solidFill>
              <a:srgbClr val="99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4509E11-6287-4A91-DBDB-FDECCD48DD37}"/>
              </a:ext>
            </a:extLst>
          </p:cNvPr>
          <p:cNvSpPr/>
          <p:nvPr/>
        </p:nvSpPr>
        <p:spPr>
          <a:xfrm>
            <a:off x="-808135" y="4893556"/>
            <a:ext cx="460302" cy="152201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EAF7241-EAB4-EBA6-FD9D-368B67CB8CCC}"/>
              </a:ext>
            </a:extLst>
          </p:cNvPr>
          <p:cNvSpPr/>
          <p:nvPr/>
        </p:nvSpPr>
        <p:spPr>
          <a:xfrm>
            <a:off x="4500806" y="4995899"/>
            <a:ext cx="1697796" cy="220553"/>
          </a:xfrm>
          <a:prstGeom prst="rect">
            <a:avLst/>
          </a:prstGeom>
          <a:solidFill>
            <a:schemeClr val="bg1">
              <a:lumMod val="50000"/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6904E61-B402-E76F-0CC7-AC9E3EFD3A05}"/>
              </a:ext>
            </a:extLst>
          </p:cNvPr>
          <p:cNvSpPr/>
          <p:nvPr/>
        </p:nvSpPr>
        <p:spPr>
          <a:xfrm>
            <a:off x="-1412631" y="5225682"/>
            <a:ext cx="223392" cy="3550605"/>
          </a:xfrm>
          <a:prstGeom prst="rect">
            <a:avLst/>
          </a:prstGeom>
          <a:solidFill>
            <a:schemeClr val="bg1">
              <a:lumMod val="50000"/>
              <a:alpha val="29804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0569F23-1DC5-0208-15A3-1559A0170501}"/>
              </a:ext>
            </a:extLst>
          </p:cNvPr>
          <p:cNvSpPr/>
          <p:nvPr/>
        </p:nvSpPr>
        <p:spPr>
          <a:xfrm>
            <a:off x="5975220" y="5225680"/>
            <a:ext cx="223392" cy="3550606"/>
          </a:xfrm>
          <a:prstGeom prst="rect">
            <a:avLst/>
          </a:prstGeom>
          <a:solidFill>
            <a:schemeClr val="bg1">
              <a:lumMod val="50000"/>
              <a:alpha val="29804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311F5D1-21EF-02CD-3078-508349E69D9E}"/>
              </a:ext>
            </a:extLst>
          </p:cNvPr>
          <p:cNvSpPr/>
          <p:nvPr/>
        </p:nvSpPr>
        <p:spPr>
          <a:xfrm>
            <a:off x="4614532" y="5487085"/>
            <a:ext cx="1442375" cy="194947"/>
          </a:xfrm>
          <a:prstGeom prst="rect">
            <a:avLst/>
          </a:prstGeom>
          <a:solidFill>
            <a:schemeClr val="accent2"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805864E-69DD-E193-9ADF-F46C67CBCB70}"/>
              </a:ext>
            </a:extLst>
          </p:cNvPr>
          <p:cNvSpPr/>
          <p:nvPr/>
        </p:nvSpPr>
        <p:spPr>
          <a:xfrm>
            <a:off x="4623645" y="6849354"/>
            <a:ext cx="1442375" cy="194947"/>
          </a:xfrm>
          <a:prstGeom prst="rect">
            <a:avLst/>
          </a:prstGeom>
          <a:solidFill>
            <a:schemeClr val="accent2"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B0C8715-BA49-D76E-2964-54368FD7268A}"/>
              </a:ext>
            </a:extLst>
          </p:cNvPr>
          <p:cNvSpPr/>
          <p:nvPr/>
        </p:nvSpPr>
        <p:spPr>
          <a:xfrm>
            <a:off x="6150903" y="5806757"/>
            <a:ext cx="1148959" cy="87921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AB5F9D9-A68A-61D8-3690-1F7511692820}"/>
              </a:ext>
            </a:extLst>
          </p:cNvPr>
          <p:cNvSpPr/>
          <p:nvPr/>
        </p:nvSpPr>
        <p:spPr>
          <a:xfrm>
            <a:off x="4129585" y="7331078"/>
            <a:ext cx="3109503" cy="135495"/>
          </a:xfrm>
          <a:prstGeom prst="rect">
            <a:avLst/>
          </a:prstGeom>
          <a:solidFill>
            <a:schemeClr val="tx2">
              <a:lumMod val="50000"/>
              <a:lumOff val="5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1AD02B35-C7A9-6F17-EDEF-8121A6B18013}"/>
              </a:ext>
            </a:extLst>
          </p:cNvPr>
          <p:cNvSpPr/>
          <p:nvPr/>
        </p:nvSpPr>
        <p:spPr>
          <a:xfrm>
            <a:off x="4500806" y="5693761"/>
            <a:ext cx="1697796" cy="66282"/>
          </a:xfrm>
          <a:prstGeom prst="rect">
            <a:avLst/>
          </a:prstGeom>
          <a:solidFill>
            <a:schemeClr val="bg1">
              <a:lumMod val="50000"/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29AE440F-E879-E835-F2AD-7BE4BCBBCB16}"/>
              </a:ext>
            </a:extLst>
          </p:cNvPr>
          <p:cNvSpPr/>
          <p:nvPr/>
        </p:nvSpPr>
        <p:spPr>
          <a:xfrm>
            <a:off x="4500806" y="7055946"/>
            <a:ext cx="1697796" cy="66282"/>
          </a:xfrm>
          <a:prstGeom prst="rect">
            <a:avLst/>
          </a:prstGeom>
          <a:solidFill>
            <a:schemeClr val="bg1">
              <a:lumMod val="50000"/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639379E6-0C0A-6FEA-8119-D5FDE7962C86}"/>
              </a:ext>
            </a:extLst>
          </p:cNvPr>
          <p:cNvSpPr/>
          <p:nvPr/>
        </p:nvSpPr>
        <p:spPr>
          <a:xfrm>
            <a:off x="6150900" y="6703594"/>
            <a:ext cx="1148940" cy="97870"/>
          </a:xfrm>
          <a:prstGeom prst="rect">
            <a:avLst/>
          </a:prstGeom>
          <a:solidFill>
            <a:schemeClr val="tx2">
              <a:lumMod val="50000"/>
              <a:lumOff val="5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CBD1FDDB-2AF4-ABAA-26CF-D5E71BAC74E3}"/>
              </a:ext>
            </a:extLst>
          </p:cNvPr>
          <p:cNvSpPr/>
          <p:nvPr/>
        </p:nvSpPr>
        <p:spPr>
          <a:xfrm rot="5400000">
            <a:off x="6692385" y="7023502"/>
            <a:ext cx="529613" cy="85536"/>
          </a:xfrm>
          <a:prstGeom prst="rect">
            <a:avLst/>
          </a:prstGeom>
          <a:solidFill>
            <a:schemeClr val="tx2">
              <a:lumMod val="50000"/>
              <a:lumOff val="5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ED589D29-696F-6FA4-ACEB-0462CBBFA179}"/>
              </a:ext>
            </a:extLst>
          </p:cNvPr>
          <p:cNvSpPr/>
          <p:nvPr/>
        </p:nvSpPr>
        <p:spPr>
          <a:xfrm rot="5400000">
            <a:off x="6191495" y="7023886"/>
            <a:ext cx="529613" cy="85536"/>
          </a:xfrm>
          <a:prstGeom prst="rect">
            <a:avLst/>
          </a:prstGeom>
          <a:solidFill>
            <a:schemeClr val="tx2">
              <a:lumMod val="50000"/>
              <a:lumOff val="5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F8C4D10A-0C85-9DA6-6B2F-9376C2D4380B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-583533" y="4654495"/>
            <a:ext cx="0" cy="2823588"/>
          </a:xfrm>
          <a:prstGeom prst="line">
            <a:avLst/>
          </a:prstGeom>
          <a:ln w="9525">
            <a:solidFill>
              <a:srgbClr val="B0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112857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ADD6B-760E-BF3D-F696-BB92DC040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6BE99FC7-1D95-77A1-F9BA-C45902271B28}"/>
              </a:ext>
            </a:extLst>
          </p:cNvPr>
          <p:cNvGrpSpPr/>
          <p:nvPr/>
        </p:nvGrpSpPr>
        <p:grpSpPr>
          <a:xfrm>
            <a:off x="10971609" y="4260757"/>
            <a:ext cx="6084181" cy="5255018"/>
            <a:chOff x="852714" y="2070100"/>
            <a:chExt cx="4196657" cy="3624729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56CDB06E-8459-FC42-080C-969500D41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3891" t="32396" r="57950" b="33200"/>
            <a:stretch>
              <a:fillRect/>
            </a:stretch>
          </p:blipFill>
          <p:spPr>
            <a:xfrm>
              <a:off x="852714" y="2070100"/>
              <a:ext cx="4196657" cy="3624729"/>
            </a:xfrm>
            <a:prstGeom prst="rect">
              <a:avLst/>
            </a:prstGeom>
          </p:spPr>
        </p:pic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5FDE4319-D3E9-6EBC-C441-8E5ADF66B266}"/>
                </a:ext>
              </a:extLst>
            </p:cNvPr>
            <p:cNvSpPr>
              <a:spLocks/>
            </p:cNvSpPr>
            <p:nvPr/>
          </p:nvSpPr>
          <p:spPr>
            <a:xfrm>
              <a:off x="1914761" y="2156457"/>
              <a:ext cx="1719821" cy="10221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E8B3E31E-EAFD-FDC1-41DE-D959EEAE56FE}"/>
                </a:ext>
              </a:extLst>
            </p:cNvPr>
            <p:cNvSpPr>
              <a:spLocks/>
            </p:cNvSpPr>
            <p:nvPr/>
          </p:nvSpPr>
          <p:spPr>
            <a:xfrm>
              <a:off x="1407869" y="2889733"/>
              <a:ext cx="1719821" cy="14739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445A6CDF-39D4-F995-77DD-0F62BB9A0417}"/>
                </a:ext>
              </a:extLst>
            </p:cNvPr>
            <p:cNvSpPr>
              <a:spLocks/>
            </p:cNvSpPr>
            <p:nvPr/>
          </p:nvSpPr>
          <p:spPr>
            <a:xfrm>
              <a:off x="2177633" y="3051912"/>
              <a:ext cx="1719821" cy="12001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5C76704F-EA5E-F56B-91A8-35D8E98775B5}"/>
                </a:ext>
              </a:extLst>
            </p:cNvPr>
            <p:cNvCxnSpPr>
              <a:cxnSpLocks/>
            </p:cNvCxnSpPr>
            <p:nvPr/>
          </p:nvCxnSpPr>
          <p:spPr>
            <a:xfrm>
              <a:off x="3782411" y="2613801"/>
              <a:ext cx="0" cy="165643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789FB841-4FFC-5BF3-A92C-F38E19F588EA}"/>
                </a:ext>
              </a:extLst>
            </p:cNvPr>
            <p:cNvCxnSpPr>
              <a:cxnSpLocks/>
            </p:cNvCxnSpPr>
            <p:nvPr/>
          </p:nvCxnSpPr>
          <p:spPr>
            <a:xfrm>
              <a:off x="1312276" y="3527432"/>
              <a:ext cx="2891760" cy="0"/>
            </a:xfrm>
            <a:prstGeom prst="line">
              <a:avLst/>
            </a:prstGeom>
            <a:ln w="6350">
              <a:solidFill>
                <a:srgbClr val="9999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30E56DA2-504F-216B-6816-0D07848E9D34}"/>
                </a:ext>
              </a:extLst>
            </p:cNvPr>
            <p:cNvSpPr>
              <a:spLocks/>
            </p:cNvSpPr>
            <p:nvPr/>
          </p:nvSpPr>
          <p:spPr>
            <a:xfrm>
              <a:off x="2109029" y="2580980"/>
              <a:ext cx="317500" cy="1049832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AD5E2DA0-B509-3174-12F0-55A42805FC59}"/>
                </a:ext>
              </a:extLst>
            </p:cNvPr>
            <p:cNvSpPr>
              <a:spLocks/>
            </p:cNvSpPr>
            <p:nvPr/>
          </p:nvSpPr>
          <p:spPr>
            <a:xfrm>
              <a:off x="1692068" y="2651572"/>
              <a:ext cx="1171081" cy="152130"/>
            </a:xfrm>
            <a:prstGeom prst="rect">
              <a:avLst/>
            </a:prstGeom>
            <a:solidFill>
              <a:schemeClr val="bg1">
                <a:lumMod val="50000"/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129AEDE9-2C4B-2650-39B6-A3E5949DB786}"/>
                </a:ext>
              </a:extLst>
            </p:cNvPr>
            <p:cNvSpPr>
              <a:spLocks/>
            </p:cNvSpPr>
            <p:nvPr/>
          </p:nvSpPr>
          <p:spPr>
            <a:xfrm>
              <a:off x="1692069" y="2810069"/>
              <a:ext cx="154088" cy="2449084"/>
            </a:xfrm>
            <a:prstGeom prst="rect">
              <a:avLst/>
            </a:prstGeom>
            <a:solidFill>
              <a:schemeClr val="bg1">
                <a:lumMod val="50000"/>
                <a:alpha val="29804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1C992BEC-E59A-344B-6FC1-79B3BE40D85C}"/>
                </a:ext>
              </a:extLst>
            </p:cNvPr>
            <p:cNvSpPr>
              <a:spLocks/>
            </p:cNvSpPr>
            <p:nvPr/>
          </p:nvSpPr>
          <p:spPr>
            <a:xfrm>
              <a:off x="2709068" y="2810068"/>
              <a:ext cx="154088" cy="2449085"/>
            </a:xfrm>
            <a:prstGeom prst="rect">
              <a:avLst/>
            </a:prstGeom>
            <a:solidFill>
              <a:schemeClr val="bg1">
                <a:lumMod val="50000"/>
                <a:alpha val="29804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46EC74C2-C53A-5EC8-5E36-E8ABDCBB155B}"/>
                </a:ext>
              </a:extLst>
            </p:cNvPr>
            <p:cNvSpPr>
              <a:spLocks/>
            </p:cNvSpPr>
            <p:nvPr/>
          </p:nvSpPr>
          <p:spPr>
            <a:xfrm>
              <a:off x="1770512" y="2990375"/>
              <a:ext cx="994900" cy="134468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6FCC1CA0-D673-FFB5-0F11-DEB4A9D7A8F7}"/>
                </a:ext>
              </a:extLst>
            </p:cNvPr>
            <p:cNvSpPr>
              <a:spLocks/>
            </p:cNvSpPr>
            <p:nvPr/>
          </p:nvSpPr>
          <p:spPr>
            <a:xfrm>
              <a:off x="1776798" y="3930021"/>
              <a:ext cx="994900" cy="134468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79C122E6-9AD2-546A-468F-3650B2627C5A}"/>
                </a:ext>
              </a:extLst>
            </p:cNvPr>
            <p:cNvSpPr>
              <a:spLocks/>
            </p:cNvSpPr>
            <p:nvPr/>
          </p:nvSpPr>
          <p:spPr>
            <a:xfrm>
              <a:off x="2830247" y="3210874"/>
              <a:ext cx="792512" cy="606452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967213C4-CF74-5C46-F500-47B642BE7461}"/>
                </a:ext>
              </a:extLst>
            </p:cNvPr>
            <p:cNvSpPr>
              <a:spLocks/>
            </p:cNvSpPr>
            <p:nvPr/>
          </p:nvSpPr>
          <p:spPr>
            <a:xfrm>
              <a:off x="1436012" y="4262298"/>
              <a:ext cx="2144827" cy="93460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4EAA60E8-1401-AE3D-A1A9-E17E9F9E5047}"/>
                </a:ext>
              </a:extLst>
            </p:cNvPr>
            <p:cNvSpPr>
              <a:spLocks/>
            </p:cNvSpPr>
            <p:nvPr/>
          </p:nvSpPr>
          <p:spPr>
            <a:xfrm>
              <a:off x="1692068" y="3132934"/>
              <a:ext cx="1171081" cy="45719"/>
            </a:xfrm>
            <a:prstGeom prst="rect">
              <a:avLst/>
            </a:prstGeom>
            <a:solidFill>
              <a:schemeClr val="bg1">
                <a:lumMod val="50000"/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D18F2CC8-7865-869A-CD73-B5B07BBFC218}"/>
                </a:ext>
              </a:extLst>
            </p:cNvPr>
            <p:cNvSpPr>
              <a:spLocks/>
            </p:cNvSpPr>
            <p:nvPr/>
          </p:nvSpPr>
          <p:spPr>
            <a:xfrm>
              <a:off x="1692068" y="4072522"/>
              <a:ext cx="1171081" cy="45719"/>
            </a:xfrm>
            <a:prstGeom prst="rect">
              <a:avLst/>
            </a:prstGeom>
            <a:solidFill>
              <a:schemeClr val="bg1">
                <a:lumMod val="50000"/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163A5126-FEE3-92B4-0A66-EB9E55CE3795}"/>
                </a:ext>
              </a:extLst>
            </p:cNvPr>
            <p:cNvSpPr>
              <a:spLocks/>
            </p:cNvSpPr>
            <p:nvPr/>
          </p:nvSpPr>
          <p:spPr>
            <a:xfrm>
              <a:off x="2830246" y="3829482"/>
              <a:ext cx="792499" cy="67507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DA2C2778-222D-AE53-0402-7358BAFBB527}"/>
                </a:ext>
              </a:extLst>
            </p:cNvPr>
            <p:cNvSpPr>
              <a:spLocks/>
            </p:cNvSpPr>
            <p:nvPr/>
          </p:nvSpPr>
          <p:spPr>
            <a:xfrm rot="5400000">
              <a:off x="3203742" y="4050144"/>
              <a:ext cx="365309" cy="59000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4ED29CDD-E014-D7F2-0245-E0C8523FDFEA}"/>
                </a:ext>
              </a:extLst>
            </p:cNvPr>
            <p:cNvSpPr>
              <a:spLocks/>
            </p:cNvSpPr>
            <p:nvPr/>
          </p:nvSpPr>
          <p:spPr>
            <a:xfrm rot="5400000">
              <a:off x="2858245" y="4050409"/>
              <a:ext cx="365309" cy="59000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29" name="直線コネクタ 28">
              <a:extLst>
                <a:ext uri="{FF2B5EF4-FFF2-40B4-BE49-F238E27FC236}">
                  <a16:creationId xmlns:a16="http://schemas.microsoft.com/office/drawing/2014/main" id="{925DCF32-C77C-5A9C-7D0A-45ADB028BC36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>
              <a:off x="2263952" y="2416085"/>
              <a:ext cx="0" cy="1947613"/>
            </a:xfrm>
            <a:prstGeom prst="line">
              <a:avLst/>
            </a:prstGeom>
            <a:ln w="9525">
              <a:solidFill>
                <a:srgbClr val="B0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F46482D6-E2B2-0AF5-035D-0B5CBE3C5B2E}"/>
                </a:ext>
              </a:extLst>
            </p:cNvPr>
            <p:cNvSpPr>
              <a:spLocks/>
            </p:cNvSpPr>
            <p:nvPr/>
          </p:nvSpPr>
          <p:spPr>
            <a:xfrm>
              <a:off x="3132027" y="3362883"/>
              <a:ext cx="188952" cy="32485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41764EE5-606E-6BBA-4B9A-61C6009912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7524" y="3124843"/>
              <a:ext cx="2671355" cy="396401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1A32D85E-CB21-55AE-C99D-A78990A3D545}"/>
                </a:ext>
              </a:extLst>
            </p:cNvPr>
            <p:cNvSpPr>
              <a:spLocks/>
            </p:cNvSpPr>
            <p:nvPr/>
          </p:nvSpPr>
          <p:spPr>
            <a:xfrm>
              <a:off x="4219750" y="3374860"/>
              <a:ext cx="765769" cy="2638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Analyzing aperture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85CD8C1C-83A7-F812-38DC-73B5D3E57C5D}"/>
                </a:ext>
              </a:extLst>
            </p:cNvPr>
            <p:cNvSpPr>
              <a:spLocks/>
            </p:cNvSpPr>
            <p:nvPr/>
          </p:nvSpPr>
          <p:spPr>
            <a:xfrm>
              <a:off x="4049001" y="5096024"/>
              <a:ext cx="896602" cy="5438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0AE3837A-F277-C47C-7E90-0B1DFC252F2D}"/>
                </a:ext>
              </a:extLst>
            </p:cNvPr>
            <p:cNvSpPr>
              <a:spLocks/>
            </p:cNvSpPr>
            <p:nvPr/>
          </p:nvSpPr>
          <p:spPr>
            <a:xfrm>
              <a:off x="3035375" y="2895107"/>
              <a:ext cx="731474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baseline="30000" dirty="0">
                  <a:solidFill>
                    <a:sysClr val="windowText" lastClr="000000"/>
                  </a:solidFill>
                  <a:latin typeface="Helvetica" pitchFamily="2" charset="0"/>
                </a:rPr>
                <a:t>3</a:t>
              </a:r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He-NSF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cxnSp>
          <p:nvCxnSpPr>
            <p:cNvPr id="33" name="直線コネクタ 32">
              <a:extLst>
                <a:ext uri="{FF2B5EF4-FFF2-40B4-BE49-F238E27FC236}">
                  <a16:creationId xmlns:a16="http://schemas.microsoft.com/office/drawing/2014/main" id="{0DF8B8CE-69A0-E407-DB5E-0BC6CAC05F02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flipV="1">
              <a:off x="3226503" y="3124843"/>
              <a:ext cx="94476" cy="8603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C72DED07-CE4F-3735-8913-59FD75B8CA04}"/>
                </a:ext>
              </a:extLst>
            </p:cNvPr>
            <p:cNvSpPr>
              <a:spLocks/>
            </p:cNvSpPr>
            <p:nvPr/>
          </p:nvSpPr>
          <p:spPr>
            <a:xfrm>
              <a:off x="2816989" y="2479926"/>
              <a:ext cx="731474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Sample + cryostat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89176F72-D9EE-15CA-D4D9-28AA348AD2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4801" y="2778658"/>
              <a:ext cx="673782" cy="61846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コネクタ 37">
              <a:extLst>
                <a:ext uri="{FF2B5EF4-FFF2-40B4-BE49-F238E27FC236}">
                  <a16:creationId xmlns:a16="http://schemas.microsoft.com/office/drawing/2014/main" id="{0DE9E368-4D09-4C78-3C39-BB81DCFE28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30211" y="2482660"/>
              <a:ext cx="14097" cy="211008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8A4AF68E-E0D2-BAB7-C24A-FB8E9917588C}"/>
                </a:ext>
              </a:extLst>
            </p:cNvPr>
            <p:cNvSpPr>
              <a:spLocks/>
            </p:cNvSpPr>
            <p:nvPr/>
          </p:nvSpPr>
          <p:spPr>
            <a:xfrm>
              <a:off x="1514622" y="2222791"/>
              <a:ext cx="862055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 err="1">
                  <a:solidFill>
                    <a:sysClr val="windowText" lastClr="000000"/>
                  </a:solidFill>
                  <a:latin typeface="Helvetica" pitchFamily="2" charset="0"/>
                </a:rPr>
                <a:t>ω</a:t>
              </a:r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 stage for sample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9AC0F6FD-4E2E-5EAB-F851-144823EEB4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17959" y="3029555"/>
              <a:ext cx="257580" cy="6459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コネクタ 43">
              <a:extLst>
                <a:ext uri="{FF2B5EF4-FFF2-40B4-BE49-F238E27FC236}">
                  <a16:creationId xmlns:a16="http://schemas.microsoft.com/office/drawing/2014/main" id="{872B3C28-60D2-43F3-EDA7-627DFA89E7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56855" y="3059056"/>
              <a:ext cx="318364" cy="92974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D3A542D9-199A-65D2-E35C-F2642674A9F5}"/>
                </a:ext>
              </a:extLst>
            </p:cNvPr>
            <p:cNvSpPr>
              <a:spLocks/>
            </p:cNvSpPr>
            <p:nvPr/>
          </p:nvSpPr>
          <p:spPr>
            <a:xfrm>
              <a:off x="1032196" y="2798933"/>
              <a:ext cx="989033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Helmholtz coil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DBD41B5E-0C3D-75C4-ED70-AD4BD8625389}"/>
                </a:ext>
              </a:extLst>
            </p:cNvPr>
            <p:cNvSpPr>
              <a:spLocks/>
            </p:cNvSpPr>
            <p:nvPr/>
          </p:nvSpPr>
          <p:spPr>
            <a:xfrm>
              <a:off x="3083848" y="4452530"/>
              <a:ext cx="862055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 err="1">
                  <a:solidFill>
                    <a:sysClr val="windowText" lastClr="000000"/>
                  </a:solidFill>
                  <a:latin typeface="Helvetica" pitchFamily="2" charset="0"/>
                </a:rPr>
                <a:t>ω</a:t>
              </a:r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 stage for </a:t>
              </a:r>
              <a:r>
                <a:rPr lang="en-US" altLang="ja-JP" sz="1450" baseline="30000" dirty="0">
                  <a:solidFill>
                    <a:sysClr val="windowText" lastClr="000000"/>
                  </a:solidFill>
                  <a:latin typeface="Helvetica" pitchFamily="2" charset="0"/>
                </a:rPr>
                <a:t>3</a:t>
              </a:r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He-NSF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04FCE320-7367-1C98-3414-DDB071DB9BA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78581" y="4303388"/>
              <a:ext cx="176362" cy="14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コネクタ 52">
              <a:extLst>
                <a:ext uri="{FF2B5EF4-FFF2-40B4-BE49-F238E27FC236}">
                  <a16:creationId xmlns:a16="http://schemas.microsoft.com/office/drawing/2014/main" id="{0FE058D0-A7C7-C356-EA22-8341A75B3BEF}"/>
                </a:ext>
              </a:extLst>
            </p:cNvPr>
            <p:cNvCxnSpPr>
              <a:cxnSpLocks/>
            </p:cNvCxnSpPr>
            <p:nvPr/>
          </p:nvCxnSpPr>
          <p:spPr>
            <a:xfrm>
              <a:off x="2266715" y="3532265"/>
              <a:ext cx="2671355" cy="396401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6" name="図 55">
            <a:extLst>
              <a:ext uri="{FF2B5EF4-FFF2-40B4-BE49-F238E27FC236}">
                <a16:creationId xmlns:a16="http://schemas.microsoft.com/office/drawing/2014/main" id="{EE7D1DDB-E135-077A-0581-665B110ED2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25"/>
          <a:stretch>
            <a:fillRect/>
          </a:stretch>
        </p:blipFill>
        <p:spPr>
          <a:xfrm>
            <a:off x="3541202" y="4586761"/>
            <a:ext cx="7245610" cy="460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16223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39A5F-7A2F-2D96-00CD-9E0D80513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E92F67E8-3BB5-5990-BC89-23B1F9A35E77}"/>
              </a:ext>
            </a:extLst>
          </p:cNvPr>
          <p:cNvGrpSpPr/>
          <p:nvPr/>
        </p:nvGrpSpPr>
        <p:grpSpPr>
          <a:xfrm>
            <a:off x="3606784" y="3634747"/>
            <a:ext cx="6084181" cy="5255018"/>
            <a:chOff x="852714" y="2070100"/>
            <a:chExt cx="4196657" cy="3624729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B62220FA-19C8-513A-A490-A2A79D59E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3891" t="32396" r="57950" b="33200"/>
            <a:stretch>
              <a:fillRect/>
            </a:stretch>
          </p:blipFill>
          <p:spPr>
            <a:xfrm>
              <a:off x="852714" y="2070100"/>
              <a:ext cx="4196657" cy="3624729"/>
            </a:xfrm>
            <a:prstGeom prst="rect">
              <a:avLst/>
            </a:prstGeom>
          </p:spPr>
        </p:pic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F3793976-4855-FDA1-18F7-A652DA5BDE18}"/>
                </a:ext>
              </a:extLst>
            </p:cNvPr>
            <p:cNvSpPr>
              <a:spLocks/>
            </p:cNvSpPr>
            <p:nvPr/>
          </p:nvSpPr>
          <p:spPr>
            <a:xfrm>
              <a:off x="1914761" y="2156457"/>
              <a:ext cx="1719821" cy="10221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44789FA5-6408-2A41-5475-501A69E265CF}"/>
                </a:ext>
              </a:extLst>
            </p:cNvPr>
            <p:cNvSpPr>
              <a:spLocks/>
            </p:cNvSpPr>
            <p:nvPr/>
          </p:nvSpPr>
          <p:spPr>
            <a:xfrm>
              <a:off x="1407869" y="2889733"/>
              <a:ext cx="1719821" cy="14739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AA1CE0E5-C94C-F013-C9C4-7A3BA334DEA7}"/>
                </a:ext>
              </a:extLst>
            </p:cNvPr>
            <p:cNvSpPr>
              <a:spLocks/>
            </p:cNvSpPr>
            <p:nvPr/>
          </p:nvSpPr>
          <p:spPr>
            <a:xfrm>
              <a:off x="2177633" y="3051912"/>
              <a:ext cx="1719821" cy="12001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A63E08AB-F447-C0BA-F8F5-BB822889D951}"/>
                </a:ext>
              </a:extLst>
            </p:cNvPr>
            <p:cNvCxnSpPr>
              <a:cxnSpLocks/>
            </p:cNvCxnSpPr>
            <p:nvPr/>
          </p:nvCxnSpPr>
          <p:spPr>
            <a:xfrm>
              <a:off x="3782411" y="2613801"/>
              <a:ext cx="0" cy="165643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375FED41-AD23-02E7-5B4D-54842269C5F1}"/>
                </a:ext>
              </a:extLst>
            </p:cNvPr>
            <p:cNvCxnSpPr>
              <a:cxnSpLocks/>
            </p:cNvCxnSpPr>
            <p:nvPr/>
          </p:nvCxnSpPr>
          <p:spPr>
            <a:xfrm>
              <a:off x="1312276" y="3527432"/>
              <a:ext cx="2891760" cy="0"/>
            </a:xfrm>
            <a:prstGeom prst="line">
              <a:avLst/>
            </a:prstGeom>
            <a:ln w="6350">
              <a:solidFill>
                <a:srgbClr val="9999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9D57C65E-3F0C-C231-593D-49F9F7648C48}"/>
                </a:ext>
              </a:extLst>
            </p:cNvPr>
            <p:cNvSpPr>
              <a:spLocks/>
            </p:cNvSpPr>
            <p:nvPr/>
          </p:nvSpPr>
          <p:spPr>
            <a:xfrm>
              <a:off x="2109029" y="2580980"/>
              <a:ext cx="317500" cy="1049832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F9351A01-CA74-A469-B0B7-55CC04C1F6CC}"/>
                </a:ext>
              </a:extLst>
            </p:cNvPr>
            <p:cNvSpPr>
              <a:spLocks/>
            </p:cNvSpPr>
            <p:nvPr/>
          </p:nvSpPr>
          <p:spPr>
            <a:xfrm>
              <a:off x="1692068" y="2651572"/>
              <a:ext cx="1171081" cy="152130"/>
            </a:xfrm>
            <a:prstGeom prst="rect">
              <a:avLst/>
            </a:prstGeom>
            <a:solidFill>
              <a:schemeClr val="bg1">
                <a:lumMod val="50000"/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E4092332-4943-3E31-8EC7-5B0F9FD02E61}"/>
                </a:ext>
              </a:extLst>
            </p:cNvPr>
            <p:cNvSpPr>
              <a:spLocks/>
            </p:cNvSpPr>
            <p:nvPr/>
          </p:nvSpPr>
          <p:spPr>
            <a:xfrm>
              <a:off x="1692069" y="2810069"/>
              <a:ext cx="154088" cy="2449084"/>
            </a:xfrm>
            <a:prstGeom prst="rect">
              <a:avLst/>
            </a:prstGeom>
            <a:solidFill>
              <a:schemeClr val="bg1">
                <a:lumMod val="50000"/>
                <a:alpha val="29804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DD29AB7D-E7EF-42B6-4DAF-9C3291D2E801}"/>
                </a:ext>
              </a:extLst>
            </p:cNvPr>
            <p:cNvSpPr>
              <a:spLocks/>
            </p:cNvSpPr>
            <p:nvPr/>
          </p:nvSpPr>
          <p:spPr>
            <a:xfrm>
              <a:off x="2709068" y="2810068"/>
              <a:ext cx="154088" cy="2449085"/>
            </a:xfrm>
            <a:prstGeom prst="rect">
              <a:avLst/>
            </a:prstGeom>
            <a:solidFill>
              <a:schemeClr val="bg1">
                <a:lumMod val="50000"/>
                <a:alpha val="29804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3C02E65E-C416-BB25-7162-09FCBE81D9F0}"/>
                </a:ext>
              </a:extLst>
            </p:cNvPr>
            <p:cNvSpPr>
              <a:spLocks/>
            </p:cNvSpPr>
            <p:nvPr/>
          </p:nvSpPr>
          <p:spPr>
            <a:xfrm>
              <a:off x="1770512" y="2990375"/>
              <a:ext cx="994900" cy="134468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0C1900A4-29AB-D650-6F60-072140CA425D}"/>
                </a:ext>
              </a:extLst>
            </p:cNvPr>
            <p:cNvSpPr>
              <a:spLocks/>
            </p:cNvSpPr>
            <p:nvPr/>
          </p:nvSpPr>
          <p:spPr>
            <a:xfrm>
              <a:off x="1776798" y="3930021"/>
              <a:ext cx="994900" cy="134468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CDF5D923-8CC4-DDB9-FB63-09C094D4E2C9}"/>
                </a:ext>
              </a:extLst>
            </p:cNvPr>
            <p:cNvSpPr>
              <a:spLocks/>
            </p:cNvSpPr>
            <p:nvPr/>
          </p:nvSpPr>
          <p:spPr>
            <a:xfrm>
              <a:off x="2830247" y="3210874"/>
              <a:ext cx="792512" cy="606452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F2DE7EEA-4FFD-F1A5-01C5-F36A262D157B}"/>
                </a:ext>
              </a:extLst>
            </p:cNvPr>
            <p:cNvSpPr>
              <a:spLocks/>
            </p:cNvSpPr>
            <p:nvPr/>
          </p:nvSpPr>
          <p:spPr>
            <a:xfrm>
              <a:off x="1436012" y="4262298"/>
              <a:ext cx="2144827" cy="93460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6FDA24D6-2BCD-DA76-3744-EEF51B4486A6}"/>
                </a:ext>
              </a:extLst>
            </p:cNvPr>
            <p:cNvSpPr>
              <a:spLocks/>
            </p:cNvSpPr>
            <p:nvPr/>
          </p:nvSpPr>
          <p:spPr>
            <a:xfrm>
              <a:off x="1692068" y="3132934"/>
              <a:ext cx="1171081" cy="45719"/>
            </a:xfrm>
            <a:prstGeom prst="rect">
              <a:avLst/>
            </a:prstGeom>
            <a:solidFill>
              <a:schemeClr val="bg1">
                <a:lumMod val="50000"/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1AD1CB97-CCFC-499E-970C-2FD27A2AB78A}"/>
                </a:ext>
              </a:extLst>
            </p:cNvPr>
            <p:cNvSpPr>
              <a:spLocks/>
            </p:cNvSpPr>
            <p:nvPr/>
          </p:nvSpPr>
          <p:spPr>
            <a:xfrm>
              <a:off x="1692068" y="4072522"/>
              <a:ext cx="1171081" cy="45719"/>
            </a:xfrm>
            <a:prstGeom prst="rect">
              <a:avLst/>
            </a:prstGeom>
            <a:solidFill>
              <a:schemeClr val="bg1">
                <a:lumMod val="50000"/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0364B3D6-2908-E07D-4078-99279C9D8757}"/>
                </a:ext>
              </a:extLst>
            </p:cNvPr>
            <p:cNvSpPr>
              <a:spLocks/>
            </p:cNvSpPr>
            <p:nvPr/>
          </p:nvSpPr>
          <p:spPr>
            <a:xfrm>
              <a:off x="2830246" y="3829482"/>
              <a:ext cx="792499" cy="67507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01961519-FB41-08DE-D7AC-E186E11A75DF}"/>
                </a:ext>
              </a:extLst>
            </p:cNvPr>
            <p:cNvSpPr>
              <a:spLocks/>
            </p:cNvSpPr>
            <p:nvPr/>
          </p:nvSpPr>
          <p:spPr>
            <a:xfrm rot="5400000">
              <a:off x="3203742" y="4050144"/>
              <a:ext cx="365309" cy="59000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AD5A17DB-F20F-9CBD-7DE7-EA1E6817502B}"/>
                </a:ext>
              </a:extLst>
            </p:cNvPr>
            <p:cNvSpPr>
              <a:spLocks/>
            </p:cNvSpPr>
            <p:nvPr/>
          </p:nvSpPr>
          <p:spPr>
            <a:xfrm rot="5400000">
              <a:off x="2858245" y="4050409"/>
              <a:ext cx="365309" cy="59000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29" name="直線コネクタ 28">
              <a:extLst>
                <a:ext uri="{FF2B5EF4-FFF2-40B4-BE49-F238E27FC236}">
                  <a16:creationId xmlns:a16="http://schemas.microsoft.com/office/drawing/2014/main" id="{24BF7686-97B6-455E-D697-704E8D64B2F8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>
              <a:off x="2263952" y="2416085"/>
              <a:ext cx="0" cy="1947613"/>
            </a:xfrm>
            <a:prstGeom prst="line">
              <a:avLst/>
            </a:prstGeom>
            <a:ln w="9525">
              <a:solidFill>
                <a:srgbClr val="B0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68DFD19E-98F7-4836-0988-C7345BAF767A}"/>
                </a:ext>
              </a:extLst>
            </p:cNvPr>
            <p:cNvSpPr>
              <a:spLocks/>
            </p:cNvSpPr>
            <p:nvPr/>
          </p:nvSpPr>
          <p:spPr>
            <a:xfrm>
              <a:off x="3132027" y="3362883"/>
              <a:ext cx="188952" cy="32485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273A6CCB-CB1F-B9A8-39CD-E66E461B96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7524" y="3124843"/>
              <a:ext cx="2671355" cy="396401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29A229EE-B222-CF06-87B1-9F7E803928E3}"/>
                </a:ext>
              </a:extLst>
            </p:cNvPr>
            <p:cNvSpPr>
              <a:spLocks/>
            </p:cNvSpPr>
            <p:nvPr/>
          </p:nvSpPr>
          <p:spPr>
            <a:xfrm>
              <a:off x="4219750" y="3374860"/>
              <a:ext cx="765769" cy="2638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Analyzing aperture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A09C081D-329E-5D4C-1CC4-F4A6F2045905}"/>
                </a:ext>
              </a:extLst>
            </p:cNvPr>
            <p:cNvSpPr>
              <a:spLocks/>
            </p:cNvSpPr>
            <p:nvPr/>
          </p:nvSpPr>
          <p:spPr>
            <a:xfrm>
              <a:off x="4049001" y="5096024"/>
              <a:ext cx="896602" cy="5438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A8BD9B90-3468-56F6-0B12-9BA6D9D1AB43}"/>
                </a:ext>
              </a:extLst>
            </p:cNvPr>
            <p:cNvSpPr>
              <a:spLocks/>
            </p:cNvSpPr>
            <p:nvPr/>
          </p:nvSpPr>
          <p:spPr>
            <a:xfrm>
              <a:off x="3035375" y="2895107"/>
              <a:ext cx="731474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baseline="30000" dirty="0">
                  <a:solidFill>
                    <a:sysClr val="windowText" lastClr="000000"/>
                  </a:solidFill>
                  <a:latin typeface="Helvetica" pitchFamily="2" charset="0"/>
                </a:rPr>
                <a:t>3</a:t>
              </a:r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He-NSF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cxnSp>
          <p:nvCxnSpPr>
            <p:cNvPr id="33" name="直線コネクタ 32">
              <a:extLst>
                <a:ext uri="{FF2B5EF4-FFF2-40B4-BE49-F238E27FC236}">
                  <a16:creationId xmlns:a16="http://schemas.microsoft.com/office/drawing/2014/main" id="{27751780-ADA7-40A3-D3AC-D8DFC261A868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flipV="1">
              <a:off x="3226503" y="3124843"/>
              <a:ext cx="94476" cy="8603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E7AEB240-6D42-A8CE-FD1B-DD5634B1BFA3}"/>
                </a:ext>
              </a:extLst>
            </p:cNvPr>
            <p:cNvSpPr>
              <a:spLocks/>
            </p:cNvSpPr>
            <p:nvPr/>
          </p:nvSpPr>
          <p:spPr>
            <a:xfrm>
              <a:off x="2816989" y="2479926"/>
              <a:ext cx="731474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Sample + cryostat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3A230DB4-30D2-2AF6-4C62-51D80336F0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4801" y="2778658"/>
              <a:ext cx="673782" cy="61846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コネクタ 37">
              <a:extLst>
                <a:ext uri="{FF2B5EF4-FFF2-40B4-BE49-F238E27FC236}">
                  <a16:creationId xmlns:a16="http://schemas.microsoft.com/office/drawing/2014/main" id="{0CF8276D-C230-EF06-E986-772E3492D1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30211" y="2482660"/>
              <a:ext cx="14097" cy="211008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49A5C608-DDF0-E411-0D7B-4C40B965B8AB}"/>
                </a:ext>
              </a:extLst>
            </p:cNvPr>
            <p:cNvSpPr>
              <a:spLocks/>
            </p:cNvSpPr>
            <p:nvPr/>
          </p:nvSpPr>
          <p:spPr>
            <a:xfrm>
              <a:off x="1514622" y="2222791"/>
              <a:ext cx="862055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 err="1">
                  <a:solidFill>
                    <a:sysClr val="windowText" lastClr="000000"/>
                  </a:solidFill>
                  <a:latin typeface="Helvetica" pitchFamily="2" charset="0"/>
                </a:rPr>
                <a:t>ω</a:t>
              </a:r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 stage for sample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AC1A65A3-8716-2547-B246-71F9EFBDEE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17959" y="3029555"/>
              <a:ext cx="257580" cy="6459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コネクタ 43">
              <a:extLst>
                <a:ext uri="{FF2B5EF4-FFF2-40B4-BE49-F238E27FC236}">
                  <a16:creationId xmlns:a16="http://schemas.microsoft.com/office/drawing/2014/main" id="{8319D57A-1A4D-7A03-DC84-F0B483FF18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56855" y="3059056"/>
              <a:ext cx="318364" cy="92974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C3B30D9A-8306-C191-3AB1-F4397385B1E5}"/>
                </a:ext>
              </a:extLst>
            </p:cNvPr>
            <p:cNvSpPr>
              <a:spLocks/>
            </p:cNvSpPr>
            <p:nvPr/>
          </p:nvSpPr>
          <p:spPr>
            <a:xfrm>
              <a:off x="1032196" y="2798933"/>
              <a:ext cx="989033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Helmholtz coil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5039F8C3-7B86-76FA-792E-E065CC74B902}"/>
                </a:ext>
              </a:extLst>
            </p:cNvPr>
            <p:cNvSpPr>
              <a:spLocks/>
            </p:cNvSpPr>
            <p:nvPr/>
          </p:nvSpPr>
          <p:spPr>
            <a:xfrm>
              <a:off x="3083848" y="4452530"/>
              <a:ext cx="862055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 err="1">
                  <a:solidFill>
                    <a:sysClr val="windowText" lastClr="000000"/>
                  </a:solidFill>
                  <a:latin typeface="Helvetica" pitchFamily="2" charset="0"/>
                </a:rPr>
                <a:t>ω</a:t>
              </a:r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 stage for </a:t>
              </a:r>
              <a:r>
                <a:rPr lang="en-US" altLang="ja-JP" sz="1450" baseline="30000" dirty="0">
                  <a:solidFill>
                    <a:sysClr val="windowText" lastClr="000000"/>
                  </a:solidFill>
                  <a:latin typeface="Helvetica" pitchFamily="2" charset="0"/>
                </a:rPr>
                <a:t>3</a:t>
              </a:r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He-NSF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0E8215FE-0387-5908-F38F-4BF459DF13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78581" y="4303388"/>
              <a:ext cx="176362" cy="14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コネクタ 52">
              <a:extLst>
                <a:ext uri="{FF2B5EF4-FFF2-40B4-BE49-F238E27FC236}">
                  <a16:creationId xmlns:a16="http://schemas.microsoft.com/office/drawing/2014/main" id="{A09C641F-8DA1-AB87-DE14-0AFFB77DAFA8}"/>
                </a:ext>
              </a:extLst>
            </p:cNvPr>
            <p:cNvCxnSpPr>
              <a:cxnSpLocks/>
            </p:cNvCxnSpPr>
            <p:nvPr/>
          </p:nvCxnSpPr>
          <p:spPr>
            <a:xfrm>
              <a:off x="2266715" y="3532265"/>
              <a:ext cx="2671355" cy="396401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9231813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32298-46C8-4F07-E10D-E0A34B24A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5BA51727-8D1D-0F53-08EE-4D41A7BF3A00}"/>
              </a:ext>
            </a:extLst>
          </p:cNvPr>
          <p:cNvGrpSpPr/>
          <p:nvPr/>
        </p:nvGrpSpPr>
        <p:grpSpPr>
          <a:xfrm>
            <a:off x="4128194" y="3879215"/>
            <a:ext cx="13514586" cy="5579749"/>
            <a:chOff x="1435054" y="1881322"/>
            <a:chExt cx="9321892" cy="3848717"/>
          </a:xfrm>
        </p:grpSpPr>
        <p:grpSp>
          <p:nvGrpSpPr>
            <p:cNvPr id="2" name="グループ化 1">
              <a:extLst>
                <a:ext uri="{FF2B5EF4-FFF2-40B4-BE49-F238E27FC236}">
                  <a16:creationId xmlns:a16="http://schemas.microsoft.com/office/drawing/2014/main" id="{ED1BA6DF-6902-0FED-A11F-762568AD940F}"/>
                </a:ext>
              </a:extLst>
            </p:cNvPr>
            <p:cNvGrpSpPr/>
            <p:nvPr/>
          </p:nvGrpSpPr>
          <p:grpSpPr>
            <a:xfrm>
              <a:off x="1435054" y="2105310"/>
              <a:ext cx="9321892" cy="3624729"/>
              <a:chOff x="1030167" y="2144498"/>
              <a:chExt cx="9321892" cy="3624729"/>
            </a:xfrm>
          </p:grpSpPr>
          <p:grpSp>
            <p:nvGrpSpPr>
              <p:cNvPr id="55" name="グループ化 54">
                <a:extLst>
                  <a:ext uri="{FF2B5EF4-FFF2-40B4-BE49-F238E27FC236}">
                    <a16:creationId xmlns:a16="http://schemas.microsoft.com/office/drawing/2014/main" id="{904671D5-B83F-2E42-6108-304FFCB506F9}"/>
                  </a:ext>
                </a:extLst>
              </p:cNvPr>
              <p:cNvGrpSpPr/>
              <p:nvPr/>
            </p:nvGrpSpPr>
            <p:grpSpPr>
              <a:xfrm>
                <a:off x="6155402" y="2144498"/>
                <a:ext cx="4196657" cy="3624729"/>
                <a:chOff x="852714" y="2070100"/>
                <a:chExt cx="4196657" cy="3624729"/>
              </a:xfrm>
            </p:grpSpPr>
            <p:pic>
              <p:nvPicPr>
                <p:cNvPr id="7" name="図 6">
                  <a:extLst>
                    <a:ext uri="{FF2B5EF4-FFF2-40B4-BE49-F238E27FC236}">
                      <a16:creationId xmlns:a16="http://schemas.microsoft.com/office/drawing/2014/main" id="{C11A4E79-5712-CBA8-B1A1-CF18FE8DF3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l="13891" t="32396" r="57950" b="33200"/>
                <a:stretch>
                  <a:fillRect/>
                </a:stretch>
              </p:blipFill>
              <p:spPr>
                <a:xfrm>
                  <a:off x="852714" y="2070100"/>
                  <a:ext cx="4196657" cy="3624729"/>
                </a:xfrm>
                <a:prstGeom prst="rect">
                  <a:avLst/>
                </a:prstGeom>
              </p:spPr>
            </p:pic>
            <p:sp>
              <p:nvSpPr>
                <p:cNvPr id="27" name="正方形/長方形 26">
                  <a:extLst>
                    <a:ext uri="{FF2B5EF4-FFF2-40B4-BE49-F238E27FC236}">
                      <a16:creationId xmlns:a16="http://schemas.microsoft.com/office/drawing/2014/main" id="{299C0F99-FA8D-5BA5-F30B-2490A961DE9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914761" y="2156457"/>
                  <a:ext cx="1719821" cy="102219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8" name="正方形/長方形 7">
                  <a:extLst>
                    <a:ext uri="{FF2B5EF4-FFF2-40B4-BE49-F238E27FC236}">
                      <a16:creationId xmlns:a16="http://schemas.microsoft.com/office/drawing/2014/main" id="{8EC88B6D-F12C-308B-4ADD-8A704E977D8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407869" y="2889733"/>
                  <a:ext cx="1719821" cy="147396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9" name="正方形/長方形 8">
                  <a:extLst>
                    <a:ext uri="{FF2B5EF4-FFF2-40B4-BE49-F238E27FC236}">
                      <a16:creationId xmlns:a16="http://schemas.microsoft.com/office/drawing/2014/main" id="{B8508876-F23E-59F0-903A-EA72A6904CA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177633" y="3051912"/>
                  <a:ext cx="1719821" cy="12001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cxnSp>
              <p:nvCxnSpPr>
                <p:cNvPr id="11" name="直線コネクタ 10">
                  <a:extLst>
                    <a:ext uri="{FF2B5EF4-FFF2-40B4-BE49-F238E27FC236}">
                      <a16:creationId xmlns:a16="http://schemas.microsoft.com/office/drawing/2014/main" id="{55924938-B38D-91A4-CA35-B2BFD4D17A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82411" y="2613801"/>
                  <a:ext cx="0" cy="1656437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線コネクタ 14">
                  <a:extLst>
                    <a:ext uri="{FF2B5EF4-FFF2-40B4-BE49-F238E27FC236}">
                      <a16:creationId xmlns:a16="http://schemas.microsoft.com/office/drawing/2014/main" id="{B1204F4C-B839-F7C0-83D0-6468B52ACD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12276" y="3527432"/>
                  <a:ext cx="2891760" cy="0"/>
                </a:xfrm>
                <a:prstGeom prst="line">
                  <a:avLst/>
                </a:prstGeom>
                <a:ln w="6350">
                  <a:solidFill>
                    <a:srgbClr val="9999FF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" name="正方形/長方形 5">
                  <a:extLst>
                    <a:ext uri="{FF2B5EF4-FFF2-40B4-BE49-F238E27FC236}">
                      <a16:creationId xmlns:a16="http://schemas.microsoft.com/office/drawing/2014/main" id="{E2369861-D2F0-5108-B9C7-72853A3668D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109029" y="2580980"/>
                  <a:ext cx="317500" cy="10498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0" name="正方形/長方形 9">
                  <a:extLst>
                    <a:ext uri="{FF2B5EF4-FFF2-40B4-BE49-F238E27FC236}">
                      <a16:creationId xmlns:a16="http://schemas.microsoft.com/office/drawing/2014/main" id="{9524C654-DAC7-48C7-1E78-342C4EFD809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692068" y="2651572"/>
                  <a:ext cx="1171081" cy="152130"/>
                </a:xfrm>
                <a:prstGeom prst="rect">
                  <a:avLst/>
                </a:prstGeom>
                <a:solidFill>
                  <a:schemeClr val="bg1">
                    <a:lumMod val="50000"/>
                    <a:alpha val="3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2" name="正方形/長方形 11">
                  <a:extLst>
                    <a:ext uri="{FF2B5EF4-FFF2-40B4-BE49-F238E27FC236}">
                      <a16:creationId xmlns:a16="http://schemas.microsoft.com/office/drawing/2014/main" id="{79D18EC8-4EE3-5226-7A41-28561CC5F96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692069" y="2810069"/>
                  <a:ext cx="154088" cy="2449084"/>
                </a:xfrm>
                <a:prstGeom prst="rect">
                  <a:avLst/>
                </a:prstGeom>
                <a:solidFill>
                  <a:schemeClr val="bg1">
                    <a:lumMod val="50000"/>
                    <a:alpha val="29804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6" name="正方形/長方形 15">
                  <a:extLst>
                    <a:ext uri="{FF2B5EF4-FFF2-40B4-BE49-F238E27FC236}">
                      <a16:creationId xmlns:a16="http://schemas.microsoft.com/office/drawing/2014/main" id="{09C43C5C-9540-DD59-C6BB-F2C87D0800A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709068" y="2810068"/>
                  <a:ext cx="154088" cy="2449085"/>
                </a:xfrm>
                <a:prstGeom prst="rect">
                  <a:avLst/>
                </a:prstGeom>
                <a:solidFill>
                  <a:schemeClr val="bg1">
                    <a:lumMod val="50000"/>
                    <a:alpha val="29804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7" name="正方形/長方形 16">
                  <a:extLst>
                    <a:ext uri="{FF2B5EF4-FFF2-40B4-BE49-F238E27FC236}">
                      <a16:creationId xmlns:a16="http://schemas.microsoft.com/office/drawing/2014/main" id="{22792D3F-7B93-B699-3EC4-C638A7068A7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770512" y="2990375"/>
                  <a:ext cx="994900" cy="134468"/>
                </a:xfrm>
                <a:prstGeom prst="rect">
                  <a:avLst/>
                </a:prstGeom>
                <a:solidFill>
                  <a:schemeClr val="accent2">
                    <a:alpha val="3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8" name="正方形/長方形 17">
                  <a:extLst>
                    <a:ext uri="{FF2B5EF4-FFF2-40B4-BE49-F238E27FC236}">
                      <a16:creationId xmlns:a16="http://schemas.microsoft.com/office/drawing/2014/main" id="{F5B98E1B-C09D-789A-E6A2-0671CF3F466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776798" y="3930021"/>
                  <a:ext cx="994900" cy="134468"/>
                </a:xfrm>
                <a:prstGeom prst="rect">
                  <a:avLst/>
                </a:prstGeom>
                <a:solidFill>
                  <a:schemeClr val="accent2">
                    <a:alpha val="3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9" name="正方形/長方形 18">
                  <a:extLst>
                    <a:ext uri="{FF2B5EF4-FFF2-40B4-BE49-F238E27FC236}">
                      <a16:creationId xmlns:a16="http://schemas.microsoft.com/office/drawing/2014/main" id="{5D90ACAE-FF90-FD1B-4923-93A53CA7A0F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830247" y="3210874"/>
                  <a:ext cx="792512" cy="60645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0" name="正方形/長方形 19">
                  <a:extLst>
                    <a:ext uri="{FF2B5EF4-FFF2-40B4-BE49-F238E27FC236}">
                      <a16:creationId xmlns:a16="http://schemas.microsoft.com/office/drawing/2014/main" id="{935A6050-87BD-EDC9-3C9B-5FB2BDDA46A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436012" y="4262298"/>
                  <a:ext cx="2144827" cy="93460"/>
                </a:xfrm>
                <a:prstGeom prst="rect">
                  <a:avLst/>
                </a:prstGeom>
                <a:solidFill>
                  <a:schemeClr val="tx2">
                    <a:lumMod val="50000"/>
                    <a:lumOff val="50000"/>
                    <a:alpha val="3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2" name="正方形/長方形 21">
                  <a:extLst>
                    <a:ext uri="{FF2B5EF4-FFF2-40B4-BE49-F238E27FC236}">
                      <a16:creationId xmlns:a16="http://schemas.microsoft.com/office/drawing/2014/main" id="{439C51F2-BEAB-F192-0624-A44EDB712C3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692068" y="3132934"/>
                  <a:ext cx="1171081" cy="45719"/>
                </a:xfrm>
                <a:prstGeom prst="rect">
                  <a:avLst/>
                </a:prstGeom>
                <a:solidFill>
                  <a:schemeClr val="bg1">
                    <a:lumMod val="50000"/>
                    <a:alpha val="3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3" name="正方形/長方形 22">
                  <a:extLst>
                    <a:ext uri="{FF2B5EF4-FFF2-40B4-BE49-F238E27FC236}">
                      <a16:creationId xmlns:a16="http://schemas.microsoft.com/office/drawing/2014/main" id="{CDE85DB9-4A33-1320-04B4-F5EA7150A3B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692068" y="4072522"/>
                  <a:ext cx="1171081" cy="45719"/>
                </a:xfrm>
                <a:prstGeom prst="rect">
                  <a:avLst/>
                </a:prstGeom>
                <a:solidFill>
                  <a:schemeClr val="bg1">
                    <a:lumMod val="50000"/>
                    <a:alpha val="3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4" name="正方形/長方形 23">
                  <a:extLst>
                    <a:ext uri="{FF2B5EF4-FFF2-40B4-BE49-F238E27FC236}">
                      <a16:creationId xmlns:a16="http://schemas.microsoft.com/office/drawing/2014/main" id="{140082BC-870F-980E-EB0B-E9632FDE7DC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830246" y="3829482"/>
                  <a:ext cx="792499" cy="67507"/>
                </a:xfrm>
                <a:prstGeom prst="rect">
                  <a:avLst/>
                </a:prstGeom>
                <a:solidFill>
                  <a:schemeClr val="tx2">
                    <a:lumMod val="50000"/>
                    <a:lumOff val="50000"/>
                    <a:alpha val="3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5" name="正方形/長方形 24">
                  <a:extLst>
                    <a:ext uri="{FF2B5EF4-FFF2-40B4-BE49-F238E27FC236}">
                      <a16:creationId xmlns:a16="http://schemas.microsoft.com/office/drawing/2014/main" id="{9B6DA284-5A73-3093-84FF-8E14A3644EA5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5400000">
                  <a:off x="3203742" y="4050144"/>
                  <a:ext cx="365309" cy="59000"/>
                </a:xfrm>
                <a:prstGeom prst="rect">
                  <a:avLst/>
                </a:prstGeom>
                <a:solidFill>
                  <a:schemeClr val="tx2">
                    <a:lumMod val="50000"/>
                    <a:lumOff val="50000"/>
                    <a:alpha val="3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6" name="正方形/長方形 25">
                  <a:extLst>
                    <a:ext uri="{FF2B5EF4-FFF2-40B4-BE49-F238E27FC236}">
                      <a16:creationId xmlns:a16="http://schemas.microsoft.com/office/drawing/2014/main" id="{EF06669D-8A5A-45D0-D1DF-DC591E338235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5400000">
                  <a:off x="2858245" y="4050409"/>
                  <a:ext cx="365309" cy="59000"/>
                </a:xfrm>
                <a:prstGeom prst="rect">
                  <a:avLst/>
                </a:prstGeom>
                <a:solidFill>
                  <a:schemeClr val="tx2">
                    <a:lumMod val="50000"/>
                    <a:lumOff val="50000"/>
                    <a:alpha val="3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cxnSp>
              <p:nvCxnSpPr>
                <p:cNvPr id="29" name="直線コネクタ 28">
                  <a:extLst>
                    <a:ext uri="{FF2B5EF4-FFF2-40B4-BE49-F238E27FC236}">
                      <a16:creationId xmlns:a16="http://schemas.microsoft.com/office/drawing/2014/main" id="{A5C73CDA-ABC4-A942-BDC6-DE35E7D9CD52}"/>
                    </a:ext>
                  </a:extLst>
                </p:cNvPr>
                <p:cNvCxnSpPr>
                  <a:cxnSpLocks/>
                  <a:endCxn id="8" idx="2"/>
                </p:cNvCxnSpPr>
                <p:nvPr/>
              </p:nvCxnSpPr>
              <p:spPr>
                <a:xfrm>
                  <a:off x="2263952" y="2416085"/>
                  <a:ext cx="0" cy="1947613"/>
                </a:xfrm>
                <a:prstGeom prst="line">
                  <a:avLst/>
                </a:prstGeom>
                <a:ln w="9525">
                  <a:solidFill>
                    <a:srgbClr val="B0FFFF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" name="正方形/長方形 4">
                  <a:extLst>
                    <a:ext uri="{FF2B5EF4-FFF2-40B4-BE49-F238E27FC236}">
                      <a16:creationId xmlns:a16="http://schemas.microsoft.com/office/drawing/2014/main" id="{C11B96CC-ED98-7E20-2EC6-AA2AFD103EC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132027" y="3362883"/>
                  <a:ext cx="188952" cy="3248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cxnSp>
              <p:nvCxnSpPr>
                <p:cNvPr id="14" name="直線コネクタ 13">
                  <a:extLst>
                    <a:ext uri="{FF2B5EF4-FFF2-40B4-BE49-F238E27FC236}">
                      <a16:creationId xmlns:a16="http://schemas.microsoft.com/office/drawing/2014/main" id="{2F71A8F6-7AA9-AFB2-0FB0-D94F4132F0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267524" y="3124843"/>
                  <a:ext cx="2671355" cy="396401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" name="正方形/長方形 27">
                  <a:extLst>
                    <a:ext uri="{FF2B5EF4-FFF2-40B4-BE49-F238E27FC236}">
                      <a16:creationId xmlns:a16="http://schemas.microsoft.com/office/drawing/2014/main" id="{95A07015-C95D-0640-73B3-835E0C03B6E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219750" y="3374860"/>
                  <a:ext cx="765769" cy="2638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1450" dirty="0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Analyzing aperture</a:t>
                  </a:r>
                  <a:endParaRPr lang="ja-JP" altLang="en-US" sz="1450">
                    <a:solidFill>
                      <a:sysClr val="windowText" lastClr="000000"/>
                    </a:solidFill>
                    <a:latin typeface="Helvetica" pitchFamily="2" charset="0"/>
                  </a:endParaRPr>
                </a:p>
              </p:txBody>
            </p:sp>
            <p:sp>
              <p:nvSpPr>
                <p:cNvPr id="30" name="正方形/長方形 29">
                  <a:extLst>
                    <a:ext uri="{FF2B5EF4-FFF2-40B4-BE49-F238E27FC236}">
                      <a16:creationId xmlns:a16="http://schemas.microsoft.com/office/drawing/2014/main" id="{0B074A9E-8115-CE4B-23E5-47584CADC89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049001" y="5096024"/>
                  <a:ext cx="896602" cy="54382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1450">
                    <a:solidFill>
                      <a:sysClr val="windowText" lastClr="000000"/>
                    </a:solidFill>
                    <a:latin typeface="Helvetica" pitchFamily="2" charset="0"/>
                  </a:endParaRPr>
                </a:p>
              </p:txBody>
            </p:sp>
            <p:sp>
              <p:nvSpPr>
                <p:cNvPr id="31" name="正方形/長方形 30">
                  <a:extLst>
                    <a:ext uri="{FF2B5EF4-FFF2-40B4-BE49-F238E27FC236}">
                      <a16:creationId xmlns:a16="http://schemas.microsoft.com/office/drawing/2014/main" id="{08A25CE5-84A8-4074-786F-824834DBAC4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035375" y="2895107"/>
                  <a:ext cx="731474" cy="2638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1450" baseline="30000" dirty="0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3</a:t>
                  </a:r>
                  <a:r>
                    <a:rPr lang="en-US" altLang="ja-JP" sz="1450" dirty="0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He-NSF</a:t>
                  </a:r>
                  <a:endParaRPr lang="ja-JP" altLang="en-US" sz="1450">
                    <a:solidFill>
                      <a:sysClr val="windowText" lastClr="000000"/>
                    </a:solidFill>
                    <a:latin typeface="Helvetica" pitchFamily="2" charset="0"/>
                  </a:endParaRPr>
                </a:p>
              </p:txBody>
            </p:sp>
            <p:cxnSp>
              <p:nvCxnSpPr>
                <p:cNvPr id="33" name="直線コネクタ 32">
                  <a:extLst>
                    <a:ext uri="{FF2B5EF4-FFF2-40B4-BE49-F238E27FC236}">
                      <a16:creationId xmlns:a16="http://schemas.microsoft.com/office/drawing/2014/main" id="{2838932C-9C22-4B6B-A3F4-EC9DB1B48AFB}"/>
                    </a:ext>
                  </a:extLst>
                </p:cNvPr>
                <p:cNvCxnSpPr>
                  <a:cxnSpLocks/>
                  <a:stCxn id="19" idx="0"/>
                </p:cNvCxnSpPr>
                <p:nvPr/>
              </p:nvCxnSpPr>
              <p:spPr>
                <a:xfrm flipV="1">
                  <a:off x="3226503" y="3124843"/>
                  <a:ext cx="94476" cy="86031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" name="正方形/長方形 34">
                  <a:extLst>
                    <a:ext uri="{FF2B5EF4-FFF2-40B4-BE49-F238E27FC236}">
                      <a16:creationId xmlns:a16="http://schemas.microsoft.com/office/drawing/2014/main" id="{BF1F899F-5209-C555-27B6-78D0CDB46BF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816989" y="2479926"/>
                  <a:ext cx="731474" cy="2638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1450" dirty="0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Sample + cryostat</a:t>
                  </a:r>
                  <a:endParaRPr lang="ja-JP" altLang="en-US" sz="1450">
                    <a:solidFill>
                      <a:sysClr val="windowText" lastClr="000000"/>
                    </a:solidFill>
                    <a:latin typeface="Helvetica" pitchFamily="2" charset="0"/>
                  </a:endParaRPr>
                </a:p>
              </p:txBody>
            </p:sp>
            <p:cxnSp>
              <p:nvCxnSpPr>
                <p:cNvPr id="36" name="直線コネクタ 35">
                  <a:extLst>
                    <a:ext uri="{FF2B5EF4-FFF2-40B4-BE49-F238E27FC236}">
                      <a16:creationId xmlns:a16="http://schemas.microsoft.com/office/drawing/2014/main" id="{E6D7E7A9-43B1-BE13-2195-65B147EE0B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294801" y="2778658"/>
                  <a:ext cx="673782" cy="618463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線コネクタ 37">
                  <a:extLst>
                    <a:ext uri="{FF2B5EF4-FFF2-40B4-BE49-F238E27FC236}">
                      <a16:creationId xmlns:a16="http://schemas.microsoft.com/office/drawing/2014/main" id="{D34A7889-2B39-5F9D-F0A8-306156EC3C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930211" y="2482660"/>
                  <a:ext cx="14097" cy="211008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" name="正方形/長方形 39">
                  <a:extLst>
                    <a:ext uri="{FF2B5EF4-FFF2-40B4-BE49-F238E27FC236}">
                      <a16:creationId xmlns:a16="http://schemas.microsoft.com/office/drawing/2014/main" id="{68A66025-CED9-B21D-1AED-067B11792D2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14622" y="2222791"/>
                  <a:ext cx="862055" cy="2638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1450" dirty="0" err="1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ω</a:t>
                  </a:r>
                  <a:r>
                    <a:rPr lang="en-US" altLang="ja-JP" sz="1450" dirty="0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 stage for sample</a:t>
                  </a:r>
                  <a:endParaRPr lang="ja-JP" altLang="en-US" sz="1450">
                    <a:solidFill>
                      <a:sysClr val="windowText" lastClr="000000"/>
                    </a:solidFill>
                    <a:latin typeface="Helvetica" pitchFamily="2" charset="0"/>
                  </a:endParaRPr>
                </a:p>
              </p:txBody>
            </p:sp>
            <p:cxnSp>
              <p:nvCxnSpPr>
                <p:cNvPr id="42" name="直線コネクタ 41">
                  <a:extLst>
                    <a:ext uri="{FF2B5EF4-FFF2-40B4-BE49-F238E27FC236}">
                      <a16:creationId xmlns:a16="http://schemas.microsoft.com/office/drawing/2014/main" id="{0D11C5C7-6470-2728-679E-742ADBF981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617959" y="3029555"/>
                  <a:ext cx="257580" cy="64591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線コネクタ 43">
                  <a:extLst>
                    <a:ext uri="{FF2B5EF4-FFF2-40B4-BE49-F238E27FC236}">
                      <a16:creationId xmlns:a16="http://schemas.microsoft.com/office/drawing/2014/main" id="{C16E5D75-CD57-D9A1-6361-CEF030B241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556855" y="3059056"/>
                  <a:ext cx="318364" cy="929740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正方形/長方形 46">
                  <a:extLst>
                    <a:ext uri="{FF2B5EF4-FFF2-40B4-BE49-F238E27FC236}">
                      <a16:creationId xmlns:a16="http://schemas.microsoft.com/office/drawing/2014/main" id="{F0146967-A446-47E9-33CF-D733B3B122A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032196" y="2798933"/>
                  <a:ext cx="989033" cy="2638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1450" dirty="0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Helmholtz coil</a:t>
                  </a:r>
                  <a:endParaRPr lang="ja-JP" altLang="en-US" sz="1450">
                    <a:solidFill>
                      <a:sysClr val="windowText" lastClr="000000"/>
                    </a:solidFill>
                    <a:latin typeface="Helvetica" pitchFamily="2" charset="0"/>
                  </a:endParaRPr>
                </a:p>
              </p:txBody>
            </p:sp>
            <p:sp>
              <p:nvSpPr>
                <p:cNvPr id="48" name="正方形/長方形 47">
                  <a:extLst>
                    <a:ext uri="{FF2B5EF4-FFF2-40B4-BE49-F238E27FC236}">
                      <a16:creationId xmlns:a16="http://schemas.microsoft.com/office/drawing/2014/main" id="{9683AB5A-6CC7-6D81-47DC-C2A679B6A25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083848" y="4452530"/>
                  <a:ext cx="862055" cy="2638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1450" dirty="0" err="1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ω</a:t>
                  </a:r>
                  <a:r>
                    <a:rPr lang="en-US" altLang="ja-JP" sz="1450" dirty="0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 stage for </a:t>
                  </a:r>
                  <a:r>
                    <a:rPr lang="en-US" altLang="ja-JP" sz="1450" baseline="30000" dirty="0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3</a:t>
                  </a:r>
                  <a:r>
                    <a:rPr lang="en-US" altLang="ja-JP" sz="1450" dirty="0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He-NSF</a:t>
                  </a:r>
                  <a:endParaRPr lang="ja-JP" altLang="en-US" sz="1450">
                    <a:solidFill>
                      <a:sysClr val="windowText" lastClr="000000"/>
                    </a:solidFill>
                    <a:latin typeface="Helvetica" pitchFamily="2" charset="0"/>
                  </a:endParaRPr>
                </a:p>
              </p:txBody>
            </p:sp>
            <p:cxnSp>
              <p:nvCxnSpPr>
                <p:cNvPr id="49" name="直線コネクタ 48">
                  <a:extLst>
                    <a:ext uri="{FF2B5EF4-FFF2-40B4-BE49-F238E27FC236}">
                      <a16:creationId xmlns:a16="http://schemas.microsoft.com/office/drawing/2014/main" id="{3DE6CDB8-A48D-2A58-E989-3AE7562DFA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978581" y="4303388"/>
                  <a:ext cx="176362" cy="146341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直線コネクタ 52">
                  <a:extLst>
                    <a:ext uri="{FF2B5EF4-FFF2-40B4-BE49-F238E27FC236}">
                      <a16:creationId xmlns:a16="http://schemas.microsoft.com/office/drawing/2014/main" id="{52330901-9525-A7C2-5AF1-58BD514D10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66715" y="3532265"/>
                  <a:ext cx="2671355" cy="396401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56" name="図 55">
                <a:extLst>
                  <a:ext uri="{FF2B5EF4-FFF2-40B4-BE49-F238E27FC236}">
                    <a16:creationId xmlns:a16="http://schemas.microsoft.com/office/drawing/2014/main" id="{A8A31EDB-EE8A-F9A7-2897-CD14A847D4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125"/>
              <a:stretch>
                <a:fillRect/>
              </a:stretch>
            </p:blipFill>
            <p:spPr>
              <a:xfrm>
                <a:off x="1030167" y="2369363"/>
                <a:ext cx="4997770" cy="3175000"/>
              </a:xfrm>
              <a:prstGeom prst="rect">
                <a:avLst/>
              </a:prstGeom>
            </p:spPr>
          </p:pic>
        </p:grp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2AB3F209-EC28-2FE5-73D7-2C2E606FE924}"/>
                </a:ext>
              </a:extLst>
            </p:cNvPr>
            <p:cNvSpPr txBox="1"/>
            <p:nvPr/>
          </p:nvSpPr>
          <p:spPr>
            <a:xfrm>
              <a:off x="2090057" y="1883476"/>
              <a:ext cx="504418" cy="4330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3480" dirty="0">
                  <a:latin typeface="Helvetica" pitchFamily="2" charset="0"/>
                </a:rPr>
                <a:t>(a)</a:t>
              </a:r>
              <a:endParaRPr lang="ja-JP" altLang="en-US" sz="3480">
                <a:latin typeface="Helvetica" pitchFamily="2" charset="0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0077254A-FFF6-CAE5-EBA8-54424BB00426}"/>
                </a:ext>
              </a:extLst>
            </p:cNvPr>
            <p:cNvSpPr txBox="1"/>
            <p:nvPr/>
          </p:nvSpPr>
          <p:spPr>
            <a:xfrm>
              <a:off x="6745976" y="1881322"/>
              <a:ext cx="504418" cy="4330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3480" dirty="0">
                  <a:latin typeface="Helvetica" pitchFamily="2" charset="0"/>
                </a:rPr>
                <a:t>(b)</a:t>
              </a:r>
              <a:endParaRPr lang="ja-JP" altLang="en-US" sz="348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971839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7FCF2FA-205A-1C22-6598-C4F530C3D7C0}"/>
              </a:ext>
            </a:extLst>
          </p:cNvPr>
          <p:cNvSpPr txBox="1"/>
          <p:nvPr/>
        </p:nvSpPr>
        <p:spPr>
          <a:xfrm>
            <a:off x="2647018" y="5431714"/>
            <a:ext cx="3406702" cy="12972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610" dirty="0"/>
              <a:t>X</a:t>
            </a:r>
            <a:r>
              <a:rPr lang="ja-JP" altLang="en-US" sz="2610"/>
              <a:t>軸</a:t>
            </a:r>
            <a:r>
              <a:rPr lang="en-US" altLang="ja-JP" sz="2610" dirty="0"/>
              <a:t> : </a:t>
            </a:r>
            <a:r>
              <a:rPr lang="ja-JP" altLang="en-US" sz="2610"/>
              <a:t>水平</a:t>
            </a:r>
            <a:endParaRPr lang="en-US" altLang="ja-JP" sz="2610" dirty="0"/>
          </a:p>
          <a:p>
            <a:r>
              <a:rPr lang="en-US" altLang="ja-JP" sz="2610" dirty="0"/>
              <a:t>Y</a:t>
            </a:r>
            <a:r>
              <a:rPr lang="ja-JP" altLang="en-US" sz="2610"/>
              <a:t>軸：鉛直方向</a:t>
            </a:r>
            <a:endParaRPr lang="en-US" altLang="ja-JP" sz="2610" dirty="0"/>
          </a:p>
          <a:p>
            <a:r>
              <a:rPr lang="en-US" altLang="ja-JP" sz="2610" dirty="0"/>
              <a:t>Z</a:t>
            </a:r>
            <a:r>
              <a:rPr lang="ja-JP" altLang="en-US" sz="2610"/>
              <a:t>軸：中性子進行方向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6415C285-22B9-66D6-31C5-BD4BDFF0B167}"/>
                  </a:ext>
                </a:extLst>
              </p:cNvPr>
              <p:cNvSpPr txBox="1"/>
              <p:nvPr/>
            </p:nvSpPr>
            <p:spPr>
              <a:xfrm>
                <a:off x="2647018" y="2157483"/>
                <a:ext cx="5545108" cy="286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610"/>
                  <a:t>磁場中での中性子スピンの時間発展</a:t>
                </a:r>
                <a:br>
                  <a:rPr lang="en-US" altLang="ja-JP" sz="2610" dirty="0"/>
                </a:br>
                <a:r>
                  <a:rPr lang="ja-JP" altLang="en-US" sz="2610"/>
                  <a:t>→ブロッホ方程式</a:t>
                </a:r>
                <a:endParaRPr lang="en-US" altLang="ja-JP" sz="261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altLang="ja-JP" sz="261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ja-JP" sz="261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num>
                        <m:den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ja-JP" sz="261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610" i="1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altLang="ja-JP" sz="2610" b="1" i="1"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US" altLang="ja-JP" sz="261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ja-JP" sz="2610" b="1" i="1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altLang="ja-JP" sz="2610" b="1" dirty="0"/>
              </a:p>
              <a:p>
                <a:r>
                  <a:rPr lang="en-US" altLang="ja-JP" sz="261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M </a:t>
                </a:r>
                <a:r>
                  <a:rPr lang="en-US" altLang="ja-JP" sz="2610" dirty="0"/>
                  <a:t>: </a:t>
                </a:r>
                <a:r>
                  <a:rPr lang="ja-JP" altLang="en-US" sz="2610"/>
                  <a:t>中性子の磁気モーメント</a:t>
                </a:r>
                <a:r>
                  <a:rPr lang="en-US" altLang="ja-JP" sz="2610" dirty="0"/>
                  <a:t>,</a:t>
                </a:r>
                <a:br>
                  <a:rPr lang="en-US" altLang="ja-JP" sz="2610" dirty="0"/>
                </a:br>
                <a:r>
                  <a:rPr lang="en-US" altLang="ja-JP" sz="261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γ</a:t>
                </a:r>
                <a:r>
                  <a:rPr lang="en-US" altLang="ja-JP" sz="261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ja-JP" sz="2610" dirty="0"/>
                  <a:t>: </a:t>
                </a:r>
                <a:r>
                  <a:rPr lang="ja-JP" altLang="en-US" sz="2610"/>
                  <a:t>中性子の磁気回転比</a:t>
                </a:r>
                <a:r>
                  <a:rPr lang="en-US" altLang="ja-JP" sz="2610" dirty="0"/>
                  <a:t>,</a:t>
                </a:r>
              </a:p>
              <a:p>
                <a:r>
                  <a:rPr lang="en-US" altLang="ja-JP" sz="261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 </a:t>
                </a:r>
                <a:r>
                  <a:rPr lang="en-US" altLang="ja-JP" sz="2610" dirty="0"/>
                  <a:t>: </a:t>
                </a:r>
                <a:r>
                  <a:rPr lang="ja-JP" altLang="en-US" sz="2610"/>
                  <a:t>中性子が通過するパス上の磁場</a:t>
                </a:r>
                <a:r>
                  <a:rPr lang="en-US" altLang="ja-JP" sz="2610" dirty="0"/>
                  <a:t>.</a:t>
                </a:r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6415C285-22B9-66D6-31C5-BD4BDFF0B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018" y="2157483"/>
                <a:ext cx="5545108" cy="2863220"/>
              </a:xfrm>
              <a:prstGeom prst="rect">
                <a:avLst/>
              </a:prstGeom>
              <a:blipFill>
                <a:blip r:embed="rId2"/>
                <a:stretch>
                  <a:fillRect l="-2055" t="-1762" r="-913" b="-440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5C85037-59E1-40F5-0E90-AEE34AB7FF87}"/>
              </a:ext>
            </a:extLst>
          </p:cNvPr>
          <p:cNvSpPr txBox="1"/>
          <p:nvPr/>
        </p:nvSpPr>
        <p:spPr>
          <a:xfrm>
            <a:off x="10144413" y="9463165"/>
            <a:ext cx="9040729" cy="895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610" dirty="0"/>
              <a:t>1 </a:t>
            </a:r>
            <a:r>
              <a:rPr lang="en-US" altLang="ja-JP" sz="2610" dirty="0" err="1"/>
              <a:t>mT</a:t>
            </a:r>
            <a:r>
              <a:rPr lang="ja-JP" altLang="en-US" sz="2610"/>
              <a:t>を</a:t>
            </a:r>
            <a:r>
              <a:rPr lang="en-US" altLang="ja-JP" sz="2610" dirty="0"/>
              <a:t>Z</a:t>
            </a:r>
            <a:r>
              <a:rPr lang="ja-JP" altLang="en-US" sz="2610"/>
              <a:t>軸方向へ印加しているパス上を初期位相</a:t>
            </a:r>
            <a:r>
              <a:rPr lang="en-US" altLang="ja-JP" sz="2610" dirty="0" err="1"/>
              <a:t>σ</a:t>
            </a:r>
            <a:r>
              <a:rPr lang="en-US" altLang="ja-JP" sz="2610" baseline="-25000" dirty="0" err="1"/>
              <a:t>x</a:t>
            </a:r>
            <a:r>
              <a:rPr lang="en-US" altLang="ja-JP" sz="2610" dirty="0" err="1"/>
              <a:t>,σ</a:t>
            </a:r>
            <a:r>
              <a:rPr lang="en-US" altLang="ja-JP" sz="2610" baseline="-25000" dirty="0" err="1"/>
              <a:t>z</a:t>
            </a:r>
            <a:r>
              <a:rPr lang="en-US" altLang="ja-JP" sz="2610" dirty="0"/>
              <a:t>=0, </a:t>
            </a:r>
            <a:r>
              <a:rPr lang="en-US" altLang="ja-JP" sz="2610" dirty="0" err="1"/>
              <a:t>σ</a:t>
            </a:r>
            <a:r>
              <a:rPr lang="en-US" altLang="ja-JP" sz="2610" baseline="-25000" dirty="0" err="1"/>
              <a:t>y</a:t>
            </a:r>
            <a:r>
              <a:rPr lang="en-US" altLang="ja-JP" sz="2610" dirty="0"/>
              <a:t>=1</a:t>
            </a:r>
            <a:r>
              <a:rPr lang="ja-JP" altLang="en-US" sz="2610"/>
              <a:t>の中性子が通過するときの各位置でのスピン状態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245DE635-D9A3-BEEC-B736-6CC8E958B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940" y="1490743"/>
            <a:ext cx="10734231" cy="797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737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236187</TotalTime>
  <Words>3534</Words>
  <Application>Microsoft Macintosh PowerPoint</Application>
  <PresentationFormat>ユーザー設定</PresentationFormat>
  <Paragraphs>956</Paragraphs>
  <Slides>71</Slides>
  <Notes>54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71</vt:i4>
      </vt:variant>
    </vt:vector>
  </HeadingPairs>
  <TitlesOfParts>
    <vt:vector size="79" baseType="lpstr">
      <vt:lpstr>游ゴシック</vt:lpstr>
      <vt:lpstr>Aptos</vt:lpstr>
      <vt:lpstr>Aptos Display</vt:lpstr>
      <vt:lpstr>Arial</vt:lpstr>
      <vt:lpstr>Cambria Math</vt:lpstr>
      <vt:lpstr>Helvetica</vt:lpstr>
      <vt:lpstr>Times New Roman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Shingo Takahashi</dc:creator>
  <cp:lastModifiedBy>Shingo Takahashi</cp:lastModifiedBy>
  <cp:revision>40</cp:revision>
  <dcterms:created xsi:type="dcterms:W3CDTF">2025-12-28T23:03:07Z</dcterms:created>
  <dcterms:modified xsi:type="dcterms:W3CDTF">2026-09-02T07:07:00Z</dcterms:modified>
</cp:coreProperties>
</file>