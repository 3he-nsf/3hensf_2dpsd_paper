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8"/>
  </p:notesMasterIdLst>
  <p:sldIdLst>
    <p:sldId id="256" r:id="rId2"/>
    <p:sldId id="261" r:id="rId3"/>
    <p:sldId id="265" r:id="rId4"/>
    <p:sldId id="262" r:id="rId5"/>
    <p:sldId id="260" r:id="rId6"/>
    <p:sldId id="289" r:id="rId7"/>
    <p:sldId id="296" r:id="rId8"/>
    <p:sldId id="299" r:id="rId9"/>
    <p:sldId id="308" r:id="rId10"/>
    <p:sldId id="319" r:id="rId11"/>
    <p:sldId id="257" r:id="rId12"/>
    <p:sldId id="258" r:id="rId13"/>
    <p:sldId id="272" r:id="rId14"/>
    <p:sldId id="271" r:id="rId15"/>
    <p:sldId id="273" r:id="rId16"/>
    <p:sldId id="300" r:id="rId17"/>
    <p:sldId id="274" r:id="rId18"/>
    <p:sldId id="302" r:id="rId19"/>
    <p:sldId id="306" r:id="rId20"/>
    <p:sldId id="313" r:id="rId21"/>
    <p:sldId id="316" r:id="rId22"/>
    <p:sldId id="263" r:id="rId23"/>
    <p:sldId id="295" r:id="rId24"/>
    <p:sldId id="303" r:id="rId25"/>
    <p:sldId id="304" r:id="rId26"/>
    <p:sldId id="264" r:id="rId27"/>
    <p:sldId id="279" r:id="rId28"/>
    <p:sldId id="307" r:id="rId29"/>
    <p:sldId id="259" r:id="rId30"/>
    <p:sldId id="266" r:id="rId31"/>
    <p:sldId id="267" r:id="rId32"/>
    <p:sldId id="268" r:id="rId33"/>
    <p:sldId id="269" r:id="rId34"/>
    <p:sldId id="270" r:id="rId35"/>
    <p:sldId id="276" r:id="rId36"/>
    <p:sldId id="278" r:id="rId37"/>
    <p:sldId id="275" r:id="rId38"/>
    <p:sldId id="277" r:id="rId39"/>
    <p:sldId id="281" r:id="rId40"/>
    <p:sldId id="309" r:id="rId41"/>
    <p:sldId id="314" r:id="rId42"/>
    <p:sldId id="280" r:id="rId43"/>
    <p:sldId id="288" r:id="rId44"/>
    <p:sldId id="294" r:id="rId45"/>
    <p:sldId id="310" r:id="rId46"/>
    <p:sldId id="311" r:id="rId47"/>
    <p:sldId id="317" r:id="rId48"/>
    <p:sldId id="322" r:id="rId49"/>
    <p:sldId id="318" r:id="rId50"/>
    <p:sldId id="320" r:id="rId51"/>
    <p:sldId id="321" r:id="rId52"/>
    <p:sldId id="282" r:id="rId53"/>
    <p:sldId id="283" r:id="rId54"/>
    <p:sldId id="284" r:id="rId55"/>
    <p:sldId id="285" r:id="rId56"/>
    <p:sldId id="286" r:id="rId57"/>
    <p:sldId id="301" r:id="rId58"/>
    <p:sldId id="315" r:id="rId59"/>
    <p:sldId id="312" r:id="rId60"/>
    <p:sldId id="290" r:id="rId61"/>
    <p:sldId id="297" r:id="rId62"/>
    <p:sldId id="291" r:id="rId63"/>
    <p:sldId id="298" r:id="rId64"/>
    <p:sldId id="292" r:id="rId65"/>
    <p:sldId id="293" r:id="rId66"/>
    <p:sldId id="287" r:id="rId67"/>
  </p:sldIdLst>
  <p:sldSz cx="21770975" cy="1224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8" userDrawn="1">
          <p15:clr>
            <a:srgbClr val="A4A3A4"/>
          </p15:clr>
        </p15:guide>
        <p15:guide id="2" pos="4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B0B"/>
    <a:srgbClr val="0404FF"/>
    <a:srgbClr val="FF9300"/>
    <a:srgbClr val="CF9D00"/>
    <a:srgbClr val="EA3E3C"/>
    <a:srgbClr val="DA3A38"/>
    <a:srgbClr val="FFFFFF"/>
    <a:srgbClr val="000000"/>
    <a:srgbClr val="9999FF"/>
    <a:srgbClr val="CCD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979"/>
    <p:restoredTop sz="94725"/>
  </p:normalViewPr>
  <p:slideViewPr>
    <p:cSldViewPr snapToGrid="0">
      <p:cViewPr>
        <p:scale>
          <a:sx n="71" d="100"/>
          <a:sy n="71" d="100"/>
        </p:scale>
        <p:origin x="-464" y="576"/>
      </p:cViewPr>
      <p:guideLst>
        <p:guide orient="horz" pos="3858"/>
        <p:guide pos="4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7C597-236F-2C4A-9699-EC0B76E604FA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9D07D-B4CB-4644-8E0A-B82CFD78DE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31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1pPr>
    <a:lvl2pPr marL="56308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2pPr>
    <a:lvl3pPr marL="112617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3pPr>
    <a:lvl4pPr marL="168926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4pPr>
    <a:lvl5pPr marL="225235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5pPr>
    <a:lvl6pPr marL="2815438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6pPr>
    <a:lvl7pPr marL="3378525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7pPr>
    <a:lvl8pPr marL="3941613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8pPr>
    <a:lvl9pPr marL="4504700" algn="l" defTabSz="1126175" rtl="0" eaLnBrk="1" latinLnBrk="0" hangingPunct="1">
      <a:defRPr kumimoji="1" sz="147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06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D1BB-8014-4CCA-C238-A6426338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D1B87B-7BAA-8F6E-D3F2-73053A19E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72ED0C-6644-B997-59DC-E306CD1D1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8080A6-CD08-7413-7646-A25C1F5B5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80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B39B3-9E49-95DB-7769-7BF06CAE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E741F0-6FD3-C589-682F-E7FE17450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A7BF1C-9808-7F8B-D0EE-D32853B85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3663C-5597-51CD-31D2-407B4B9E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5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C128-83A4-27FF-AED1-DCE464C9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692A89-2951-5052-B3B6-F06A1F1C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E5E72-D1FB-6F51-97D3-14608CB5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1D8B0-30C4-C4EB-CB5F-24EE5FED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209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A504-B208-A903-4681-83FBC0DC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1FD0200-2B91-B228-9EB7-80D4606ED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FF340C-3B2C-1FC9-B0B9-9690155A6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B431CB-A252-843A-3E2D-8819E97CB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200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F2EB-FED9-EEFB-E38C-011F32848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61BB42-CD2D-0CDE-8118-7DBA8D7D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99E858-D760-8111-EB18-7F9130A9F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A49EE5-6C31-73E6-1AC6-83338F400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74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84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2528-2C0C-F145-E9B2-BCCA3E46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0DDFB-EB8E-7BD3-98A6-04ACA3C2B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BD2224-7541-26D3-18EC-F13241538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11C11-CC67-02B5-D2B4-E825BB61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884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0897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173F0-2920-AF2C-1DE5-AB25F6DC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51F945-D231-F347-CB65-798F40DA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9AD6AF-0D40-AC0A-E4DD-8E10826E7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7222A4-64DE-F9C5-884F-4BBDB585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817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2519-835A-997A-A01E-6A58C2A1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C69503D-CEF3-B79F-F534-9ED3E82D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07963E-B33C-7E32-F088-6A3EBECA9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B7CE2D-82B1-B396-4AAD-73874E68E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000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27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2A0-293A-36B6-4F75-0F45DDBB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EDE57F-166F-F8CF-1492-81C05DB57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84A45F-8708-B3C2-CFF6-2412BF277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740DF2-ECB4-F9EC-F4A2-649F4F475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343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948F-C147-0C5A-10EF-1891D1D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331AA8-FF95-7D5B-C04A-06C484C8A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79898A1-486B-6D32-8CF5-B53275BBF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DB46AD-84F4-315F-A05B-13720EF83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294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3B3-3C65-052A-6DFF-C271576F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D9F945-9334-C7F0-B5CD-17DC40287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7F148E-EEBE-9F4F-2AD2-CA105F28F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65C28A-88AC-3FE0-4F2A-11DF12615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717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804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41C5-162D-B011-B430-61888824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61FE78-DE82-5293-057D-48E37AF37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49FD17-103F-CC6B-949A-9E64F8696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B513D3-F9BA-1800-1475-F9199767E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419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83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CDE-89C4-CCE0-2514-6EE03BAA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41D4451-8688-72F1-495A-BC5EA63D4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995856-AE8F-88CF-FF8D-DEF7160D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2E789B-0C85-F1CE-A4C9-4D2A7E978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6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70E2-FDE4-7D18-DDAB-E721D0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731481A-373C-D25F-6EC3-6E4BB9CE8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60C9-D0F0-46A1-5512-560216ED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FE8E71-29EF-6DD0-B9C8-AAD9D7073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13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028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030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093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7553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02F5-422F-CDCB-DCD2-26154376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9D2FF7A-E0F1-4F05-06DA-05D42DA58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51DB0C-B5F2-B21F-7A60-D0AD8C9BB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CE523A-3C35-D138-FDD7-2F3A2DCCF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157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FFA9-F0FA-6C11-AE28-3936F7DC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3A7407B-756E-D96C-03A9-A579249EA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1AC056-034C-AB2D-9D3D-B4A929B3F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9628EE-7A47-D38A-A976-9455FDB2C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45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6860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08-10C6-6014-E09D-C2BA0C8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B81321-F7DC-43C8-8CFB-CF5174528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CE4AA1-E96D-FA1D-E2D7-50E4111C2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37723-8573-BC0F-67AD-4746E9456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97792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A0CE-27FF-6069-AEF6-5E38167E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486364-1081-47CC-AA60-85FE9531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4DA814-3753-DB75-28F1-9A9999405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440F6B-4742-B542-6BD6-E969CB118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867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1608-D49C-C7A6-2043-C74258D3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F84CDA-D766-8B1E-3988-E985DF881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46F36F-5A62-4E01-3E34-AF2E0709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44FBA9-1292-23E1-566C-B19FB160B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4054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F7A09-1A44-5372-24B2-08ED55FD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C2D69E-E63A-7132-8B3D-E1CB6D1AD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02ADEB-DEA4-E500-2CDD-3E7955B39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FFA050-0F9D-AD13-0318-09F3F87E9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8951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EF4F-9E60-150C-E2D5-DAF0AF5D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27DA95-F54F-7B3C-D56A-6A31FFB8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E26740-FED7-B548-1C97-879DA24CE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E83AB8-8090-40A9-AC2E-926963F61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8002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08B2-5DA3-8437-C052-986E898E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13846D5-5403-82BF-E1F7-7F07E718A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527AEA5-231C-4F95-8919-E1D8B0F04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86FC6D-A45F-0567-291A-AEB47D3FE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1628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51F2-E07D-4575-5EDA-DB958A96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6546D2-E3F7-B4B4-E497-279EEC27C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538177-3CCF-98DF-749A-23667D26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CA6AAC-BA8C-5F5E-5E2E-61B543F13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49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865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0DA6-02CC-13AC-35F3-931F2414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FF4B4B-18A7-ECFF-13A1-FFAAE7927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C90A30-957A-204A-BFAB-8C0EE97C4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531124-511A-3743-43AF-455566153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1007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3503-418E-D87F-1BB7-EE1BE8DB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F831B3-174F-9CF9-CC76-B62250CCC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091B1F6-0A35-2B38-2E4C-C7096EB36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C3D51-284D-DA21-FE84-094741511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0847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3781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965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CD9E-7F96-8243-B3DF-31139FB4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4854D1-FEB8-88C1-BA5B-C61765E8B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140BD3-3940-21D1-AAE2-42DF06FE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1BE3F9-28E2-4601-643C-734AD74DA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7884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F168-3969-4D55-EA47-42E07379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CC4C4A-04EB-EDE9-2368-9E365B5E8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DC58E6-A37C-D418-24DB-7FE74CF86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87B940-E2D5-B13A-7C21-718714F5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176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9F4C-1D0F-7176-5C46-E55FA061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DFFCA7-9358-6EC1-4046-C73C5B93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754938-D157-0EDB-8F4F-CB3212466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396E44-027B-2C0B-BC4C-EABD6B89A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5942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FB75-B4D4-1A16-0177-3153F6B0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D4C66A3-A248-7C21-B6DD-461EF732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9201C22-559D-24D9-7AF1-9B3B24EAD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0E2FB8-7EB4-5A17-DA66-E19234581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51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90F9-8349-86BF-F350-15813E41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602353-A80B-75B4-4EAC-1CA3832A0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4B5064-AB76-577A-FD28-A62E8C9F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BF9984-DF5E-A75C-AF90-9719A4056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34289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D97B-3611-2662-5B63-12C886E8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EF137D5-860C-CF2D-5134-6839133D8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A4D858-563A-C129-D317-E273FFE77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1F3357-8B48-0360-DDD9-85820BBA5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59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18828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9D07D-B4CB-4644-8E0A-B82CFD78DEFD}" type="slidenum">
              <a:rPr kumimoji="1" lang="ja-JP" altLang="en-US" smtClean="0"/>
              <a:t>65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03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1372" y="2004145"/>
            <a:ext cx="16328231" cy="4263414"/>
          </a:xfrm>
        </p:spPr>
        <p:txBody>
          <a:bodyPr anchor="b"/>
          <a:lstStyle>
            <a:lvl1pPr algn="ctr"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1372" y="6431973"/>
            <a:ext cx="16328231" cy="2956608"/>
          </a:xfrm>
        </p:spPr>
        <p:txBody>
          <a:bodyPr/>
          <a:lstStyle>
            <a:lvl1pPr marL="0" indent="0" algn="ctr">
              <a:buNone/>
              <a:defRPr sz="4285"/>
            </a:lvl1pPr>
            <a:lvl2pPr marL="816376" indent="0" algn="ctr">
              <a:buNone/>
              <a:defRPr sz="3571"/>
            </a:lvl2pPr>
            <a:lvl3pPr marL="1632753" indent="0" algn="ctr">
              <a:buNone/>
              <a:defRPr sz="3214"/>
            </a:lvl3pPr>
            <a:lvl4pPr marL="2449129" indent="0" algn="ctr">
              <a:buNone/>
              <a:defRPr sz="2857"/>
            </a:lvl4pPr>
            <a:lvl5pPr marL="3265505" indent="0" algn="ctr">
              <a:buNone/>
              <a:defRPr sz="2857"/>
            </a:lvl5pPr>
            <a:lvl6pPr marL="4081882" indent="0" algn="ctr">
              <a:buNone/>
              <a:defRPr sz="2857"/>
            </a:lvl6pPr>
            <a:lvl7pPr marL="4898258" indent="0" algn="ctr">
              <a:buNone/>
              <a:defRPr sz="2857"/>
            </a:lvl7pPr>
            <a:lvl8pPr marL="5714634" indent="0" algn="ctr">
              <a:buNone/>
              <a:defRPr sz="2857"/>
            </a:lvl8pPr>
            <a:lvl9pPr marL="6531011" indent="0" algn="ctr">
              <a:buNone/>
              <a:defRPr sz="285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47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71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415" y="3052991"/>
            <a:ext cx="18777466" cy="5093985"/>
          </a:xfrm>
        </p:spPr>
        <p:txBody>
          <a:bodyPr anchor="b"/>
          <a:lstStyle>
            <a:lvl1pPr>
              <a:defRPr sz="10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5" y="8195167"/>
            <a:ext cx="18777466" cy="2678806"/>
          </a:xfrm>
        </p:spPr>
        <p:txBody>
          <a:bodyPr/>
          <a:lstStyle>
            <a:lvl1pPr marL="0" indent="0">
              <a:buNone/>
              <a:defRPr sz="4285">
                <a:solidFill>
                  <a:schemeClr val="tx1">
                    <a:tint val="82000"/>
                  </a:schemeClr>
                </a:solidFill>
              </a:defRPr>
            </a:lvl1pPr>
            <a:lvl2pPr marL="816376" indent="0">
              <a:buNone/>
              <a:defRPr sz="3571">
                <a:solidFill>
                  <a:schemeClr val="tx1">
                    <a:tint val="82000"/>
                  </a:schemeClr>
                </a:solidFill>
              </a:defRPr>
            </a:lvl2pPr>
            <a:lvl3pPr marL="1632753" indent="0">
              <a:buNone/>
              <a:defRPr sz="3214">
                <a:solidFill>
                  <a:schemeClr val="tx1">
                    <a:tint val="82000"/>
                  </a:schemeClr>
                </a:solidFill>
              </a:defRPr>
            </a:lvl3pPr>
            <a:lvl4pPr marL="2449129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4pPr>
            <a:lvl5pPr marL="3265505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5pPr>
            <a:lvl6pPr marL="4081882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6pPr>
            <a:lvl7pPr marL="4898258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7pPr>
            <a:lvl8pPr marL="5714634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8pPr>
            <a:lvl9pPr marL="6531011" indent="0">
              <a:buNone/>
              <a:defRPr sz="28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90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6755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1556" y="3259924"/>
            <a:ext cx="9252664" cy="77699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2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0" y="651986"/>
            <a:ext cx="18777466" cy="236698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9591" y="3001966"/>
            <a:ext cx="9210142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9591" y="4473182"/>
            <a:ext cx="9210142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21556" y="3001966"/>
            <a:ext cx="9255500" cy="1471217"/>
          </a:xfrm>
        </p:spPr>
        <p:txBody>
          <a:bodyPr anchor="b"/>
          <a:lstStyle>
            <a:lvl1pPr marL="0" indent="0">
              <a:buNone/>
              <a:defRPr sz="4285" b="1"/>
            </a:lvl1pPr>
            <a:lvl2pPr marL="816376" indent="0">
              <a:buNone/>
              <a:defRPr sz="3571" b="1"/>
            </a:lvl2pPr>
            <a:lvl3pPr marL="1632753" indent="0">
              <a:buNone/>
              <a:defRPr sz="3214" b="1"/>
            </a:lvl3pPr>
            <a:lvl4pPr marL="2449129" indent="0">
              <a:buNone/>
              <a:defRPr sz="2857" b="1"/>
            </a:lvl4pPr>
            <a:lvl5pPr marL="3265505" indent="0">
              <a:buNone/>
              <a:defRPr sz="2857" b="1"/>
            </a:lvl5pPr>
            <a:lvl6pPr marL="4081882" indent="0">
              <a:buNone/>
              <a:defRPr sz="2857" b="1"/>
            </a:lvl6pPr>
            <a:lvl7pPr marL="4898258" indent="0">
              <a:buNone/>
              <a:defRPr sz="2857" b="1"/>
            </a:lvl7pPr>
            <a:lvl8pPr marL="5714634" indent="0">
              <a:buNone/>
              <a:defRPr sz="2857" b="1"/>
            </a:lvl8pPr>
            <a:lvl9pPr marL="6531011" indent="0">
              <a:buNone/>
              <a:defRPr sz="285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21556" y="4473182"/>
            <a:ext cx="9255500" cy="657937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48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55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02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500" y="1763195"/>
            <a:ext cx="11021556" cy="8702579"/>
          </a:xfrm>
        </p:spPr>
        <p:txBody>
          <a:bodyPr/>
          <a:lstStyle>
            <a:lvl1pPr>
              <a:defRPr sz="5714"/>
            </a:lvl1pPr>
            <a:lvl2pPr>
              <a:defRPr sz="5000"/>
            </a:lvl2pPr>
            <a:lvl3pPr>
              <a:defRPr sz="4285"/>
            </a:lvl3pPr>
            <a:lvl4pPr>
              <a:defRPr sz="3571"/>
            </a:lvl4pPr>
            <a:lvl5pPr>
              <a:defRPr sz="3571"/>
            </a:lvl5pPr>
            <a:lvl6pPr>
              <a:defRPr sz="3571"/>
            </a:lvl6pPr>
            <a:lvl7pPr>
              <a:defRPr sz="3571"/>
            </a:lvl7pPr>
            <a:lvl8pPr>
              <a:defRPr sz="3571"/>
            </a:lvl8pPr>
            <a:lvl9pPr>
              <a:defRPr sz="3571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9031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591" y="816398"/>
            <a:ext cx="7021705" cy="2857394"/>
          </a:xfrm>
        </p:spPr>
        <p:txBody>
          <a:bodyPr anchor="b"/>
          <a:lstStyle>
            <a:lvl1pPr>
              <a:defRPr sz="571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55500" y="1763195"/>
            <a:ext cx="11021556" cy="8702579"/>
          </a:xfrm>
        </p:spPr>
        <p:txBody>
          <a:bodyPr anchor="t"/>
          <a:lstStyle>
            <a:lvl1pPr marL="0" indent="0">
              <a:buNone/>
              <a:defRPr sz="5714"/>
            </a:lvl1pPr>
            <a:lvl2pPr marL="816376" indent="0">
              <a:buNone/>
              <a:defRPr sz="5000"/>
            </a:lvl2pPr>
            <a:lvl3pPr marL="1632753" indent="0">
              <a:buNone/>
              <a:defRPr sz="4285"/>
            </a:lvl3pPr>
            <a:lvl4pPr marL="2449129" indent="0">
              <a:buNone/>
              <a:defRPr sz="3571"/>
            </a:lvl4pPr>
            <a:lvl5pPr marL="3265505" indent="0">
              <a:buNone/>
              <a:defRPr sz="3571"/>
            </a:lvl5pPr>
            <a:lvl6pPr marL="4081882" indent="0">
              <a:buNone/>
              <a:defRPr sz="3571"/>
            </a:lvl6pPr>
            <a:lvl7pPr marL="4898258" indent="0">
              <a:buNone/>
              <a:defRPr sz="3571"/>
            </a:lvl7pPr>
            <a:lvl8pPr marL="5714634" indent="0">
              <a:buNone/>
              <a:defRPr sz="3571"/>
            </a:lvl8pPr>
            <a:lvl9pPr marL="6531011" indent="0">
              <a:buNone/>
              <a:defRPr sz="3571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9591" y="3673793"/>
            <a:ext cx="7021705" cy="6806155"/>
          </a:xfrm>
        </p:spPr>
        <p:txBody>
          <a:bodyPr/>
          <a:lstStyle>
            <a:lvl1pPr marL="0" indent="0">
              <a:buNone/>
              <a:defRPr sz="2857"/>
            </a:lvl1pPr>
            <a:lvl2pPr marL="816376" indent="0">
              <a:buNone/>
              <a:defRPr sz="2500"/>
            </a:lvl2pPr>
            <a:lvl3pPr marL="1632753" indent="0">
              <a:buNone/>
              <a:defRPr sz="2143"/>
            </a:lvl3pPr>
            <a:lvl4pPr marL="2449129" indent="0">
              <a:buNone/>
              <a:defRPr sz="1786"/>
            </a:lvl4pPr>
            <a:lvl5pPr marL="3265505" indent="0">
              <a:buNone/>
              <a:defRPr sz="1786"/>
            </a:lvl5pPr>
            <a:lvl6pPr marL="4081882" indent="0">
              <a:buNone/>
              <a:defRPr sz="1786"/>
            </a:lvl6pPr>
            <a:lvl7pPr marL="4898258" indent="0">
              <a:buNone/>
              <a:defRPr sz="1786"/>
            </a:lvl7pPr>
            <a:lvl8pPr marL="5714634" indent="0">
              <a:buNone/>
              <a:defRPr sz="1786"/>
            </a:lvl8pPr>
            <a:lvl9pPr marL="6531011" indent="0">
              <a:buNone/>
              <a:defRPr sz="17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13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79854" y="651985"/>
            <a:ext cx="4694366" cy="10377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6755" y="651985"/>
            <a:ext cx="13810962" cy="103778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23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6755" y="651986"/>
            <a:ext cx="18777466" cy="23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6755" y="3259924"/>
            <a:ext cx="18777466" cy="7769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6755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9B6E-C761-2944-9DD9-97EBD619A687}" type="datetimeFigureOut">
              <a:rPr kumimoji="1" lang="ja-JP" altLang="en-US" smtClean="0"/>
              <a:t>2026/7/12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11636" y="11350205"/>
            <a:ext cx="7347704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75751" y="11350205"/>
            <a:ext cx="4898469" cy="651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D4DF3-0DE0-BD4D-A3E2-95FD0553D1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4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32753" rtl="0" eaLnBrk="1" latinLnBrk="0" hangingPunct="1">
        <a:lnSpc>
          <a:spcPct val="90000"/>
        </a:lnSpc>
        <a:spcBef>
          <a:spcPct val="0"/>
        </a:spcBef>
        <a:buNone/>
        <a:defRPr kumimoji="1" sz="78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188" indent="-408188" algn="l" defTabSz="1632753" rtl="0" eaLnBrk="1" latinLnBrk="0" hangingPunct="1">
        <a:lnSpc>
          <a:spcPct val="90000"/>
        </a:lnSpc>
        <a:spcBef>
          <a:spcPts val="1786"/>
        </a:spcBef>
        <a:buFont typeface="Arial" panose="020B0604020202020204" pitchFamily="34" charset="0"/>
        <a:buChar char="•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224564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4285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571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lnSpc>
          <a:spcPct val="90000"/>
        </a:lnSpc>
        <a:spcBef>
          <a:spcPts val="893"/>
        </a:spcBef>
        <a:buFont typeface="Arial" panose="020B0604020202020204" pitchFamily="34" charset="0"/>
        <a:buChar char="•"/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0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93.png"/><Relationship Id="rId3" Type="http://schemas.openxmlformats.org/officeDocument/2006/relationships/image" Target="../media/image62.png"/><Relationship Id="rId21" Type="http://schemas.openxmlformats.org/officeDocument/2006/relationships/image" Target="../media/image91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9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8.png"/><Relationship Id="rId28" Type="http://schemas.openxmlformats.org/officeDocument/2006/relationships/image" Target="../media/image95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92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760.png"/><Relationship Id="rId18" Type="http://schemas.openxmlformats.org/officeDocument/2006/relationships/image" Target="../media/image81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750.png"/><Relationship Id="rId17" Type="http://schemas.openxmlformats.org/officeDocument/2006/relationships/image" Target="../media/image80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90.png"/><Relationship Id="rId20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740.png"/><Relationship Id="rId5" Type="http://schemas.openxmlformats.org/officeDocument/2006/relationships/image" Target="../media/image680.png"/><Relationship Id="rId15" Type="http://schemas.openxmlformats.org/officeDocument/2006/relationships/image" Target="../media/image780.png"/><Relationship Id="rId10" Type="http://schemas.openxmlformats.org/officeDocument/2006/relationships/image" Target="../media/image730.png"/><Relationship Id="rId19" Type="http://schemas.openxmlformats.org/officeDocument/2006/relationships/image" Target="../media/image820.png"/><Relationship Id="rId4" Type="http://schemas.openxmlformats.org/officeDocument/2006/relationships/image" Target="../media/image670.png"/><Relationship Id="rId9" Type="http://schemas.openxmlformats.org/officeDocument/2006/relationships/image" Target="../media/image720.png"/><Relationship Id="rId14" Type="http://schemas.openxmlformats.org/officeDocument/2006/relationships/image" Target="../media/image77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890.png"/><Relationship Id="rId18" Type="http://schemas.openxmlformats.org/officeDocument/2006/relationships/image" Target="../media/image940.png"/><Relationship Id="rId3" Type="http://schemas.openxmlformats.org/officeDocument/2006/relationships/image" Target="../media/image660.png"/><Relationship Id="rId7" Type="http://schemas.openxmlformats.org/officeDocument/2006/relationships/image" Target="../media/image700.png"/><Relationship Id="rId12" Type="http://schemas.openxmlformats.org/officeDocument/2006/relationships/image" Target="../media/image880.png"/><Relationship Id="rId17" Type="http://schemas.openxmlformats.org/officeDocument/2006/relationships/image" Target="../media/image93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image" Target="../media/image870.png"/><Relationship Id="rId5" Type="http://schemas.openxmlformats.org/officeDocument/2006/relationships/image" Target="../media/image850.png"/><Relationship Id="rId15" Type="http://schemas.openxmlformats.org/officeDocument/2006/relationships/image" Target="../media/image910.png"/><Relationship Id="rId10" Type="http://schemas.openxmlformats.org/officeDocument/2006/relationships/image" Target="../media/image860.png"/><Relationship Id="rId19" Type="http://schemas.openxmlformats.org/officeDocument/2006/relationships/image" Target="../media/image950.png"/><Relationship Id="rId4" Type="http://schemas.openxmlformats.org/officeDocument/2006/relationships/image" Target="../media/image840.png"/><Relationship Id="rId9" Type="http://schemas.openxmlformats.org/officeDocument/2006/relationships/image" Target="../media/image720.png"/><Relationship Id="rId14" Type="http://schemas.openxmlformats.org/officeDocument/2006/relationships/image" Target="../media/image9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0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0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70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emf"/><Relationship Id="rId5" Type="http://schemas.openxmlformats.org/officeDocument/2006/relationships/image" Target="../media/image115.emf"/><Relationship Id="rId4" Type="http://schemas.openxmlformats.org/officeDocument/2006/relationships/image" Target="../media/image11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3.emf"/><Relationship Id="rId7" Type="http://schemas.openxmlformats.org/officeDocument/2006/relationships/image" Target="../media/image11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emf"/><Relationship Id="rId5" Type="http://schemas.openxmlformats.org/officeDocument/2006/relationships/image" Target="../media/image115.emf"/><Relationship Id="rId4" Type="http://schemas.openxmlformats.org/officeDocument/2006/relationships/image" Target="../media/image114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emf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emf"/><Relationship Id="rId4" Type="http://schemas.openxmlformats.org/officeDocument/2006/relationships/image" Target="../media/image13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7" Type="http://schemas.openxmlformats.org/officeDocument/2006/relationships/image" Target="../media/image139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7" Type="http://schemas.openxmlformats.org/officeDocument/2006/relationships/image" Target="../media/image13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emf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3.emf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5" Type="http://schemas.openxmlformats.org/officeDocument/2006/relationships/image" Target="../media/image144.emf"/><Relationship Id="rId4" Type="http://schemas.openxmlformats.org/officeDocument/2006/relationships/image" Target="../media/image139.emf"/><Relationship Id="rId9" Type="http://schemas.openxmlformats.org/officeDocument/2006/relationships/image" Target="../media/image14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3.emf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5" Type="http://schemas.openxmlformats.org/officeDocument/2006/relationships/image" Target="../media/image144.emf"/><Relationship Id="rId4" Type="http://schemas.openxmlformats.org/officeDocument/2006/relationships/image" Target="../media/image139.emf"/><Relationship Id="rId9" Type="http://schemas.openxmlformats.org/officeDocument/2006/relationships/image" Target="../media/image14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39.emf"/><Relationship Id="rId7" Type="http://schemas.openxmlformats.org/officeDocument/2006/relationships/image" Target="../media/image1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emf"/><Relationship Id="rId4" Type="http://schemas.openxmlformats.org/officeDocument/2006/relationships/image" Target="../media/image144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0.png"/><Relationship Id="rId3" Type="http://schemas.openxmlformats.org/officeDocument/2006/relationships/image" Target="../media/image147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0.png"/><Relationship Id="rId5" Type="http://schemas.openxmlformats.org/officeDocument/2006/relationships/image" Target="../media/image1410.png"/><Relationship Id="rId10" Type="http://schemas.openxmlformats.org/officeDocument/2006/relationships/image" Target="../media/image1460.png"/><Relationship Id="rId4" Type="http://schemas.openxmlformats.org/officeDocument/2006/relationships/image" Target="../media/image148.emf"/><Relationship Id="rId9" Type="http://schemas.openxmlformats.org/officeDocument/2006/relationships/image" Target="../media/image145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9.emf"/><Relationship Id="rId7" Type="http://schemas.openxmlformats.org/officeDocument/2006/relationships/image" Target="../media/image148.emf"/><Relationship Id="rId12" Type="http://schemas.openxmlformats.org/officeDocument/2006/relationships/image" Target="../media/image1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emf"/><Relationship Id="rId11" Type="http://schemas.openxmlformats.org/officeDocument/2006/relationships/image" Target="../media/image154.png"/><Relationship Id="rId5" Type="http://schemas.openxmlformats.org/officeDocument/2006/relationships/image" Target="../media/image151.emf"/><Relationship Id="rId10" Type="http://schemas.openxmlformats.org/officeDocument/2006/relationships/image" Target="../media/image153.png"/><Relationship Id="rId4" Type="http://schemas.openxmlformats.org/officeDocument/2006/relationships/image" Target="../media/image150.emf"/><Relationship Id="rId9" Type="http://schemas.openxmlformats.org/officeDocument/2006/relationships/image" Target="../media/image15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49.emf"/><Relationship Id="rId7" Type="http://schemas.openxmlformats.org/officeDocument/2006/relationships/image" Target="../media/image148.emf"/><Relationship Id="rId12" Type="http://schemas.openxmlformats.org/officeDocument/2006/relationships/image" Target="../media/image1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emf"/><Relationship Id="rId11" Type="http://schemas.openxmlformats.org/officeDocument/2006/relationships/image" Target="../media/image159.png"/><Relationship Id="rId5" Type="http://schemas.openxmlformats.org/officeDocument/2006/relationships/image" Target="../media/image151.emf"/><Relationship Id="rId10" Type="http://schemas.openxmlformats.org/officeDocument/2006/relationships/image" Target="../media/image158.png"/><Relationship Id="rId4" Type="http://schemas.openxmlformats.org/officeDocument/2006/relationships/image" Target="../media/image150.emf"/><Relationship Id="rId9" Type="http://schemas.openxmlformats.org/officeDocument/2006/relationships/image" Target="../media/image15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58.png"/><Relationship Id="rId3" Type="http://schemas.openxmlformats.org/officeDocument/2006/relationships/image" Target="../media/image153.emf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48.emf"/><Relationship Id="rId15" Type="http://schemas.openxmlformats.org/officeDocument/2006/relationships/image" Target="../media/image154.png"/><Relationship Id="rId10" Type="http://schemas.openxmlformats.org/officeDocument/2006/relationships/image" Target="../media/image167.png"/><Relationship Id="rId4" Type="http://schemas.openxmlformats.org/officeDocument/2006/relationships/image" Target="../media/image154.emf"/><Relationship Id="rId9" Type="http://schemas.openxmlformats.org/officeDocument/2006/relationships/image" Target="../media/image166.png"/><Relationship Id="rId14" Type="http://schemas.openxmlformats.org/officeDocument/2006/relationships/image" Target="../media/image17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13" Type="http://schemas.openxmlformats.org/officeDocument/2006/relationships/image" Target="../media/image160.png"/><Relationship Id="rId18" Type="http://schemas.openxmlformats.org/officeDocument/2006/relationships/image" Target="../media/image156.emf"/><Relationship Id="rId3" Type="http://schemas.openxmlformats.org/officeDocument/2006/relationships/image" Target="../media/image148.emf"/><Relationship Id="rId7" Type="http://schemas.openxmlformats.org/officeDocument/2006/relationships/image" Target="../media/image172.png"/><Relationship Id="rId12" Type="http://schemas.openxmlformats.org/officeDocument/2006/relationships/image" Target="../media/image175.png"/><Relationship Id="rId17" Type="http://schemas.openxmlformats.org/officeDocument/2006/relationships/image" Target="../media/image150.emf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53.emf"/><Relationship Id="rId5" Type="http://schemas.openxmlformats.org/officeDocument/2006/relationships/image" Target="../media/image171.png"/><Relationship Id="rId15" Type="http://schemas.openxmlformats.org/officeDocument/2006/relationships/image" Target="../media/image155.emf"/><Relationship Id="rId10" Type="http://schemas.openxmlformats.org/officeDocument/2006/relationships/image" Target="../media/image174.png"/><Relationship Id="rId4" Type="http://schemas.openxmlformats.org/officeDocument/2006/relationships/image" Target="../media/image163.png"/><Relationship Id="rId9" Type="http://schemas.openxmlformats.org/officeDocument/2006/relationships/image" Target="../media/image173.png"/><Relationship Id="rId14" Type="http://schemas.openxmlformats.org/officeDocument/2006/relationships/image" Target="../media/image1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82.png"/><Relationship Id="rId18" Type="http://schemas.openxmlformats.org/officeDocument/2006/relationships/image" Target="../media/image185.png"/><Relationship Id="rId3" Type="http://schemas.openxmlformats.org/officeDocument/2006/relationships/image" Target="../media/image157.emf"/><Relationship Id="rId7" Type="http://schemas.openxmlformats.org/officeDocument/2006/relationships/image" Target="../media/image163.png"/><Relationship Id="rId12" Type="http://schemas.openxmlformats.org/officeDocument/2006/relationships/image" Target="../media/image181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emf"/><Relationship Id="rId11" Type="http://schemas.openxmlformats.org/officeDocument/2006/relationships/image" Target="../media/image153.emf"/><Relationship Id="rId5" Type="http://schemas.openxmlformats.org/officeDocument/2006/relationships/image" Target="../media/image155.emf"/><Relationship Id="rId15" Type="http://schemas.openxmlformats.org/officeDocument/2006/relationships/image" Target="../media/image149.emf"/><Relationship Id="rId10" Type="http://schemas.openxmlformats.org/officeDocument/2006/relationships/image" Target="../media/image172.png"/><Relationship Id="rId4" Type="http://schemas.openxmlformats.org/officeDocument/2006/relationships/image" Target="../media/image158.emf"/><Relationship Id="rId9" Type="http://schemas.openxmlformats.org/officeDocument/2006/relationships/image" Target="../media/image166.png"/><Relationship Id="rId14" Type="http://schemas.openxmlformats.org/officeDocument/2006/relationships/image" Target="../media/image18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image" Target="../media/image172.png"/><Relationship Id="rId3" Type="http://schemas.openxmlformats.org/officeDocument/2006/relationships/image" Target="../media/image159.emf"/><Relationship Id="rId7" Type="http://schemas.openxmlformats.org/officeDocument/2006/relationships/image" Target="../media/image163.emf"/><Relationship Id="rId12" Type="http://schemas.openxmlformats.org/officeDocument/2006/relationships/image" Target="../media/image166.png"/><Relationship Id="rId17" Type="http://schemas.openxmlformats.org/officeDocument/2006/relationships/image" Target="../media/image180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emf"/><Relationship Id="rId11" Type="http://schemas.openxmlformats.org/officeDocument/2006/relationships/image" Target="../media/image171.png"/><Relationship Id="rId5" Type="http://schemas.openxmlformats.org/officeDocument/2006/relationships/image" Target="../media/image161.emf"/><Relationship Id="rId15" Type="http://schemas.openxmlformats.org/officeDocument/2006/relationships/image" Target="../media/image178.png"/><Relationship Id="rId10" Type="http://schemas.openxmlformats.org/officeDocument/2006/relationships/image" Target="../media/image163.png"/><Relationship Id="rId4" Type="http://schemas.openxmlformats.org/officeDocument/2006/relationships/image" Target="../media/image160.emf"/><Relationship Id="rId9" Type="http://schemas.openxmlformats.org/officeDocument/2006/relationships/image" Target="../media/image148.emf"/><Relationship Id="rId14" Type="http://schemas.openxmlformats.org/officeDocument/2006/relationships/image" Target="../media/image17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3" Type="http://schemas.openxmlformats.org/officeDocument/2006/relationships/image" Target="../media/image153.emf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55.emf"/><Relationship Id="rId9" Type="http://schemas.openxmlformats.org/officeDocument/2006/relationships/image" Target="../media/image150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F835F-C46B-EEC4-B7BC-A6F2AEB8B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B40AEE-3165-DF62-F927-D1923C2571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39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2F713DE-47E6-2A0F-CAC5-44A4F993D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573" y="2777219"/>
            <a:ext cx="9089835" cy="700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0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E9E04F-CA17-E63B-44C4-AB745447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683" y="2201936"/>
            <a:ext cx="7578985" cy="7291176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159B5D2-F772-A134-078C-E7E1206179C3}"/>
              </a:ext>
            </a:extLst>
          </p:cNvPr>
          <p:cNvGrpSpPr/>
          <p:nvPr/>
        </p:nvGrpSpPr>
        <p:grpSpPr>
          <a:xfrm>
            <a:off x="4323673" y="4263661"/>
            <a:ext cx="1638321" cy="1957186"/>
            <a:chOff x="1569886" y="2146500"/>
            <a:chExt cx="1130057" cy="1349999"/>
          </a:xfrm>
        </p:grpSpPr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AC9CB6BA-B007-5CE6-FBE9-17E1C1C254A8}"/>
                </a:ext>
              </a:extLst>
            </p:cNvPr>
            <p:cNvCxnSpPr>
              <a:cxnSpLocks/>
            </p:cNvCxnSpPr>
            <p:nvPr/>
          </p:nvCxnSpPr>
          <p:spPr>
            <a:xfrm rot="7200000" flipH="1" flipV="1">
              <a:off x="2109886" y="2956499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8556C06-8A0E-3987-51E7-D4FD96B938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509" y="2146500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F36E0671-51BE-6B19-BC2F-9ACA088EC70A}"/>
                </a:ext>
              </a:extLst>
            </p:cNvPr>
            <p:cNvCxnSpPr>
              <a:cxnSpLocks/>
            </p:cNvCxnSpPr>
            <p:nvPr/>
          </p:nvCxnSpPr>
          <p:spPr>
            <a:xfrm rot="4200000" flipH="1" flipV="1">
              <a:off x="2159943" y="2501808"/>
              <a:ext cx="0" cy="10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六角形 10">
            <a:extLst>
              <a:ext uri="{FF2B5EF4-FFF2-40B4-BE49-F238E27FC236}">
                <a16:creationId xmlns:a16="http://schemas.microsoft.com/office/drawing/2014/main" id="{B51F4E7A-1C3F-1F21-4184-0568A93CC6D6}"/>
              </a:ext>
            </a:extLst>
          </p:cNvPr>
          <p:cNvSpPr/>
          <p:nvPr/>
        </p:nvSpPr>
        <p:spPr>
          <a:xfrm>
            <a:off x="6580052" y="4818199"/>
            <a:ext cx="2609583" cy="260958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円柱 11">
            <a:extLst>
              <a:ext uri="{FF2B5EF4-FFF2-40B4-BE49-F238E27FC236}">
                <a16:creationId xmlns:a16="http://schemas.microsoft.com/office/drawing/2014/main" id="{52294C0D-6D8E-38DF-339F-B7CC734B7FEF}"/>
              </a:ext>
            </a:extLst>
          </p:cNvPr>
          <p:cNvSpPr/>
          <p:nvPr/>
        </p:nvSpPr>
        <p:spPr>
          <a:xfrm>
            <a:off x="-2019805" y="7147803"/>
            <a:ext cx="1569189" cy="1289840"/>
          </a:xfrm>
          <a:prstGeom prst="can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scene3d>
            <a:camera prst="orthographicFront">
              <a:rot lat="18000000" lon="9000000" rev="24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92705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AA1C510-1680-B9FF-A88C-7BF501569620}"/>
              </a:ext>
            </a:extLst>
          </p:cNvPr>
          <p:cNvGrpSpPr/>
          <p:nvPr/>
        </p:nvGrpSpPr>
        <p:grpSpPr>
          <a:xfrm>
            <a:off x="7207052" y="2487337"/>
            <a:ext cx="6377542" cy="7200633"/>
            <a:chOff x="3558743" y="921252"/>
            <a:chExt cx="4399007" cy="496674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7CB9DA6-D341-4F7F-AE29-8D4E5C471F65}"/>
                </a:ext>
              </a:extLst>
            </p:cNvPr>
            <p:cNvGrpSpPr/>
            <p:nvPr/>
          </p:nvGrpSpPr>
          <p:grpSpPr>
            <a:xfrm>
              <a:off x="3558743" y="921252"/>
              <a:ext cx="4399007" cy="4966747"/>
              <a:chOff x="3558743" y="921252"/>
              <a:chExt cx="4399007" cy="4966747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43422A4D-28B1-B507-55D5-EC116ECE0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2789" t="31862" r="16470" b="36066"/>
              <a:stretch>
                <a:fillRect/>
              </a:stretch>
            </p:blipFill>
            <p:spPr>
              <a:xfrm rot="5400000">
                <a:off x="3299247" y="1229496"/>
                <a:ext cx="4917999" cy="4399007"/>
              </a:xfrm>
              <a:prstGeom prst="rect">
                <a:avLst/>
              </a:prstGeom>
            </p:spPr>
          </p:pic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32740F9-A096-5C2C-2F30-125D3D49B260}"/>
                  </a:ext>
                </a:extLst>
              </p:cNvPr>
              <p:cNvSpPr txBox="1"/>
              <p:nvPr/>
            </p:nvSpPr>
            <p:spPr>
              <a:xfrm>
                <a:off x="6392898" y="921252"/>
                <a:ext cx="150949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 err="1">
                    <a:latin typeface="Helvetica" pitchFamily="2" charset="0"/>
                  </a:rPr>
                  <a:t>Measuable</a:t>
                </a:r>
                <a:r>
                  <a:rPr lang="en-US" altLang="ja-JP" sz="1740" dirty="0">
                    <a:latin typeface="Helvetica" pitchFamily="2" charset="0"/>
                  </a:rPr>
                  <a:t> Q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B27C730-A6E2-22A8-4054-F09A736BCBB8}"/>
                  </a:ext>
                </a:extLst>
              </p:cNvPr>
              <p:cNvSpPr txBox="1"/>
              <p:nvPr/>
            </p:nvSpPr>
            <p:spPr>
              <a:xfrm>
                <a:off x="5935362" y="3888707"/>
                <a:ext cx="1049526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5CE1C80-49B4-E7EA-BBA6-ED0EDF10B339}"/>
                  </a:ext>
                </a:extLst>
              </p:cNvPr>
              <p:cNvSpPr txBox="1"/>
              <p:nvPr/>
            </p:nvSpPr>
            <p:spPr>
              <a:xfrm>
                <a:off x="4431317" y="2060456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813A5F7-1736-7405-E7A4-2CAB62CDF298}"/>
                  </a:ext>
                </a:extLst>
              </p:cNvPr>
              <p:cNvSpPr txBox="1"/>
              <p:nvPr/>
            </p:nvSpPr>
            <p:spPr>
              <a:xfrm>
                <a:off x="5618940" y="2232768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x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09A5EF9-5D6B-82DC-BE97-6F26DFFA3AE6}"/>
                  </a:ext>
                </a:extLst>
              </p:cNvPr>
              <p:cNvSpPr txBox="1"/>
              <p:nvPr/>
            </p:nvSpPr>
            <p:spPr>
              <a:xfrm>
                <a:off x="5496636" y="1750144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y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F104458-3A05-CEB1-CB87-38427B9AF64A}"/>
                  </a:ext>
                </a:extLst>
              </p:cNvPr>
              <p:cNvSpPr txBox="1"/>
              <p:nvPr/>
            </p:nvSpPr>
            <p:spPr>
              <a:xfrm>
                <a:off x="5089375" y="1467419"/>
                <a:ext cx="20477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z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CDCD10C-0550-1D94-6302-A5770C7A7900}"/>
                  </a:ext>
                </a:extLst>
              </p:cNvPr>
              <p:cNvSpPr txBox="1"/>
              <p:nvPr/>
            </p:nvSpPr>
            <p:spPr>
              <a:xfrm>
                <a:off x="3769088" y="1603119"/>
                <a:ext cx="122864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Incident neutron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</p:grp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EDA8FB2F-E7C9-7FAF-A221-BE38FBDA860B}"/>
                </a:ext>
              </a:extLst>
            </p:cNvPr>
            <p:cNvCxnSpPr/>
            <p:nvPr/>
          </p:nvCxnSpPr>
          <p:spPr>
            <a:xfrm>
              <a:off x="4405072" y="1846347"/>
              <a:ext cx="828000" cy="3348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1B91F34-5927-2CC4-F969-DE83F196FBBC}"/>
              </a:ext>
            </a:extLst>
          </p:cNvPr>
          <p:cNvCxnSpPr>
            <a:cxnSpLocks/>
          </p:cNvCxnSpPr>
          <p:nvPr/>
        </p:nvCxnSpPr>
        <p:spPr>
          <a:xfrm rot="3600000">
            <a:off x="9111024" y="4717503"/>
            <a:ext cx="1200408" cy="48538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897DB23-B336-BFE8-673F-2DFC37F43FBC}"/>
              </a:ext>
            </a:extLst>
          </p:cNvPr>
          <p:cNvCxnSpPr>
            <a:cxnSpLocks/>
          </p:cNvCxnSpPr>
          <p:nvPr/>
        </p:nvCxnSpPr>
        <p:spPr>
          <a:xfrm rot="1200000" flipV="1">
            <a:off x="9680203" y="4046361"/>
            <a:ext cx="485820" cy="3473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A9DAEDB-32B6-C9F4-A9E0-C23FF3BB75C4}"/>
              </a:ext>
            </a:extLst>
          </p:cNvPr>
          <p:cNvSpPr txBox="1"/>
          <p:nvPr/>
        </p:nvSpPr>
        <p:spPr>
          <a:xfrm>
            <a:off x="9748903" y="5132219"/>
            <a:ext cx="2004075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neutron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48BBF1E-82E3-A209-5784-E5D5A2F5067F}"/>
              </a:ext>
            </a:extLst>
          </p:cNvPr>
          <p:cNvSpPr txBox="1"/>
          <p:nvPr/>
        </p:nvSpPr>
        <p:spPr>
          <a:xfrm>
            <a:off x="10245088" y="4167486"/>
            <a:ext cx="185820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Scattering vector</a:t>
            </a:r>
            <a:endParaRPr lang="ja-JP" altLang="en-US" sz="174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08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FE4AFA7C-58A4-0CA7-F9A4-0E908C835D8B}"/>
              </a:ext>
            </a:extLst>
          </p:cNvPr>
          <p:cNvGrpSpPr/>
          <p:nvPr/>
        </p:nvGrpSpPr>
        <p:grpSpPr>
          <a:xfrm>
            <a:off x="6691757" y="3259416"/>
            <a:ext cx="8548834" cy="5910306"/>
            <a:chOff x="3203309" y="1453808"/>
            <a:chExt cx="5896689" cy="4076724"/>
          </a:xfrm>
        </p:grpSpPr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2E0A2AE0-22EE-51FB-7B9C-A7DF55D4C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4583" y="3278674"/>
              <a:ext cx="329447" cy="21255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4517EB3C-7442-8B1E-8541-7FF11D7CD7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1616" y="3268528"/>
              <a:ext cx="399006" cy="1302455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A7ABEDD-E950-E162-CC3E-9EBC0D96B153}"/>
                </a:ext>
              </a:extLst>
            </p:cNvPr>
            <p:cNvGrpSpPr/>
            <p:nvPr/>
          </p:nvGrpSpPr>
          <p:grpSpPr>
            <a:xfrm>
              <a:off x="5622513" y="1765137"/>
              <a:ext cx="2582373" cy="1506997"/>
              <a:chOff x="5190130" y="2513163"/>
              <a:chExt cx="1805870" cy="1053853"/>
            </a:xfrm>
          </p:grpSpPr>
          <p:cxnSp>
            <p:nvCxnSpPr>
              <p:cNvPr id="5" name="直線矢印コネクタ 4">
                <a:extLst>
                  <a:ext uri="{FF2B5EF4-FFF2-40B4-BE49-F238E27FC236}">
                    <a16:creationId xmlns:a16="http://schemas.microsoft.com/office/drawing/2014/main" id="{CBC1F6C9-EB41-A12F-0B62-B02EAC6E95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90130" y="2513163"/>
                <a:ext cx="5870" cy="10538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B92D5DAC-64D3-2179-06DC-5F770E19E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6000" y="3567016"/>
                <a:ext cx="180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7F9FCF9B-DFE7-9CC1-7137-BA13B108BB2F}"/>
                </a:ext>
              </a:extLst>
            </p:cNvPr>
            <p:cNvCxnSpPr>
              <a:cxnSpLocks/>
            </p:cNvCxnSpPr>
            <p:nvPr/>
          </p:nvCxnSpPr>
          <p:spPr>
            <a:xfrm>
              <a:off x="4113803" y="2710884"/>
              <a:ext cx="1525750" cy="570518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242EDA8-2174-1EEE-4E2A-301715B54CB5}"/>
                </a:ext>
              </a:extLst>
            </p:cNvPr>
            <p:cNvSpPr txBox="1"/>
            <p:nvPr/>
          </p:nvSpPr>
          <p:spPr>
            <a:xfrm>
              <a:off x="8204885" y="309673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y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2B31084-B6CE-F13F-08BD-2F01E20589DD}"/>
                </a:ext>
              </a:extLst>
            </p:cNvPr>
            <p:cNvSpPr txBox="1"/>
            <p:nvPr/>
          </p:nvSpPr>
          <p:spPr>
            <a:xfrm>
              <a:off x="5480866" y="1453808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z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42A29314-F873-1A98-3BFA-82882511A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3351" y="3268529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/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029DEE3-A6DB-3354-A013-F1EEFDC6E8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222" y="5225858"/>
                  <a:ext cx="1453017" cy="296460"/>
                </a:xfrm>
                <a:prstGeom prst="rect">
                  <a:avLst/>
                </a:prstGeom>
                <a:blipFill>
                  <a:blip r:embed="rId3"/>
                  <a:stretch>
                    <a:fillRect t="-8824" r="-2395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C817C0CA-DA75-075B-F56B-3FED3AD1CE9B}"/>
                </a:ext>
              </a:extLst>
            </p:cNvPr>
            <p:cNvSpPr/>
            <p:nvPr/>
          </p:nvSpPr>
          <p:spPr>
            <a:xfrm>
              <a:off x="4096155" y="3212405"/>
              <a:ext cx="1848853" cy="1848853"/>
            </a:xfrm>
            <a:prstGeom prst="ellipse">
              <a:avLst/>
            </a:prstGeom>
            <a:solidFill>
              <a:srgbClr val="0B76A0">
                <a:alpha val="29804"/>
              </a:srgbClr>
            </a:solidFill>
            <a:ln w="12700">
              <a:solidFill>
                <a:schemeClr val="accent1">
                  <a:shade val="15000"/>
                </a:schemeClr>
              </a:solidFill>
              <a:prstDash val="soli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BA3D96E2-D557-5C3A-F409-E77A4077D1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2281" y="4136832"/>
              <a:ext cx="609162" cy="8683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FF4B2FBA-54A6-34D3-D136-6BE56AADB418}"/>
                </a:ext>
              </a:extLst>
            </p:cNvPr>
            <p:cNvCxnSpPr>
              <a:cxnSpLocks/>
            </p:cNvCxnSpPr>
            <p:nvPr/>
          </p:nvCxnSpPr>
          <p:spPr>
            <a:xfrm>
              <a:off x="5630907" y="3275404"/>
              <a:ext cx="1530053" cy="0"/>
            </a:xfrm>
            <a:prstGeom prst="straightConnector1">
              <a:avLst/>
            </a:prstGeom>
            <a:ln w="4127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A8CA4836-C2C2-C17A-6C12-DE464C5D6587}"/>
                </a:ext>
              </a:extLst>
            </p:cNvPr>
            <p:cNvSpPr/>
            <p:nvPr/>
          </p:nvSpPr>
          <p:spPr>
            <a:xfrm>
              <a:off x="7160960" y="3204868"/>
              <a:ext cx="127321" cy="1273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580E21CB-48A9-DDDB-618A-B3397947C5EA}"/>
                </a:ext>
              </a:extLst>
            </p:cNvPr>
            <p:cNvSpPr/>
            <p:nvPr/>
          </p:nvSpPr>
          <p:spPr>
            <a:xfrm>
              <a:off x="7547764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4E979C1A-1D16-30BA-1AD0-E3260BF48E21}"/>
                </a:ext>
              </a:extLst>
            </p:cNvPr>
            <p:cNvSpPr/>
            <p:nvPr/>
          </p:nvSpPr>
          <p:spPr>
            <a:xfrm>
              <a:off x="6798543" y="378659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C2FDC607-576F-F8DA-84BD-902C09FEF072}"/>
                </a:ext>
              </a:extLst>
            </p:cNvPr>
            <p:cNvSpPr/>
            <p:nvPr/>
          </p:nvSpPr>
          <p:spPr>
            <a:xfrm>
              <a:off x="7817164" y="321774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26828719-C5C7-6659-8185-D850E48E4233}"/>
                </a:ext>
              </a:extLst>
            </p:cNvPr>
            <p:cNvSpPr/>
            <p:nvPr/>
          </p:nvSpPr>
          <p:spPr>
            <a:xfrm>
              <a:off x="754776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71239F3E-0DAF-1258-5E93-041855C5229A}"/>
                </a:ext>
              </a:extLst>
            </p:cNvPr>
            <p:cNvSpPr/>
            <p:nvPr/>
          </p:nvSpPr>
          <p:spPr>
            <a:xfrm>
              <a:off x="6798543" y="2647223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42C9C412-7980-C17B-9D72-5689D9E14AF0}"/>
                </a:ext>
              </a:extLst>
            </p:cNvPr>
            <p:cNvSpPr/>
            <p:nvPr/>
          </p:nvSpPr>
          <p:spPr>
            <a:xfrm>
              <a:off x="6493238" y="3217742"/>
              <a:ext cx="127321" cy="12732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5CA9A36-F797-3E8D-5A7C-86DCF0E42DD1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5629301" y="2710884"/>
              <a:ext cx="1169242" cy="561250"/>
            </a:xfrm>
            <a:prstGeom prst="straightConnector1">
              <a:avLst/>
            </a:prstGeom>
            <a:ln w="412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D923E04B-3415-7C21-1FC1-74216D54A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6998" y="4570983"/>
              <a:ext cx="231210" cy="75033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198222B0-72E0-C31B-EE1B-675D84D28B78}"/>
                </a:ext>
              </a:extLst>
            </p:cNvPr>
            <p:cNvSpPr txBox="1"/>
            <p:nvPr/>
          </p:nvSpPr>
          <p:spPr>
            <a:xfrm>
              <a:off x="5717573" y="4770836"/>
              <a:ext cx="1830190" cy="494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Spin analyzer acceptance</a:t>
              </a:r>
              <a:endParaRPr lang="ja-JP" altLang="en-US" sz="2030">
                <a:latin typeface="Helvetica" pitchFamily="2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A674AAC9-763F-1F0C-CFEA-3ADBD2F2B3A3}"/>
                </a:ext>
              </a:extLst>
            </p:cNvPr>
            <p:cNvSpPr txBox="1"/>
            <p:nvPr/>
          </p:nvSpPr>
          <p:spPr>
            <a:xfrm>
              <a:off x="5318081" y="5189801"/>
              <a:ext cx="242368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x</a:t>
              </a:r>
              <a:endParaRPr lang="ja-JP" altLang="en-US" sz="2610">
                <a:latin typeface="Helvetica" pitchFamily="2" charset="0"/>
              </a:endParaRPr>
            </a:p>
          </p:txBody>
        </p: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FB0579FF-FD22-6EE7-27D0-BC6035A17739}"/>
                </a:ext>
              </a:extLst>
            </p:cNvPr>
            <p:cNvCxnSpPr>
              <a:cxnSpLocks/>
            </p:cNvCxnSpPr>
            <p:nvPr/>
          </p:nvCxnSpPr>
          <p:spPr>
            <a:xfrm>
              <a:off x="5541555" y="4566115"/>
              <a:ext cx="205656" cy="3800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/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56437455-7676-821F-B642-795B7BF08D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309" y="4901524"/>
                  <a:ext cx="1134577" cy="296460"/>
                </a:xfrm>
                <a:prstGeom prst="rect">
                  <a:avLst/>
                </a:prstGeom>
                <a:blipFill>
                  <a:blip r:embed="rId4"/>
                  <a:stretch>
                    <a:fillRect t="-8824" r="-3077" b="-235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/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74BCD4CE-C342-B6DD-D051-6251DE7E4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8201" y="2438507"/>
                  <a:ext cx="1041566" cy="279166"/>
                </a:xfrm>
                <a:prstGeom prst="rect">
                  <a:avLst/>
                </a:prstGeom>
                <a:blipFill>
                  <a:blip r:embed="rId5"/>
                  <a:stretch>
                    <a:fillRect t="-9375" r="-2500" b="-28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/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(in-plane)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513BA210-4AE1-A8EE-CA65-77EC7C15F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7351" y="3285709"/>
                  <a:ext cx="1079203" cy="279166"/>
                </a:xfrm>
                <a:prstGeom prst="rect">
                  <a:avLst/>
                </a:prstGeom>
                <a:blipFill>
                  <a:blip r:embed="rId6"/>
                  <a:stretch>
                    <a:fillRect l="-2419" t="-6061" r="-3226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/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0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ja-JP" sz="203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ja-JP" sz="2030" dirty="0">
                      <a:latin typeface="Helvetica" pitchFamily="2" charset="0"/>
                    </a:rPr>
                    <a:t>(out-of-plane)</a:t>
                  </a:r>
                  <a:endParaRPr lang="ja-JP" altLang="en-US" sz="203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903F8D30-85D2-D88E-D4BB-DBBF9BBA8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194" y="2345134"/>
                  <a:ext cx="1401802" cy="279166"/>
                </a:xfrm>
                <a:prstGeom prst="rect">
                  <a:avLst/>
                </a:prstGeom>
                <a:blipFill>
                  <a:blip r:embed="rId7"/>
                  <a:stretch>
                    <a:fillRect l="-1242" t="-9091" r="-2484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3DF51183-ED9E-4BEC-4497-A817813B221C}"/>
                </a:ext>
              </a:extLst>
            </p:cNvPr>
            <p:cNvSpPr txBox="1"/>
            <p:nvPr/>
          </p:nvSpPr>
          <p:spPr>
            <a:xfrm>
              <a:off x="7070905" y="4329922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Magnetic reflections</a:t>
              </a: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3724A167-B674-736B-9013-3F28D3D8C5E0}"/>
                </a:ext>
              </a:extLst>
            </p:cNvPr>
            <p:cNvSpPr txBox="1"/>
            <p:nvPr/>
          </p:nvSpPr>
          <p:spPr>
            <a:xfrm>
              <a:off x="7070905" y="3942148"/>
              <a:ext cx="202909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Nuclear reflection</a:t>
              </a:r>
            </a:p>
          </p:txBody>
        </p: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445239AF-4F04-BC26-34DA-8B135E14CB20}"/>
                </a:ext>
              </a:extLst>
            </p:cNvPr>
            <p:cNvCxnSpPr>
              <a:cxnSpLocks/>
            </p:cNvCxnSpPr>
            <p:nvPr/>
          </p:nvCxnSpPr>
          <p:spPr>
            <a:xfrm>
              <a:off x="7234226" y="3339345"/>
              <a:ext cx="187134" cy="6712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5CAE3935-AFCD-829B-72C4-D553577F3FAA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6883771" y="3894832"/>
              <a:ext cx="187134" cy="5746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979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2C44-13C1-10D9-6C19-CA59F422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1E4AD1A-1995-4A59-40C5-F2E57E5D7562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7C0D4E84-9298-4E56-7B92-5919B6AB5B04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C8ED24DB-9389-05E6-170C-5AD8240FAA85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FC151B7B-3811-71AF-6B35-38D3C1F73A3D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3F1345AC-3B3B-A09B-E4B4-0FD8AF57FB20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0366A14-9664-811F-A8C7-AB78AE47759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B0B5FEC3-4DCB-A56A-4521-DFC6B931894A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39AC8115-C79B-1FBB-94E5-690072300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426D63CC-51A1-3C22-1D98-1DE90F9545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9DD0FCA6-9FDC-0DB6-847E-E68503C9A8E5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51CB573E-0CAC-58E5-F388-380051ACDB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760C1CD8-BABA-CAC1-5DF7-49295E9ADD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C11D5534-4EA0-F45A-A391-96CFA72166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3501534D-EB78-BBAA-8D3B-64D5A8830C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BB43B14D-B248-3B85-0E01-540032E480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2B16C9CE-6521-4D06-90E4-28D6125744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D6BC9BB8-52E3-D882-E708-627967C81ED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51B41B51-330A-9A2D-09FC-7171B92438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3B98CC7D-2AAF-52CF-D7A5-21091014D1BA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2E7B0E9-8602-DCDB-9951-1461733C0DEF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F471FF23-5BE7-6838-4CB7-A2C9E628B6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8091CEF0-E2B1-32F6-DCF7-1D9B12B241B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33D16B48-9D82-2775-0D8C-F1C5BB552B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A49441B2-1735-4C3B-9F17-79AB073455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6623E1F4-AA95-C515-E557-A0DA9BC281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6009932E-3D3F-361D-FD73-4BC204771E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36DCE813-3D31-F75A-B2EC-5FCF03E703E7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900267A2-BCC9-5562-00E8-32E5ED7A41A8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BBD1D55E-9EB1-D72D-1EDC-79851DB99A24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64491C1F-ECA3-E12E-9F2A-725BF8117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03D3EBA0-51ED-F3AC-ACF2-FE68B6A9FC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20FA1378-9526-721F-E0EB-66A792DA77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3EC6318B-2D8A-2EC8-1C13-E57FFDBE62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7AD55481-59DE-0A52-6A80-CBA79CD2221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8BA649C2-9510-1107-878D-F1F89F66CFB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67DDF247-CCD8-5974-764F-E976808CF4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6B0DF6D2-1185-A10F-6D9A-31181317D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1BDCBA3B-B472-3FD4-0E8C-2BFDD61601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DC760FB-E670-95B4-EE2F-3BD1266B95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7AB0AA89-5423-1C7F-EFEB-5A810B82CE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32E496A4-5671-D80F-1C7C-29A6EE9FAA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56CDB54-4362-6E38-C94F-CA2D5C2FDA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CFC747E2-99CF-06E5-EB80-609DDFB833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DEFB72C5-26BB-EB1A-A36B-034E4BD0FC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151CD3F-8415-E7B4-550C-9E54084458C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924BBFD-4A38-3C80-1753-9AF02D9C5294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68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544B-6CFE-5BEA-660D-A4E043BA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28DE4F5-4DC7-A18F-2751-FED6B3152263}"/>
              </a:ext>
            </a:extLst>
          </p:cNvPr>
          <p:cNvGrpSpPr/>
          <p:nvPr/>
        </p:nvGrpSpPr>
        <p:grpSpPr>
          <a:xfrm>
            <a:off x="3692210" y="3048248"/>
            <a:ext cx="10140513" cy="5180674"/>
            <a:chOff x="1134326" y="1308152"/>
            <a:chExt cx="6994574" cy="3573449"/>
          </a:xfrm>
        </p:grpSpPr>
        <p:grpSp>
          <p:nvGrpSpPr>
            <p:cNvPr id="148" name="グループ化 147">
              <a:extLst>
                <a:ext uri="{FF2B5EF4-FFF2-40B4-BE49-F238E27FC236}">
                  <a16:creationId xmlns:a16="http://schemas.microsoft.com/office/drawing/2014/main" id="{8ED0AE97-1950-A207-85EC-E1F7D7ADD7DE}"/>
                </a:ext>
              </a:extLst>
            </p:cNvPr>
            <p:cNvGrpSpPr/>
            <p:nvPr/>
          </p:nvGrpSpPr>
          <p:grpSpPr>
            <a:xfrm>
              <a:off x="1134326" y="1611427"/>
              <a:ext cx="6994574" cy="3270174"/>
              <a:chOff x="1134326" y="1611427"/>
              <a:chExt cx="6994574" cy="3270174"/>
            </a:xfrm>
          </p:grpSpPr>
          <p:grpSp>
            <p:nvGrpSpPr>
              <p:cNvPr id="133" name="グループ化 132">
                <a:extLst>
                  <a:ext uri="{FF2B5EF4-FFF2-40B4-BE49-F238E27FC236}">
                    <a16:creationId xmlns:a16="http://schemas.microsoft.com/office/drawing/2014/main" id="{5153659D-9429-448C-DD2C-20748D6BE0B9}"/>
                  </a:ext>
                </a:extLst>
              </p:cNvPr>
              <p:cNvGrpSpPr/>
              <p:nvPr/>
            </p:nvGrpSpPr>
            <p:grpSpPr>
              <a:xfrm>
                <a:off x="1134326" y="1611427"/>
                <a:ext cx="6994574" cy="3270174"/>
                <a:chOff x="1134326" y="1611427"/>
                <a:chExt cx="6994574" cy="3270174"/>
              </a:xfrm>
            </p:grpSpPr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06AB17D5-C9AA-68FB-B5B9-21BFE4E70E00}"/>
                    </a:ext>
                  </a:extLst>
                </p:cNvPr>
                <p:cNvCxnSpPr/>
                <p:nvPr/>
              </p:nvCxnSpPr>
              <p:spPr>
                <a:xfrm>
                  <a:off x="3979719" y="1611427"/>
                  <a:ext cx="0" cy="32701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グループ化 129">
                  <a:extLst>
                    <a:ext uri="{FF2B5EF4-FFF2-40B4-BE49-F238E27FC236}">
                      <a16:creationId xmlns:a16="http://schemas.microsoft.com/office/drawing/2014/main" id="{B593DC89-950B-81AE-5634-65E5DB3AB67F}"/>
                    </a:ext>
                  </a:extLst>
                </p:cNvPr>
                <p:cNvGrpSpPr/>
                <p:nvPr/>
              </p:nvGrpSpPr>
              <p:grpSpPr>
                <a:xfrm>
                  <a:off x="3963953" y="1800863"/>
                  <a:ext cx="4164947" cy="3052137"/>
                  <a:chOff x="3990457" y="1800863"/>
                  <a:chExt cx="4164947" cy="305213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(in-plane)</a:t>
                        </a:r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テキスト ボックス 95">
                        <a:extLst>
                          <a:ext uri="{FF2B5EF4-FFF2-40B4-BE49-F238E27FC236}">
                            <a16:creationId xmlns:a16="http://schemas.microsoft.com/office/drawing/2014/main" id="{3205FEAA-0E9F-8E94-8721-D632695687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990457" y="3358392"/>
                        <a:ext cx="1330506" cy="362934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974" t="-9524" r="-4605" b="-2381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129" name="グループ化 128">
                    <a:extLst>
                      <a:ext uri="{FF2B5EF4-FFF2-40B4-BE49-F238E27FC236}">
                        <a16:creationId xmlns:a16="http://schemas.microsoft.com/office/drawing/2014/main" id="{12137C77-FA2D-6CC8-F9B2-48E5E67C0BB8}"/>
                      </a:ext>
                    </a:extLst>
                  </p:cNvPr>
                  <p:cNvGrpSpPr/>
                  <p:nvPr/>
                </p:nvGrpSpPr>
                <p:grpSpPr>
                  <a:xfrm>
                    <a:off x="4168089" y="1800863"/>
                    <a:ext cx="3987315" cy="3052137"/>
                    <a:chOff x="4168089" y="1800863"/>
                    <a:chExt cx="3987315" cy="3052137"/>
                  </a:xfrm>
                </p:grpSpPr>
                <p:sp>
                  <p:nvSpPr>
                    <p:cNvPr id="45" name="直方体 44">
                      <a:extLst>
                        <a:ext uri="{FF2B5EF4-FFF2-40B4-BE49-F238E27FC236}">
                          <a16:creationId xmlns:a16="http://schemas.microsoft.com/office/drawing/2014/main" id="{EAA9B05D-ECC4-0F5E-7FB2-EDFF0CF28B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68089" y="2971573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矢印コネクタ 45">
                      <a:extLst>
                        <a:ext uri="{FF2B5EF4-FFF2-40B4-BE49-F238E27FC236}">
                          <a16:creationId xmlns:a16="http://schemas.microsoft.com/office/drawing/2014/main" id="{7C036C1D-DB93-0B57-89F9-18C6852EE9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6866" y="3135788"/>
                      <a:ext cx="290729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4E300581-1AE9-3A97-DDBC-864749887CD2}"/>
                        </a:ext>
                      </a:extLst>
                    </p:cNvPr>
                    <p:cNvCxnSpPr>
                      <a:cxnSpLocks/>
                      <a:endCxn id="96" idx="0"/>
                    </p:cNvCxnSpPr>
                    <p:nvPr/>
                  </p:nvCxnSpPr>
                  <p:spPr>
                    <a:xfrm flipH="1">
                      <a:off x="4655710" y="3149250"/>
                      <a:ext cx="281256" cy="20914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テキスト ボックス 52">
                      <a:extLst>
                        <a:ext uri="{FF2B5EF4-FFF2-40B4-BE49-F238E27FC236}">
                          <a16:creationId xmlns:a16="http://schemas.microsoft.com/office/drawing/2014/main" id="{31642EC8-6D10-720C-4C98-94C91BD083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72543" y="255050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54" name="テキスト ボックス 53">
                      <a:extLst>
                        <a:ext uri="{FF2B5EF4-FFF2-40B4-BE49-F238E27FC236}">
                          <a16:creationId xmlns:a16="http://schemas.microsoft.com/office/drawing/2014/main" id="{3F34F4EC-86BF-572A-2FBE-40CEB7388C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29569" y="2262703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76B666B4-C6EC-E04A-09FC-9C8E9E7A1C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4982" y="4512269"/>
                      <a:ext cx="1320422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2D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59" name="円柱 58">
                      <a:extLst>
                        <a:ext uri="{FF2B5EF4-FFF2-40B4-BE49-F238E27FC236}">
                          <a16:creationId xmlns:a16="http://schemas.microsoft.com/office/drawing/2014/main" id="{76A520C1-0199-C4DF-BE18-C0A339BE738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484005" y="2832141"/>
                      <a:ext cx="979476" cy="568705"/>
                    </a:xfrm>
                    <a:prstGeom prst="can">
                      <a:avLst/>
                    </a:prstGeom>
                    <a:noFill/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71" name="直線矢印コネクタ 70">
                      <a:extLst>
                        <a:ext uri="{FF2B5EF4-FFF2-40B4-BE49-F238E27FC236}">
                          <a16:creationId xmlns:a16="http://schemas.microsoft.com/office/drawing/2014/main" id="{1BB28452-D7E2-2DFA-0186-3B3CA739D8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04382" y="3148046"/>
                      <a:ext cx="2948876" cy="503314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線矢印コネクタ 71">
                      <a:extLst>
                        <a:ext uri="{FF2B5EF4-FFF2-40B4-BE49-F238E27FC236}">
                          <a16:creationId xmlns:a16="http://schemas.microsoft.com/office/drawing/2014/main" id="{B0231C23-CDD7-21A1-E751-580104C198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426086" y="2633915"/>
                      <a:ext cx="2790002" cy="489617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方体 78">
                      <a:extLst>
                        <a:ext uri="{FF2B5EF4-FFF2-40B4-BE49-F238E27FC236}">
                          <a16:creationId xmlns:a16="http://schemas.microsoft.com/office/drawing/2014/main" id="{A483448E-4466-5607-D5B0-482BBCB52E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32381" y="2645172"/>
                      <a:ext cx="2603191" cy="914573"/>
                    </a:xfrm>
                    <a:prstGeom prst="cube">
                      <a:avLst>
                        <a:gd name="adj" fmla="val 79178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81" name="円/楕円 80">
                      <a:extLst>
                        <a:ext uri="{FF2B5EF4-FFF2-40B4-BE49-F238E27FC236}">
                          <a16:creationId xmlns:a16="http://schemas.microsoft.com/office/drawing/2014/main" id="{153AEBEF-1ECB-588F-8504-EAF014445B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3349" y="2290773"/>
                      <a:ext cx="571839" cy="1582514"/>
                    </a:xfrm>
                    <a:prstGeom prst="ellipse">
                      <a:avLst/>
                    </a:prstGeom>
                    <a:noFill/>
                    <a:ln w="12700"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84" name="直線コネクタ 83">
                      <a:extLst>
                        <a:ext uri="{FF2B5EF4-FFF2-40B4-BE49-F238E27FC236}">
                          <a16:creationId xmlns:a16="http://schemas.microsoft.com/office/drawing/2014/main" id="{90B2A5E1-A855-76B8-0FC2-C09B024DA93D}"/>
                        </a:ext>
                      </a:extLst>
                    </p:cNvPr>
                    <p:cNvCxnSpPr>
                      <a:cxnSpLocks/>
                      <a:stCxn id="81" idx="0"/>
                    </p:cNvCxnSpPr>
                    <p:nvPr/>
                  </p:nvCxnSpPr>
                  <p:spPr>
                    <a:xfrm flipH="1">
                      <a:off x="4412833" y="2290773"/>
                      <a:ext cx="2916436" cy="823921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直線コネクタ 86">
                      <a:extLst>
                        <a:ext uri="{FF2B5EF4-FFF2-40B4-BE49-F238E27FC236}">
                          <a16:creationId xmlns:a16="http://schemas.microsoft.com/office/drawing/2014/main" id="{E11BDE4C-B864-6E30-D726-0CCEE73832BA}"/>
                        </a:ext>
                      </a:extLst>
                    </p:cNvPr>
                    <p:cNvCxnSpPr>
                      <a:cxnSpLocks/>
                      <a:stCxn id="81" idx="4"/>
                    </p:cNvCxnSpPr>
                    <p:nvPr/>
                  </p:nvCxnSpPr>
                  <p:spPr>
                    <a:xfrm flipH="1" flipV="1">
                      <a:off x="4380393" y="3153774"/>
                      <a:ext cx="2948876" cy="719513"/>
                    </a:xfrm>
                    <a:prstGeom prst="line">
                      <a:avLst/>
                    </a:prstGeom>
                    <a:ln w="127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直線コネクタ 94">
                      <a:extLst>
                        <a:ext uri="{FF2B5EF4-FFF2-40B4-BE49-F238E27FC236}">
                          <a16:creationId xmlns:a16="http://schemas.microsoft.com/office/drawing/2014/main" id="{52F09510-E198-8CBB-5F2E-D37BED44A4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386023" y="4181631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(out-of-plane)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7" name="テキスト ボックス 96">
                          <a:extLst>
                            <a:ext uri="{FF2B5EF4-FFF2-40B4-BE49-F238E27FC236}">
                              <a16:creationId xmlns:a16="http://schemas.microsoft.com/office/drawing/2014/main" id="{20ED8B90-C342-6E45-39B2-FB958AF6C6D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604353" y="3832849"/>
                          <a:ext cx="1741825" cy="362934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1508" t="-9524" r="-3518" b="-2381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DD914798-643E-D214-78A8-A43D89F597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56824" y="2939866"/>
                      <a:ext cx="199411" cy="91232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" name="直線コネクタ 109">
                      <a:extLst>
                        <a:ext uri="{FF2B5EF4-FFF2-40B4-BE49-F238E27FC236}">
                          <a16:creationId xmlns:a16="http://schemas.microsoft.com/office/drawing/2014/main" id="{7AA7001D-70BC-7E92-6E04-F7DDBACADC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364826" y="3337012"/>
                      <a:ext cx="244086" cy="53627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テキスト ボックス 115">
                      <a:extLst>
                        <a:ext uri="{FF2B5EF4-FFF2-40B4-BE49-F238E27FC236}">
                          <a16:creationId xmlns:a16="http://schemas.microsoft.com/office/drawing/2014/main" id="{9D485951-CDF8-6037-F50A-A8FE6BFE79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6782" y="1966011"/>
                      <a:ext cx="10473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610" dirty="0">
                          <a:latin typeface="Helvetica" pitchFamily="2" charset="0"/>
                        </a:rPr>
                        <a:t>He-NSF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9404722B-3E1F-7C46-7CB2-CAA021BFB4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713993" y="2276125"/>
                      <a:ext cx="135867" cy="32300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2" name="グループ化 131">
                  <a:extLst>
                    <a:ext uri="{FF2B5EF4-FFF2-40B4-BE49-F238E27FC236}">
                      <a16:creationId xmlns:a16="http://schemas.microsoft.com/office/drawing/2014/main" id="{23CE3D8D-E4CE-8CB0-2137-48E9709EFCC5}"/>
                    </a:ext>
                  </a:extLst>
                </p:cNvPr>
                <p:cNvGrpSpPr/>
                <p:nvPr/>
              </p:nvGrpSpPr>
              <p:grpSpPr>
                <a:xfrm>
                  <a:off x="1134326" y="1635986"/>
                  <a:ext cx="2780879" cy="3217014"/>
                  <a:chOff x="1041562" y="1635986"/>
                  <a:chExt cx="2780879" cy="3217014"/>
                </a:xfrm>
              </p:grpSpPr>
              <p:sp>
                <p:nvSpPr>
                  <p:cNvPr id="115" name="テキスト ボックス 114">
                    <a:extLst>
                      <a:ext uri="{FF2B5EF4-FFF2-40B4-BE49-F238E27FC236}">
                        <a16:creationId xmlns:a16="http://schemas.microsoft.com/office/drawing/2014/main" id="{77BC7612-EF0B-EDA4-8EF7-EE9C1B117B11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500" y="1963337"/>
                    <a:ext cx="1032941" cy="3407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610" dirty="0">
                        <a:latin typeface="Helvetica" pitchFamily="2" charset="0"/>
                      </a:rPr>
                      <a:t>Cu</a:t>
                    </a:r>
                    <a:r>
                      <a:rPr lang="en-US" altLang="ja-JP" sz="2610" baseline="-25000" dirty="0">
                        <a:latin typeface="Helvetica" pitchFamily="2" charset="0"/>
                      </a:rPr>
                      <a:t>2</a:t>
                    </a:r>
                    <a:r>
                      <a:rPr lang="en-US" altLang="ja-JP" sz="2610" dirty="0">
                        <a:latin typeface="Helvetica" pitchFamily="2" charset="0"/>
                      </a:rPr>
                      <a:t>MnAl</a:t>
                    </a:r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  <p:grpSp>
                <p:nvGrpSpPr>
                  <p:cNvPr id="131" name="グループ化 130">
                    <a:extLst>
                      <a:ext uri="{FF2B5EF4-FFF2-40B4-BE49-F238E27FC236}">
                        <a16:creationId xmlns:a16="http://schemas.microsoft.com/office/drawing/2014/main" id="{51FF4316-C9F4-8731-FA0F-442586AFC4E1}"/>
                      </a:ext>
                    </a:extLst>
                  </p:cNvPr>
                  <p:cNvGrpSpPr/>
                  <p:nvPr/>
                </p:nvGrpSpPr>
                <p:grpSpPr>
                  <a:xfrm>
                    <a:off x="1041562" y="1635986"/>
                    <a:ext cx="2646534" cy="3217014"/>
                    <a:chOff x="1041562" y="1635986"/>
                    <a:chExt cx="2646534" cy="3217014"/>
                  </a:xfrm>
                </p:grpSpPr>
                <p:sp>
                  <p:nvSpPr>
                    <p:cNvPr id="23" name="直方体 22">
                      <a:extLst>
                        <a:ext uri="{FF2B5EF4-FFF2-40B4-BE49-F238E27FC236}">
                          <a16:creationId xmlns:a16="http://schemas.microsoft.com/office/drawing/2014/main" id="{B8B8FC46-8B28-94CB-983A-75C411ABC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5848" y="2254971"/>
                      <a:ext cx="278673" cy="278673"/>
                    </a:xfrm>
                    <a:prstGeom prst="cub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CFFEC5D6-DE2A-132C-009D-5826942C75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24625" y="2409398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線矢印コネクタ 20">
                      <a:extLst>
                        <a:ext uri="{FF2B5EF4-FFF2-40B4-BE49-F238E27FC236}">
                          <a16:creationId xmlns:a16="http://schemas.microsoft.com/office/drawing/2014/main" id="{40CE6ECF-429F-6206-CD5E-1FD16C8502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800000">
                      <a:off x="2151478" y="3467025"/>
                      <a:ext cx="1555924" cy="536822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線コネクタ 23">
                      <a:extLst>
                        <a:ext uri="{FF2B5EF4-FFF2-40B4-BE49-F238E27FC236}">
                          <a16:creationId xmlns:a16="http://schemas.microsoft.com/office/drawing/2014/main" id="{821CF92B-BF40-A182-6208-4302F1E4A9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432072" y="1940242"/>
                      <a:ext cx="185106" cy="36063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ja-JP" sz="261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ja-JP" sz="2610" dirty="0">
                              <a:latin typeface="Helvetica" pitchFamily="2" charset="0"/>
                            </a:rPr>
                            <a:t>(only in-plane)</a:t>
                          </a:r>
                          <a:endParaRPr lang="ja-JP" altLang="en-US" sz="2610">
                            <a:latin typeface="Helvetica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26" name="テキスト ボックス 25">
                          <a:extLst>
                            <a:ext uri="{FF2B5EF4-FFF2-40B4-BE49-F238E27FC236}">
                              <a16:creationId xmlns:a16="http://schemas.microsoft.com/office/drawing/2014/main" id="{B1AF0F95-5F78-8135-A765-0B9491F4D53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1562" y="2793611"/>
                          <a:ext cx="1817012" cy="362934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1442" t="-6977" r="-2885" b="-2093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ja-JP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直方体 26">
                      <a:extLst>
                        <a:ext uri="{FF2B5EF4-FFF2-40B4-BE49-F238E27FC236}">
                          <a16:creationId xmlns:a16="http://schemas.microsoft.com/office/drawing/2014/main" id="{0EB8A873-E745-5FF0-5DD6-7A28100B6E4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26935" y="2735857"/>
                      <a:ext cx="1032765" cy="399425"/>
                    </a:xfrm>
                    <a:prstGeom prst="cube">
                      <a:avLst>
                        <a:gd name="adj" fmla="val 55385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テキスト ボックス 30">
                      <a:extLst>
                        <a:ext uri="{FF2B5EF4-FFF2-40B4-BE49-F238E27FC236}">
                          <a16:creationId xmlns:a16="http://schemas.microsoft.com/office/drawing/2014/main" id="{B8630ABA-F5D4-8914-863E-639031A3D4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1388" y="2194252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↑↓</a:t>
                      </a:r>
                    </a:p>
                  </p:txBody>
                </p:sp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FA1F6B40-2573-5D75-C893-84B5111ABA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26082" y="3600698"/>
                      <a:ext cx="516948" cy="37151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altLang="ja-JP" sz="2900" b="1" dirty="0">
                          <a:latin typeface="Helvetica" pitchFamily="2" charset="0"/>
                        </a:rPr>
                        <a:t> </a:t>
                      </a:r>
                      <a:r>
                        <a:rPr lang="ja-JP" altLang="en-US" sz="2900" b="1">
                          <a:latin typeface="Helvetica" pitchFamily="2" charset="0"/>
                        </a:rPr>
                        <a:t>↑</a:t>
                      </a:r>
                    </a:p>
                  </p:txBody>
                </p:sp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734EC983-B569-88B6-8833-AE099C608E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6599" y="4512269"/>
                      <a:ext cx="1781497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to point detector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99DB5EF6-BBD4-B971-1820-6C15FF784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9264" y="1648003"/>
                      <a:ext cx="909104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Sample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0D6818C6-C04F-152A-3121-A2B3B53259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143317" y="2254971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98A3D1E1-206D-5E42-1A52-22E581E55B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2263626" y="1969136"/>
                      <a:ext cx="242997" cy="27867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67D1E94B-EC2C-EB21-4FA9-176AE27693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11464" y="1635986"/>
                      <a:ext cx="1435415" cy="3407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ja-JP" sz="2610" dirty="0">
                          <a:latin typeface="Helvetica" pitchFamily="2" charset="0"/>
                        </a:rPr>
                        <a:t>Neutron spin</a:t>
                      </a:r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p:grpSp>
            </p:grpSp>
          </p:grp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80B1DE96-9750-30C9-0268-816F48361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089" y="2761710"/>
                <a:ext cx="693649" cy="720288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AC99C71C-7FF1-F31E-D3FC-B9347FE663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7652" y="2194252"/>
                <a:ext cx="0" cy="1821391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A442973D-F108-7009-1492-6A455ADA9336}"/>
                </a:ext>
              </a:extLst>
            </p:cNvPr>
            <p:cNvSpPr txBox="1"/>
            <p:nvPr/>
          </p:nvSpPr>
          <p:spPr>
            <a:xfrm>
              <a:off x="1150595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0B52D53-DBE0-EF8F-E51B-AF3C7F6CC94F}"/>
                </a:ext>
              </a:extLst>
            </p:cNvPr>
            <p:cNvSpPr txBox="1"/>
            <p:nvPr/>
          </p:nvSpPr>
          <p:spPr>
            <a:xfrm>
              <a:off x="3979719" y="1308152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168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38FF-AAE9-A2A2-DB17-50BA2725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01E67D3A-54C7-F6FF-FED8-FF90DA6D6932}"/>
              </a:ext>
            </a:extLst>
          </p:cNvPr>
          <p:cNvGrpSpPr/>
          <p:nvPr/>
        </p:nvGrpSpPr>
        <p:grpSpPr>
          <a:xfrm>
            <a:off x="4268899" y="1829683"/>
            <a:ext cx="11105941" cy="7693566"/>
            <a:chOff x="1543395" y="140250"/>
            <a:chExt cx="7660493" cy="5306755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AE8A0ADC-D661-957E-BB54-74F877498A4F}"/>
                </a:ext>
              </a:extLst>
            </p:cNvPr>
            <p:cNvSpPr/>
            <p:nvPr/>
          </p:nvSpPr>
          <p:spPr>
            <a:xfrm>
              <a:off x="5490439" y="1414131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C6CB7776-C563-B7F0-AAB5-F80CB30A65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5334" y="1554078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B31FBCCD-5321-4977-477A-2065824521E7}"/>
                </a:ext>
              </a:extLst>
            </p:cNvPr>
            <p:cNvCxnSpPr>
              <a:cxnSpLocks/>
            </p:cNvCxnSpPr>
            <p:nvPr/>
          </p:nvCxnSpPr>
          <p:spPr>
            <a:xfrm>
              <a:off x="7390145" y="1551222"/>
              <a:ext cx="1565565" cy="7792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8184570-7EF5-B5B5-4C17-826746BE4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4940" y="1193099"/>
              <a:ext cx="336639" cy="2669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/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(only 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61A2FA2A-0EB6-FB85-D31C-11A28D89B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7071" y="1905082"/>
                  <a:ext cx="1629044" cy="329674"/>
                </a:xfrm>
                <a:prstGeom prst="rect">
                  <a:avLst/>
                </a:prstGeom>
                <a:blipFill>
                  <a:blip r:embed="rId3"/>
                  <a:stretch>
                    <a:fillRect l="-1070" t="-7692" r="-2674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BD63115-74D3-931D-77C8-8B1AD1845F6B}"/>
                </a:ext>
              </a:extLst>
            </p:cNvPr>
            <p:cNvSpPr txBox="1"/>
            <p:nvPr/>
          </p:nvSpPr>
          <p:spPr>
            <a:xfrm>
              <a:off x="6134256" y="135341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938A2C2-A318-45EB-F2D8-474142E5CCC0}"/>
                </a:ext>
              </a:extLst>
            </p:cNvPr>
            <p:cNvSpPr txBox="1"/>
            <p:nvPr/>
          </p:nvSpPr>
          <p:spPr>
            <a:xfrm>
              <a:off x="4291615" y="1029815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608CE90-CCCF-8228-1ECC-B5A3355B3313}"/>
                </a:ext>
              </a:extLst>
            </p:cNvPr>
            <p:cNvSpPr txBox="1"/>
            <p:nvPr/>
          </p:nvSpPr>
          <p:spPr>
            <a:xfrm>
              <a:off x="7383604" y="2296752"/>
              <a:ext cx="137128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point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06956A0-D6BF-73F7-FDB3-676A70AF7F5A}"/>
                </a:ext>
              </a:extLst>
            </p:cNvPr>
            <p:cNvSpPr txBox="1"/>
            <p:nvPr/>
          </p:nvSpPr>
          <p:spPr>
            <a:xfrm>
              <a:off x="5728967" y="895103"/>
              <a:ext cx="822859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Sample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6349C6B3-B5BA-3A9C-7A3D-C5C5A419B99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3709024" y="519803"/>
              <a:ext cx="136277" cy="2922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>
              <a:extLst>
                <a:ext uri="{FF2B5EF4-FFF2-40B4-BE49-F238E27FC236}">
                  <a16:creationId xmlns:a16="http://schemas.microsoft.com/office/drawing/2014/main" id="{C5CCE9C0-238E-2041-C42C-3EC20110D2C8}"/>
                </a:ext>
              </a:extLst>
            </p:cNvPr>
            <p:cNvCxnSpPr>
              <a:cxnSpLocks/>
            </p:cNvCxnSpPr>
            <p:nvPr/>
          </p:nvCxnSpPr>
          <p:spPr>
            <a:xfrm rot="-3180000" flipH="1">
              <a:off x="5955040" y="1629709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DB174324-F86F-6364-07CF-F1E7B81B1854}"/>
                </a:ext>
              </a:extLst>
            </p:cNvPr>
            <p:cNvSpPr txBox="1"/>
            <p:nvPr/>
          </p:nvSpPr>
          <p:spPr>
            <a:xfrm>
              <a:off x="2297799" y="1590967"/>
              <a:ext cx="1290568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Neutron spin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/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(in-plane)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EC12DE84-D9D6-FB77-9490-77CD58E03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753" y="4396586"/>
                  <a:ext cx="1195612" cy="329674"/>
                </a:xfrm>
                <a:prstGeom prst="rect">
                  <a:avLst/>
                </a:prstGeom>
                <a:blipFill>
                  <a:blip r:embed="rId4"/>
                  <a:stretch>
                    <a:fillRect l="-730" t="-5128" r="-4380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95FDC475-732C-6B4B-AEAD-CA5785CF766C}"/>
                </a:ext>
              </a:extLst>
            </p:cNvPr>
            <p:cNvSpPr/>
            <p:nvPr/>
          </p:nvSpPr>
          <p:spPr>
            <a:xfrm>
              <a:off x="5490439" y="4014524"/>
              <a:ext cx="278673" cy="278673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ABCA1D-D470-F25E-7807-9A54E2BC618C}"/>
                </a:ext>
              </a:extLst>
            </p:cNvPr>
            <p:cNvCxnSpPr>
              <a:cxnSpLocks/>
            </p:cNvCxnSpPr>
            <p:nvPr/>
          </p:nvCxnSpPr>
          <p:spPr>
            <a:xfrm>
              <a:off x="5642066" y="4178739"/>
              <a:ext cx="2907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62F47D06-E8AD-16CC-A84E-D876162D13B1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6171560" y="4187444"/>
              <a:ext cx="348703" cy="2091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4A73494F-619F-4F12-A6D1-5A6BA008012D}"/>
                </a:ext>
              </a:extLst>
            </p:cNvPr>
            <p:cNvSpPr txBox="1"/>
            <p:nvPr/>
          </p:nvSpPr>
          <p:spPr>
            <a:xfrm>
              <a:off x="6163386" y="3574003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1E422D4F-AD04-2023-672B-9053C14B50D9}"/>
                </a:ext>
              </a:extLst>
            </p:cNvPr>
            <p:cNvSpPr txBox="1"/>
            <p:nvPr/>
          </p:nvSpPr>
          <p:spPr>
            <a:xfrm>
              <a:off x="7664769" y="330565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8ACBF03-23A0-0448-B64F-F9DE3919AC95}"/>
                </a:ext>
              </a:extLst>
            </p:cNvPr>
            <p:cNvSpPr txBox="1"/>
            <p:nvPr/>
          </p:nvSpPr>
          <p:spPr>
            <a:xfrm>
              <a:off x="7386955" y="5075306"/>
              <a:ext cx="1188844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2D detector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559DE66E-6B54-206A-A032-CFA80BBA5A1B}"/>
                </a:ext>
              </a:extLst>
            </p:cNvPr>
            <p:cNvSpPr/>
            <p:nvPr/>
          </p:nvSpPr>
          <p:spPr>
            <a:xfrm rot="16200000">
              <a:off x="6719205" y="3875092"/>
              <a:ext cx="979476" cy="568705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34BA7734-8D9D-FBEF-207D-FF85CB660D9B}"/>
                </a:ext>
              </a:extLst>
            </p:cNvPr>
            <p:cNvCxnSpPr>
              <a:cxnSpLocks/>
            </p:cNvCxnSpPr>
            <p:nvPr/>
          </p:nvCxnSpPr>
          <p:spPr>
            <a:xfrm>
              <a:off x="5639582" y="4190997"/>
              <a:ext cx="3010784" cy="565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5069EE30-97F5-56E7-B7A5-EBD9764AF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286" y="3541616"/>
              <a:ext cx="2872331" cy="624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FC8A5B18-3616-FFD1-E5CD-4AA3A331691F}"/>
                </a:ext>
              </a:extLst>
            </p:cNvPr>
            <p:cNvSpPr/>
            <p:nvPr/>
          </p:nvSpPr>
          <p:spPr>
            <a:xfrm rot="16200000">
              <a:off x="7367581" y="3688123"/>
              <a:ext cx="2603191" cy="914573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2C3DD82C-1865-BDBD-8080-77C8A6217BC5}"/>
                </a:ext>
              </a:extLst>
            </p:cNvPr>
            <p:cNvSpPr/>
            <p:nvPr/>
          </p:nvSpPr>
          <p:spPr>
            <a:xfrm>
              <a:off x="8268821" y="3355901"/>
              <a:ext cx="571839" cy="1589521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919E1B0A-2CFF-80BF-5352-319EC4A248AC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5638305" y="3355901"/>
              <a:ext cx="2916436" cy="83092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0B39659E-E002-E463-1275-2BE763392887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5605865" y="4225909"/>
              <a:ext cx="2948876" cy="71951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8E4F08C2-7FB6-1FC1-4B56-ABABE433A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9356" y="5191047"/>
              <a:ext cx="342168" cy="43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/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232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ja-JP" sz="232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en-US" altLang="ja-JP" sz="2320" dirty="0">
                      <a:latin typeface="Helvetica" pitchFamily="2" charset="0"/>
                    </a:rPr>
                    <a:t>(out-of-plane)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7" name="テキスト ボックス 96">
                  <a:extLst>
                    <a:ext uri="{FF2B5EF4-FFF2-40B4-BE49-F238E27FC236}">
                      <a16:creationId xmlns:a16="http://schemas.microsoft.com/office/drawing/2014/main" id="{BB50A426-18ED-626F-B41C-7550F896DC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9445" y="4875800"/>
                  <a:ext cx="1561596" cy="329674"/>
                </a:xfrm>
                <a:prstGeom prst="rect">
                  <a:avLst/>
                </a:prstGeom>
                <a:blipFill>
                  <a:blip r:embed="rId5"/>
                  <a:stretch>
                    <a:fillRect l="-1117" t="-5128" r="-2793" b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696078BC-C551-E0A3-FC29-F7276CE16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1916" y="3982817"/>
              <a:ext cx="199411" cy="9123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605B44DF-225C-1BFE-38CE-FEAA6F9F1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918" y="4379963"/>
              <a:ext cx="244086" cy="536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16FA1854-212E-31E9-ED8D-121B69E2E2B3}"/>
                </a:ext>
              </a:extLst>
            </p:cNvPr>
            <p:cNvSpPr txBox="1"/>
            <p:nvPr/>
          </p:nvSpPr>
          <p:spPr>
            <a:xfrm>
              <a:off x="5262814" y="2782248"/>
              <a:ext cx="2656103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He-NSF 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(</a:t>
              </a:r>
              <a:r>
                <a:rPr lang="en-US" altLang="ja-JP" sz="2320" baseline="30000" dirty="0">
                  <a:latin typeface="Helvetica" pitchFamily="2" charset="0"/>
                </a:rPr>
                <a:t>3</a:t>
              </a:r>
              <a:r>
                <a:rPr lang="en-US" altLang="ja-JP" sz="2320" dirty="0">
                  <a:latin typeface="Helvetica" pitchFamily="2" charset="0"/>
                </a:rPr>
                <a:t>He polarity can be flipped)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25F54F7-8892-12F2-546D-552740683493}"/>
                </a:ext>
              </a:extLst>
            </p:cNvPr>
            <p:cNvCxnSpPr>
              <a:cxnSpLocks/>
            </p:cNvCxnSpPr>
            <p:nvPr/>
          </p:nvCxnSpPr>
          <p:spPr>
            <a:xfrm>
              <a:off x="6949193" y="3319076"/>
              <a:ext cx="135867" cy="3230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991E56B2-4065-2F36-1118-3451991DB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6793" y="3804661"/>
              <a:ext cx="693649" cy="720288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7074D62A-9EAF-54CA-C77C-C8488E309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356" y="3237203"/>
              <a:ext cx="0" cy="182139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AC55D98-4802-E013-EE3B-133AB7395FB8}"/>
                </a:ext>
              </a:extLst>
            </p:cNvPr>
            <p:cNvSpPr txBox="1"/>
            <p:nvPr/>
          </p:nvSpPr>
          <p:spPr>
            <a:xfrm>
              <a:off x="1981609" y="14025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3397A5-C072-E512-2B27-0835240FA29D}"/>
                </a:ext>
              </a:extLst>
            </p:cNvPr>
            <p:cNvSpPr txBox="1"/>
            <p:nvPr/>
          </p:nvSpPr>
          <p:spPr>
            <a:xfrm>
              <a:off x="1981609" y="2774530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D946D801-39A0-7C40-9EAB-3E08335F7E5D}"/>
                </a:ext>
              </a:extLst>
            </p:cNvPr>
            <p:cNvCxnSpPr>
              <a:cxnSpLocks/>
            </p:cNvCxnSpPr>
            <p:nvPr/>
          </p:nvCxnSpPr>
          <p:spPr>
            <a:xfrm>
              <a:off x="1643888" y="2734866"/>
              <a:ext cx="756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B767447C-D2BB-79A8-61B3-76FE382B1E38}"/>
                </a:ext>
              </a:extLst>
            </p:cNvPr>
            <p:cNvSpPr/>
            <p:nvPr/>
          </p:nvSpPr>
          <p:spPr>
            <a:xfrm rot="17563388">
              <a:off x="8737380" y="2235501"/>
              <a:ext cx="432000" cy="187450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9D41A67-AD04-0311-4245-C0FBB9AE9DA0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1339847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560FFCD-91D9-4814-5D1E-5A388B538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1106916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566EBDB-6BF2-0FC6-3C6C-9496AFE13AAE}"/>
                </a:ext>
              </a:extLst>
            </p:cNvPr>
            <p:cNvSpPr txBox="1"/>
            <p:nvPr/>
          </p:nvSpPr>
          <p:spPr>
            <a:xfrm>
              <a:off x="2740324" y="209854"/>
              <a:ext cx="193740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(Polarizer)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1CFD567E-85DC-A1D2-6643-B258038645D5}"/>
                </a:ext>
              </a:extLst>
            </p:cNvPr>
            <p:cNvSpPr/>
            <p:nvPr/>
          </p:nvSpPr>
          <p:spPr>
            <a:xfrm>
              <a:off x="3574276" y="777223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74DCFF0-A71C-5FC1-7EB0-281370FE0F6F}"/>
                </a:ext>
              </a:extLst>
            </p:cNvPr>
            <p:cNvSpPr/>
            <p:nvPr/>
          </p:nvSpPr>
          <p:spPr>
            <a:xfrm>
              <a:off x="7106208" y="123406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AB1D36D-7932-D260-7080-C2CBA0273A8F}"/>
                </a:ext>
              </a:extLst>
            </p:cNvPr>
            <p:cNvSpPr txBox="1"/>
            <p:nvPr/>
          </p:nvSpPr>
          <p:spPr>
            <a:xfrm>
              <a:off x="2478861" y="903471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A5814E3-47B2-1D30-9AA3-77868EEA646F}"/>
                </a:ext>
              </a:extLst>
            </p:cNvPr>
            <p:cNvSpPr/>
            <p:nvPr/>
          </p:nvSpPr>
          <p:spPr>
            <a:xfrm rot="1357681">
              <a:off x="9037412" y="2171810"/>
              <a:ext cx="113676" cy="43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ABFC1EF6-E580-64E1-6D37-5752EFF769D1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62946" y="3949705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3DC48D56-0791-20FB-F805-9525CA78BA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8303" y="3716774"/>
              <a:ext cx="1800000" cy="3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29F78BC7-015B-979A-F96A-3292C4C307E8}"/>
                </a:ext>
              </a:extLst>
            </p:cNvPr>
            <p:cNvSpPr/>
            <p:nvPr/>
          </p:nvSpPr>
          <p:spPr>
            <a:xfrm>
              <a:off x="3648441" y="3387081"/>
              <a:ext cx="582151" cy="565250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5CC3FA-CEBB-AA3C-0343-36ABA4519333}"/>
                </a:ext>
              </a:extLst>
            </p:cNvPr>
            <p:cNvSpPr txBox="1"/>
            <p:nvPr/>
          </p:nvSpPr>
          <p:spPr>
            <a:xfrm>
              <a:off x="2553026" y="3513329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AD3A55E4-DEAF-1D24-EC28-4F5F5872815B}"/>
                </a:ext>
              </a:extLst>
            </p:cNvPr>
            <p:cNvSpPr txBox="1"/>
            <p:nvPr/>
          </p:nvSpPr>
          <p:spPr>
            <a:xfrm>
              <a:off x="4291615" y="3642084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043BA2F-1B19-E3F6-38BE-B45E40BDF28A}"/>
                </a:ext>
              </a:extLst>
            </p:cNvPr>
            <p:cNvSpPr txBox="1"/>
            <p:nvPr/>
          </p:nvSpPr>
          <p:spPr>
            <a:xfrm>
              <a:off x="7998362" y="1716882"/>
              <a:ext cx="516948" cy="371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900" b="1" dirty="0">
                  <a:latin typeface="Helvetica" pitchFamily="2" charset="0"/>
                </a:rPr>
                <a:t> </a:t>
              </a:r>
              <a:r>
                <a:rPr lang="ja-JP" altLang="en-US" sz="29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DD227887-A898-1C9B-DB3E-B6A46255F2D8}"/>
                </a:ext>
              </a:extLst>
            </p:cNvPr>
            <p:cNvSpPr txBox="1"/>
            <p:nvPr/>
          </p:nvSpPr>
          <p:spPr>
            <a:xfrm>
              <a:off x="7143786" y="737468"/>
              <a:ext cx="19263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Cu</a:t>
              </a:r>
              <a:r>
                <a:rPr lang="en-US" altLang="ja-JP" sz="2320" baseline="-25000" dirty="0">
                  <a:latin typeface="Helvetica" pitchFamily="2" charset="0"/>
                </a:rPr>
                <a:t>2</a:t>
              </a:r>
              <a:r>
                <a:rPr lang="en-US" altLang="ja-JP" sz="2320" dirty="0">
                  <a:latin typeface="Helvetica" pitchFamily="2" charset="0"/>
                </a:rPr>
                <a:t>MnAl (Analyzer)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1EA54B0-C3DB-CBD1-44C0-C965278D4152}"/>
                </a:ext>
              </a:extLst>
            </p:cNvPr>
            <p:cNvSpPr txBox="1"/>
            <p:nvPr/>
          </p:nvSpPr>
          <p:spPr>
            <a:xfrm>
              <a:off x="1543395" y="607250"/>
              <a:ext cx="1701887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Incident neutrons</a:t>
              </a:r>
              <a:endParaRPr lang="ja-JP" altLang="en-US" sz="232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FBD906B9-41CD-6F66-ED0D-92DBF94CEF49}"/>
                </a:ext>
              </a:extLst>
            </p:cNvPr>
            <p:cNvCxnSpPr>
              <a:cxnSpLocks/>
            </p:cNvCxnSpPr>
            <p:nvPr/>
          </p:nvCxnSpPr>
          <p:spPr>
            <a:xfrm rot="-3300000" flipH="1">
              <a:off x="2665895" y="1337524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46906B1F-D515-AC69-40CD-3B1CBE5E62F3}"/>
                </a:ext>
              </a:extLst>
            </p:cNvPr>
            <p:cNvSpPr/>
            <p:nvPr/>
          </p:nvSpPr>
          <p:spPr>
            <a:xfrm rot="10800000">
              <a:off x="7092029" y="3798450"/>
              <a:ext cx="353054" cy="731694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3B5F2F71-4453-5D0E-55F2-64041C6A0697}"/>
                </a:ext>
              </a:extLst>
            </p:cNvPr>
            <p:cNvSpPr/>
            <p:nvPr/>
          </p:nvSpPr>
          <p:spPr>
            <a:xfrm rot="900000">
              <a:off x="4739905" y="1153707"/>
              <a:ext cx="249382" cy="454873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6693A08-F6A8-A4A5-2303-28FB4719DB0A}"/>
                </a:ext>
              </a:extLst>
            </p:cNvPr>
            <p:cNvSpPr txBox="1"/>
            <p:nvPr/>
          </p:nvSpPr>
          <p:spPr>
            <a:xfrm>
              <a:off x="4750344" y="228353"/>
              <a:ext cx="1153462" cy="80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Spin flipper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off : </a:t>
              </a:r>
              <a:r>
                <a:rPr lang="ja-JP" altLang="en-US" sz="2320">
                  <a:latin typeface="Helvetica" pitchFamily="2" charset="0"/>
                </a:rPr>
                <a:t>↑</a:t>
              </a:r>
              <a:br>
                <a:rPr lang="en-US" altLang="ja-JP" sz="2320" dirty="0">
                  <a:latin typeface="Helvetica" pitchFamily="2" charset="0"/>
                </a:rPr>
              </a:br>
              <a:r>
                <a:rPr lang="en-US" altLang="ja-JP" sz="2320" dirty="0">
                  <a:latin typeface="Helvetica" pitchFamily="2" charset="0"/>
                </a:rPr>
                <a:t>on : </a:t>
              </a:r>
              <a:r>
                <a:rPr lang="ja-JP" altLang="en-US" sz="232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FDF52C82-61AE-0F07-269F-D6F45A89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7219" y="1022656"/>
              <a:ext cx="242997" cy="2786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C81DE672-29E8-B1D2-226D-8AB0B70DF2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421" y="1046963"/>
              <a:ext cx="141412" cy="206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/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32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32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ja-JP" altLang="en-US" sz="232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4" name="テキスト ボックス 63">
                  <a:extLst>
                    <a:ext uri="{FF2B5EF4-FFF2-40B4-BE49-F238E27FC236}">
                      <a16:creationId xmlns:a16="http://schemas.microsoft.com/office/drawing/2014/main" id="{61155BA7-693B-49B0-6D0B-6D2D264C0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5288" y="1743351"/>
                  <a:ext cx="363288" cy="309949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26E104B-DBC0-446E-C76D-8F637B71B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5911" y="1499042"/>
              <a:ext cx="149606" cy="3628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259E00C6-7AA0-5E91-B47F-66100B407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729" y="2446351"/>
              <a:ext cx="252947" cy="423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E32490FA-D4F9-F967-1C9E-8A13AE5B8A34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1823864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/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1BBF2C0C-76BA-D364-1653-4EA4B8A75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7995" y="1966701"/>
                  <a:ext cx="422743" cy="309949"/>
                </a:xfrm>
                <a:prstGeom prst="rect">
                  <a:avLst/>
                </a:prstGeom>
                <a:blipFill>
                  <a:blip r:embed="rId7"/>
                  <a:stretch>
                    <a:fillRect b="-13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FE165166-D098-D323-B07B-55C8FDA4441D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279366" y="4438146"/>
              <a:ext cx="540000" cy="372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/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32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32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35578B0D-F017-6EA8-21AF-A010CB044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497" y="4644865"/>
                  <a:ext cx="422743" cy="309949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E35B1CB9-DC34-D118-3F92-01D84A5AFF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1042" y="4183008"/>
              <a:ext cx="43893" cy="647501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424082AC-B4EE-1B0B-FABD-A4BE8DAC1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9607" y="4176333"/>
              <a:ext cx="258934" cy="336368"/>
            </a:xfrm>
            <a:prstGeom prst="straightConnector1">
              <a:avLst/>
            </a:prstGeom>
            <a:ln w="25400" cap="rnd">
              <a:solidFill>
                <a:schemeClr val="tx1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67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C516-EBD6-B660-55BF-665B6458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C5F511-EC16-EF95-11DD-FAEB68EB2280}"/>
              </a:ext>
            </a:extLst>
          </p:cNvPr>
          <p:cNvGrpSpPr/>
          <p:nvPr/>
        </p:nvGrpSpPr>
        <p:grpSpPr>
          <a:xfrm>
            <a:off x="5595087" y="1829684"/>
            <a:ext cx="10843965" cy="7789419"/>
            <a:chOff x="833380" y="1829683"/>
            <a:chExt cx="10843965" cy="7789419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B5FCBC4C-75A7-F0F0-1239-5E8D60143903}"/>
                </a:ext>
              </a:extLst>
            </p:cNvPr>
            <p:cNvSpPr/>
            <p:nvPr/>
          </p:nvSpPr>
          <p:spPr>
            <a:xfrm>
              <a:off x="6230157" y="3676515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E1B904BF-D701-7AD6-87BE-292A4536C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230" y="3879406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09B92EC3-ECE2-7025-6BCF-470DB45DEE55}"/>
                </a:ext>
              </a:extLst>
            </p:cNvPr>
            <p:cNvCxnSpPr>
              <a:cxnSpLocks/>
            </p:cNvCxnSpPr>
            <p:nvPr/>
          </p:nvCxnSpPr>
          <p:spPr>
            <a:xfrm>
              <a:off x="8984291" y="3875266"/>
              <a:ext cx="2269707" cy="11297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18BC51A4-4A5A-08C9-08A0-F2CCF4CCF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96157" y="3404003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9280B15B-3EF8-93DD-C914-0482748531BB}"/>
                </a:ext>
              </a:extLst>
            </p:cNvPr>
            <p:cNvSpPr txBox="1"/>
            <p:nvPr/>
          </p:nvSpPr>
          <p:spPr>
            <a:xfrm>
              <a:off x="7163542" y="35884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AC235C9-3300-5B53-3C3C-8D6E1CFB06A8}"/>
                </a:ext>
              </a:extLst>
            </p:cNvPr>
            <p:cNvSpPr txBox="1"/>
            <p:nvPr/>
          </p:nvSpPr>
          <p:spPr>
            <a:xfrm>
              <a:off x="4492140" y="311934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71542A7B-C7E8-4FC9-FA70-04B1A96CC7C0}"/>
                </a:ext>
              </a:extLst>
            </p:cNvPr>
            <p:cNvSpPr txBox="1"/>
            <p:nvPr/>
          </p:nvSpPr>
          <p:spPr>
            <a:xfrm>
              <a:off x="8659065" y="4999732"/>
              <a:ext cx="2364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point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C58F1852-1083-8CFE-1927-9A4EC44CB945}"/>
                </a:ext>
              </a:extLst>
            </p:cNvPr>
            <p:cNvSpPr txBox="1"/>
            <p:nvPr/>
          </p:nvSpPr>
          <p:spPr>
            <a:xfrm>
              <a:off x="6038267" y="2876643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EB96B2DB-A4FE-D39E-23B1-BDFB36F474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695" y="2410421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2444B46B-BE05-92A9-542C-6D8FF788D62E}"/>
                </a:ext>
              </a:extLst>
            </p:cNvPr>
            <p:cNvSpPr txBox="1"/>
            <p:nvPr/>
          </p:nvSpPr>
          <p:spPr>
            <a:xfrm>
              <a:off x="1601568" y="3932887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AF44D1EF-D6F8-17BB-7968-3E0E2F69351C}"/>
                </a:ext>
              </a:extLst>
            </p:cNvPr>
            <p:cNvSpPr/>
            <p:nvPr/>
          </p:nvSpPr>
          <p:spPr>
            <a:xfrm>
              <a:off x="6230157" y="7446483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30590015-BBB8-3ECD-5A0F-15A96910D343}"/>
                </a:ext>
              </a:extLst>
            </p:cNvPr>
            <p:cNvCxnSpPr>
              <a:cxnSpLocks/>
            </p:cNvCxnSpPr>
            <p:nvPr/>
          </p:nvCxnSpPr>
          <p:spPr>
            <a:xfrm>
              <a:off x="6449981" y="7684557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091B34AD-9552-E1A8-A3A5-8FF735C389D8}"/>
                </a:ext>
              </a:extLst>
            </p:cNvPr>
            <p:cNvSpPr txBox="1"/>
            <p:nvPr/>
          </p:nvSpPr>
          <p:spPr>
            <a:xfrm>
              <a:off x="7205774" y="680783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8835146C-368D-1270-2FEB-28E94B741558}"/>
                </a:ext>
              </a:extLst>
            </p:cNvPr>
            <p:cNvSpPr txBox="1"/>
            <p:nvPr/>
          </p:nvSpPr>
          <p:spPr>
            <a:xfrm>
              <a:off x="9382432" y="6418786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4AF9A557-E0B1-DA9A-F0F1-F1613AAC3725}"/>
                </a:ext>
              </a:extLst>
            </p:cNvPr>
            <p:cNvSpPr txBox="1"/>
            <p:nvPr/>
          </p:nvSpPr>
          <p:spPr>
            <a:xfrm>
              <a:off x="8957364" y="9095882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1196F6AC-5866-3BA5-1466-805325C132E2}"/>
                </a:ext>
              </a:extLst>
            </p:cNvPr>
            <p:cNvSpPr/>
            <p:nvPr/>
          </p:nvSpPr>
          <p:spPr>
            <a:xfrm rot="16200000">
              <a:off x="8011583" y="7244339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A7FF46B8-E584-BF51-D620-2E5C226E62C4}"/>
                </a:ext>
              </a:extLst>
            </p:cNvPr>
            <p:cNvCxnSpPr>
              <a:cxnSpLocks/>
            </p:cNvCxnSpPr>
            <p:nvPr/>
          </p:nvCxnSpPr>
          <p:spPr>
            <a:xfrm>
              <a:off x="6446380" y="7702328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038BDCB3-14A5-BB3F-124C-5D96E9858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7845" y="6760876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4F8AB0A9-B389-3C35-B55D-540D1349D956}"/>
                </a:ext>
              </a:extLst>
            </p:cNvPr>
            <p:cNvSpPr/>
            <p:nvPr/>
          </p:nvSpPr>
          <p:spPr>
            <a:xfrm rot="16200000">
              <a:off x="8951578" y="6973277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38876274-ECDD-A4B1-454A-452BB11623C5}"/>
                </a:ext>
              </a:extLst>
            </p:cNvPr>
            <p:cNvSpPr/>
            <p:nvPr/>
          </p:nvSpPr>
          <p:spPr>
            <a:xfrm>
              <a:off x="10258167" y="6491632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C6684748-346F-E275-508D-ACFDB5071F0E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6444528" y="6491632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A9DE12F4-752E-206B-3304-2D1FC770C42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6397498" y="7752943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148D65F1-F185-87A1-C7A6-62937524AF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4878" y="9152169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73CD4ECD-B96E-98CD-26D3-2BD22D086FAB}"/>
                </a:ext>
              </a:extLst>
            </p:cNvPr>
            <p:cNvSpPr txBox="1"/>
            <p:nvPr/>
          </p:nvSpPr>
          <p:spPr>
            <a:xfrm>
              <a:off x="6889125" y="5909673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917FAE8A-E2F1-57E9-1D9F-986F45983FD7}"/>
                </a:ext>
              </a:extLst>
            </p:cNvPr>
            <p:cNvCxnSpPr>
              <a:cxnSpLocks/>
            </p:cNvCxnSpPr>
            <p:nvPr/>
          </p:nvCxnSpPr>
          <p:spPr>
            <a:xfrm>
              <a:off x="8345012" y="6438245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705A1BB7-79FA-3C71-1526-D9FD9E9F5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9246" y="7142230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F846B3B-43FE-0A20-6705-1C137C29FA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4878" y="6319548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344DA59-0DC9-B1B7-82F1-3BF2B3B29D71}"/>
                </a:ext>
              </a:extLst>
            </p:cNvPr>
            <p:cNvSpPr txBox="1"/>
            <p:nvPr/>
          </p:nvSpPr>
          <p:spPr>
            <a:xfrm>
              <a:off x="977930" y="1829683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E013EA6-089B-AA70-55E8-2A2006899CBF}"/>
                </a:ext>
              </a:extLst>
            </p:cNvPr>
            <p:cNvSpPr txBox="1"/>
            <p:nvPr/>
          </p:nvSpPr>
          <p:spPr>
            <a:xfrm>
              <a:off x="977930" y="5648779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5199650-173C-A76F-A0D4-0C2A87D3B210}"/>
                </a:ext>
              </a:extLst>
            </p:cNvPr>
            <p:cNvCxnSpPr>
              <a:cxnSpLocks/>
            </p:cNvCxnSpPr>
            <p:nvPr/>
          </p:nvCxnSpPr>
          <p:spPr>
            <a:xfrm>
              <a:off x="877345" y="5591275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台形 13">
              <a:extLst>
                <a:ext uri="{FF2B5EF4-FFF2-40B4-BE49-F238E27FC236}">
                  <a16:creationId xmlns:a16="http://schemas.microsoft.com/office/drawing/2014/main" id="{57969306-8A40-D786-3BA7-89B0859F8B6E}"/>
                </a:ext>
              </a:extLst>
            </p:cNvPr>
            <p:cNvSpPr/>
            <p:nvPr/>
          </p:nvSpPr>
          <p:spPr>
            <a:xfrm rot="17563388">
              <a:off x="10937469" y="4867312"/>
              <a:ext cx="626300" cy="271759"/>
            </a:xfrm>
            <a:prstGeom prst="trapezoid">
              <a:avLst>
                <a:gd name="adj" fmla="val 528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DA048235-CCF4-8C06-F78B-DFDC40E08AAD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356882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3E1F698-3952-F27F-3F06-70ED5F168048}"/>
                </a:ext>
              </a:extLst>
            </p:cNvPr>
            <p:cNvSpPr txBox="1"/>
            <p:nvPr/>
          </p:nvSpPr>
          <p:spPr>
            <a:xfrm>
              <a:off x="2893085" y="1866630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6BA14B17-49B3-C6D3-0B14-5A9FF72ACFB9}"/>
                </a:ext>
              </a:extLst>
            </p:cNvPr>
            <p:cNvSpPr/>
            <p:nvPr/>
          </p:nvSpPr>
          <p:spPr>
            <a:xfrm>
              <a:off x="3452164" y="275314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569FADFF-FE5B-9E39-65CB-C955565BB448}"/>
                </a:ext>
              </a:extLst>
            </p:cNvPr>
            <p:cNvSpPr/>
            <p:nvPr/>
          </p:nvSpPr>
          <p:spPr>
            <a:xfrm>
              <a:off x="8572648" y="341545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34BCE19-CBDF-C2A9-69DF-D096685775A7}"/>
                </a:ext>
              </a:extLst>
            </p:cNvPr>
            <p:cNvSpPr/>
            <p:nvPr/>
          </p:nvSpPr>
          <p:spPr>
            <a:xfrm rot="1357681">
              <a:off x="11372446" y="4774975"/>
              <a:ext cx="164804" cy="6263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1FD249A9-B9B1-E660-80DE-08D6C9E5092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3870669" y="7352511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462494F2-F8DE-622D-08E7-EAAA3B333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999" y="7014815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417B0F34-387C-95D2-3818-8BA1BEC305CE}"/>
                </a:ext>
              </a:extLst>
            </p:cNvPr>
            <p:cNvSpPr/>
            <p:nvPr/>
          </p:nvSpPr>
          <p:spPr>
            <a:xfrm>
              <a:off x="3559686" y="6536836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70F9508-3E39-2CE7-B2AB-466AD484D240}"/>
                </a:ext>
              </a:extLst>
            </p:cNvPr>
            <p:cNvSpPr txBox="1"/>
            <p:nvPr/>
          </p:nvSpPr>
          <p:spPr>
            <a:xfrm>
              <a:off x="2664000" y="671986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E615A070-AF72-C4B3-8CBA-CA36D354988F}"/>
                </a:ext>
              </a:extLst>
            </p:cNvPr>
            <p:cNvSpPr txBox="1"/>
            <p:nvPr/>
          </p:nvSpPr>
          <p:spPr>
            <a:xfrm>
              <a:off x="4492140" y="69065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5591F0B-104E-A469-F34C-403552754912}"/>
                </a:ext>
              </a:extLst>
            </p:cNvPr>
            <p:cNvSpPr txBox="1"/>
            <p:nvPr/>
          </p:nvSpPr>
          <p:spPr>
            <a:xfrm>
              <a:off x="9866064" y="41154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C832C310-0916-B015-E746-EDF1B1A835FE}"/>
                </a:ext>
              </a:extLst>
            </p:cNvPr>
            <p:cNvSpPr txBox="1"/>
            <p:nvPr/>
          </p:nvSpPr>
          <p:spPr>
            <a:xfrm>
              <a:off x="8089074" y="2650642"/>
              <a:ext cx="33361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(Analyzer)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7BCC0BEA-22B6-8FCF-76CB-2B1C668241CE}"/>
                </a:ext>
              </a:extLst>
            </p:cNvPr>
            <p:cNvSpPr txBox="1"/>
            <p:nvPr/>
          </p:nvSpPr>
          <p:spPr>
            <a:xfrm>
              <a:off x="833380" y="2739790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33CFF4E8-F804-E42F-0B0F-3450ABA20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757" y="3504386"/>
              <a:ext cx="502507" cy="4782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下矢印 51">
              <a:extLst>
                <a:ext uri="{FF2B5EF4-FFF2-40B4-BE49-F238E27FC236}">
                  <a16:creationId xmlns:a16="http://schemas.microsoft.com/office/drawing/2014/main" id="{8B152262-DC5C-57DD-C7CE-138A057D4D4B}"/>
                </a:ext>
              </a:extLst>
            </p:cNvPr>
            <p:cNvSpPr/>
            <p:nvPr/>
          </p:nvSpPr>
          <p:spPr>
            <a:xfrm rot="10800000">
              <a:off x="8552091" y="7133226"/>
              <a:ext cx="511847" cy="1060787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E692AFC0-6088-502C-2FD7-89797249B2F2}"/>
                </a:ext>
              </a:extLst>
            </p:cNvPr>
            <p:cNvSpPr/>
            <p:nvPr/>
          </p:nvSpPr>
          <p:spPr>
            <a:xfrm rot="900000">
              <a:off x="5142056" y="3298961"/>
              <a:ext cx="361546" cy="659461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407D411-E4A0-8FB2-27F7-5A9F8AC6C057}"/>
                </a:ext>
              </a:extLst>
            </p:cNvPr>
            <p:cNvSpPr txBox="1"/>
            <p:nvPr/>
          </p:nvSpPr>
          <p:spPr>
            <a:xfrm>
              <a:off x="3904957" y="4142162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B43CD93B-81DD-9B50-09A4-D06739F1B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96030" y="3108967"/>
              <a:ext cx="352289" cy="4040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7E2FC44E-D943-1F63-0052-E0EDD75BA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8568" y="3860630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64D149D4-2E67-81BF-A6E7-840F690CB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06080" y="5172995"/>
              <a:ext cx="366715" cy="6144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5C0E4063-0AC8-09EA-DD38-38AA4466205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4270533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/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25F5A530-8145-F792-626A-906E56084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700" y="4630432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31C4D5-D3FB-0D53-B879-A69D25F1AD9B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5924150" y="8060637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/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EA0D5A20-7099-00F1-9E9A-A3E026F5D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6148" y="8645597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24787DC9-B5C5-B2CB-805F-A0B2A413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510" y="7690746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F950E8B6-8164-2CC9-F503-07A37E33B6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1485" y="7681069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04EE0FF2-7306-8D13-20A8-F0DBA6494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5038" y="3226082"/>
              <a:ext cx="1584000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506A856-77C1-987A-6699-D821DB0419E5}"/>
                </a:ext>
              </a:extLst>
            </p:cNvPr>
            <p:cNvSpPr txBox="1"/>
            <p:nvPr/>
          </p:nvSpPr>
          <p:spPr>
            <a:xfrm>
              <a:off x="2649039" y="2931134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79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4DA5-08D9-F5F2-8ECF-D6647D14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D39AA2E-C378-23C0-43F6-21D055638B0A}"/>
              </a:ext>
            </a:extLst>
          </p:cNvPr>
          <p:cNvGrpSpPr/>
          <p:nvPr/>
        </p:nvGrpSpPr>
        <p:grpSpPr>
          <a:xfrm>
            <a:off x="5582139" y="1829684"/>
            <a:ext cx="10856913" cy="7789419"/>
            <a:chOff x="5582139" y="1829684"/>
            <a:chExt cx="10856913" cy="7789419"/>
          </a:xfrm>
        </p:grpSpPr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C1D0B0E1-7492-8EEB-2950-D115B2A1303B}"/>
                </a:ext>
              </a:extLst>
            </p:cNvPr>
            <p:cNvSpPr/>
            <p:nvPr/>
          </p:nvSpPr>
          <p:spPr>
            <a:xfrm>
              <a:off x="10965738" y="3702642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A716EEC9-10F6-1FF8-0C61-FA52ED232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7864" y="3404004"/>
              <a:ext cx="193535" cy="3390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1E3CA081-DCCE-6FF5-9AB8-0C3793EF73D4}"/>
                </a:ext>
              </a:extLst>
            </p:cNvPr>
            <p:cNvSpPr txBox="1"/>
            <p:nvPr/>
          </p:nvSpPr>
          <p:spPr>
            <a:xfrm>
              <a:off x="11925249" y="3172850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CAE8AFB-7CDB-4908-FB9D-F81D4111600D}"/>
                </a:ext>
              </a:extLst>
            </p:cNvPr>
            <p:cNvSpPr txBox="1"/>
            <p:nvPr/>
          </p:nvSpPr>
          <p:spPr>
            <a:xfrm>
              <a:off x="9253847" y="311934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1A2617FE-E400-D289-E7DD-CD4F59502DD6}"/>
                </a:ext>
              </a:extLst>
            </p:cNvPr>
            <p:cNvSpPr txBox="1"/>
            <p:nvPr/>
          </p:nvSpPr>
          <p:spPr>
            <a:xfrm>
              <a:off x="10799974" y="2876644"/>
              <a:ext cx="14045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Sample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01484A18-5AFE-AE7D-9F1B-E0D807100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3402" y="2410422"/>
              <a:ext cx="764581" cy="3876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テキスト ボックス 123">
              <a:extLst>
                <a:ext uri="{FF2B5EF4-FFF2-40B4-BE49-F238E27FC236}">
                  <a16:creationId xmlns:a16="http://schemas.microsoft.com/office/drawing/2014/main" id="{51D40F68-6179-6ED8-6054-54C0A336C2B9}"/>
                </a:ext>
              </a:extLst>
            </p:cNvPr>
            <p:cNvSpPr txBox="1"/>
            <p:nvPr/>
          </p:nvSpPr>
          <p:spPr>
            <a:xfrm>
              <a:off x="6113679" y="4303781"/>
              <a:ext cx="22252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Neutron spin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45" name="直方体 44">
              <a:extLst>
                <a:ext uri="{FF2B5EF4-FFF2-40B4-BE49-F238E27FC236}">
                  <a16:creationId xmlns:a16="http://schemas.microsoft.com/office/drawing/2014/main" id="{37C03EE9-5948-6DE8-6C74-1E3F1E08CA5D}"/>
                </a:ext>
              </a:extLst>
            </p:cNvPr>
            <p:cNvSpPr/>
            <p:nvPr/>
          </p:nvSpPr>
          <p:spPr>
            <a:xfrm>
              <a:off x="10991864" y="7446484"/>
              <a:ext cx="404011" cy="404011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F6ED9C77-8D7A-C1F6-3F8B-6465E9CC4209}"/>
                </a:ext>
              </a:extLst>
            </p:cNvPr>
            <p:cNvCxnSpPr>
              <a:cxnSpLocks/>
            </p:cNvCxnSpPr>
            <p:nvPr/>
          </p:nvCxnSpPr>
          <p:spPr>
            <a:xfrm>
              <a:off x="11211688" y="7684558"/>
              <a:ext cx="42148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ACAC0EEA-9E3A-DB03-1C33-E51D9A4FA39C}"/>
                </a:ext>
              </a:extLst>
            </p:cNvPr>
            <p:cNvSpPr txBox="1"/>
            <p:nvPr/>
          </p:nvSpPr>
          <p:spPr>
            <a:xfrm>
              <a:off x="11967481" y="6807831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↑↓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4EB54C0A-8578-2C8F-000E-C2CEB53E4560}"/>
                </a:ext>
              </a:extLst>
            </p:cNvPr>
            <p:cNvSpPr txBox="1"/>
            <p:nvPr/>
          </p:nvSpPr>
          <p:spPr>
            <a:xfrm>
              <a:off x="14144139" y="6418787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64D8BD4B-70AD-76FF-9D2E-6593C90312ED}"/>
                </a:ext>
              </a:extLst>
            </p:cNvPr>
            <p:cNvSpPr txBox="1"/>
            <p:nvPr/>
          </p:nvSpPr>
          <p:spPr>
            <a:xfrm>
              <a:off x="13719071" y="9095883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2D detector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59" name="円柱 58">
              <a:extLst>
                <a:ext uri="{FF2B5EF4-FFF2-40B4-BE49-F238E27FC236}">
                  <a16:creationId xmlns:a16="http://schemas.microsoft.com/office/drawing/2014/main" id="{EBFE64B6-7FF6-4E2C-81C5-4430FD674026}"/>
                </a:ext>
              </a:extLst>
            </p:cNvPr>
            <p:cNvSpPr/>
            <p:nvPr/>
          </p:nvSpPr>
          <p:spPr>
            <a:xfrm rot="16200000">
              <a:off x="12773290" y="7244340"/>
              <a:ext cx="1420013" cy="824491"/>
            </a:xfrm>
            <a:prstGeom prst="can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2DF13D54-4487-ED02-2E55-B00037FCC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087" y="7702329"/>
              <a:ext cx="4364940" cy="8202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7FF7C10C-DD16-7633-43D3-B08BFC68E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39552" y="6760877"/>
              <a:ext cx="4164215" cy="905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直方体 78">
              <a:extLst>
                <a:ext uri="{FF2B5EF4-FFF2-40B4-BE49-F238E27FC236}">
                  <a16:creationId xmlns:a16="http://schemas.microsoft.com/office/drawing/2014/main" id="{C50F7179-ABDB-4CC5-A268-22E40ED878D6}"/>
                </a:ext>
              </a:extLst>
            </p:cNvPr>
            <p:cNvSpPr/>
            <p:nvPr/>
          </p:nvSpPr>
          <p:spPr>
            <a:xfrm rot="16200000">
              <a:off x="13713285" y="6973278"/>
              <a:ext cx="3774024" cy="1325919"/>
            </a:xfrm>
            <a:prstGeom prst="cube">
              <a:avLst>
                <a:gd name="adj" fmla="val 79178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9D95940F-6051-907C-A92E-950691B4DDA9}"/>
                </a:ext>
              </a:extLst>
            </p:cNvPr>
            <p:cNvSpPr/>
            <p:nvPr/>
          </p:nvSpPr>
          <p:spPr>
            <a:xfrm>
              <a:off x="15019874" y="6491633"/>
              <a:ext cx="829034" cy="2304437"/>
            </a:xfrm>
            <a:prstGeom prst="ellipse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89E0D2D1-CC99-B26A-475A-1437086D779A}"/>
                </a:ext>
              </a:extLst>
            </p:cNvPr>
            <p:cNvCxnSpPr>
              <a:cxnSpLocks/>
              <a:stCxn id="81" idx="0"/>
            </p:cNvCxnSpPr>
            <p:nvPr/>
          </p:nvCxnSpPr>
          <p:spPr>
            <a:xfrm flipH="1">
              <a:off x="11206235" y="6491633"/>
              <a:ext cx="4228157" cy="120465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CBFC27F9-F2BE-9728-C256-78DEF4C70395}"/>
                </a:ext>
              </a:extLst>
            </p:cNvPr>
            <p:cNvCxnSpPr>
              <a:cxnSpLocks/>
              <a:stCxn id="81" idx="4"/>
            </p:cNvCxnSpPr>
            <p:nvPr/>
          </p:nvCxnSpPr>
          <p:spPr>
            <a:xfrm flipH="1" flipV="1">
              <a:off x="11159205" y="7752944"/>
              <a:ext cx="4275187" cy="104312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62FD9FFC-49A7-10F4-D4E6-9CD70245F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26585" y="9152170"/>
              <a:ext cx="496064" cy="62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F0682F20-EDB0-A3DC-E991-AD0186B73529}"/>
                </a:ext>
              </a:extLst>
            </p:cNvPr>
            <p:cNvSpPr txBox="1"/>
            <p:nvPr/>
          </p:nvSpPr>
          <p:spPr>
            <a:xfrm>
              <a:off x="11650832" y="5909674"/>
              <a:ext cx="34547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baseline="30000" dirty="0">
                  <a:latin typeface="Helvetica" pitchFamily="2" charset="0"/>
                </a:rPr>
                <a:t>3</a:t>
              </a:r>
              <a:r>
                <a:rPr lang="en-US" altLang="ja-JP" sz="2800" dirty="0">
                  <a:latin typeface="Helvetica" pitchFamily="2" charset="0"/>
                </a:rPr>
                <a:t>He-NSF (Analyzer) 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FBE738F-3A1E-1F0B-267F-841F602611E6}"/>
                </a:ext>
              </a:extLst>
            </p:cNvPr>
            <p:cNvCxnSpPr>
              <a:cxnSpLocks/>
            </p:cNvCxnSpPr>
            <p:nvPr/>
          </p:nvCxnSpPr>
          <p:spPr>
            <a:xfrm>
              <a:off x="13106719" y="6438246"/>
              <a:ext cx="196976" cy="468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DF720712-A848-9E5D-6ADA-A8698EFD2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00953" y="7142231"/>
              <a:ext cx="1005630" cy="104425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57CE4EA-6FB5-8BDB-149C-377568AC0D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585" y="6319549"/>
              <a:ext cx="0" cy="264059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97EB2C86-17FA-09EF-7FDE-48EE2AA6AF90}"/>
                </a:ext>
              </a:extLst>
            </p:cNvPr>
            <p:cNvSpPr txBox="1"/>
            <p:nvPr/>
          </p:nvSpPr>
          <p:spPr>
            <a:xfrm>
              <a:off x="5739637" y="1829684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(a)</a:t>
              </a:r>
              <a:endParaRPr lang="ja-JP" altLang="en-US" sz="3600">
                <a:latin typeface="Helvetica" pitchFamily="2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149C5C8-63EB-F344-1471-9D373B28C265}"/>
                </a:ext>
              </a:extLst>
            </p:cNvPr>
            <p:cNvSpPr txBox="1"/>
            <p:nvPr/>
          </p:nvSpPr>
          <p:spPr>
            <a:xfrm>
              <a:off x="5739637" y="5648780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600" dirty="0">
                  <a:latin typeface="Helvetica" pitchFamily="2" charset="0"/>
                </a:rPr>
                <a:t>(b)</a:t>
              </a:r>
              <a:endParaRPr lang="ja-JP" altLang="en-US" sz="3600">
                <a:latin typeface="Helvetica" pitchFamily="2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C63A0C7-12D5-27EC-2659-8AD820F49CD0}"/>
                </a:ext>
              </a:extLst>
            </p:cNvPr>
            <p:cNvCxnSpPr>
              <a:cxnSpLocks/>
            </p:cNvCxnSpPr>
            <p:nvPr/>
          </p:nvCxnSpPr>
          <p:spPr>
            <a:xfrm>
              <a:off x="5639052" y="5591276"/>
              <a:ext cx="10800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0EFBF89-2592-35AC-5A3B-1533F9CAAD04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356882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F90264E-ED4F-700D-FEFC-6403819B9D78}"/>
                </a:ext>
              </a:extLst>
            </p:cNvPr>
            <p:cNvSpPr txBox="1"/>
            <p:nvPr/>
          </p:nvSpPr>
          <p:spPr>
            <a:xfrm>
              <a:off x="7654792" y="1866631"/>
              <a:ext cx="33570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Cu</a:t>
              </a:r>
              <a:r>
                <a:rPr lang="en-US" altLang="ja-JP" sz="2800" baseline="-25000" dirty="0">
                  <a:latin typeface="Helvetica" pitchFamily="2" charset="0"/>
                </a:rPr>
                <a:t>2</a:t>
              </a:r>
              <a:r>
                <a:rPr lang="en-US" altLang="ja-JP" sz="2800" dirty="0">
                  <a:latin typeface="Helvetica" pitchFamily="2" charset="0"/>
                </a:rPr>
                <a:t>MnAl (Polarizer)</a:t>
              </a:r>
              <a:endParaRPr lang="ja-JP" altLang="en-US" sz="2800">
                <a:latin typeface="Helvetica" pitchFamily="2" charset="0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93282025-ABB8-0CF1-EA19-B59D0A934CE2}"/>
                </a:ext>
              </a:extLst>
            </p:cNvPr>
            <p:cNvSpPr/>
            <p:nvPr/>
          </p:nvSpPr>
          <p:spPr>
            <a:xfrm>
              <a:off x="8213871" y="2753147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24506363-19A0-4594-FA52-41510D6B4717}"/>
                </a:ext>
              </a:extLst>
            </p:cNvPr>
            <p:cNvCxnSpPr>
              <a:cxnSpLocks/>
            </p:cNvCxnSpPr>
            <p:nvPr/>
          </p:nvCxnSpPr>
          <p:spPr>
            <a:xfrm rot="900000" flipV="1">
              <a:off x="8632376" y="7352512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B9A48DB5-B01E-E3B1-CD4C-40800373B39A}"/>
                </a:ext>
              </a:extLst>
            </p:cNvPr>
            <p:cNvSpPr/>
            <p:nvPr/>
          </p:nvSpPr>
          <p:spPr>
            <a:xfrm>
              <a:off x="8321393" y="6536837"/>
              <a:ext cx="843984" cy="819482"/>
            </a:xfrm>
            <a:prstGeom prst="cube">
              <a:avLst>
                <a:gd name="adj" fmla="val 1403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CE841F53-51E2-8D24-045D-D5EA7D70D300}"/>
                </a:ext>
              </a:extLst>
            </p:cNvPr>
            <p:cNvSpPr txBox="1"/>
            <p:nvPr/>
          </p:nvSpPr>
          <p:spPr>
            <a:xfrm>
              <a:off x="9253847" y="6906532"/>
              <a:ext cx="10677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3600" b="1" dirty="0">
                  <a:latin typeface="Helvetica" pitchFamily="2" charset="0"/>
                </a:rPr>
                <a:t> </a:t>
              </a:r>
              <a:r>
                <a:rPr lang="ja-JP" altLang="en-US" sz="3600" b="1">
                  <a:latin typeface="Helvetica" pitchFamily="2" charset="0"/>
                </a:rPr>
                <a:t>↑</a:t>
              </a: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5D04362-05BB-2502-3C75-D24AA2E25146}"/>
                </a:ext>
              </a:extLst>
            </p:cNvPr>
            <p:cNvSpPr txBox="1"/>
            <p:nvPr/>
          </p:nvSpPr>
          <p:spPr>
            <a:xfrm>
              <a:off x="5582139" y="3129128"/>
              <a:ext cx="158569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Incident 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neutrons</a:t>
              </a:r>
              <a:endParaRPr lang="ja-JP" altLang="en-US" sz="2800">
                <a:latin typeface="Helvetica" pitchFamily="2" charset="0"/>
              </a:endParaRPr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0296AB5-1E51-27B3-C4AD-0FC5F1565F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25719" y="3695765"/>
              <a:ext cx="244340" cy="5717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フレーム 54">
              <a:extLst>
                <a:ext uri="{FF2B5EF4-FFF2-40B4-BE49-F238E27FC236}">
                  <a16:creationId xmlns:a16="http://schemas.microsoft.com/office/drawing/2014/main" id="{4D1AB191-6367-114F-F21E-A3E9E73FAFC3}"/>
                </a:ext>
              </a:extLst>
            </p:cNvPr>
            <p:cNvSpPr/>
            <p:nvPr/>
          </p:nvSpPr>
          <p:spPr>
            <a:xfrm rot="900000">
              <a:off x="10052128" y="3276996"/>
              <a:ext cx="191806" cy="659461"/>
            </a:xfrm>
            <a:prstGeom prst="fram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67A21D21-927A-A8AE-EEFA-10BEA48C2137}"/>
                </a:ext>
              </a:extLst>
            </p:cNvPr>
            <p:cNvSpPr txBox="1"/>
            <p:nvPr/>
          </p:nvSpPr>
          <p:spPr>
            <a:xfrm>
              <a:off x="8666664" y="4142163"/>
              <a:ext cx="1984839" cy="15081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latin typeface="Helvetica" pitchFamily="2" charset="0"/>
                </a:rPr>
                <a:t>Spin flipper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off : </a:t>
              </a:r>
              <a:r>
                <a:rPr lang="ja-JP" altLang="en-US" sz="3200">
                  <a:latin typeface="Helvetica" pitchFamily="2" charset="0"/>
                </a:rPr>
                <a:t>↑</a:t>
              </a:r>
              <a:br>
                <a:rPr lang="en-US" altLang="ja-JP" sz="2800" dirty="0">
                  <a:latin typeface="Helvetica" pitchFamily="2" charset="0"/>
                </a:rPr>
              </a:br>
              <a:r>
                <a:rPr lang="en-US" altLang="ja-JP" sz="2800" dirty="0">
                  <a:latin typeface="Helvetica" pitchFamily="2" charset="0"/>
                </a:rPr>
                <a:t>on :</a:t>
              </a:r>
              <a:r>
                <a:rPr lang="en-US" altLang="ja-JP" sz="3200" dirty="0">
                  <a:latin typeface="Helvetica" pitchFamily="2" charset="0"/>
                </a:rPr>
                <a:t> </a:t>
              </a:r>
              <a:r>
                <a:rPr lang="ja-JP" altLang="en-US" sz="3200">
                  <a:latin typeface="Helvetica" pitchFamily="2" charset="0"/>
                </a:rPr>
                <a:t>↓</a:t>
              </a: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984C2C0D-3064-504F-8999-022065DD0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0275" y="3860631"/>
              <a:ext cx="205015" cy="2989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3A5D8B8-206F-6D90-660D-AB1EE918E242}"/>
                </a:ext>
              </a:extLst>
            </p:cNvPr>
            <p:cNvGrpSpPr/>
            <p:nvPr/>
          </p:nvGrpSpPr>
          <p:grpSpPr>
            <a:xfrm>
              <a:off x="12798529" y="1984434"/>
              <a:ext cx="3448176" cy="2872310"/>
              <a:chOff x="12850781" y="2650643"/>
              <a:chExt cx="3448176" cy="2872310"/>
            </a:xfrm>
          </p:grpSpPr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58DCC79F-1C28-169C-A217-D2765DED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745998" y="3875267"/>
                <a:ext cx="2269707" cy="11297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BB3AB76-421D-F768-1A44-69C0B1B5BC04}"/>
                  </a:ext>
                </a:extLst>
              </p:cNvPr>
              <p:cNvSpPr txBox="1"/>
              <p:nvPr/>
            </p:nvSpPr>
            <p:spPr>
              <a:xfrm>
                <a:off x="13420772" y="4999733"/>
                <a:ext cx="23647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point detector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sp>
            <p:nvSpPr>
              <p:cNvPr id="14" name="台形 13">
                <a:extLst>
                  <a:ext uri="{FF2B5EF4-FFF2-40B4-BE49-F238E27FC236}">
                    <a16:creationId xmlns:a16="http://schemas.microsoft.com/office/drawing/2014/main" id="{BA361D3D-F931-CA1C-D592-FA0A02CFF969}"/>
                  </a:ext>
                </a:extLst>
              </p:cNvPr>
              <p:cNvSpPr/>
              <p:nvPr/>
            </p:nvSpPr>
            <p:spPr>
              <a:xfrm rot="17563388">
                <a:off x="15699176" y="4867313"/>
                <a:ext cx="626300" cy="271759"/>
              </a:xfrm>
              <a:prstGeom prst="trapezoid">
                <a:avLst>
                  <a:gd name="adj" fmla="val 5288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8" name="直方体 27">
                <a:extLst>
                  <a:ext uri="{FF2B5EF4-FFF2-40B4-BE49-F238E27FC236}">
                    <a16:creationId xmlns:a16="http://schemas.microsoft.com/office/drawing/2014/main" id="{07C507A8-F560-5D50-70C8-F3AF691D1595}"/>
                  </a:ext>
                </a:extLst>
              </p:cNvPr>
              <p:cNvSpPr/>
              <p:nvPr/>
            </p:nvSpPr>
            <p:spPr>
              <a:xfrm>
                <a:off x="13334355" y="3415457"/>
                <a:ext cx="843984" cy="819482"/>
              </a:xfrm>
              <a:prstGeom prst="cube">
                <a:avLst>
                  <a:gd name="adj" fmla="val 14033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D267C78C-6CE9-069B-4F4D-CDDB3F905BE5}"/>
                  </a:ext>
                </a:extLst>
              </p:cNvPr>
              <p:cNvSpPr/>
              <p:nvPr/>
            </p:nvSpPr>
            <p:spPr>
              <a:xfrm rot="1357681">
                <a:off x="16134153" y="4774976"/>
                <a:ext cx="164804" cy="626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53AA2C9-8C96-A6D2-9C0D-95037A7DFEE0}"/>
                  </a:ext>
                </a:extLst>
              </p:cNvPr>
              <p:cNvSpPr txBox="1"/>
              <p:nvPr/>
            </p:nvSpPr>
            <p:spPr>
              <a:xfrm>
                <a:off x="14627771" y="4115435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</a:t>
                </a: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429CB282-0A2F-F620-F1D1-095B13A77E33}"/>
                  </a:ext>
                </a:extLst>
              </p:cNvPr>
              <p:cNvSpPr txBox="1"/>
              <p:nvPr/>
            </p:nvSpPr>
            <p:spPr>
              <a:xfrm>
                <a:off x="12850781" y="2650643"/>
                <a:ext cx="33361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800" dirty="0">
                    <a:latin typeface="Helvetica" pitchFamily="2" charset="0"/>
                  </a:rPr>
                  <a:t>Cu</a:t>
                </a:r>
                <a:r>
                  <a:rPr lang="en-US" altLang="ja-JP" sz="2800" baseline="-25000" dirty="0">
                    <a:latin typeface="Helvetica" pitchFamily="2" charset="0"/>
                  </a:rPr>
                  <a:t>2</a:t>
                </a:r>
                <a:r>
                  <a:rPr lang="en-US" altLang="ja-JP" sz="2800" dirty="0">
                    <a:latin typeface="Helvetica" pitchFamily="2" charset="0"/>
                  </a:rPr>
                  <a:t>MnAl (Analyzer)</a:t>
                </a:r>
                <a:endParaRPr lang="ja-JP" altLang="en-US" sz="2800">
                  <a:latin typeface="Helvetica" pitchFamily="2" charset="0"/>
                </a:endParaRPr>
              </a:p>
            </p:txBody>
          </p:sp>
          <p:cxnSp>
            <p:nvCxnSpPr>
              <p:cNvPr id="58" name="直線コネクタ 57">
                <a:extLst>
                  <a:ext uri="{FF2B5EF4-FFF2-40B4-BE49-F238E27FC236}">
                    <a16:creationId xmlns:a16="http://schemas.microsoft.com/office/drawing/2014/main" id="{0F6C997A-A929-07B4-CA2B-CD41D1947D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857737" y="3108968"/>
                <a:ext cx="352289" cy="4040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376A7616-1D21-4369-BBD3-408A34AF1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667787" y="5172996"/>
                <a:ext cx="366715" cy="614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C3F3A306-BC49-1A64-C7F5-1FD565B0B077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4270534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/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(only </a:t>
                  </a:r>
                  <a:r>
                    <a:rPr lang="en-US" altLang="ja-JP" sz="2800" dirty="0">
                      <a:solidFill>
                        <a:srgbClr val="7030A0"/>
                      </a:solidFill>
                      <a:latin typeface="Helvetica" pitchFamily="2" charset="0"/>
                    </a:rPr>
                    <a:t>in-plane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400B9FA7-B11A-6497-4D4A-E159160BE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4407" y="4630433"/>
                  <a:ext cx="2826644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232" t="-11905" r="-3571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4B4F7895-4ABE-1EF7-A716-BEB21613F46C}"/>
                </a:ext>
              </a:extLst>
            </p:cNvPr>
            <p:cNvCxnSpPr>
              <a:cxnSpLocks/>
            </p:cNvCxnSpPr>
            <p:nvPr/>
          </p:nvCxnSpPr>
          <p:spPr>
            <a:xfrm rot="6180000" flipV="1">
              <a:off x="10685857" y="8060638"/>
              <a:ext cx="782875" cy="539"/>
            </a:xfrm>
            <a:prstGeom prst="straightConnector1">
              <a:avLst/>
            </a:prstGeom>
            <a:ln w="25400" cap="rnd">
              <a:solidFill>
                <a:srgbClr val="7030A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/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ja-JP" sz="2800" b="1" i="1">
                          <a:latin typeface="Cambria Math" panose="02040503050406030204" pitchFamily="18" charset="0"/>
                        </a:rPr>
                        <m:t>𝑸</m:t>
                      </m:r>
                    </m:oMath>
                  </a14:m>
                  <a:r>
                    <a:rPr lang="en-US" altLang="ja-JP" sz="2800" b="1" dirty="0">
                      <a:latin typeface="Helvetica" pitchFamily="2" charset="0"/>
                    </a:rPr>
                    <a:t> </a:t>
                  </a:r>
                  <a:r>
                    <a:rPr lang="en-US" altLang="ja-JP" sz="2800" dirty="0">
                      <a:latin typeface="Helvetica" pitchFamily="2" charset="0"/>
                    </a:rPr>
                    <a:t>(including </a:t>
                  </a:r>
                  <a:r>
                    <a:rPr lang="en-US" altLang="ja-JP" sz="2800" dirty="0">
                      <a:solidFill>
                        <a:srgbClr val="C00000"/>
                      </a:solidFill>
                      <a:latin typeface="Helvetica" pitchFamily="2" charset="0"/>
                    </a:rPr>
                    <a:t>out-of-plane</a:t>
                  </a:r>
                  <a:r>
                    <a:rPr lang="en-US" altLang="ja-JP" sz="2800" dirty="0">
                      <a:latin typeface="Helvetica" pitchFamily="2" charset="0"/>
                    </a:rPr>
                    <a:t>)</a:t>
                  </a:r>
                  <a:endParaRPr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B208EB6F-457E-C647-E023-62B280341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7855" y="8645598"/>
                  <a:ext cx="442419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433" t="-11905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FF2940BC-1B66-21AD-E4AF-788D1D9FD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3217" y="7690747"/>
              <a:ext cx="63635" cy="938727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5D5EA5A2-68FB-9941-FFA5-E0D61F9B5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3192" y="7681070"/>
              <a:ext cx="375394" cy="487656"/>
            </a:xfrm>
            <a:prstGeom prst="straightConnector1">
              <a:avLst/>
            </a:prstGeom>
            <a:ln w="25400" cap="rnd">
              <a:solidFill>
                <a:srgbClr val="C00000"/>
              </a:solidFill>
              <a:miter lim="800000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5D6A781-E576-CBC8-6C12-4CAB99B78982}"/>
                </a:ext>
              </a:extLst>
            </p:cNvPr>
            <p:cNvGrpSpPr/>
            <p:nvPr/>
          </p:nvGrpSpPr>
          <p:grpSpPr>
            <a:xfrm>
              <a:off x="7078983" y="3049434"/>
              <a:ext cx="1584000" cy="646331"/>
              <a:chOff x="7070781" y="3049434"/>
              <a:chExt cx="1584000" cy="646331"/>
            </a:xfrm>
          </p:grpSpPr>
          <p:cxnSp>
            <p:nvCxnSpPr>
              <p:cNvPr id="4" name="直線矢印コネクタ 3">
                <a:extLst>
                  <a:ext uri="{FF2B5EF4-FFF2-40B4-BE49-F238E27FC236}">
                    <a16:creationId xmlns:a16="http://schemas.microsoft.com/office/drawing/2014/main" id="{73562BE5-0F52-0209-1976-30DF871B74B8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7070781" y="3446703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91E45B3-48F4-06D9-4ABE-642B0CD1FFCD}"/>
                  </a:ext>
                </a:extLst>
              </p:cNvPr>
              <p:cNvSpPr txBox="1"/>
              <p:nvPr/>
            </p:nvSpPr>
            <p:spPr>
              <a:xfrm>
                <a:off x="7410746" y="3049434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8C8DE6EB-A6C6-F22A-F328-4043C7AD8C47}"/>
                </a:ext>
              </a:extLst>
            </p:cNvPr>
            <p:cNvCxnSpPr>
              <a:cxnSpLocks/>
            </p:cNvCxnSpPr>
            <p:nvPr/>
          </p:nvCxnSpPr>
          <p:spPr>
            <a:xfrm rot="20700000">
              <a:off x="11109968" y="3551403"/>
              <a:ext cx="2609583" cy="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869D76D-C86C-FD8B-29FF-5818B8B07909}"/>
                </a:ext>
              </a:extLst>
            </p:cNvPr>
            <p:cNvGrpSpPr/>
            <p:nvPr/>
          </p:nvGrpSpPr>
          <p:grpSpPr>
            <a:xfrm>
              <a:off x="7078983" y="6836975"/>
              <a:ext cx="1584000" cy="646331"/>
              <a:chOff x="6488494" y="8645598"/>
              <a:chExt cx="1584000" cy="646331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FF68CCD5-8F94-A7AB-0DE4-21325FF4EF9A}"/>
                  </a:ext>
                </a:extLst>
              </p:cNvPr>
              <p:cNvCxnSpPr>
                <a:cxnSpLocks/>
              </p:cNvCxnSpPr>
              <p:nvPr/>
            </p:nvCxnSpPr>
            <p:spPr>
              <a:xfrm rot="20700000">
                <a:off x="6488494" y="9042867"/>
                <a:ext cx="1584000" cy="5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3118DC0-E93F-D18D-60A6-55B28FC33BD6}"/>
                  </a:ext>
                </a:extLst>
              </p:cNvPr>
              <p:cNvSpPr txBox="1"/>
              <p:nvPr/>
            </p:nvSpPr>
            <p:spPr>
              <a:xfrm>
                <a:off x="6828459" y="8645598"/>
                <a:ext cx="10677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3600" b="1" dirty="0">
                    <a:latin typeface="Helvetica" pitchFamily="2" charset="0"/>
                  </a:rPr>
                  <a:t> </a:t>
                </a:r>
                <a:r>
                  <a:rPr lang="ja-JP" altLang="en-US" sz="3600" b="1">
                    <a:latin typeface="Helvetica" pitchFamily="2" charset="0"/>
                  </a:rPr>
                  <a:t>↑↓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9897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C9F5362-D112-3805-A90A-1983C4F7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391" y="1740713"/>
            <a:ext cx="11268181" cy="5019015"/>
          </a:xfrm>
          <a:prstGeom prst="rect">
            <a:avLst/>
          </a:prstGeom>
        </p:spPr>
      </p:pic>
      <p:sp>
        <p:nvSpPr>
          <p:cNvPr id="6" name="円柱 5">
            <a:extLst>
              <a:ext uri="{FF2B5EF4-FFF2-40B4-BE49-F238E27FC236}">
                <a16:creationId xmlns:a16="http://schemas.microsoft.com/office/drawing/2014/main" id="{984405EE-F880-D7C9-CE53-9FA18DB42D6F}"/>
              </a:ext>
            </a:extLst>
          </p:cNvPr>
          <p:cNvSpPr/>
          <p:nvPr/>
        </p:nvSpPr>
        <p:spPr>
          <a:xfrm rot="10800000">
            <a:off x="4743224" y="7868450"/>
            <a:ext cx="2931200" cy="265134"/>
          </a:xfrm>
          <a:prstGeom prst="can">
            <a:avLst/>
          </a:prstGeom>
          <a:noFill/>
          <a:ln>
            <a:solidFill>
              <a:srgbClr val="B51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7CD57551-6520-7B3D-8CEF-20CE5382B630}"/>
              </a:ext>
            </a:extLst>
          </p:cNvPr>
          <p:cNvSpPr/>
          <p:nvPr/>
        </p:nvSpPr>
        <p:spPr>
          <a:xfrm rot="10800000">
            <a:off x="4743222" y="10136816"/>
            <a:ext cx="2931200" cy="26513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</p:spTree>
    <p:extLst>
      <p:ext uri="{BB962C8B-B14F-4D97-AF65-F5344CB8AC3E}">
        <p14:creationId xmlns:p14="http://schemas.microsoft.com/office/powerpoint/2010/main" val="52540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F7A6CD4D-AB6B-5C5A-1E56-BB067CB52E46}"/>
              </a:ext>
            </a:extLst>
          </p:cNvPr>
          <p:cNvGrpSpPr/>
          <p:nvPr/>
        </p:nvGrpSpPr>
        <p:grpSpPr>
          <a:xfrm>
            <a:off x="3882529" y="3949991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1C564E99-47BF-B1BD-3419-778B68FF6CDE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0DD4D157-E966-89C6-36B7-D8A720B55AA2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2CA7AAB-05E4-5A35-697D-5147785FFB1B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F16F9AAF-88EE-CB40-EC67-803F8C6EA340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F928DAA7-3F9B-309E-0FFB-BBCB8276C247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05003477-DD85-B7AA-C078-BA7D6CE0E652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157A28FC-B530-5145-2596-8D027E16949C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E6632747-DC88-34D5-32B6-D55CF9B2FE76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CE252C3C-4757-381D-3337-C3F4338D66F1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E67CCA46-7176-C6E1-EA5C-FA9F72FAEBD0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B523E821-5DBB-3EE1-9F23-2D5DB988C2E8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41BE1EE-9397-91EF-9C7E-A2738FDF386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C6983668-CECB-52D1-E795-C91A2C2F4CB1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1F0CC500-C76E-6F81-AB7F-0CE2874748C1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5C7D3D89-659C-8C77-5D5E-49EDA9B976FA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7C117C8B-C53A-CFC1-5CE4-CBCB5CB975A7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2D90ADEE-8B1E-B969-12D0-98E2C15096A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98E2252E-794F-23FF-C70F-8439B5A6BD7C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CDBF76BC-563C-2A91-9618-DB1B94F56F78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867A595D-F511-6A02-1458-AEE684AC89C2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AAB19653-59B7-6142-882C-F06CD41FA4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96C0A1DD-3F87-B729-1E6C-7000094B7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91B4B6E3-49C0-8150-055D-8AC50CD3FD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4301CB9E-B920-12F0-7392-D06D47A687DD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C217FB8-FF15-BBFF-0C09-36D0426F87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AD5737F8-F164-22FA-C2C5-A30DC115E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96C695B7-5691-9B2B-6DDA-15524B3AC999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20DABD53-0FA8-1F70-239C-B86970BB2EDA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B789FAA8-0761-86AB-7D21-94CC4E553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5D0FFB25-E4BC-982A-9ABA-07956D5BDAF6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9EA2B3E8-4B7D-6B52-E391-8E45B07E2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14A488D1-ACE7-3B8C-9AAA-09A04982191D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BB0EA51E-5AEA-2AA3-AC22-5DFB687C0F33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0CB63B2C-5E5E-91D8-7157-DB5BA97181C5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FE4FA560-5953-2877-9B30-AE42ACD750AF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24705C5B-3559-2E1A-1242-6FD348B0E0A9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26E7D839-7C7B-4D12-5E6E-699E7F4E373A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F9B89CA2-903F-77BC-DC90-0DC50FC9A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F236AD42-BEC8-D3DD-045B-49D8CBBF84C6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93B6E2F-B62F-C094-85BC-9946FF6D344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BBFAC900-9A47-C8FA-A3F2-E1E3132932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6B881E15-30CA-CBA6-64DA-BA513DAFAE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B6B74019-D525-73CE-88C9-05ECA6F85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56BD81EF-E76F-CF9F-0F15-F01633284E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2F2F349E-4D3B-2252-65CD-DD23546638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7F72C6A3-7C7E-9AB3-F786-9EB40EECC2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6A3C6A2A-CE25-96E7-BD60-3F92335F8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0EEE19C1-E8FC-0573-AD48-CCBF91568B86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BA57638D-7D36-35AA-FF65-1E248D079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49A1AABA-84CB-3440-1151-A2357CE4BB0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5A501EC4-AAEB-26C3-0AAD-4E228EAF5B69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29BD2212-BA91-0432-6345-551BC28D31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C2B99A9-9F3A-8040-03FE-D882A2A25A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A797F58-2EB8-7EBE-71E9-67101A27304D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511D629A-7806-E358-1780-793B75ACBB6A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F5193AF4-D737-C616-DAA1-3FDA162893BA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3CBEB329-57CA-2D6E-81E9-24357DCE6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B5E2C366-D167-F337-1479-31299A0B3B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62AE40F6-47D2-735B-1942-2E7CE2D67C92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3355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AD27-27B8-6915-4311-18A6982C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85D68D65-0E0F-8FE8-44D5-81F772F4F993}"/>
              </a:ext>
            </a:extLst>
          </p:cNvPr>
          <p:cNvGrpSpPr/>
          <p:nvPr/>
        </p:nvGrpSpPr>
        <p:grpSpPr>
          <a:xfrm>
            <a:off x="3882529" y="2308686"/>
            <a:ext cx="14005918" cy="6181532"/>
            <a:chOff x="1265602" y="904906"/>
            <a:chExt cx="9660796" cy="4263806"/>
          </a:xfrm>
        </p:grpSpPr>
        <p:sp>
          <p:nvSpPr>
            <p:cNvPr id="162" name="環状矢印 161">
              <a:extLst>
                <a:ext uri="{FF2B5EF4-FFF2-40B4-BE49-F238E27FC236}">
                  <a16:creationId xmlns:a16="http://schemas.microsoft.com/office/drawing/2014/main" id="{8BEA00CE-AE8D-D77C-C351-4B6822213CDD}"/>
                </a:ext>
              </a:extLst>
            </p:cNvPr>
            <p:cNvSpPr/>
            <p:nvPr/>
          </p:nvSpPr>
          <p:spPr>
            <a:xfrm rot="5400000">
              <a:off x="3831440" y="679866"/>
              <a:ext cx="359684" cy="91095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529627"/>
                <a:gd name="adj5" fmla="val 1930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F8278C4C-2283-E008-ACA2-871D1A60D757}"/>
                </a:ext>
              </a:extLst>
            </p:cNvPr>
            <p:cNvGrpSpPr/>
            <p:nvPr/>
          </p:nvGrpSpPr>
          <p:grpSpPr>
            <a:xfrm>
              <a:off x="1265602" y="1316504"/>
              <a:ext cx="9660796" cy="3852208"/>
              <a:chOff x="144102" y="839426"/>
              <a:chExt cx="9660796" cy="3852208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C58FB6CF-996A-3078-DE28-CF0770DB1273}"/>
                  </a:ext>
                </a:extLst>
              </p:cNvPr>
              <p:cNvGrpSpPr/>
              <p:nvPr/>
            </p:nvGrpSpPr>
            <p:grpSpPr>
              <a:xfrm>
                <a:off x="7777986" y="1479601"/>
                <a:ext cx="1932495" cy="3077028"/>
                <a:chOff x="7673548" y="1407885"/>
                <a:chExt cx="1932495" cy="3077028"/>
              </a:xfrm>
              <a:solidFill>
                <a:schemeClr val="bg2"/>
              </a:solidFill>
            </p:grpSpPr>
            <p:sp>
              <p:nvSpPr>
                <p:cNvPr id="7" name="台形 6">
                  <a:extLst>
                    <a:ext uri="{FF2B5EF4-FFF2-40B4-BE49-F238E27FC236}">
                      <a16:creationId xmlns:a16="http://schemas.microsoft.com/office/drawing/2014/main" id="{5FEB478D-C1C8-6FC0-6B5A-A4B72F3D7A79}"/>
                    </a:ext>
                  </a:extLst>
                </p:cNvPr>
                <p:cNvSpPr/>
                <p:nvPr/>
              </p:nvSpPr>
              <p:spPr>
                <a:xfrm rot="16200000">
                  <a:off x="6587233" y="2494200"/>
                  <a:ext cx="3077027" cy="904397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196FC690-3ECA-D5CB-A36C-E048E827BE75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C489DDFE-F575-5A81-35E1-F186B189D44E}"/>
                  </a:ext>
                </a:extLst>
              </p:cNvPr>
              <p:cNvSpPr/>
              <p:nvPr/>
            </p:nvSpPr>
            <p:spPr>
              <a:xfrm>
                <a:off x="7946708" y="1984791"/>
                <a:ext cx="554712" cy="2101434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0" name="円柱 9">
                <a:extLst>
                  <a:ext uri="{FF2B5EF4-FFF2-40B4-BE49-F238E27FC236}">
                    <a16:creationId xmlns:a16="http://schemas.microsoft.com/office/drawing/2014/main" id="{4D7FC5C0-1331-3B54-F089-BFAC93942DF6}"/>
                  </a:ext>
                </a:extLst>
              </p:cNvPr>
              <p:cNvSpPr/>
              <p:nvPr/>
            </p:nvSpPr>
            <p:spPr>
              <a:xfrm rot="16200000">
                <a:off x="6378296" y="1959996"/>
                <a:ext cx="2101433" cy="2116238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" name="円柱 3">
                <a:extLst>
                  <a:ext uri="{FF2B5EF4-FFF2-40B4-BE49-F238E27FC236}">
                    <a16:creationId xmlns:a16="http://schemas.microsoft.com/office/drawing/2014/main" id="{F642354F-9CB9-D6A3-85DC-3B43EBD863AA}"/>
                  </a:ext>
                </a:extLst>
              </p:cNvPr>
              <p:cNvSpPr/>
              <p:nvPr/>
            </p:nvSpPr>
            <p:spPr>
              <a:xfrm rot="16200000">
                <a:off x="5135963" y="2592937"/>
                <a:ext cx="967489" cy="812798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4" name="円柱 23">
                <a:extLst>
                  <a:ext uri="{FF2B5EF4-FFF2-40B4-BE49-F238E27FC236}">
                    <a16:creationId xmlns:a16="http://schemas.microsoft.com/office/drawing/2014/main" id="{DE3D0CC8-30D7-5A9B-4414-157F024FABE2}"/>
                  </a:ext>
                </a:extLst>
              </p:cNvPr>
              <p:cNvSpPr/>
              <p:nvPr/>
            </p:nvSpPr>
            <p:spPr>
              <a:xfrm rot="16200000">
                <a:off x="4812998" y="2260957"/>
                <a:ext cx="1600986" cy="1514805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" name="円柱 4">
                <a:extLst>
                  <a:ext uri="{FF2B5EF4-FFF2-40B4-BE49-F238E27FC236}">
                    <a16:creationId xmlns:a16="http://schemas.microsoft.com/office/drawing/2014/main" id="{0A889B7D-F000-4506-7BE0-0430831F8532}"/>
                  </a:ext>
                </a:extLst>
              </p:cNvPr>
              <p:cNvSpPr/>
              <p:nvPr/>
            </p:nvSpPr>
            <p:spPr>
              <a:xfrm rot="16200000">
                <a:off x="4536504" y="1715460"/>
                <a:ext cx="2101433" cy="260531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7AF4DF76-139E-2576-59A1-85DC693BCAB0}"/>
                  </a:ext>
                </a:extLst>
              </p:cNvPr>
              <p:cNvSpPr/>
              <p:nvPr/>
            </p:nvSpPr>
            <p:spPr>
              <a:xfrm>
                <a:off x="4426209" y="2508300"/>
                <a:ext cx="203113" cy="101962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6" name="円柱 55">
                <a:extLst>
                  <a:ext uri="{FF2B5EF4-FFF2-40B4-BE49-F238E27FC236}">
                    <a16:creationId xmlns:a16="http://schemas.microsoft.com/office/drawing/2014/main" id="{93557D9F-F996-87D8-E636-CE0EA1AB91A9}"/>
                  </a:ext>
                </a:extLst>
              </p:cNvPr>
              <p:cNvSpPr/>
              <p:nvPr/>
            </p:nvSpPr>
            <p:spPr>
              <a:xfrm>
                <a:off x="5459153" y="3551975"/>
                <a:ext cx="308675" cy="82494"/>
              </a:xfrm>
              <a:prstGeom prst="can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25D55AA0-F945-E36E-83B5-918125D600BF}"/>
                  </a:ext>
                </a:extLst>
              </p:cNvPr>
              <p:cNvSpPr/>
              <p:nvPr/>
            </p:nvSpPr>
            <p:spPr>
              <a:xfrm>
                <a:off x="2698195" y="862149"/>
                <a:ext cx="383177" cy="98386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円柱 12">
                <a:extLst>
                  <a:ext uri="{FF2B5EF4-FFF2-40B4-BE49-F238E27FC236}">
                    <a16:creationId xmlns:a16="http://schemas.microsoft.com/office/drawing/2014/main" id="{A0435D30-AEC5-EA1B-5FE9-F4B47DB0B3C7}"/>
                  </a:ext>
                </a:extLst>
              </p:cNvPr>
              <p:cNvSpPr/>
              <p:nvPr/>
            </p:nvSpPr>
            <p:spPr>
              <a:xfrm rot="10800000">
                <a:off x="1150247" y="1274636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6" name="円柱 15">
                <a:extLst>
                  <a:ext uri="{FF2B5EF4-FFF2-40B4-BE49-F238E27FC236}">
                    <a16:creationId xmlns:a16="http://schemas.microsoft.com/office/drawing/2014/main" id="{A9E47CD0-4331-E573-75B0-6F62C48D95DC}"/>
                  </a:ext>
                </a:extLst>
              </p:cNvPr>
              <p:cNvSpPr/>
              <p:nvPr/>
            </p:nvSpPr>
            <p:spPr>
              <a:xfrm rot="10800000">
                <a:off x="1481120" y="1503874"/>
                <a:ext cx="2803444" cy="306382"/>
              </a:xfrm>
              <a:prstGeom prst="can">
                <a:avLst>
                  <a:gd name="adj" fmla="val 5103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8" name="円柱 17">
                <a:extLst>
                  <a:ext uri="{FF2B5EF4-FFF2-40B4-BE49-F238E27FC236}">
                    <a16:creationId xmlns:a16="http://schemas.microsoft.com/office/drawing/2014/main" id="{A08D5AC5-A748-0765-11F0-66C6B2877D23}"/>
                  </a:ext>
                </a:extLst>
              </p:cNvPr>
              <p:cNvSpPr/>
              <p:nvPr/>
            </p:nvSpPr>
            <p:spPr>
              <a:xfrm>
                <a:off x="1143304" y="4385252"/>
                <a:ext cx="3479075" cy="306382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3" name="円柱 22">
                <a:extLst>
                  <a:ext uri="{FF2B5EF4-FFF2-40B4-BE49-F238E27FC236}">
                    <a16:creationId xmlns:a16="http://schemas.microsoft.com/office/drawing/2014/main" id="{9BAD4B3E-F8D6-4BF5-6F56-20EAFA65D37F}"/>
                  </a:ext>
                </a:extLst>
              </p:cNvPr>
              <p:cNvSpPr/>
              <p:nvPr/>
            </p:nvSpPr>
            <p:spPr>
              <a:xfrm>
                <a:off x="3545807" y="1666025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2" name="円柱 21">
                <a:extLst>
                  <a:ext uri="{FF2B5EF4-FFF2-40B4-BE49-F238E27FC236}">
                    <a16:creationId xmlns:a16="http://schemas.microsoft.com/office/drawing/2014/main" id="{165A0675-2CC8-0B4C-A562-C3B1E9BA082B}"/>
                  </a:ext>
                </a:extLst>
              </p:cNvPr>
              <p:cNvSpPr/>
              <p:nvPr/>
            </p:nvSpPr>
            <p:spPr>
              <a:xfrm>
                <a:off x="1793927" y="1776579"/>
                <a:ext cx="426720" cy="2562710"/>
              </a:xfrm>
              <a:prstGeom prst="can">
                <a:avLst>
                  <a:gd name="adj" fmla="val 0"/>
                </a:avLst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B8C94D9D-02D3-9086-DB3C-C9644E430F9E}"/>
                  </a:ext>
                </a:extLst>
              </p:cNvPr>
              <p:cNvSpPr/>
              <p:nvPr/>
            </p:nvSpPr>
            <p:spPr>
              <a:xfrm>
                <a:off x="1488062" y="4150562"/>
                <a:ext cx="2803444" cy="306382"/>
              </a:xfrm>
              <a:prstGeom prst="can">
                <a:avLst/>
              </a:prstGeom>
              <a:solidFill>
                <a:srgbClr val="B518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20" name="円柱 19">
                <a:extLst>
                  <a:ext uri="{FF2B5EF4-FFF2-40B4-BE49-F238E27FC236}">
                    <a16:creationId xmlns:a16="http://schemas.microsoft.com/office/drawing/2014/main" id="{F5825D9E-674B-F31F-1B91-280CF18850CA}"/>
                  </a:ext>
                </a:extLst>
              </p:cNvPr>
              <p:cNvSpPr/>
              <p:nvPr/>
            </p:nvSpPr>
            <p:spPr>
              <a:xfrm>
                <a:off x="2112132" y="1846016"/>
                <a:ext cx="1541417" cy="2386350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63" name="直線コネクタ 62">
                <a:extLst>
                  <a:ext uri="{FF2B5EF4-FFF2-40B4-BE49-F238E27FC236}">
                    <a16:creationId xmlns:a16="http://schemas.microsoft.com/office/drawing/2014/main" id="{D5CC801C-A5AA-03B2-55C9-8D54A6FBA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000" y="1470951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31EF9B32-D749-B12B-C680-1CB0D1292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6673" y="1476870"/>
                <a:ext cx="0" cy="32922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AB923B5-47F9-5984-6218-CABC2D69C4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20547" y="2217865"/>
                <a:ext cx="5292040" cy="73664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円/楕円 75">
                <a:extLst>
                  <a:ext uri="{FF2B5EF4-FFF2-40B4-BE49-F238E27FC236}">
                    <a16:creationId xmlns:a16="http://schemas.microsoft.com/office/drawing/2014/main" id="{BA16E80E-7D2C-61C5-677D-B12DE85B8914}"/>
                  </a:ext>
                </a:extLst>
              </p:cNvPr>
              <p:cNvSpPr/>
              <p:nvPr/>
            </p:nvSpPr>
            <p:spPr>
              <a:xfrm>
                <a:off x="8018575" y="2217865"/>
                <a:ext cx="388024" cy="1600988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66957B1-CBA3-CDE0-AC38-71D95CB525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30599" y="3041692"/>
                <a:ext cx="5293465" cy="75901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3F5F782F-CA69-C775-F6DD-DC16F2D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8062" y="1044772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EA3F463D-E7A1-355B-40F2-C6DECED8719F}"/>
                  </a:ext>
                </a:extLst>
              </p:cNvPr>
              <p:cNvSpPr txBox="1"/>
              <p:nvPr/>
            </p:nvSpPr>
            <p:spPr>
              <a:xfrm>
                <a:off x="996736" y="839426"/>
                <a:ext cx="1086015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Helmholtz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4B31AE5D-438F-BED0-417A-409EF0B5BF79}"/>
                  </a:ext>
                </a:extLst>
              </p:cNvPr>
              <p:cNvSpPr txBox="1"/>
              <p:nvPr/>
            </p:nvSpPr>
            <p:spPr>
              <a:xfrm>
                <a:off x="3154805" y="867026"/>
                <a:ext cx="70123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Cryostat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64E0DB65-AA42-0BB2-4A5D-FBA86A9A6F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78000" y="1112301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7021EF9-8974-A911-1681-295C1F236F3C}"/>
                  </a:ext>
                </a:extLst>
              </p:cNvPr>
              <p:cNvSpPr txBox="1"/>
              <p:nvPr/>
            </p:nvSpPr>
            <p:spPr>
              <a:xfrm>
                <a:off x="2201126" y="3487311"/>
                <a:ext cx="648159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Sample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CE85C9EA-84C9-6475-21C1-1A7B3CD7B6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8454" y="3057934"/>
                <a:ext cx="350604" cy="5058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38D78327-5E3B-557C-BAC3-2CCD1AADA928}"/>
                  </a:ext>
                </a:extLst>
              </p:cNvPr>
              <p:cNvSpPr txBox="1"/>
              <p:nvPr/>
            </p:nvSpPr>
            <p:spPr>
              <a:xfrm>
                <a:off x="5160219" y="3593222"/>
                <a:ext cx="86377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Pickup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1C5090F4-B658-7F93-2BCF-5AFB49801175}"/>
                  </a:ext>
                </a:extLst>
              </p:cNvPr>
              <p:cNvSpPr txBox="1"/>
              <p:nvPr/>
            </p:nvSpPr>
            <p:spPr>
              <a:xfrm>
                <a:off x="5258177" y="2241517"/>
                <a:ext cx="65589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cell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E4D82E73-FCF5-7D2A-98FF-FC16E98F96EB}"/>
                  </a:ext>
                </a:extLst>
              </p:cNvPr>
              <p:cNvSpPr txBox="1"/>
              <p:nvPr/>
            </p:nvSpPr>
            <p:spPr>
              <a:xfrm>
                <a:off x="5282222" y="1991537"/>
                <a:ext cx="607248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RF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0DA292B5-64B6-0654-D699-345EC15D516E}"/>
                  </a:ext>
                </a:extLst>
              </p:cNvPr>
              <p:cNvSpPr txBox="1"/>
              <p:nvPr/>
            </p:nvSpPr>
            <p:spPr>
              <a:xfrm>
                <a:off x="5069022" y="1702469"/>
                <a:ext cx="100751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baseline="30000" dirty="0">
                    <a:latin typeface="Helvetica" pitchFamily="2" charset="0"/>
                  </a:rPr>
                  <a:t>3</a:t>
                </a:r>
                <a:r>
                  <a:rPr lang="en-US" altLang="ja-JP" sz="1740" dirty="0">
                    <a:latin typeface="Helvetica" pitchFamily="2" charset="0"/>
                  </a:rPr>
                  <a:t>He NSF coil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5FE685A7-7478-0A33-E4E9-2870C1D15EBB}"/>
                  </a:ext>
                </a:extLst>
              </p:cNvPr>
              <p:cNvSpPr txBox="1"/>
              <p:nvPr/>
            </p:nvSpPr>
            <p:spPr>
              <a:xfrm>
                <a:off x="6698495" y="1707516"/>
                <a:ext cx="1433203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guide tube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950BF32F-CBA7-BA7F-0360-CD9B8BB2A2A8}"/>
                  </a:ext>
                </a:extLst>
              </p:cNvPr>
              <p:cNvSpPr txBox="1"/>
              <p:nvPr/>
            </p:nvSpPr>
            <p:spPr>
              <a:xfrm>
                <a:off x="8024186" y="1184457"/>
                <a:ext cx="1630460" cy="24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Area detector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EB22324D-BCAF-8918-3349-AE4531AA6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73560" y="1427826"/>
                <a:ext cx="227144" cy="241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383C8CBC-2577-6AC0-E70F-C9F00B0E7B01}"/>
                  </a:ext>
                </a:extLst>
              </p:cNvPr>
              <p:cNvSpPr txBox="1"/>
              <p:nvPr/>
            </p:nvSpPr>
            <p:spPr>
              <a:xfrm>
                <a:off x="8603378" y="1815102"/>
                <a:ext cx="120152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Polarization analysis region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06" name="直線コネクタ 105">
                <a:extLst>
                  <a:ext uri="{FF2B5EF4-FFF2-40B4-BE49-F238E27FC236}">
                    <a16:creationId xmlns:a16="http://schemas.microsoft.com/office/drawing/2014/main" id="{08D4E7DE-1277-5119-BA5B-E25CC3E95E5F}"/>
                  </a:ext>
                </a:extLst>
              </p:cNvPr>
              <p:cNvCxnSpPr>
                <a:cxnSpLocks/>
                <a:stCxn id="105" idx="1"/>
              </p:cNvCxnSpPr>
              <p:nvPr/>
            </p:nvCxnSpPr>
            <p:spPr>
              <a:xfrm flipH="1">
                <a:off x="8270078" y="2031641"/>
                <a:ext cx="333300" cy="3572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DBAE7AAD-1936-25F2-0AE6-B7E8494CA0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9153" y="2469717"/>
                <a:ext cx="151841" cy="900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3E3A1273-7BCB-7FF2-6D3D-3110D1416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311" y="2196493"/>
                <a:ext cx="111047" cy="5270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70651A2E-3BA0-09B8-5F32-614A0983F8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2837" y="1926096"/>
                <a:ext cx="122714" cy="9315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08238BC8-54ED-9E8F-046B-D2836672F0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5270" y="3604650"/>
                <a:ext cx="81202" cy="6636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2AE9917-F1CC-7065-82B2-11213F5406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1914" y="1926096"/>
                <a:ext cx="149762" cy="1111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矢印コネクタ 129">
                <a:extLst>
                  <a:ext uri="{FF2B5EF4-FFF2-40B4-BE49-F238E27FC236}">
                    <a16:creationId xmlns:a16="http://schemas.microsoft.com/office/drawing/2014/main" id="{EFA86554-5367-F3E4-2057-E800F36AC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7163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矢印コネクタ 131">
                <a:extLst>
                  <a:ext uri="{FF2B5EF4-FFF2-40B4-BE49-F238E27FC236}">
                    <a16:creationId xmlns:a16="http://schemas.microsoft.com/office/drawing/2014/main" id="{1D5E2810-93F7-47E7-917E-FB3EC9B17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705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矢印コネクタ 134">
                <a:extLst>
                  <a:ext uri="{FF2B5EF4-FFF2-40B4-BE49-F238E27FC236}">
                    <a16:creationId xmlns:a16="http://schemas.microsoft.com/office/drawing/2014/main" id="{B8E55602-BA19-A00E-8F33-40899B685DDC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124079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矢印コネクタ 135">
                <a:extLst>
                  <a:ext uri="{FF2B5EF4-FFF2-40B4-BE49-F238E27FC236}">
                    <a16:creationId xmlns:a16="http://schemas.microsoft.com/office/drawing/2014/main" id="{A42D04BC-D8E5-0B50-060A-D75B021F3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0621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6246C06-C820-8745-D700-93C24545E10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10994" y="27080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B82CFE07-6820-1766-341D-9D7BF6AA2E3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486753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矢印コネクタ 138">
                <a:extLst>
                  <a:ext uri="{FF2B5EF4-FFF2-40B4-BE49-F238E27FC236}">
                    <a16:creationId xmlns:a16="http://schemas.microsoft.com/office/drawing/2014/main" id="{5857BCD4-9E44-DDA6-8249-0BB796128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0247" y="2695315"/>
                <a:ext cx="0" cy="57093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39">
                <a:extLst>
                  <a:ext uri="{FF2B5EF4-FFF2-40B4-BE49-F238E27FC236}">
                    <a16:creationId xmlns:a16="http://schemas.microsoft.com/office/drawing/2014/main" id="{CD1D8427-D540-56B4-C323-27456022E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821" y="2985918"/>
                <a:ext cx="7473766" cy="981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831C093-6012-C795-7A2C-962F64C42C0F}"/>
                  </a:ext>
                </a:extLst>
              </p:cNvPr>
              <p:cNvSpPr/>
              <p:nvPr/>
            </p:nvSpPr>
            <p:spPr>
              <a:xfrm>
                <a:off x="2847436" y="2946470"/>
                <a:ext cx="84694" cy="88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ADDCDBD6-A42C-62A8-4A2C-DEFABC62DF3C}"/>
                  </a:ext>
                </a:extLst>
              </p:cNvPr>
              <p:cNvSpPr txBox="1"/>
              <p:nvPr/>
            </p:nvSpPr>
            <p:spPr>
              <a:xfrm>
                <a:off x="144102" y="2759990"/>
                <a:ext cx="1071710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Neutron beam path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22094CBD-6947-C2D1-33FB-6F0B56EB9860}"/>
                  </a:ext>
                </a:extLst>
              </p:cNvPr>
              <p:cNvSpPr txBox="1"/>
              <p:nvPr/>
            </p:nvSpPr>
            <p:spPr>
              <a:xfrm>
                <a:off x="658445" y="2149183"/>
                <a:ext cx="1155006" cy="43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740" dirty="0">
                    <a:latin typeface="Helvetica" pitchFamily="2" charset="0"/>
                  </a:rPr>
                  <a:t>Magnetic field direction</a:t>
                </a:r>
                <a:endParaRPr lang="ja-JP" altLang="en-US" sz="1740">
                  <a:latin typeface="Helvetica" pitchFamily="2" charset="0"/>
                </a:endParaRPr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CB36B824-DB32-77EB-8759-CEBACCD7A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8033" y="2531220"/>
                <a:ext cx="94224" cy="2361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F1577166-591F-3473-7382-9A7869B877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022861" y="2880000"/>
              <a:ext cx="3960000" cy="98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2D90FE06-9453-FD63-1E89-CFB6F08A2300}"/>
                </a:ext>
              </a:extLst>
            </p:cNvPr>
            <p:cNvSpPr txBox="1"/>
            <p:nvPr/>
          </p:nvSpPr>
          <p:spPr>
            <a:xfrm>
              <a:off x="4352259" y="940260"/>
              <a:ext cx="798534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 err="1">
                  <a:latin typeface="Helvetica" pitchFamily="2" charset="0"/>
                </a:rPr>
                <a:t>ω</a:t>
              </a:r>
              <a:r>
                <a:rPr lang="en-US" altLang="ja-JP" sz="1740" dirty="0">
                  <a:latin typeface="Helvetica" pitchFamily="2" charset="0"/>
                </a:rPr>
                <a:t> rotation</a:t>
              </a:r>
              <a:endParaRPr lang="ja-JP" altLang="en-US" sz="174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9244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B0ADA4F-093A-6372-8621-E4BCFF96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618" y="1143649"/>
            <a:ext cx="8027658" cy="9574271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75EAEC4-9499-5C70-437D-EDC997261C23}"/>
              </a:ext>
            </a:extLst>
          </p:cNvPr>
          <p:cNvGrpSpPr/>
          <p:nvPr/>
        </p:nvGrpSpPr>
        <p:grpSpPr>
          <a:xfrm rot="16200000">
            <a:off x="4498101" y="3912710"/>
            <a:ext cx="2561273" cy="4205084"/>
            <a:chOff x="1690201" y="1904427"/>
            <a:chExt cx="1766677" cy="2900521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79EBC44-4B5D-4A52-C645-28524C2B9F04}"/>
                </a:ext>
              </a:extLst>
            </p:cNvPr>
            <p:cNvSpPr/>
            <p:nvPr/>
          </p:nvSpPr>
          <p:spPr>
            <a:xfrm>
              <a:off x="2040673" y="2588321"/>
              <a:ext cx="1416205" cy="141620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A882771E-6849-AF3B-573D-C36E30E97AF0}"/>
                </a:ext>
              </a:extLst>
            </p:cNvPr>
            <p:cNvGrpSpPr/>
            <p:nvPr/>
          </p:nvGrpSpPr>
          <p:grpSpPr>
            <a:xfrm rot="1920000">
              <a:off x="1690201" y="3598729"/>
              <a:ext cx="975485" cy="1206219"/>
              <a:chOff x="1065188" y="4581148"/>
              <a:chExt cx="975485" cy="1206219"/>
            </a:xfrm>
          </p:grpSpPr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57A3D423-262D-33B5-DDF5-0A0413C39178}"/>
                  </a:ext>
                </a:extLst>
              </p:cNvPr>
              <p:cNvGrpSpPr/>
              <p:nvPr/>
            </p:nvGrpSpPr>
            <p:grpSpPr>
              <a:xfrm rot="16200000">
                <a:off x="1274265" y="4608909"/>
                <a:ext cx="557328" cy="501805"/>
                <a:chOff x="1611589" y="4646196"/>
                <a:chExt cx="702527" cy="501805"/>
              </a:xfrm>
            </p:grpSpPr>
            <p:sp>
              <p:nvSpPr>
                <p:cNvPr id="14" name="角丸四角形 13">
                  <a:extLst>
                    <a:ext uri="{FF2B5EF4-FFF2-40B4-BE49-F238E27FC236}">
                      <a16:creationId xmlns:a16="http://schemas.microsoft.com/office/drawing/2014/main" id="{58D0274C-C254-0ED8-9832-D5AF0BE26CED}"/>
                    </a:ext>
                  </a:extLst>
                </p:cNvPr>
                <p:cNvSpPr/>
                <p:nvPr/>
              </p:nvSpPr>
              <p:spPr>
                <a:xfrm rot="5400000">
                  <a:off x="1711950" y="4545835"/>
                  <a:ext cx="501805" cy="702527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5" name="角丸四角形 14">
                  <a:extLst>
                    <a:ext uri="{FF2B5EF4-FFF2-40B4-BE49-F238E27FC236}">
                      <a16:creationId xmlns:a16="http://schemas.microsoft.com/office/drawing/2014/main" id="{1F812631-5DBD-5E38-A31A-0A922180C616}"/>
                    </a:ext>
                  </a:extLst>
                </p:cNvPr>
                <p:cNvSpPr/>
                <p:nvPr/>
              </p:nvSpPr>
              <p:spPr>
                <a:xfrm rot="5400000">
                  <a:off x="1751180" y="4688987"/>
                  <a:ext cx="423343" cy="416221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角丸四角形 15">
                  <a:extLst>
                    <a:ext uri="{FF2B5EF4-FFF2-40B4-BE49-F238E27FC236}">
                      <a16:creationId xmlns:a16="http://schemas.microsoft.com/office/drawing/2014/main" id="{70B62A3F-4BFF-5DE8-3192-39EC91709AE8}"/>
                    </a:ext>
                  </a:extLst>
                </p:cNvPr>
                <p:cNvSpPr/>
                <p:nvPr/>
              </p:nvSpPr>
              <p:spPr>
                <a:xfrm rot="5400000">
                  <a:off x="1807763" y="4765186"/>
                  <a:ext cx="310175" cy="263822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8" name="角丸四角形 17">
                <a:extLst>
                  <a:ext uri="{FF2B5EF4-FFF2-40B4-BE49-F238E27FC236}">
                    <a16:creationId xmlns:a16="http://schemas.microsoft.com/office/drawing/2014/main" id="{624B06DE-A606-3D76-D973-3503FC26FECD}"/>
                  </a:ext>
                </a:extLst>
              </p:cNvPr>
              <p:cNvSpPr/>
              <p:nvPr/>
            </p:nvSpPr>
            <p:spPr>
              <a:xfrm>
                <a:off x="1302027" y="5157769"/>
                <a:ext cx="501805" cy="443762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9" name="角丸四角形 18">
                <a:extLst>
                  <a:ext uri="{FF2B5EF4-FFF2-40B4-BE49-F238E27FC236}">
                    <a16:creationId xmlns:a16="http://schemas.microsoft.com/office/drawing/2014/main" id="{782FB9ED-9430-6806-E730-A607ED3A14F3}"/>
                  </a:ext>
                </a:extLst>
              </p:cNvPr>
              <p:cNvSpPr/>
              <p:nvPr/>
            </p:nvSpPr>
            <p:spPr>
              <a:xfrm>
                <a:off x="1065188" y="5620824"/>
                <a:ext cx="975485" cy="166543"/>
              </a:xfrm>
              <a:prstGeom prst="roundRect">
                <a:avLst>
                  <a:gd name="adj" fmla="val 0"/>
                </a:avLst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41A0DAE4-8231-27A1-89D0-C46A8CB84D70}"/>
                </a:ext>
              </a:extLst>
            </p:cNvPr>
            <p:cNvSpPr/>
            <p:nvPr/>
          </p:nvSpPr>
          <p:spPr>
            <a:xfrm>
              <a:off x="2250687" y="2798335"/>
              <a:ext cx="996175" cy="996175"/>
            </a:xfrm>
            <a:prstGeom prst="ellipse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9999CD35-54CB-713A-6ED5-EB4709D9458D}"/>
                </a:ext>
              </a:extLst>
            </p:cNvPr>
            <p:cNvSpPr/>
            <p:nvPr/>
          </p:nvSpPr>
          <p:spPr>
            <a:xfrm>
              <a:off x="2298388" y="2846036"/>
              <a:ext cx="900772" cy="900772"/>
            </a:xfrm>
            <a:prstGeom prst="ellipse">
              <a:avLst/>
            </a:prstGeom>
            <a:solidFill>
              <a:srgbClr val="C134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DF5C62F-CADC-DCD3-8082-78BDE8F7B03F}"/>
                </a:ext>
              </a:extLst>
            </p:cNvPr>
            <p:cNvSpPr/>
            <p:nvPr/>
          </p:nvSpPr>
          <p:spPr>
            <a:xfrm>
              <a:off x="2388774" y="2936422"/>
              <a:ext cx="720000" cy="7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B919886-B978-EB7B-7D30-D99CB451DB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2774" y="2990422"/>
              <a:ext cx="612000" cy="61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1082C011-EC51-4BE6-07DF-3B80DC8343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2774" y="3080422"/>
              <a:ext cx="432000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C77140B7-F245-FAC2-1E76-CF623A918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4774" y="3242422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DA5A5CD-D01A-1C82-3601-E1356275F1D4}"/>
                </a:ext>
              </a:extLst>
            </p:cNvPr>
            <p:cNvCxnSpPr>
              <a:cxnSpLocks/>
            </p:cNvCxnSpPr>
            <p:nvPr/>
          </p:nvCxnSpPr>
          <p:spPr>
            <a:xfrm>
              <a:off x="2748774" y="1904427"/>
              <a:ext cx="0" cy="2196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46785565-B642-8CB0-58C1-7E2C6101B53F}"/>
                </a:ext>
              </a:extLst>
            </p:cNvPr>
            <p:cNvCxnSpPr>
              <a:cxnSpLocks/>
            </p:cNvCxnSpPr>
            <p:nvPr/>
          </p:nvCxnSpPr>
          <p:spPr>
            <a:xfrm rot="1920000">
              <a:off x="2349792" y="3175126"/>
              <a:ext cx="0" cy="1512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C0B7E80-CBDA-C1EF-52EC-B2E6039B34DD}"/>
                </a:ext>
              </a:extLst>
            </p:cNvPr>
            <p:cNvSpPr/>
            <p:nvPr/>
          </p:nvSpPr>
          <p:spPr>
            <a:xfrm>
              <a:off x="2574820" y="4102100"/>
              <a:ext cx="347907" cy="14680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F57C11-19B7-D473-C134-28DFEB8BEA76}"/>
              </a:ext>
            </a:extLst>
          </p:cNvPr>
          <p:cNvSpPr txBox="1"/>
          <p:nvPr/>
        </p:nvSpPr>
        <p:spPr>
          <a:xfrm>
            <a:off x="10391175" y="7134483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D92A9EC-438A-8346-38FC-16146A383BAB}"/>
              </a:ext>
            </a:extLst>
          </p:cNvPr>
          <p:cNvSpPr txBox="1"/>
          <p:nvPr/>
        </p:nvSpPr>
        <p:spPr>
          <a:xfrm>
            <a:off x="8646192" y="5607080"/>
            <a:ext cx="2037737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Beam stopper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79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28F9-6402-4DC8-0334-3D049EB4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638153E-FF3A-3AA8-E828-E062A71B7910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9F166BF8-6A6B-FB1A-B01A-95102C98CAB0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CE05B23-53C6-80E2-ABD8-574E36312F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C6922390-AC97-77A8-72E9-A6B9591CFBA1}"/>
              </a:ext>
            </a:extLst>
          </p:cNvPr>
          <p:cNvGrpSpPr/>
          <p:nvPr/>
        </p:nvGrpSpPr>
        <p:grpSpPr>
          <a:xfrm>
            <a:off x="4009144" y="1127584"/>
            <a:ext cx="12743655" cy="9966660"/>
            <a:chOff x="1352936" y="-16656"/>
            <a:chExt cx="8790131" cy="6874656"/>
          </a:xfrm>
        </p:grpSpPr>
        <p:grpSp>
          <p:nvGrpSpPr>
            <p:cNvPr id="188" name="グループ化 187">
              <a:extLst>
                <a:ext uri="{FF2B5EF4-FFF2-40B4-BE49-F238E27FC236}">
                  <a16:creationId xmlns:a16="http://schemas.microsoft.com/office/drawing/2014/main" id="{9ABFCF7F-5659-739D-6B81-3F48A9524BC9}"/>
                </a:ext>
              </a:extLst>
            </p:cNvPr>
            <p:cNvGrpSpPr/>
            <p:nvPr/>
          </p:nvGrpSpPr>
          <p:grpSpPr>
            <a:xfrm>
              <a:off x="1352936" y="-16656"/>
              <a:ext cx="8790131" cy="6874656"/>
              <a:chOff x="1265850" y="-25443"/>
              <a:chExt cx="8790131" cy="6874656"/>
            </a:xfrm>
          </p:grpSpPr>
          <p:grpSp>
            <p:nvGrpSpPr>
              <p:cNvPr id="182" name="グループ化 181">
                <a:extLst>
                  <a:ext uri="{FF2B5EF4-FFF2-40B4-BE49-F238E27FC236}">
                    <a16:creationId xmlns:a16="http://schemas.microsoft.com/office/drawing/2014/main" id="{61E66263-4218-3504-FBD6-04C8D31DE0CA}"/>
                  </a:ext>
                </a:extLst>
              </p:cNvPr>
              <p:cNvGrpSpPr/>
              <p:nvPr/>
            </p:nvGrpSpPr>
            <p:grpSpPr>
              <a:xfrm>
                <a:off x="1265850" y="-25443"/>
                <a:ext cx="8790131" cy="6874656"/>
                <a:chOff x="1265850" y="-25443"/>
                <a:chExt cx="8790131" cy="6874656"/>
              </a:xfrm>
            </p:grpSpPr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5DE63A2D-483B-3739-D179-3BD8DD67FB1F}"/>
                    </a:ext>
                  </a:extLst>
                </p:cNvPr>
                <p:cNvSpPr txBox="1"/>
                <p:nvPr/>
              </p:nvSpPr>
              <p:spPr>
                <a:xfrm>
                  <a:off x="1288207" y="3307498"/>
                  <a:ext cx="1005298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Side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55" name="グループ化 154">
                  <a:extLst>
                    <a:ext uri="{FF2B5EF4-FFF2-40B4-BE49-F238E27FC236}">
                      <a16:creationId xmlns:a16="http://schemas.microsoft.com/office/drawing/2014/main" id="{716B64F5-5A21-64F3-7BB5-183B287C06D3}"/>
                    </a:ext>
                  </a:extLst>
                </p:cNvPr>
                <p:cNvGrpSpPr/>
                <p:nvPr/>
              </p:nvGrpSpPr>
              <p:grpSpPr>
                <a:xfrm>
                  <a:off x="1976839" y="3233662"/>
                  <a:ext cx="7811525" cy="3615551"/>
                  <a:chOff x="1947586" y="2840648"/>
                  <a:chExt cx="8695118" cy="4024521"/>
                </a:xfrm>
              </p:grpSpPr>
              <p:sp>
                <p:nvSpPr>
                  <p:cNvPr id="40" name="円柱 39">
                    <a:extLst>
                      <a:ext uri="{FF2B5EF4-FFF2-40B4-BE49-F238E27FC236}">
                        <a16:creationId xmlns:a16="http://schemas.microsoft.com/office/drawing/2014/main" id="{57467AB9-8C98-C39A-A07D-718A2A2BBF55}"/>
                      </a:ext>
                    </a:extLst>
                  </p:cNvPr>
                  <p:cNvSpPr/>
                  <p:nvPr/>
                </p:nvSpPr>
                <p:spPr>
                  <a:xfrm>
                    <a:off x="4751695" y="4016823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3" name="円柱 42">
                    <a:extLst>
                      <a:ext uri="{FF2B5EF4-FFF2-40B4-BE49-F238E27FC236}">
                        <a16:creationId xmlns:a16="http://schemas.microsoft.com/office/drawing/2014/main" id="{FEBE68F3-6619-BE32-6D19-0DB74C6B9EF2}"/>
                      </a:ext>
                    </a:extLst>
                  </p:cNvPr>
                  <p:cNvSpPr/>
                  <p:nvPr/>
                </p:nvSpPr>
                <p:spPr>
                  <a:xfrm>
                    <a:off x="3402015" y="4186268"/>
                    <a:ext cx="1451109" cy="2246540"/>
                  </a:xfrm>
                  <a:prstGeom prst="can">
                    <a:avLst>
                      <a:gd name="adj" fmla="val 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grpSp>
                <p:nvGrpSpPr>
                  <p:cNvPr id="140" name="グループ化 139">
                    <a:extLst>
                      <a:ext uri="{FF2B5EF4-FFF2-40B4-BE49-F238E27FC236}">
                        <a16:creationId xmlns:a16="http://schemas.microsoft.com/office/drawing/2014/main" id="{969FC5A6-63DC-C083-5482-12EB2E8D32C9}"/>
                      </a:ext>
                    </a:extLst>
                  </p:cNvPr>
                  <p:cNvGrpSpPr/>
                  <p:nvPr/>
                </p:nvGrpSpPr>
                <p:grpSpPr>
                  <a:xfrm>
                    <a:off x="2110713" y="4206078"/>
                    <a:ext cx="8531991" cy="2152802"/>
                    <a:chOff x="2109163" y="3841318"/>
                    <a:chExt cx="8446024" cy="2896756"/>
                  </a:xfrm>
                </p:grpSpPr>
                <p:grpSp>
                  <p:nvGrpSpPr>
                    <p:cNvPr id="23" name="グループ化 22">
                      <a:extLst>
                        <a:ext uri="{FF2B5EF4-FFF2-40B4-BE49-F238E27FC236}">
                          <a16:creationId xmlns:a16="http://schemas.microsoft.com/office/drawing/2014/main" id="{3E854746-A9F2-12EE-0609-C8048B4313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826434" y="3841318"/>
                      <a:ext cx="1728753" cy="2896756"/>
                      <a:chOff x="7769702" y="1407882"/>
                      <a:chExt cx="1836341" cy="3077031"/>
                    </a:xfrm>
                    <a:solidFill>
                      <a:schemeClr val="bg2"/>
                    </a:solidFill>
                  </p:grpSpPr>
                  <p:sp>
                    <p:nvSpPr>
                      <p:cNvPr id="81" name="台形 80">
                        <a:extLst>
                          <a:ext uri="{FF2B5EF4-FFF2-40B4-BE49-F238E27FC236}">
                            <a16:creationId xmlns:a16="http://schemas.microsoft.com/office/drawing/2014/main" id="{7E780E6F-F846-5069-CDF2-4FC9448BB44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2451" y="2545133"/>
                        <a:ext cx="3077030" cy="802528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82" name="正方形/長方形 81">
                        <a:extLst>
                          <a:ext uri="{FF2B5EF4-FFF2-40B4-BE49-F238E27FC236}">
                            <a16:creationId xmlns:a16="http://schemas.microsoft.com/office/drawing/2014/main" id="{6E0F520F-4AB6-7F06-0207-70DD0F17D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26" name="円柱 25">
                      <a:extLst>
                        <a:ext uri="{FF2B5EF4-FFF2-40B4-BE49-F238E27FC236}">
                          <a16:creationId xmlns:a16="http://schemas.microsoft.com/office/drawing/2014/main" id="{D78C956F-B24D-1E5A-E7CC-BDC808148C7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18235" y="4293571"/>
                      <a:ext cx="1978315" cy="19922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1" name="円柱 30">
                      <a:extLst>
                        <a:ext uri="{FF2B5EF4-FFF2-40B4-BE49-F238E27FC236}">
                          <a16:creationId xmlns:a16="http://schemas.microsoft.com/office/drawing/2014/main" id="{FCC7530F-7093-D4ED-7312-99258A2C0B1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116026" y="4889429"/>
                      <a:ext cx="910806" cy="765178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2" name="円柱 31">
                      <a:extLst>
                        <a:ext uri="{FF2B5EF4-FFF2-40B4-BE49-F238E27FC236}">
                          <a16:creationId xmlns:a16="http://schemas.microsoft.com/office/drawing/2014/main" id="{B4C32D06-23D4-9198-CDCA-A72B1A2ADD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811984" y="4576899"/>
                      <a:ext cx="1507188" cy="1426056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3" name="円柱 32">
                      <a:extLst>
                        <a:ext uri="{FF2B5EF4-FFF2-40B4-BE49-F238E27FC236}">
                          <a16:creationId xmlns:a16="http://schemas.microsoft.com/office/drawing/2014/main" id="{5A8F0BBA-B464-5B6B-DF5D-A0656F62486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551688" y="4063362"/>
                      <a:ext cx="1978315" cy="2452673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4" name="円/楕円 33">
                      <a:extLst>
                        <a:ext uri="{FF2B5EF4-FFF2-40B4-BE49-F238E27FC236}">
                          <a16:creationId xmlns:a16="http://schemas.microsoft.com/office/drawing/2014/main" id="{515D955E-C5AA-B58C-67E6-DC756AB4AD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8304" y="4809751"/>
                      <a:ext cx="191213" cy="959893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35" name="円柱 34">
                      <a:extLst>
                        <a:ext uri="{FF2B5EF4-FFF2-40B4-BE49-F238E27FC236}">
                          <a16:creationId xmlns:a16="http://schemas.microsoft.com/office/drawing/2014/main" id="{C5FE4729-8D53-8102-D3E4-EDE91B62F2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20282" y="5792280"/>
                      <a:ext cx="290590" cy="77661"/>
                    </a:xfrm>
                    <a:prstGeom prst="can">
                      <a:avLst/>
                    </a:prstGeom>
                    <a:noFill/>
                    <a:ln w="127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46" name="直線コネクタ 45">
                      <a:extLst>
                        <a:ext uri="{FF2B5EF4-FFF2-40B4-BE49-F238E27FC236}">
                          <a16:creationId xmlns:a16="http://schemas.microsoft.com/office/drawing/2014/main" id="{998AC6F0-D880-FB73-936A-A97333D3FCE4}"/>
                        </a:ext>
                      </a:extLst>
                    </p:cNvPr>
                    <p:cNvCxnSpPr>
                      <a:cxnSpLocks/>
                      <a:endCxn id="77" idx="3"/>
                    </p:cNvCxnSpPr>
                    <p:nvPr/>
                  </p:nvCxnSpPr>
                  <p:spPr>
                    <a:xfrm flipH="1">
                      <a:off x="4151632" y="4536332"/>
                      <a:ext cx="4993428" cy="72863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線コネクタ 47">
                      <a:extLst>
                        <a:ext uri="{FF2B5EF4-FFF2-40B4-BE49-F238E27FC236}">
                          <a16:creationId xmlns:a16="http://schemas.microsoft.com/office/drawing/2014/main" id="{E97D9E1A-660B-7527-E757-6D7283379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4018972" y="5264964"/>
                      <a:ext cx="4997894" cy="865611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線コネクタ 66">
                      <a:extLst>
                        <a:ext uri="{FF2B5EF4-FFF2-40B4-BE49-F238E27FC236}">
                          <a16:creationId xmlns:a16="http://schemas.microsoft.com/office/drawing/2014/main" id="{395BC87F-E0AC-1C6D-C5D6-B4D3DDB192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75683" y="5846336"/>
                      <a:ext cx="102713" cy="58637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直線コネクタ 75">
                      <a:extLst>
                        <a:ext uri="{FF2B5EF4-FFF2-40B4-BE49-F238E27FC236}">
                          <a16:creationId xmlns:a16="http://schemas.microsoft.com/office/drawing/2014/main" id="{E8A60787-571B-C713-B657-AD7640A2DD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2109163" y="5259387"/>
                      <a:ext cx="7035897" cy="9236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円/楕円 24">
                      <a:extLst>
                        <a:ext uri="{FF2B5EF4-FFF2-40B4-BE49-F238E27FC236}">
                          <a16:creationId xmlns:a16="http://schemas.microsoft.com/office/drawing/2014/main" id="{5178C88E-25A3-EC86-F173-D2BDDAAF47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4758" y="4316913"/>
                      <a:ext cx="522213" cy="1978316"/>
                    </a:xfrm>
                    <a:prstGeom prst="ellipse">
                      <a:avLst/>
                    </a:prstGeom>
                    <a:noFill/>
                    <a:ln w="12700">
                      <a:prstDash val="sys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</p:grpSp>
              <p:sp>
                <p:nvSpPr>
                  <p:cNvPr id="138" name="正方形/長方形 137">
                    <a:extLst>
                      <a:ext uri="{FF2B5EF4-FFF2-40B4-BE49-F238E27FC236}">
                        <a16:creationId xmlns:a16="http://schemas.microsoft.com/office/drawing/2014/main" id="{5634F552-46A1-60FD-F73E-36D91D9CDFEC}"/>
                      </a:ext>
                    </a:extLst>
                  </p:cNvPr>
                  <p:cNvSpPr/>
                  <p:nvPr/>
                </p:nvSpPr>
                <p:spPr>
                  <a:xfrm>
                    <a:off x="2603490" y="2840648"/>
                    <a:ext cx="3068147" cy="38251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" name="環状矢印 2">
                    <a:extLst>
                      <a:ext uri="{FF2B5EF4-FFF2-40B4-BE49-F238E27FC236}">
                        <a16:creationId xmlns:a16="http://schemas.microsoft.com/office/drawing/2014/main" id="{6270FA05-CD74-8C41-00E4-BD173F5BE8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64799" y="2639314"/>
                    <a:ext cx="338611" cy="857583"/>
                  </a:xfrm>
                  <a:prstGeom prst="circularArrow">
                    <a:avLst>
                      <a:gd name="adj1" fmla="val 12500"/>
                      <a:gd name="adj2" fmla="val 1142319"/>
                      <a:gd name="adj3" fmla="val 20457681"/>
                      <a:gd name="adj4" fmla="val 529627"/>
                      <a:gd name="adj5" fmla="val 19306"/>
                    </a:avLst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正方形/長方形 35">
                    <a:extLst>
                      <a:ext uri="{FF2B5EF4-FFF2-40B4-BE49-F238E27FC236}">
                        <a16:creationId xmlns:a16="http://schemas.microsoft.com/office/drawing/2014/main" id="{296C9FF5-B55D-F755-AD0A-33E2F557A1AE}"/>
                      </a:ext>
                    </a:extLst>
                  </p:cNvPr>
                  <p:cNvSpPr/>
                  <p:nvPr/>
                </p:nvSpPr>
                <p:spPr>
                  <a:xfrm>
                    <a:off x="3953742" y="3260044"/>
                    <a:ext cx="360728" cy="926225"/>
                  </a:xfrm>
                  <a:prstGeom prst="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7" name="円柱 36">
                    <a:extLst>
                      <a:ext uri="{FF2B5EF4-FFF2-40B4-BE49-F238E27FC236}">
                        <a16:creationId xmlns:a16="http://schemas.microsoft.com/office/drawing/2014/main" id="{2638917D-A650-1A48-B1A3-95D565700CB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496484" y="3648364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8" name="円柱 37">
                    <a:extLst>
                      <a:ext uri="{FF2B5EF4-FFF2-40B4-BE49-F238E27FC236}">
                        <a16:creationId xmlns:a16="http://schemas.microsoft.com/office/drawing/2014/main" id="{B599A319-4659-DE2E-DA13-2FE978FD87C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807972" y="3864172"/>
                    <a:ext cx="2639197" cy="288432"/>
                  </a:xfrm>
                  <a:prstGeom prst="can">
                    <a:avLst>
                      <a:gd name="adj" fmla="val 5103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39" name="円柱 38">
                    <a:extLst>
                      <a:ext uri="{FF2B5EF4-FFF2-40B4-BE49-F238E27FC236}">
                        <a16:creationId xmlns:a16="http://schemas.microsoft.com/office/drawing/2014/main" id="{7E8BC2E4-95AF-C2D9-A533-88FCA9453BCD}"/>
                      </a:ext>
                    </a:extLst>
                  </p:cNvPr>
                  <p:cNvSpPr/>
                  <p:nvPr/>
                </p:nvSpPr>
                <p:spPr>
                  <a:xfrm>
                    <a:off x="2489948" y="6576737"/>
                    <a:ext cx="3275245" cy="288432"/>
                  </a:xfrm>
                  <a:prstGeom prst="can">
                    <a:avLst>
                      <a:gd name="adj" fmla="val 36370"/>
                    </a:avLst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1" name="円柱 40">
                    <a:extLst>
                      <a:ext uri="{FF2B5EF4-FFF2-40B4-BE49-F238E27FC236}">
                        <a16:creationId xmlns:a16="http://schemas.microsoft.com/office/drawing/2014/main" id="{8F3FAA9A-F960-64EC-EC94-EF63957B2763}"/>
                      </a:ext>
                    </a:extLst>
                  </p:cNvPr>
                  <p:cNvSpPr/>
                  <p:nvPr/>
                </p:nvSpPr>
                <p:spPr>
                  <a:xfrm>
                    <a:off x="3102453" y="4120900"/>
                    <a:ext cx="401720" cy="2412567"/>
                  </a:xfrm>
                  <a:prstGeom prst="can">
                    <a:avLst>
                      <a:gd name="adj" fmla="val 0"/>
                    </a:avLst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42" name="円柱 41">
                    <a:extLst>
                      <a:ext uri="{FF2B5EF4-FFF2-40B4-BE49-F238E27FC236}">
                        <a16:creationId xmlns:a16="http://schemas.microsoft.com/office/drawing/2014/main" id="{DD44EE2D-C3C8-7FD5-ACF6-60DA7E8A649F}"/>
                      </a:ext>
                    </a:extLst>
                  </p:cNvPr>
                  <p:cNvSpPr/>
                  <p:nvPr/>
                </p:nvSpPr>
                <p:spPr>
                  <a:xfrm>
                    <a:off x="2814508" y="6355797"/>
                    <a:ext cx="2639197" cy="288432"/>
                  </a:xfrm>
                  <a:prstGeom prst="can">
                    <a:avLst/>
                  </a:prstGeom>
                  <a:solidFill>
                    <a:srgbClr val="B518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06C0E7C0-AFF0-D5D5-6BB2-EE92E8D48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11295" y="3833178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FE6B80F8-CD6E-731B-8DEB-8E428D544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52309" y="3838750"/>
                    <a:ext cx="0" cy="309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C9BB445B-B692-622C-7B02-3EF244EB7211}"/>
                      </a:ext>
                    </a:extLst>
                  </p:cNvPr>
                  <p:cNvSpPr/>
                  <p:nvPr/>
                </p:nvSpPr>
                <p:spPr>
                  <a:xfrm>
                    <a:off x="9040090" y="4727824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55" name="テキスト ボックス 54">
                    <a:extLst>
                      <a:ext uri="{FF2B5EF4-FFF2-40B4-BE49-F238E27FC236}">
                        <a16:creationId xmlns:a16="http://schemas.microsoft.com/office/drawing/2014/main" id="{47CE5A0A-722A-9F8E-1D4A-6636F45341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64711" y="6095026"/>
                    <a:ext cx="1079187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Pickup coil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69" name="直線矢印コネクタ 68">
                    <a:extLst>
                      <a:ext uri="{FF2B5EF4-FFF2-40B4-BE49-F238E27FC236}">
                        <a16:creationId xmlns:a16="http://schemas.microsoft.com/office/drawing/2014/main" id="{4E281995-AAF2-5CC7-9E5D-B956BE5876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962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線矢印コネクタ 69">
                    <a:extLst>
                      <a:ext uri="{FF2B5EF4-FFF2-40B4-BE49-F238E27FC236}">
                        <a16:creationId xmlns:a16="http://schemas.microsoft.com/office/drawing/2014/main" id="{5D17D69F-7CA6-DBF1-DF1E-5F2BBCE2CD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96385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線矢印コネクタ 70">
                    <a:extLst>
                      <a:ext uri="{FF2B5EF4-FFF2-40B4-BE49-F238E27FC236}">
                        <a16:creationId xmlns:a16="http://schemas.microsoft.com/office/drawing/2014/main" id="{B2BCB16F-5CFB-5A51-A5C3-5919A6D17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200000">
                    <a:off x="5296087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矢印コネクタ 71">
                    <a:extLst>
                      <a:ext uri="{FF2B5EF4-FFF2-40B4-BE49-F238E27FC236}">
                        <a16:creationId xmlns:a16="http://schemas.microsoft.com/office/drawing/2014/main" id="{99CAE21B-C366-0EF2-0091-7FF87F334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96186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線矢印コネクタ 72">
                    <a:extLst>
                      <a:ext uri="{FF2B5EF4-FFF2-40B4-BE49-F238E27FC236}">
                        <a16:creationId xmlns:a16="http://schemas.microsoft.com/office/drawing/2014/main" id="{96AFC2BD-78C3-86C6-11CB-6B58CB4FC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695887" y="4997765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線矢印コネクタ 73">
                    <a:extLst>
                      <a:ext uri="{FF2B5EF4-FFF2-40B4-BE49-F238E27FC236}">
                        <a16:creationId xmlns:a16="http://schemas.microsoft.com/office/drawing/2014/main" id="{3BAA5187-FDE9-405E-F0E5-7BCD1ED0C2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3600000">
                    <a:off x="5995988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線矢印コネクタ 74">
                    <a:extLst>
                      <a:ext uri="{FF2B5EF4-FFF2-40B4-BE49-F238E27FC236}">
                        <a16:creationId xmlns:a16="http://schemas.microsoft.com/office/drawing/2014/main" id="{2FB5371E-7AB7-C424-1481-DEE8140014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96484" y="4985809"/>
                    <a:ext cx="0" cy="537489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" name="正方形/長方形 76">
                    <a:extLst>
                      <a:ext uri="{FF2B5EF4-FFF2-40B4-BE49-F238E27FC236}">
                        <a16:creationId xmlns:a16="http://schemas.microsoft.com/office/drawing/2014/main" id="{E2D37731-5981-AEB7-E439-42FA732FD2A1}"/>
                      </a:ext>
                    </a:extLst>
                  </p:cNvPr>
                  <p:cNvSpPr/>
                  <p:nvPr/>
                </p:nvSpPr>
                <p:spPr>
                  <a:xfrm>
                    <a:off x="4094239" y="5222250"/>
                    <a:ext cx="79732" cy="8369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9" name="テキスト ボックス 78">
                    <a:extLst>
                      <a:ext uri="{FF2B5EF4-FFF2-40B4-BE49-F238E27FC236}">
                        <a16:creationId xmlns:a16="http://schemas.microsoft.com/office/drawing/2014/main" id="{44F8FC28-DB4C-86B8-91F7-E2A10CCF5C7E}"/>
                      </a:ext>
                    </a:extLst>
                  </p:cNvPr>
                  <p:cNvSpPr txBox="1"/>
                  <p:nvPr/>
                </p:nvSpPr>
                <p:spPr>
                  <a:xfrm>
                    <a:off x="1947586" y="4379871"/>
                    <a:ext cx="1622630" cy="5505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ja-JP" sz="2030" dirty="0">
                        <a:latin typeface="Helvetica" pitchFamily="2" charset="0"/>
                      </a:rPr>
                      <a:t>Magnetic field direction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  <p:cxnSp>
                <p:nvCxnSpPr>
                  <p:cNvPr id="80" name="直線コネクタ 79">
                    <a:extLst>
                      <a:ext uri="{FF2B5EF4-FFF2-40B4-BE49-F238E27FC236}">
                        <a16:creationId xmlns:a16="http://schemas.microsoft.com/office/drawing/2014/main" id="{E3F5D810-F576-F68C-F0EC-D6B58AC6E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2017" y="4831328"/>
                    <a:ext cx="88704" cy="22231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直線コネクタ 12">
                    <a:extLst>
                      <a:ext uri="{FF2B5EF4-FFF2-40B4-BE49-F238E27FC236}">
                        <a16:creationId xmlns:a16="http://schemas.microsoft.com/office/drawing/2014/main" id="{7F0EC552-AEAC-3981-B5BB-3042B12DB9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262180" y="4710547"/>
                    <a:ext cx="3727993" cy="923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CE46ACDE-E1EF-5830-21DE-93CCF7C8BE5F}"/>
                      </a:ext>
                    </a:extLst>
                  </p:cNvPr>
                  <p:cNvSpPr txBox="1"/>
                  <p:nvPr/>
                </p:nvSpPr>
                <p:spPr>
                  <a:xfrm>
                    <a:off x="4455104" y="2884452"/>
                    <a:ext cx="1013166" cy="3107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030" dirty="0" err="1">
                        <a:latin typeface="Helvetica" pitchFamily="2" charset="0"/>
                      </a:rPr>
                      <a:t>ω</a:t>
                    </a:r>
                    <a:r>
                      <a:rPr lang="en-US" altLang="ja-JP" sz="2030" dirty="0">
                        <a:latin typeface="Helvetica" pitchFamily="2" charset="0"/>
                      </a:rPr>
                      <a:t> rotation</a:t>
                    </a:r>
                    <a:endParaRPr lang="ja-JP" altLang="en-US" sz="2030"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10" name="グループ化 109">
                  <a:extLst>
                    <a:ext uri="{FF2B5EF4-FFF2-40B4-BE49-F238E27FC236}">
                      <a16:creationId xmlns:a16="http://schemas.microsoft.com/office/drawing/2014/main" id="{F48AD2EC-8E8A-6F0D-439A-6F62DDE752A1}"/>
                    </a:ext>
                  </a:extLst>
                </p:cNvPr>
                <p:cNvGrpSpPr/>
                <p:nvPr/>
              </p:nvGrpSpPr>
              <p:grpSpPr>
                <a:xfrm>
                  <a:off x="2132150" y="-25443"/>
                  <a:ext cx="3707396" cy="3240474"/>
                  <a:chOff x="2509620" y="-109443"/>
                  <a:chExt cx="3316105" cy="2898462"/>
                </a:xfrm>
              </p:grpSpPr>
              <p:sp>
                <p:nvSpPr>
                  <p:cNvPr id="5" name="円/楕円 4">
                    <a:extLst>
                      <a:ext uri="{FF2B5EF4-FFF2-40B4-BE49-F238E27FC236}">
                        <a16:creationId xmlns:a16="http://schemas.microsoft.com/office/drawing/2014/main" id="{FFA2B37F-2452-924D-05C3-260E55E763FE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686665" y="-109443"/>
                    <a:ext cx="2898462" cy="2898462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6" name="円/楕円 5">
                    <a:extLst>
                      <a:ext uri="{FF2B5EF4-FFF2-40B4-BE49-F238E27FC236}">
                        <a16:creationId xmlns:a16="http://schemas.microsoft.com/office/drawing/2014/main" id="{9AE0388B-10B5-402B-AD60-FFB27FCF3004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2972310" y="202064"/>
                    <a:ext cx="2300509" cy="2300510"/>
                  </a:xfrm>
                  <a:prstGeom prst="ellipse">
                    <a:avLst/>
                  </a:prstGeom>
                  <a:solidFill>
                    <a:srgbClr val="E9E9E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7" name="円/楕円 6">
                    <a:extLst>
                      <a:ext uri="{FF2B5EF4-FFF2-40B4-BE49-F238E27FC236}">
                        <a16:creationId xmlns:a16="http://schemas.microsoft.com/office/drawing/2014/main" id="{6ECE4E2F-8C6F-DCBF-65F0-CE33767F571A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135070" y="349624"/>
                    <a:ext cx="1990137" cy="1990138"/>
                  </a:xfrm>
                  <a:prstGeom prst="ellipse">
                    <a:avLst/>
                  </a:prstGeom>
                  <a:solidFill>
                    <a:srgbClr val="C1343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" name="円/楕円 7">
                    <a:extLst>
                      <a:ext uri="{FF2B5EF4-FFF2-40B4-BE49-F238E27FC236}">
                        <a16:creationId xmlns:a16="http://schemas.microsoft.com/office/drawing/2014/main" id="{F1D517C3-2A05-A41F-F8D8-BBE923356818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3399104" y="603002"/>
                    <a:ext cx="1473581" cy="147358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9" name="円/楕円 8">
                    <a:extLst>
                      <a:ext uri="{FF2B5EF4-FFF2-40B4-BE49-F238E27FC236}">
                        <a16:creationId xmlns:a16="http://schemas.microsoft.com/office/drawing/2014/main" id="{C0BB610C-1CF7-2507-2DEA-BC78A7E0B3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509623" y="713521"/>
                    <a:ext cx="1252544" cy="125254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" name="円/楕円 9">
                    <a:extLst>
                      <a:ext uri="{FF2B5EF4-FFF2-40B4-BE49-F238E27FC236}">
                        <a16:creationId xmlns:a16="http://schemas.microsoft.com/office/drawing/2014/main" id="{E038DFBC-6C51-D431-4660-CF7D9F4709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4330460">
                    <a:off x="3693820" y="897718"/>
                    <a:ext cx="884149" cy="884149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22" name="直線コネクタ 21">
                    <a:extLst>
                      <a:ext uri="{FF2B5EF4-FFF2-40B4-BE49-F238E27FC236}">
                        <a16:creationId xmlns:a16="http://schemas.microsoft.com/office/drawing/2014/main" id="{5CB6F50D-2A24-1A2D-075F-48B383787F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9730460">
                    <a:off x="2509620" y="1342944"/>
                    <a:ext cx="3284445" cy="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  <a:prstDash val="dash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正方形/長方形 26">
                    <a:extLst>
                      <a:ext uri="{FF2B5EF4-FFF2-40B4-BE49-F238E27FC236}">
                        <a16:creationId xmlns:a16="http://schemas.microsoft.com/office/drawing/2014/main" id="{FF1F3EEC-4B2F-A78B-3AC6-E17E9ECF9851}"/>
                      </a:ext>
                    </a:extLst>
                  </p:cNvPr>
                  <p:cNvSpPr/>
                  <p:nvPr/>
                </p:nvSpPr>
                <p:spPr>
                  <a:xfrm rot="14330460">
                    <a:off x="5319478" y="258654"/>
                    <a:ext cx="712040" cy="300455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03" name="正方形/長方形 102">
                    <a:extLst>
                      <a:ext uri="{FF2B5EF4-FFF2-40B4-BE49-F238E27FC236}">
                        <a16:creationId xmlns:a16="http://schemas.microsoft.com/office/drawing/2014/main" id="{4648A4A1-2285-A968-FF7D-F55B54727F25}"/>
                      </a:ext>
                    </a:extLst>
                  </p:cNvPr>
                  <p:cNvSpPr/>
                  <p:nvPr/>
                </p:nvSpPr>
                <p:spPr>
                  <a:xfrm>
                    <a:off x="4096036" y="1297945"/>
                    <a:ext cx="79720" cy="83686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grpSp>
              <p:nvGrpSpPr>
                <p:cNvPr id="153" name="グループ化 152">
                  <a:extLst>
                    <a:ext uri="{FF2B5EF4-FFF2-40B4-BE49-F238E27FC236}">
                      <a16:creationId xmlns:a16="http://schemas.microsoft.com/office/drawing/2014/main" id="{6F898AFC-B2AD-CBDF-3AC4-42798A7B07CB}"/>
                    </a:ext>
                  </a:extLst>
                </p:cNvPr>
                <p:cNvGrpSpPr/>
                <p:nvPr/>
              </p:nvGrpSpPr>
              <p:grpSpPr>
                <a:xfrm>
                  <a:off x="3958516" y="325518"/>
                  <a:ext cx="6097465" cy="2498384"/>
                  <a:chOff x="4216724" y="-74099"/>
                  <a:chExt cx="6690742" cy="2741473"/>
                </a:xfrm>
              </p:grpSpPr>
              <p:grpSp>
                <p:nvGrpSpPr>
                  <p:cNvPr id="111" name="グループ化 110">
                    <a:extLst>
                      <a:ext uri="{FF2B5EF4-FFF2-40B4-BE49-F238E27FC236}">
                        <a16:creationId xmlns:a16="http://schemas.microsoft.com/office/drawing/2014/main" id="{7C958B56-346A-D822-8180-25B7F3305653}"/>
                      </a:ext>
                    </a:extLst>
                  </p:cNvPr>
                  <p:cNvGrpSpPr/>
                  <p:nvPr/>
                </p:nvGrpSpPr>
                <p:grpSpPr>
                  <a:xfrm>
                    <a:off x="4216724" y="-74099"/>
                    <a:ext cx="6690742" cy="2741473"/>
                    <a:chOff x="4216436" y="1244784"/>
                    <a:chExt cx="6690742" cy="3995202"/>
                  </a:xfrm>
                </p:grpSpPr>
                <p:grpSp>
                  <p:nvGrpSpPr>
                    <p:cNvPr id="112" name="グループ化 111">
                      <a:extLst>
                        <a:ext uri="{FF2B5EF4-FFF2-40B4-BE49-F238E27FC236}">
                          <a16:creationId xmlns:a16="http://schemas.microsoft.com/office/drawing/2014/main" id="{C9808B9B-9029-1989-7077-7A24559635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15113" y="1855619"/>
                      <a:ext cx="1730168" cy="2896316"/>
                      <a:chOff x="7767924" y="1407885"/>
                      <a:chExt cx="1838119" cy="3077028"/>
                    </a:xfrm>
                    <a:solidFill>
                      <a:schemeClr val="bg2"/>
                    </a:solidFill>
                  </p:grpSpPr>
                  <p:sp>
                    <p:nvSpPr>
                      <p:cNvPr id="136" name="台形 135">
                        <a:extLst>
                          <a:ext uri="{FF2B5EF4-FFF2-40B4-BE49-F238E27FC236}">
                            <a16:creationId xmlns:a16="http://schemas.microsoft.com/office/drawing/2014/main" id="{BE39907E-299F-FC24-077C-ADF97966A25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6634421" y="2541388"/>
                        <a:ext cx="3077026" cy="810020"/>
                      </a:xfrm>
                      <a:prstGeom prst="trapezoid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  <p:sp>
                    <p:nvSpPr>
                      <p:cNvPr id="137" name="正方形/長方形 136">
                        <a:extLst>
                          <a:ext uri="{FF2B5EF4-FFF2-40B4-BE49-F238E27FC236}">
                            <a16:creationId xmlns:a16="http://schemas.microsoft.com/office/drawing/2014/main" id="{62FA954A-3461-4AEA-F67C-17C507FE6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77946" y="1407885"/>
                        <a:ext cx="1028097" cy="3077028"/>
                      </a:xfrm>
                      <a:prstGeom prst="rect">
                        <a:avLst/>
                      </a:prstGeom>
                      <a:grpFill/>
                      <a:ln w="19050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2610"/>
                      </a:p>
                    </p:txBody>
                  </p:sp>
                </p:grpSp>
                <p:sp>
                  <p:nvSpPr>
                    <p:cNvPr id="114" name="円柱 113">
                      <a:extLst>
                        <a:ext uri="{FF2B5EF4-FFF2-40B4-BE49-F238E27FC236}">
                          <a16:creationId xmlns:a16="http://schemas.microsoft.com/office/drawing/2014/main" id="{C5DE736F-99EB-6164-B63F-C96B7E94635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508791" y="2307801"/>
                      <a:ext cx="1978017" cy="1991953"/>
                    </a:xfrm>
                    <a:prstGeom prst="can">
                      <a:avLst/>
                    </a:prstGeom>
                    <a:noFill/>
                    <a:ln w="381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5" name="円柱 114">
                      <a:extLst>
                        <a:ext uri="{FF2B5EF4-FFF2-40B4-BE49-F238E27FC236}">
                          <a16:creationId xmlns:a16="http://schemas.microsoft.com/office/drawing/2014/main" id="{7C8A973F-6846-7723-5067-9BE565EB760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6205409" y="2903568"/>
                      <a:ext cx="910669" cy="765063"/>
                    </a:xfrm>
                    <a:prstGeom prst="can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6" name="円柱 115">
                      <a:extLst>
                        <a:ext uri="{FF2B5EF4-FFF2-40B4-BE49-F238E27FC236}">
                          <a16:creationId xmlns:a16="http://schemas.microsoft.com/office/drawing/2014/main" id="{4319C8FA-222D-6965-8D92-0FDBCD6C7BD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01411" y="2591085"/>
                      <a:ext cx="1506961" cy="1425841"/>
                    </a:xfrm>
                    <a:prstGeom prst="can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7" name="円柱 116">
                      <a:extLst>
                        <a:ext uri="{FF2B5EF4-FFF2-40B4-BE49-F238E27FC236}">
                          <a16:creationId xmlns:a16="http://schemas.microsoft.com/office/drawing/2014/main" id="{DFEEF2E4-A0DC-9B52-7936-112B4E38F0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641156" y="2077626"/>
                      <a:ext cx="1978017" cy="2452304"/>
                    </a:xfrm>
                    <a:prstGeom prst="can">
                      <a:avLst/>
                    </a:prstGeom>
                    <a:noFill/>
                    <a:ln w="3492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sp>
                  <p:nvSpPr>
                    <p:cNvPr id="118" name="円/楕円 117">
                      <a:extLst>
                        <a:ext uri="{FF2B5EF4-FFF2-40B4-BE49-F238E27FC236}">
                          <a16:creationId xmlns:a16="http://schemas.microsoft.com/office/drawing/2014/main" id="{2E013EBC-9ECE-D49C-E0FE-29BEEA9620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3738" y="2823903"/>
                      <a:ext cx="191184" cy="959747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610"/>
                    </a:p>
                  </p:txBody>
                </p: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E16B229D-9789-37BD-C071-CFD521B88581}"/>
                        </a:ext>
                      </a:extLst>
                    </p:cNvPr>
                    <p:cNvCxnSpPr>
                      <a:cxnSpLocks/>
                      <a:stCxn id="141" idx="0"/>
                      <a:endCxn id="103" idx="3"/>
                    </p:cNvCxnSpPr>
                    <p:nvPr/>
                  </p:nvCxnSpPr>
                  <p:spPr>
                    <a:xfrm flipH="1">
                      <a:off x="4256339" y="2449201"/>
                      <a:ext cx="4980496" cy="825303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線コネクタ 120">
                      <a:extLst>
                        <a:ext uri="{FF2B5EF4-FFF2-40B4-BE49-F238E27FC236}">
                          <a16:creationId xmlns:a16="http://schemas.microsoft.com/office/drawing/2014/main" id="{DC94D6DB-9CF2-C4FB-C86E-A97D42F455E1}"/>
                        </a:ext>
                      </a:extLst>
                    </p:cNvPr>
                    <p:cNvCxnSpPr>
                      <a:cxnSpLocks/>
                      <a:stCxn id="141" idx="4"/>
                      <a:endCxn id="103" idx="3"/>
                    </p:cNvCxnSpPr>
                    <p:nvPr/>
                  </p:nvCxnSpPr>
                  <p:spPr>
                    <a:xfrm flipH="1" flipV="1">
                      <a:off x="4256339" y="3274504"/>
                      <a:ext cx="4980496" cy="89371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2" name="テキスト ボックス 121">
                      <a:extLst>
                        <a:ext uri="{FF2B5EF4-FFF2-40B4-BE49-F238E27FC236}">
                          <a16:creationId xmlns:a16="http://schemas.microsoft.com/office/drawing/2014/main" id="{EBFE9340-106A-DF70-6EDC-4DB33B3637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7128" y="3073145"/>
                      <a:ext cx="934498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cell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3" name="テキスト ボックス 122">
                      <a:extLst>
                        <a:ext uri="{FF2B5EF4-FFF2-40B4-BE49-F238E27FC236}">
                          <a16:creationId xmlns:a16="http://schemas.microsoft.com/office/drawing/2014/main" id="{9750C3E2-CD1C-AED1-FD57-399E81E5B9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46392" y="1941832"/>
                      <a:ext cx="836337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RF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4" name="テキスト ボックス 123">
                      <a:extLst>
                        <a:ext uri="{FF2B5EF4-FFF2-40B4-BE49-F238E27FC236}">
                          <a16:creationId xmlns:a16="http://schemas.microsoft.com/office/drawing/2014/main" id="{7CC641CD-C59E-A4DD-A0B9-5AA3DA5DAD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7033" y="1580448"/>
                      <a:ext cx="1331161" cy="4464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baseline="30000" dirty="0">
                          <a:latin typeface="Helvetica" pitchFamily="2" charset="0"/>
                        </a:rPr>
                        <a:t>3</a:t>
                      </a:r>
                      <a:r>
                        <a:rPr lang="en-US" altLang="ja-JP" sz="2030" dirty="0">
                          <a:latin typeface="Helvetica" pitchFamily="2" charset="0"/>
                        </a:rPr>
                        <a:t>He NSF coil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5" name="テキスト ボックス 124">
                      <a:extLst>
                        <a:ext uri="{FF2B5EF4-FFF2-40B4-BE49-F238E27FC236}">
                          <a16:creationId xmlns:a16="http://schemas.microsoft.com/office/drawing/2014/main" id="{CCB2E142-C70F-67DA-9967-A7FB83FA8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9624" y="4448994"/>
                      <a:ext cx="1726015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guide tube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sp>
                  <p:nvSpPr>
                    <p:cNvPr id="126" name="テキスト ボックス 125">
                      <a:extLst>
                        <a:ext uri="{FF2B5EF4-FFF2-40B4-BE49-F238E27FC236}">
                          <a16:creationId xmlns:a16="http://schemas.microsoft.com/office/drawing/2014/main" id="{1AE09A32-CE06-D120-FACE-DE920724E6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6213" y="1244784"/>
                      <a:ext cx="1910304" cy="79099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Neutron Area detector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7" name="直線コネクタ 126">
                      <a:extLst>
                        <a:ext uri="{FF2B5EF4-FFF2-40B4-BE49-F238E27FC236}">
                          <a16:creationId xmlns:a16="http://schemas.microsoft.com/office/drawing/2014/main" id="{2AF7C666-FCB1-604F-BB05-31D37DA39D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27823" y="1959353"/>
                      <a:ext cx="123413" cy="30135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テキスト ボックス 127">
                      <a:extLst>
                        <a:ext uri="{FF2B5EF4-FFF2-40B4-BE49-F238E27FC236}">
                          <a16:creationId xmlns:a16="http://schemas.microsoft.com/office/drawing/2014/main" id="{49697904-99F8-707D-07A5-05E79E00B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61484" y="2227722"/>
                      <a:ext cx="1245694" cy="11355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ja-JP" sz="2030" dirty="0">
                          <a:latin typeface="Helvetica" pitchFamily="2" charset="0"/>
                        </a:rPr>
                        <a:t>Polarization analysis region</a:t>
                      </a:r>
                      <a:endParaRPr lang="ja-JP" altLang="en-US" sz="2030">
                        <a:latin typeface="Helvetica" pitchFamily="2" charset="0"/>
                      </a:endParaRPr>
                    </a:p>
                  </p:txBody>
                </p:sp>
                <p:cxnSp>
                  <p:nvCxnSpPr>
                    <p:cNvPr id="129" name="直線コネクタ 128">
                      <a:extLst>
                        <a:ext uri="{FF2B5EF4-FFF2-40B4-BE49-F238E27FC236}">
                          <a16:creationId xmlns:a16="http://schemas.microsoft.com/office/drawing/2014/main" id="{7899B4AE-D580-237A-7C74-C577A4196EEF}"/>
                        </a:ext>
                      </a:extLst>
                    </p:cNvPr>
                    <p:cNvCxnSpPr>
                      <a:cxnSpLocks/>
                      <a:stCxn id="128" idx="1"/>
                    </p:cNvCxnSpPr>
                    <p:nvPr/>
                  </p:nvCxnSpPr>
                  <p:spPr>
                    <a:xfrm flipH="1" flipV="1">
                      <a:off x="9347757" y="2767824"/>
                      <a:ext cx="313727" cy="27682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線コネクタ 131">
                      <a:extLst>
                        <a:ext uri="{FF2B5EF4-FFF2-40B4-BE49-F238E27FC236}">
                          <a16:creationId xmlns:a16="http://schemas.microsoft.com/office/drawing/2014/main" id="{B84E31D4-E26D-0673-9FAB-6274A58579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286771" y="1952193"/>
                      <a:ext cx="315829" cy="46235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線コネクタ 132">
                      <a:extLst>
                        <a:ext uri="{FF2B5EF4-FFF2-40B4-BE49-F238E27FC236}">
                          <a16:creationId xmlns:a16="http://schemas.microsoft.com/office/drawing/2014/main" id="{AE626F9C-4FA5-85E3-88F2-8AA740B51C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36216" y="4116935"/>
                      <a:ext cx="0" cy="357148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直線コネクタ 134">
                      <a:extLst>
                        <a:ext uri="{FF2B5EF4-FFF2-40B4-BE49-F238E27FC236}">
                          <a16:creationId xmlns:a16="http://schemas.microsoft.com/office/drawing/2014/main" id="{88F9F669-4581-8B38-949D-F6FD28512D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216436" y="3276280"/>
                      <a:ext cx="5052986" cy="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prstDash val="dash"/>
                      <a:headEnd type="triangle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1" name="円/楕円 140">
                    <a:extLst>
                      <a:ext uri="{FF2B5EF4-FFF2-40B4-BE49-F238E27FC236}">
                        <a16:creationId xmlns:a16="http://schemas.microsoft.com/office/drawing/2014/main" id="{D24F0E10-7915-2760-A5C6-89A441FD84DF}"/>
                      </a:ext>
                    </a:extLst>
                  </p:cNvPr>
                  <p:cNvSpPr/>
                  <p:nvPr/>
                </p:nvSpPr>
                <p:spPr>
                  <a:xfrm>
                    <a:off x="9054478" y="752361"/>
                    <a:ext cx="365291" cy="1179577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142" name="円/楕円 141">
                    <a:extLst>
                      <a:ext uri="{FF2B5EF4-FFF2-40B4-BE49-F238E27FC236}">
                        <a16:creationId xmlns:a16="http://schemas.microsoft.com/office/drawing/2014/main" id="{18F95554-6A38-E48A-661E-36090BB26320}"/>
                      </a:ext>
                    </a:extLst>
                  </p:cNvPr>
                  <p:cNvSpPr/>
                  <p:nvPr/>
                </p:nvSpPr>
                <p:spPr>
                  <a:xfrm>
                    <a:off x="8988520" y="649115"/>
                    <a:ext cx="521918" cy="1370279"/>
                  </a:xfrm>
                  <a:prstGeom prst="ellipse">
                    <a:avLst/>
                  </a:prstGeom>
                  <a:noFill/>
                  <a:ln w="127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C5FE7A97-C2B4-EC9D-08B5-A7C327777BCF}"/>
                    </a:ext>
                  </a:extLst>
                </p:cNvPr>
                <p:cNvCxnSpPr/>
                <p:nvPr/>
              </p:nvCxnSpPr>
              <p:spPr>
                <a:xfrm>
                  <a:off x="1296000" y="3247097"/>
                  <a:ext cx="856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テキスト ボックス 168">
                  <a:extLst>
                    <a:ext uri="{FF2B5EF4-FFF2-40B4-BE49-F238E27FC236}">
                      <a16:creationId xmlns:a16="http://schemas.microsoft.com/office/drawing/2014/main" id="{FA06AE22-DF5B-A3BA-FC73-9340EC3E7CA5}"/>
                    </a:ext>
                  </a:extLst>
                </p:cNvPr>
                <p:cNvSpPr txBox="1"/>
                <p:nvPr/>
              </p:nvSpPr>
              <p:spPr>
                <a:xfrm>
                  <a:off x="1288207" y="86624"/>
                  <a:ext cx="925069" cy="3099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  <a:cs typeface="Times New Roman" panose="02020603050405020304" pitchFamily="18" charset="0"/>
                    </a:rPr>
                    <a:t>Top view</a:t>
                  </a:r>
                  <a:endParaRPr lang="ja-JP" altLang="en-US" sz="232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テキスト ボックス 169">
                  <a:extLst>
                    <a:ext uri="{FF2B5EF4-FFF2-40B4-BE49-F238E27FC236}">
                      <a16:creationId xmlns:a16="http://schemas.microsoft.com/office/drawing/2014/main" id="{D59C8FB4-4521-041B-6BE3-643636A79552}"/>
                    </a:ext>
                  </a:extLst>
                </p:cNvPr>
                <p:cNvSpPr txBox="1"/>
                <p:nvPr/>
              </p:nvSpPr>
              <p:spPr>
                <a:xfrm>
                  <a:off x="1265850" y="2479077"/>
                  <a:ext cx="1965043" cy="4946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Incident neutron</a:t>
                  </a:r>
                  <a:b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</a:b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(polarized by Cu</a:t>
                  </a:r>
                  <a:r>
                    <a:rPr lang="en-US" altLang="ja-JP" sz="2030" baseline="-25000" dirty="0">
                      <a:latin typeface="Helvetica" pitchFamily="2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MnAl)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2EA05CFD-9388-622B-8FE9-2F41492FF4B2}"/>
                    </a:ext>
                  </a:extLst>
                </p:cNvPr>
                <p:cNvSpPr txBox="1"/>
                <p:nvPr/>
              </p:nvSpPr>
              <p:spPr>
                <a:xfrm>
                  <a:off x="5742205" y="109910"/>
                  <a:ext cx="1241918" cy="279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30" dirty="0">
                      <a:latin typeface="Helvetica" pitchFamily="2" charset="0"/>
                      <a:cs typeface="Times New Roman" panose="02020603050405020304" pitchFamily="18" charset="0"/>
                    </a:rPr>
                    <a:t>Beam stopper</a:t>
                  </a:r>
                  <a:endParaRPr lang="ja-JP" altLang="en-US" sz="2030">
                    <a:latin typeface="Helvetica" pitchFamily="2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3" name="直線コネクタ 172">
                  <a:extLst>
                    <a:ext uri="{FF2B5EF4-FFF2-40B4-BE49-F238E27FC236}">
                      <a16:creationId xmlns:a16="http://schemas.microsoft.com/office/drawing/2014/main" id="{88D23B77-F0A3-6E35-89E7-7B489F9417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23548" y="327699"/>
                  <a:ext cx="249770" cy="1515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179">
                  <a:extLst>
                    <a:ext uri="{FF2B5EF4-FFF2-40B4-BE49-F238E27FC236}">
                      <a16:creationId xmlns:a16="http://schemas.microsoft.com/office/drawing/2014/main" id="{84A3B39A-4CC0-97FB-CCB6-10E315E90D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0136" y="893703"/>
                  <a:ext cx="287824" cy="2891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DC09446-E3D7-5ACF-48E8-E84A8A781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3651" y="3826407"/>
                <a:ext cx="155803" cy="5362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021054BA-81F1-625F-69EE-FB3E8BC2201E}"/>
                  </a:ext>
                </a:extLst>
              </p:cNvPr>
              <p:cNvSpPr txBox="1"/>
              <p:nvPr/>
            </p:nvSpPr>
            <p:spPr>
              <a:xfrm>
                <a:off x="2262325" y="3621061"/>
                <a:ext cx="1241918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Helmholtz coil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87DCB879-91DF-63F2-582C-8C75D7AD1FF0}"/>
                  </a:ext>
                </a:extLst>
              </p:cNvPr>
              <p:cNvSpPr txBox="1"/>
              <p:nvPr/>
            </p:nvSpPr>
            <p:spPr>
              <a:xfrm>
                <a:off x="4420394" y="3648661"/>
                <a:ext cx="794111" cy="27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Cryostat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98CDAA5C-C742-0EDC-A014-9C8083C674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3589" y="3893936"/>
                <a:ext cx="358981" cy="8374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" name="テキスト ボックス 188">
              <a:extLst>
                <a:ext uri="{FF2B5EF4-FFF2-40B4-BE49-F238E27FC236}">
                  <a16:creationId xmlns:a16="http://schemas.microsoft.com/office/drawing/2014/main" id="{351506DF-5847-610B-29EC-7ABCC24EB7F0}"/>
                </a:ext>
              </a:extLst>
            </p:cNvPr>
            <p:cNvSpPr txBox="1"/>
            <p:nvPr/>
          </p:nvSpPr>
          <p:spPr>
            <a:xfrm>
              <a:off x="3430496" y="1134095"/>
              <a:ext cx="886133" cy="279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Sample</a:t>
              </a:r>
              <a:endParaRPr lang="ja-JP" altLang="en-US" sz="2030">
                <a:latin typeface="Helvetica" pitchFamily="2" charset="0"/>
              </a:endParaRPr>
            </a:p>
          </p:txBody>
        </p:sp>
        <p:cxnSp>
          <p:nvCxnSpPr>
            <p:cNvPr id="190" name="直線コネクタ 189">
              <a:extLst>
                <a:ext uri="{FF2B5EF4-FFF2-40B4-BE49-F238E27FC236}">
                  <a16:creationId xmlns:a16="http://schemas.microsoft.com/office/drawing/2014/main" id="{1F8CB43F-E435-ED59-4472-BEEFC4E650D5}"/>
                </a:ext>
              </a:extLst>
            </p:cNvPr>
            <p:cNvCxnSpPr>
              <a:cxnSpLocks/>
              <a:stCxn id="189" idx="2"/>
            </p:cNvCxnSpPr>
            <p:nvPr/>
          </p:nvCxnSpPr>
          <p:spPr>
            <a:xfrm>
              <a:off x="3873563" y="1413261"/>
              <a:ext cx="118873" cy="1375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9844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8DDC-B694-167D-9C1A-40AC025B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8D6D08A7-FA32-D0EC-4993-5F17F398E3F4}"/>
              </a:ext>
            </a:extLst>
          </p:cNvPr>
          <p:cNvSpPr txBox="1"/>
          <p:nvPr/>
        </p:nvSpPr>
        <p:spPr>
          <a:xfrm>
            <a:off x="-5772870" y="-1627911"/>
            <a:ext cx="1341136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  <a:cs typeface="Times New Roman" panose="02020603050405020304" pitchFamily="18" charset="0"/>
              </a:rPr>
              <a:t>Top view</a:t>
            </a:r>
            <a:endParaRPr lang="ja-JP" altLang="en-US" sz="232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10A0ECE2-44ED-3C26-84FB-B6910E521F62}"/>
              </a:ext>
            </a:extLst>
          </p:cNvPr>
          <p:cNvSpPr txBox="1"/>
          <p:nvPr/>
        </p:nvSpPr>
        <p:spPr>
          <a:xfrm>
            <a:off x="-6035188" y="-2659208"/>
            <a:ext cx="3180679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Incident neutron beam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(polarized by Cu</a:t>
            </a:r>
            <a:r>
              <a:rPr lang="en-US" altLang="ja-JP" sz="1740" baseline="-25000" dirty="0">
                <a:latin typeface="Helvetica" pitchFamily="2" charset="0"/>
              </a:rPr>
              <a:t>2</a:t>
            </a:r>
            <a:r>
              <a:rPr lang="en-US" altLang="ja-JP" sz="1740" dirty="0">
                <a:latin typeface="Helvetica" pitchFamily="2" charset="0"/>
              </a:rPr>
              <a:t>MnAl crystal)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0A5D4B5-F5B1-7522-2F73-BA8463BF0821}"/>
              </a:ext>
            </a:extLst>
          </p:cNvPr>
          <p:cNvSpPr txBox="1"/>
          <p:nvPr/>
        </p:nvSpPr>
        <p:spPr>
          <a:xfrm>
            <a:off x="-3190143" y="950941"/>
            <a:ext cx="939681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</a:t>
            </a:r>
            <a:endParaRPr lang="ja-JP" altLang="en-US" sz="1740">
              <a:latin typeface="Helvetica" pitchFamily="2" charset="0"/>
            </a:endParaRP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4933C8AE-05D2-52A2-A4C5-469FDBA32E4F}"/>
              </a:ext>
            </a:extLst>
          </p:cNvPr>
          <p:cNvGrpSpPr/>
          <p:nvPr/>
        </p:nvGrpSpPr>
        <p:grpSpPr>
          <a:xfrm>
            <a:off x="4801464" y="467082"/>
            <a:ext cx="11880000" cy="11639669"/>
            <a:chOff x="4801464" y="467082"/>
            <a:chExt cx="11880000" cy="11639669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754F389D-F307-3797-EC1C-554A9FD62487}"/>
                </a:ext>
              </a:extLst>
            </p:cNvPr>
            <p:cNvGrpSpPr/>
            <p:nvPr/>
          </p:nvGrpSpPr>
          <p:grpSpPr>
            <a:xfrm>
              <a:off x="4801464" y="467082"/>
              <a:ext cx="11880000" cy="11232918"/>
              <a:chOff x="39758" y="467081"/>
              <a:chExt cx="11880000" cy="11232918"/>
            </a:xfrm>
          </p:grpSpPr>
          <p:sp>
            <p:nvSpPr>
              <p:cNvPr id="40" name="円柱 39">
                <a:extLst>
                  <a:ext uri="{FF2B5EF4-FFF2-40B4-BE49-F238E27FC236}">
                    <a16:creationId xmlns:a16="http://schemas.microsoft.com/office/drawing/2014/main" id="{24837131-853C-4CA1-4D7E-9CA6DE75E626}"/>
                  </a:ext>
                </a:extLst>
              </p:cNvPr>
              <p:cNvSpPr/>
              <p:nvPr/>
            </p:nvSpPr>
            <p:spPr>
              <a:xfrm>
                <a:off x="3970157" y="7495944"/>
                <a:ext cx="523218" cy="3142233"/>
              </a:xfrm>
              <a:prstGeom prst="can">
                <a:avLst>
                  <a:gd name="adj" fmla="val 0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3" name="円柱 42">
                <a:extLst>
                  <a:ext uri="{FF2B5EF4-FFF2-40B4-BE49-F238E27FC236}">
                    <a16:creationId xmlns:a16="http://schemas.microsoft.com/office/drawing/2014/main" id="{6B778787-F2E4-30E9-28FF-B4D886FD92A2}"/>
                  </a:ext>
                </a:extLst>
              </p:cNvPr>
              <p:cNvSpPr/>
              <p:nvPr/>
            </p:nvSpPr>
            <p:spPr>
              <a:xfrm>
                <a:off x="2212274" y="7716636"/>
                <a:ext cx="1889988" cy="2925992"/>
              </a:xfrm>
              <a:prstGeom prst="can">
                <a:avLst>
                  <a:gd name="adj" fmla="val 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006E57C8-1B65-F9EE-1973-F9FD20BD77D1}"/>
                  </a:ext>
                </a:extLst>
              </p:cNvPr>
              <p:cNvGrpSpPr/>
              <p:nvPr/>
            </p:nvGrpSpPr>
            <p:grpSpPr>
              <a:xfrm>
                <a:off x="530426" y="7742438"/>
                <a:ext cx="11112439" cy="2803903"/>
                <a:chOff x="2109163" y="3841318"/>
                <a:chExt cx="8446024" cy="2896756"/>
              </a:xfrm>
            </p:grpSpPr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AE3B1E03-EAEC-0FB3-6F86-BFEC542F6F91}"/>
                    </a:ext>
                  </a:extLst>
                </p:cNvPr>
                <p:cNvGrpSpPr/>
                <p:nvPr/>
              </p:nvGrpSpPr>
              <p:grpSpPr>
                <a:xfrm>
                  <a:off x="8826434" y="3841318"/>
                  <a:ext cx="1728753" cy="2896756"/>
                  <a:chOff x="7769702" y="1407882"/>
                  <a:chExt cx="1836341" cy="3077031"/>
                </a:xfrm>
                <a:solidFill>
                  <a:schemeClr val="bg2"/>
                </a:solidFill>
              </p:grpSpPr>
              <p:sp>
                <p:nvSpPr>
                  <p:cNvPr id="81" name="台形 80">
                    <a:extLst>
                      <a:ext uri="{FF2B5EF4-FFF2-40B4-BE49-F238E27FC236}">
                        <a16:creationId xmlns:a16="http://schemas.microsoft.com/office/drawing/2014/main" id="{3FB02A44-3F82-4F91-6DEB-4F01FD9641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32451" y="2545133"/>
                    <a:ext cx="3077030" cy="802528"/>
                  </a:xfrm>
                  <a:prstGeom prst="trapezoid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82" name="正方形/長方形 81">
                    <a:extLst>
                      <a:ext uri="{FF2B5EF4-FFF2-40B4-BE49-F238E27FC236}">
                        <a16:creationId xmlns:a16="http://schemas.microsoft.com/office/drawing/2014/main" id="{9DF5CB01-EEA7-F644-D1CE-C04EBEADA531}"/>
                      </a:ext>
                    </a:extLst>
                  </p:cNvPr>
                  <p:cNvSpPr/>
                  <p:nvPr/>
                </p:nvSpPr>
                <p:spPr>
                  <a:xfrm>
                    <a:off x="8577946" y="1407885"/>
                    <a:ext cx="1028097" cy="3077028"/>
                  </a:xfrm>
                  <a:prstGeom prst="rect">
                    <a:avLst/>
                  </a:prstGeom>
                  <a:grpFill/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p:sp>
              <p:nvSpPr>
                <p:cNvPr id="26" name="円柱 25">
                  <a:extLst>
                    <a:ext uri="{FF2B5EF4-FFF2-40B4-BE49-F238E27FC236}">
                      <a16:creationId xmlns:a16="http://schemas.microsoft.com/office/drawing/2014/main" id="{D8C327F7-9676-08E1-8C13-702968CE7A75}"/>
                    </a:ext>
                  </a:extLst>
                </p:cNvPr>
                <p:cNvSpPr/>
                <p:nvPr/>
              </p:nvSpPr>
              <p:spPr>
                <a:xfrm rot="16200000">
                  <a:off x="7418235" y="4293571"/>
                  <a:ext cx="1978315" cy="1992253"/>
                </a:xfrm>
                <a:prstGeom prst="can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1" name="円柱 30">
                  <a:extLst>
                    <a:ext uri="{FF2B5EF4-FFF2-40B4-BE49-F238E27FC236}">
                      <a16:creationId xmlns:a16="http://schemas.microsoft.com/office/drawing/2014/main" id="{EC3335F9-9E83-C53D-D8E0-D88B5486A347}"/>
                    </a:ext>
                  </a:extLst>
                </p:cNvPr>
                <p:cNvSpPr/>
                <p:nvPr/>
              </p:nvSpPr>
              <p:spPr>
                <a:xfrm rot="16200000">
                  <a:off x="6116026" y="4889429"/>
                  <a:ext cx="910806" cy="765178"/>
                </a:xfrm>
                <a:prstGeom prst="can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2" name="円柱 31">
                  <a:extLst>
                    <a:ext uri="{FF2B5EF4-FFF2-40B4-BE49-F238E27FC236}">
                      <a16:creationId xmlns:a16="http://schemas.microsoft.com/office/drawing/2014/main" id="{C4390195-AB4A-B90D-3334-3667F25349A1}"/>
                    </a:ext>
                  </a:extLst>
                </p:cNvPr>
                <p:cNvSpPr/>
                <p:nvPr/>
              </p:nvSpPr>
              <p:spPr>
                <a:xfrm rot="16200000">
                  <a:off x="5811984" y="4576899"/>
                  <a:ext cx="1507188" cy="1426056"/>
                </a:xfrm>
                <a:prstGeom prst="ca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3" name="円柱 32">
                  <a:extLst>
                    <a:ext uri="{FF2B5EF4-FFF2-40B4-BE49-F238E27FC236}">
                      <a16:creationId xmlns:a16="http://schemas.microsoft.com/office/drawing/2014/main" id="{1D8BA6B1-3500-0D3B-4C27-F5523CAB53E1}"/>
                    </a:ext>
                  </a:extLst>
                </p:cNvPr>
                <p:cNvSpPr/>
                <p:nvPr/>
              </p:nvSpPr>
              <p:spPr>
                <a:xfrm rot="16200000">
                  <a:off x="5551688" y="4063362"/>
                  <a:ext cx="1978315" cy="2452673"/>
                </a:xfrm>
                <a:prstGeom prst="can">
                  <a:avLst/>
                </a:prstGeom>
                <a:noFill/>
                <a:ln w="349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4" name="円/楕円 33">
                  <a:extLst>
                    <a:ext uri="{FF2B5EF4-FFF2-40B4-BE49-F238E27FC236}">
                      <a16:creationId xmlns:a16="http://schemas.microsoft.com/office/drawing/2014/main" id="{AB19943A-757A-6AF2-56A5-392F7D1F00C8}"/>
                    </a:ext>
                  </a:extLst>
                </p:cNvPr>
                <p:cNvSpPr/>
                <p:nvPr/>
              </p:nvSpPr>
              <p:spPr>
                <a:xfrm>
                  <a:off x="5398304" y="4809751"/>
                  <a:ext cx="191213" cy="959893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35" name="円柱 34">
                  <a:extLst>
                    <a:ext uri="{FF2B5EF4-FFF2-40B4-BE49-F238E27FC236}">
                      <a16:creationId xmlns:a16="http://schemas.microsoft.com/office/drawing/2014/main" id="{F808B3E7-2FEE-1D2C-901B-350D3A9C8EFB}"/>
                    </a:ext>
                  </a:extLst>
                </p:cNvPr>
                <p:cNvSpPr/>
                <p:nvPr/>
              </p:nvSpPr>
              <p:spPr>
                <a:xfrm>
                  <a:off x="6420282" y="5792280"/>
                  <a:ext cx="290590" cy="77661"/>
                </a:xfrm>
                <a:prstGeom prst="can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45DE442-3CF4-5BF1-E037-DD9750F9E98C}"/>
                    </a:ext>
                  </a:extLst>
                </p:cNvPr>
                <p:cNvCxnSpPr>
                  <a:cxnSpLocks/>
                  <a:endCxn id="77" idx="0"/>
                </p:cNvCxnSpPr>
                <p:nvPr/>
              </p:nvCxnSpPr>
              <p:spPr>
                <a:xfrm flipH="1">
                  <a:off x="4112167" y="4536332"/>
                  <a:ext cx="5032893" cy="6723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3E5DE0BB-CA64-92B5-C2BB-17071682FC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63752" y="5300170"/>
                  <a:ext cx="5075250" cy="78997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線コネクタ 66">
                  <a:extLst>
                    <a:ext uri="{FF2B5EF4-FFF2-40B4-BE49-F238E27FC236}">
                      <a16:creationId xmlns:a16="http://schemas.microsoft.com/office/drawing/2014/main" id="{A71CB289-5AA9-F4EE-0C20-7BF89D8FA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575683" y="5846336"/>
                  <a:ext cx="102713" cy="58637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線コネクタ 75">
                  <a:extLst>
                    <a:ext uri="{FF2B5EF4-FFF2-40B4-BE49-F238E27FC236}">
                      <a16:creationId xmlns:a16="http://schemas.microsoft.com/office/drawing/2014/main" id="{7E9E706F-171A-ABE1-E4E7-483196376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09163" y="5259387"/>
                  <a:ext cx="7035897" cy="92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円/楕円 24">
                  <a:extLst>
                    <a:ext uri="{FF2B5EF4-FFF2-40B4-BE49-F238E27FC236}">
                      <a16:creationId xmlns:a16="http://schemas.microsoft.com/office/drawing/2014/main" id="{29BA1214-674C-29B2-DD11-377F5A3C4102}"/>
                    </a:ext>
                  </a:extLst>
                </p:cNvPr>
                <p:cNvSpPr/>
                <p:nvPr/>
              </p:nvSpPr>
              <p:spPr>
                <a:xfrm>
                  <a:off x="8894758" y="4316913"/>
                  <a:ext cx="522213" cy="1978316"/>
                </a:xfrm>
                <a:prstGeom prst="ellipse">
                  <a:avLst/>
                </a:prstGeom>
                <a:noFill/>
                <a:ln w="12700"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38" name="正方形/長方形 137">
                <a:extLst>
                  <a:ext uri="{FF2B5EF4-FFF2-40B4-BE49-F238E27FC236}">
                    <a16:creationId xmlns:a16="http://schemas.microsoft.com/office/drawing/2014/main" id="{E8C0A285-DBD5-84BB-6E58-846B01CD7D5F}"/>
                  </a:ext>
                </a:extLst>
              </p:cNvPr>
              <p:cNvSpPr/>
              <p:nvPr/>
            </p:nvSpPr>
            <p:spPr>
              <a:xfrm>
                <a:off x="1172240" y="5964042"/>
                <a:ext cx="3996089" cy="4981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" name="環状矢印 2">
                <a:extLst>
                  <a:ext uri="{FF2B5EF4-FFF2-40B4-BE49-F238E27FC236}">
                    <a16:creationId xmlns:a16="http://schemas.microsoft.com/office/drawing/2014/main" id="{E2078244-0D94-2765-1788-B4239DCFE463}"/>
                  </a:ext>
                </a:extLst>
              </p:cNvPr>
              <p:cNvSpPr/>
              <p:nvPr/>
            </p:nvSpPr>
            <p:spPr>
              <a:xfrm rot="5400000">
                <a:off x="2945269" y="5701816"/>
                <a:ext cx="441022" cy="1116954"/>
              </a:xfrm>
              <a:prstGeom prst="circularArrow">
                <a:avLst>
                  <a:gd name="adj1" fmla="val 12500"/>
                  <a:gd name="adj2" fmla="val 1142319"/>
                  <a:gd name="adj3" fmla="val 20457681"/>
                  <a:gd name="adj4" fmla="val 1055929"/>
                  <a:gd name="adj5" fmla="val 1908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2F3D59FF-A673-2597-3FF0-A14F2B8C638C}"/>
                  </a:ext>
                </a:extLst>
              </p:cNvPr>
              <p:cNvSpPr/>
              <p:nvPr/>
            </p:nvSpPr>
            <p:spPr>
              <a:xfrm>
                <a:off x="2930868" y="6510282"/>
                <a:ext cx="469828" cy="1206356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7" name="円柱 36">
                <a:extLst>
                  <a:ext uri="{FF2B5EF4-FFF2-40B4-BE49-F238E27FC236}">
                    <a16:creationId xmlns:a16="http://schemas.microsoft.com/office/drawing/2014/main" id="{93906202-831B-6AAA-B1AB-A0EB00034FEB}"/>
                  </a:ext>
                </a:extLst>
              </p:cNvPr>
              <p:cNvSpPr/>
              <p:nvPr/>
            </p:nvSpPr>
            <p:spPr>
              <a:xfrm rot="10800000">
                <a:off x="1032871" y="7016047"/>
                <a:ext cx="4265823" cy="375666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8" name="円柱 37">
                <a:extLst>
                  <a:ext uri="{FF2B5EF4-FFF2-40B4-BE49-F238E27FC236}">
                    <a16:creationId xmlns:a16="http://schemas.microsoft.com/office/drawing/2014/main" id="{ADE57DC9-8CEB-8E89-3426-3778903BE932}"/>
                  </a:ext>
                </a:extLst>
              </p:cNvPr>
              <p:cNvSpPr/>
              <p:nvPr/>
            </p:nvSpPr>
            <p:spPr>
              <a:xfrm rot="10800000">
                <a:off x="1438566" y="7297124"/>
                <a:ext cx="3437406" cy="375666"/>
              </a:xfrm>
              <a:prstGeom prst="can">
                <a:avLst>
                  <a:gd name="adj" fmla="val 5103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39" name="円柱 38">
                <a:extLst>
                  <a:ext uri="{FF2B5EF4-FFF2-40B4-BE49-F238E27FC236}">
                    <a16:creationId xmlns:a16="http://schemas.microsoft.com/office/drawing/2014/main" id="{501D26D1-1389-FCD3-D61E-DC7716968061}"/>
                  </a:ext>
                </a:extLst>
              </p:cNvPr>
              <p:cNvSpPr/>
              <p:nvPr/>
            </p:nvSpPr>
            <p:spPr>
              <a:xfrm>
                <a:off x="1024358" y="10830088"/>
                <a:ext cx="4265823" cy="375666"/>
              </a:xfrm>
              <a:prstGeom prst="can">
                <a:avLst>
                  <a:gd name="adj" fmla="val 3637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1" name="円柱 40">
                <a:extLst>
                  <a:ext uri="{FF2B5EF4-FFF2-40B4-BE49-F238E27FC236}">
                    <a16:creationId xmlns:a16="http://schemas.microsoft.com/office/drawing/2014/main" id="{6AB07ACB-612A-37F1-3E0C-8EBDC90E98E2}"/>
                  </a:ext>
                </a:extLst>
              </p:cNvPr>
              <p:cNvSpPr/>
              <p:nvPr/>
            </p:nvSpPr>
            <p:spPr>
              <a:xfrm>
                <a:off x="1822111" y="7631498"/>
                <a:ext cx="523218" cy="3142233"/>
              </a:xfrm>
              <a:prstGeom prst="can">
                <a:avLst>
                  <a:gd name="adj" fmla="val 0"/>
                </a:avLst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42" name="円柱 41">
                <a:extLst>
                  <a:ext uri="{FF2B5EF4-FFF2-40B4-BE49-F238E27FC236}">
                    <a16:creationId xmlns:a16="http://schemas.microsoft.com/office/drawing/2014/main" id="{B25E6475-189E-C4C3-E4A9-1568066C6D19}"/>
                  </a:ext>
                </a:extLst>
              </p:cNvPr>
              <p:cNvSpPr/>
              <p:nvPr/>
            </p:nvSpPr>
            <p:spPr>
              <a:xfrm>
                <a:off x="1447079" y="10542326"/>
                <a:ext cx="3437406" cy="375666"/>
              </a:xfrm>
              <a:prstGeom prst="can">
                <a:avLst/>
              </a:prstGeom>
              <a:solidFill>
                <a:srgbClr val="EA3E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25EC93F9-2A3C-F82D-7ED6-E83E46CDA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6560" y="7256756"/>
                <a:ext cx="0" cy="4036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54A20D0-EFFD-9BEB-7C1C-07B35726C5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9001" y="7264014"/>
                <a:ext cx="0" cy="4036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0CE6446D-A622-C9B9-9612-65724A375885}"/>
                  </a:ext>
                </a:extLst>
              </p:cNvPr>
              <p:cNvSpPr/>
              <p:nvPr/>
            </p:nvSpPr>
            <p:spPr>
              <a:xfrm>
                <a:off x="9555550" y="8421982"/>
                <a:ext cx="475771" cy="1536333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72B6EB62-FFF2-9C52-F28E-95FD2FF90141}"/>
                  </a:ext>
                </a:extLst>
              </p:cNvPr>
              <p:cNvSpPr txBox="1"/>
              <p:nvPr/>
            </p:nvSpPr>
            <p:spPr>
              <a:xfrm>
                <a:off x="5713768" y="10238274"/>
                <a:ext cx="217970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Pickup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69" name="直線矢印コネクタ 68">
                <a:extLst>
                  <a:ext uri="{FF2B5EF4-FFF2-40B4-BE49-F238E27FC236}">
                    <a16:creationId xmlns:a16="http://schemas.microsoft.com/office/drawing/2014/main" id="{685EA6BF-1883-2386-BF48-DAC5DA0DD1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6034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矢印コネクタ 69">
                <a:extLst>
                  <a:ext uri="{FF2B5EF4-FFF2-40B4-BE49-F238E27FC236}">
                    <a16:creationId xmlns:a16="http://schemas.microsoft.com/office/drawing/2014/main" id="{A98FC1B0-E332-3582-1597-0609EAF31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4453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矢印コネクタ 70">
                <a:extLst>
                  <a:ext uri="{FF2B5EF4-FFF2-40B4-BE49-F238E27FC236}">
                    <a16:creationId xmlns:a16="http://schemas.microsoft.com/office/drawing/2014/main" id="{51632965-5AFB-35DA-8018-80355F4ED2A8}"/>
                  </a:ext>
                </a:extLst>
              </p:cNvPr>
              <p:cNvCxnSpPr>
                <a:cxnSpLocks/>
              </p:cNvCxnSpPr>
              <p:nvPr/>
            </p:nvCxnSpPr>
            <p:spPr>
              <a:xfrm rot="1200000">
                <a:off x="4679197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矢印コネクタ 71">
                <a:extLst>
                  <a:ext uri="{FF2B5EF4-FFF2-40B4-BE49-F238E27FC236}">
                    <a16:creationId xmlns:a16="http://schemas.microsoft.com/office/drawing/2014/main" id="{65BF43CD-39D4-77AC-4714-4BFCF3511E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5679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矢印コネクタ 72">
                <a:extLst>
                  <a:ext uri="{FF2B5EF4-FFF2-40B4-BE49-F238E27FC236}">
                    <a16:creationId xmlns:a16="http://schemas.microsoft.com/office/drawing/2014/main" id="{DB19252A-07AA-8A23-7930-2A41E025CC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502357" y="8773565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矢印コネクタ 73">
                <a:extLst>
                  <a:ext uri="{FF2B5EF4-FFF2-40B4-BE49-F238E27FC236}">
                    <a16:creationId xmlns:a16="http://schemas.microsoft.com/office/drawing/2014/main" id="{D9B91DEA-80A1-C985-8305-6565DD194FEB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0">
                <a:off x="5590778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矢印コネクタ 74">
                <a:extLst>
                  <a:ext uri="{FF2B5EF4-FFF2-40B4-BE49-F238E27FC236}">
                    <a16:creationId xmlns:a16="http://schemas.microsoft.com/office/drawing/2014/main" id="{D771D55B-ABE4-5927-2579-EEBC4A417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871" y="8757993"/>
                <a:ext cx="0" cy="700049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712907B1-A074-7E90-AA1E-9FB43DF4F06E}"/>
                  </a:ext>
                </a:extLst>
              </p:cNvPr>
              <p:cNvSpPr/>
              <p:nvPr/>
            </p:nvSpPr>
            <p:spPr>
              <a:xfrm>
                <a:off x="3113857" y="9065945"/>
                <a:ext cx="103846" cy="10901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60D58E32-698B-255F-0AA1-9753A479FC4A}"/>
                  </a:ext>
                </a:extLst>
              </p:cNvPr>
              <p:cNvSpPr txBox="1"/>
              <p:nvPr/>
            </p:nvSpPr>
            <p:spPr>
              <a:xfrm>
                <a:off x="827910" y="9711448"/>
                <a:ext cx="28699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Magnetic field direction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4F678D05-AFAC-BBAB-8946-02CAF35648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7268" y="9478086"/>
                <a:ext cx="158696" cy="23336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6F4A865B-CABF-473E-EE45-4868724D5D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6940" y="5939999"/>
                <a:ext cx="0" cy="576000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AF3DD08B-D06D-488C-E1A5-7CEB5FD0A7BE}"/>
                  </a:ext>
                </a:extLst>
              </p:cNvPr>
              <p:cNvSpPr txBox="1"/>
              <p:nvPr/>
            </p:nvSpPr>
            <p:spPr>
              <a:xfrm>
                <a:off x="3583863" y="6021094"/>
                <a:ext cx="186461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 err="1">
                    <a:latin typeface="Helvetica" pitchFamily="2" charset="0"/>
                  </a:rPr>
                  <a:t>ω</a:t>
                </a:r>
                <a:r>
                  <a:rPr lang="en-US" altLang="ja-JP" sz="3000" dirty="0">
                    <a:latin typeface="Helvetica" pitchFamily="2" charset="0"/>
                  </a:rPr>
                  <a:t> rotation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1BB7C7CC-7D3A-051C-9AF0-A30EE3CBFCA9}"/>
                  </a:ext>
                </a:extLst>
              </p:cNvPr>
              <p:cNvGrpSpPr/>
              <p:nvPr/>
            </p:nvGrpSpPr>
            <p:grpSpPr>
              <a:xfrm>
                <a:off x="543127" y="636933"/>
                <a:ext cx="5374866" cy="4697937"/>
                <a:chOff x="2509620" y="-109443"/>
                <a:chExt cx="3316105" cy="2898462"/>
              </a:xfrm>
            </p:grpSpPr>
            <p:sp>
              <p:nvSpPr>
                <p:cNvPr id="5" name="円/楕円 4">
                  <a:extLst>
                    <a:ext uri="{FF2B5EF4-FFF2-40B4-BE49-F238E27FC236}">
                      <a16:creationId xmlns:a16="http://schemas.microsoft.com/office/drawing/2014/main" id="{E6F85AB3-3E0C-7CA1-D47B-0431B97A8E85}"/>
                    </a:ext>
                  </a:extLst>
                </p:cNvPr>
                <p:cNvSpPr/>
                <p:nvPr/>
              </p:nvSpPr>
              <p:spPr>
                <a:xfrm rot="14330460">
                  <a:off x="2686665" y="-109443"/>
                  <a:ext cx="2898462" cy="2898462"/>
                </a:xfrm>
                <a:prstGeom prst="ellipse">
                  <a:avLst/>
                </a:prstGeom>
                <a:solidFill>
                  <a:srgbClr val="E9E9E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6" name="円/楕円 5">
                  <a:extLst>
                    <a:ext uri="{FF2B5EF4-FFF2-40B4-BE49-F238E27FC236}">
                      <a16:creationId xmlns:a16="http://schemas.microsoft.com/office/drawing/2014/main" id="{348CDBE3-8BA8-F9F5-AAC2-77F8EE47AFF9}"/>
                    </a:ext>
                  </a:extLst>
                </p:cNvPr>
                <p:cNvSpPr/>
                <p:nvPr/>
              </p:nvSpPr>
              <p:spPr>
                <a:xfrm rot="14330460">
                  <a:off x="2972310" y="202064"/>
                  <a:ext cx="2300509" cy="2300510"/>
                </a:xfrm>
                <a:prstGeom prst="ellipse">
                  <a:avLst/>
                </a:prstGeom>
                <a:solidFill>
                  <a:srgbClr val="E9E9E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7" name="円/楕円 6">
                  <a:extLst>
                    <a:ext uri="{FF2B5EF4-FFF2-40B4-BE49-F238E27FC236}">
                      <a16:creationId xmlns:a16="http://schemas.microsoft.com/office/drawing/2014/main" id="{CB181998-A510-452A-D6D1-3410C929E378}"/>
                    </a:ext>
                  </a:extLst>
                </p:cNvPr>
                <p:cNvSpPr/>
                <p:nvPr/>
              </p:nvSpPr>
              <p:spPr>
                <a:xfrm rot="14330460">
                  <a:off x="3135070" y="349624"/>
                  <a:ext cx="1990137" cy="1990138"/>
                </a:xfrm>
                <a:prstGeom prst="ellipse">
                  <a:avLst/>
                </a:prstGeom>
                <a:solidFill>
                  <a:srgbClr val="EA3E3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円/楕円 7">
                  <a:extLst>
                    <a:ext uri="{FF2B5EF4-FFF2-40B4-BE49-F238E27FC236}">
                      <a16:creationId xmlns:a16="http://schemas.microsoft.com/office/drawing/2014/main" id="{7FCDF27C-BFA3-160B-4E02-37A1A9029E9E}"/>
                    </a:ext>
                  </a:extLst>
                </p:cNvPr>
                <p:cNvSpPr/>
                <p:nvPr/>
              </p:nvSpPr>
              <p:spPr>
                <a:xfrm rot="14330460">
                  <a:off x="3399104" y="603002"/>
                  <a:ext cx="1473581" cy="1473581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円/楕円 8">
                  <a:extLst>
                    <a:ext uri="{FF2B5EF4-FFF2-40B4-BE49-F238E27FC236}">
                      <a16:creationId xmlns:a16="http://schemas.microsoft.com/office/drawing/2014/main" id="{E9E4B035-B140-063B-F964-8C5C57B0FB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330460">
                  <a:off x="3509623" y="713521"/>
                  <a:ext cx="1252544" cy="12525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円/楕円 9">
                  <a:extLst>
                    <a:ext uri="{FF2B5EF4-FFF2-40B4-BE49-F238E27FC236}">
                      <a16:creationId xmlns:a16="http://schemas.microsoft.com/office/drawing/2014/main" id="{0FF5A411-A517-A466-32C2-883F38402E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4330460">
                  <a:off x="3693820" y="897718"/>
                  <a:ext cx="884149" cy="88414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2" name="直線コネクタ 21">
                  <a:extLst>
                    <a:ext uri="{FF2B5EF4-FFF2-40B4-BE49-F238E27FC236}">
                      <a16:creationId xmlns:a16="http://schemas.microsoft.com/office/drawing/2014/main" id="{C02FD0BD-4A1F-A886-A8F0-2D938121F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9730460">
                  <a:off x="2509620" y="1342944"/>
                  <a:ext cx="3284445" cy="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61CA7AA6-E550-D51A-7690-7933D9E537BE}"/>
                    </a:ext>
                  </a:extLst>
                </p:cNvPr>
                <p:cNvSpPr/>
                <p:nvPr/>
              </p:nvSpPr>
              <p:spPr>
                <a:xfrm rot="14330460">
                  <a:off x="5319478" y="258654"/>
                  <a:ext cx="712040" cy="300455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3" name="正方形/長方形 102">
                  <a:extLst>
                    <a:ext uri="{FF2B5EF4-FFF2-40B4-BE49-F238E27FC236}">
                      <a16:creationId xmlns:a16="http://schemas.microsoft.com/office/drawing/2014/main" id="{5B84A8D9-90E0-DE68-0A6D-7847B90B995B}"/>
                    </a:ext>
                  </a:extLst>
                </p:cNvPr>
                <p:cNvSpPr/>
                <p:nvPr/>
              </p:nvSpPr>
              <p:spPr>
                <a:xfrm>
                  <a:off x="4096036" y="1297945"/>
                  <a:ext cx="79720" cy="83686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grpSp>
            <p:nvGrpSpPr>
              <p:cNvPr id="112" name="グループ化 111">
                <a:extLst>
                  <a:ext uri="{FF2B5EF4-FFF2-40B4-BE49-F238E27FC236}">
                    <a16:creationId xmlns:a16="http://schemas.microsoft.com/office/drawing/2014/main" id="{A757F393-8FC7-8EEB-A07C-B0F4C2F9BDCD}"/>
                  </a:ext>
                </a:extLst>
              </p:cNvPr>
              <p:cNvGrpSpPr/>
              <p:nvPr/>
            </p:nvGrpSpPr>
            <p:grpSpPr>
              <a:xfrm>
                <a:off x="9398901" y="1699532"/>
                <a:ext cx="2285925" cy="2625821"/>
                <a:chOff x="7767924" y="1407885"/>
                <a:chExt cx="1838119" cy="3077028"/>
              </a:xfrm>
              <a:solidFill>
                <a:schemeClr val="bg2"/>
              </a:solidFill>
            </p:grpSpPr>
            <p:sp>
              <p:nvSpPr>
                <p:cNvPr id="136" name="台形 135">
                  <a:extLst>
                    <a:ext uri="{FF2B5EF4-FFF2-40B4-BE49-F238E27FC236}">
                      <a16:creationId xmlns:a16="http://schemas.microsoft.com/office/drawing/2014/main" id="{A2D59C7A-C5A6-9215-C1CA-E9BC0B2B663B}"/>
                    </a:ext>
                  </a:extLst>
                </p:cNvPr>
                <p:cNvSpPr/>
                <p:nvPr/>
              </p:nvSpPr>
              <p:spPr>
                <a:xfrm rot="16200000">
                  <a:off x="6634421" y="2541388"/>
                  <a:ext cx="3077026" cy="810020"/>
                </a:xfrm>
                <a:prstGeom prst="trapezoid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37" name="正方形/長方形 136">
                  <a:extLst>
                    <a:ext uri="{FF2B5EF4-FFF2-40B4-BE49-F238E27FC236}">
                      <a16:creationId xmlns:a16="http://schemas.microsoft.com/office/drawing/2014/main" id="{656A9F98-FA80-673E-1AEB-606B1B395E16}"/>
                    </a:ext>
                  </a:extLst>
                </p:cNvPr>
                <p:cNvSpPr/>
                <p:nvPr/>
              </p:nvSpPr>
              <p:spPr>
                <a:xfrm>
                  <a:off x="8577946" y="1407885"/>
                  <a:ext cx="1028097" cy="3077028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p:sp>
            <p:nvSpPr>
              <p:cNvPr id="114" name="円柱 113">
                <a:extLst>
                  <a:ext uri="{FF2B5EF4-FFF2-40B4-BE49-F238E27FC236}">
                    <a16:creationId xmlns:a16="http://schemas.microsoft.com/office/drawing/2014/main" id="{DC12A054-EC10-4AD3-4C6B-22B7CAE1F1C5}"/>
                  </a:ext>
                </a:extLst>
              </p:cNvPr>
              <p:cNvSpPr/>
              <p:nvPr/>
            </p:nvSpPr>
            <p:spPr>
              <a:xfrm rot="16200000">
                <a:off x="7950897" y="1696544"/>
                <a:ext cx="1793285" cy="2631799"/>
              </a:xfrm>
              <a:prstGeom prst="can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5" name="円柱 114">
                <a:extLst>
                  <a:ext uri="{FF2B5EF4-FFF2-40B4-BE49-F238E27FC236}">
                    <a16:creationId xmlns:a16="http://schemas.microsoft.com/office/drawing/2014/main" id="{D2EF69A6-B672-8F60-5D2E-3B32DFCF6C0A}"/>
                  </a:ext>
                </a:extLst>
              </p:cNvPr>
              <p:cNvSpPr/>
              <p:nvPr/>
            </p:nvSpPr>
            <p:spPr>
              <a:xfrm rot="16200000">
                <a:off x="6007583" y="2491010"/>
                <a:ext cx="825619" cy="1010813"/>
              </a:xfrm>
              <a:prstGeom prst="can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6" name="円柱 115">
                <a:extLst>
                  <a:ext uri="{FF2B5EF4-FFF2-40B4-BE49-F238E27FC236}">
                    <a16:creationId xmlns:a16="http://schemas.microsoft.com/office/drawing/2014/main" id="{4262A484-13B1-FCCC-55B5-21FE5862E910}"/>
                  </a:ext>
                </a:extLst>
              </p:cNvPr>
              <p:cNvSpPr/>
              <p:nvPr/>
            </p:nvSpPr>
            <p:spPr>
              <a:xfrm rot="16200000">
                <a:off x="5729550" y="2070728"/>
                <a:ext cx="1366222" cy="1883843"/>
              </a:xfrm>
              <a:prstGeom prst="can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7" name="円柱 116">
                <a:extLst>
                  <a:ext uri="{FF2B5EF4-FFF2-40B4-BE49-F238E27FC236}">
                    <a16:creationId xmlns:a16="http://schemas.microsoft.com/office/drawing/2014/main" id="{D600C3B5-016E-04E0-365A-4EC72BA8FD6B}"/>
                  </a:ext>
                </a:extLst>
              </p:cNvPr>
              <p:cNvSpPr/>
              <p:nvPr/>
            </p:nvSpPr>
            <p:spPr>
              <a:xfrm rot="16200000">
                <a:off x="5483349" y="1392433"/>
                <a:ext cx="1793285" cy="3240022"/>
              </a:xfrm>
              <a:prstGeom prst="can">
                <a:avLst/>
              </a:prstGeom>
              <a:noFill/>
              <a:ln w="349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18" name="円/楕円 117">
                <a:extLst>
                  <a:ext uri="{FF2B5EF4-FFF2-40B4-BE49-F238E27FC236}">
                    <a16:creationId xmlns:a16="http://schemas.microsoft.com/office/drawing/2014/main" id="{EF27BF6B-19F7-ED97-B8C7-F3822B6C4698}"/>
                  </a:ext>
                </a:extLst>
              </p:cNvPr>
              <p:cNvSpPr/>
              <p:nvPr/>
            </p:nvSpPr>
            <p:spPr>
              <a:xfrm>
                <a:off x="4865314" y="2577386"/>
                <a:ext cx="252595" cy="87011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85F50862-13F4-951A-60E3-90A40F205802}"/>
                  </a:ext>
                </a:extLst>
              </p:cNvPr>
              <p:cNvCxnSpPr>
                <a:cxnSpLocks/>
                <a:endCxn id="103" idx="0"/>
              </p:cNvCxnSpPr>
              <p:nvPr/>
            </p:nvCxnSpPr>
            <p:spPr>
              <a:xfrm flipH="1">
                <a:off x="3179056" y="2278348"/>
                <a:ext cx="6644909" cy="63973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9843FA66-B226-EA59-59F3-50B5897118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92775" y="3026023"/>
                <a:ext cx="6747515" cy="70697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8B199432-92A9-5417-41CF-71275B9EBAA1}"/>
                  </a:ext>
                </a:extLst>
              </p:cNvPr>
              <p:cNvSpPr txBox="1"/>
              <p:nvPr/>
            </p:nvSpPr>
            <p:spPr>
              <a:xfrm>
                <a:off x="5982879" y="3971681"/>
                <a:ext cx="191059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baseline="30000" dirty="0">
                    <a:latin typeface="Helvetica" pitchFamily="2" charset="0"/>
                  </a:rPr>
                  <a:t>3</a:t>
                </a:r>
                <a:r>
                  <a:rPr lang="en-US" altLang="ja-JP" sz="3000" dirty="0">
                    <a:latin typeface="Helvetica" pitchFamily="2" charset="0"/>
                  </a:rPr>
                  <a:t>He cell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92A6C784-6981-9295-8C4C-A68644C26C90}"/>
                  </a:ext>
                </a:extLst>
              </p:cNvPr>
              <p:cNvSpPr txBox="1"/>
              <p:nvPr/>
            </p:nvSpPr>
            <p:spPr>
              <a:xfrm>
                <a:off x="5982879" y="4453079"/>
                <a:ext cx="191059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RF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D0A5B3B3-F9E2-D4DF-8E9C-1561C92364D5}"/>
                  </a:ext>
                </a:extLst>
              </p:cNvPr>
              <p:cNvSpPr txBox="1"/>
              <p:nvPr/>
            </p:nvSpPr>
            <p:spPr>
              <a:xfrm>
                <a:off x="5521716" y="4930586"/>
                <a:ext cx="253066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baseline="30000" dirty="0">
                    <a:latin typeface="Helvetica" pitchFamily="2" charset="0"/>
                  </a:rPr>
                  <a:t>3</a:t>
                </a:r>
                <a:r>
                  <a:rPr lang="en-US" altLang="ja-JP" sz="3000" dirty="0">
                    <a:latin typeface="Helvetica" pitchFamily="2" charset="0"/>
                  </a:rPr>
                  <a:t>He NSF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8F3E9768-DCDC-7071-2BC1-D54196A5BD03}"/>
                  </a:ext>
                </a:extLst>
              </p:cNvPr>
              <p:cNvSpPr txBox="1"/>
              <p:nvPr/>
            </p:nvSpPr>
            <p:spPr>
              <a:xfrm>
                <a:off x="8369808" y="4046231"/>
                <a:ext cx="209256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Neutron guide tube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61D22172-726C-49B0-E505-BE3A768BDB22}"/>
                  </a:ext>
                </a:extLst>
              </p:cNvPr>
              <p:cNvSpPr txBox="1"/>
              <p:nvPr/>
            </p:nvSpPr>
            <p:spPr>
              <a:xfrm>
                <a:off x="8763003" y="1205629"/>
                <a:ext cx="2800872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2D </a:t>
                </a:r>
                <a:r>
                  <a:rPr lang="en-US" altLang="ja-JP" sz="3000" dirty="0" err="1">
                    <a:latin typeface="Helvetica" pitchFamily="2" charset="0"/>
                  </a:rPr>
                  <a:t>detecter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4FBE6988-CFF9-B5FB-BF53-2AB0ABA6E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85915" y="1717378"/>
                <a:ext cx="163055" cy="27320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コネクタ 131">
                <a:extLst>
                  <a:ext uri="{FF2B5EF4-FFF2-40B4-BE49-F238E27FC236}">
                    <a16:creationId xmlns:a16="http://schemas.microsoft.com/office/drawing/2014/main" id="{7C8FE5A2-52FE-70F4-8AB1-CA08D88EE9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02244" y="3630835"/>
                <a:ext cx="177514" cy="96091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コネクタ 132">
                <a:extLst>
                  <a:ext uri="{FF2B5EF4-FFF2-40B4-BE49-F238E27FC236}">
                    <a16:creationId xmlns:a16="http://schemas.microsoft.com/office/drawing/2014/main" id="{ABEC7B8C-D63D-FFEB-E60A-B0C349DD54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9810" y="3749658"/>
                <a:ext cx="358554" cy="29657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F81E8EAC-5D01-832F-05CE-F19593C6C0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935" y="2987514"/>
                <a:ext cx="667608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  <a:headEnd type="triangle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円/楕円 140">
                <a:extLst>
                  <a:ext uri="{FF2B5EF4-FFF2-40B4-BE49-F238E27FC236}">
                    <a16:creationId xmlns:a16="http://schemas.microsoft.com/office/drawing/2014/main" id="{8EC8C62C-03D2-D53E-A0DC-A404593A9536}"/>
                  </a:ext>
                </a:extLst>
              </p:cNvPr>
              <p:cNvSpPr/>
              <p:nvPr/>
            </p:nvSpPr>
            <p:spPr>
              <a:xfrm>
                <a:off x="9582651" y="2237677"/>
                <a:ext cx="482628" cy="1558476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42" name="円/楕円 141">
                <a:extLst>
                  <a:ext uri="{FF2B5EF4-FFF2-40B4-BE49-F238E27FC236}">
                    <a16:creationId xmlns:a16="http://schemas.microsoft.com/office/drawing/2014/main" id="{9DC269BB-DDF6-9CCF-8F80-D98B794C3537}"/>
                  </a:ext>
                </a:extLst>
              </p:cNvPr>
              <p:cNvSpPr/>
              <p:nvPr/>
            </p:nvSpPr>
            <p:spPr>
              <a:xfrm>
                <a:off x="9495507" y="2101267"/>
                <a:ext cx="689566" cy="1810435"/>
              </a:xfrm>
              <a:prstGeom prst="ellipse">
                <a:avLst/>
              </a:prstGeom>
              <a:noFill/>
              <a:ln w="12700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5DA8A804-39A1-9734-4428-834EEC346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58" y="5693590"/>
                <a:ext cx="118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3D4F61A4-6E45-ACE9-5064-8888F5400E78}"/>
                  </a:ext>
                </a:extLst>
              </p:cNvPr>
              <p:cNvSpPr txBox="1"/>
              <p:nvPr/>
            </p:nvSpPr>
            <p:spPr>
              <a:xfrm>
                <a:off x="133453" y="467081"/>
                <a:ext cx="17790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200" dirty="0">
                    <a:latin typeface="Helvetica" pitchFamily="2" charset="0"/>
                    <a:cs typeface="Times New Roman" panose="02020603050405020304" pitchFamily="18" charset="0"/>
                  </a:rPr>
                  <a:t>Top view</a:t>
                </a:r>
                <a:endParaRPr lang="ja-JP" altLang="en-US" sz="32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2197E02-8833-AEB9-2873-456920041358}"/>
                  </a:ext>
                </a:extLst>
              </p:cNvPr>
              <p:cNvSpPr txBox="1"/>
              <p:nvPr/>
            </p:nvSpPr>
            <p:spPr>
              <a:xfrm>
                <a:off x="307384" y="4381505"/>
                <a:ext cx="326107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  <a:cs typeface="Times New Roman" panose="02020603050405020304" pitchFamily="18" charset="0"/>
                  </a:rPr>
                  <a:t>Incident neutron</a:t>
                </a:r>
                <a:endParaRPr lang="ja-JP" altLang="en-US" sz="30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CFA50EB2-C3AA-49D4-FAC4-3CD7B6CB3EF9}"/>
                  </a:ext>
                </a:extLst>
              </p:cNvPr>
              <p:cNvSpPr txBox="1"/>
              <p:nvPr/>
            </p:nvSpPr>
            <p:spPr>
              <a:xfrm>
                <a:off x="5713768" y="655246"/>
                <a:ext cx="285904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  <a:cs typeface="Times New Roman" panose="02020603050405020304" pitchFamily="18" charset="0"/>
                  </a:rPr>
                  <a:t>Beam stopper</a:t>
                </a:r>
                <a:endParaRPr lang="ja-JP" altLang="en-US" sz="30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3" name="直線コネクタ 172">
                <a:extLst>
                  <a:ext uri="{FF2B5EF4-FFF2-40B4-BE49-F238E27FC236}">
                    <a16:creationId xmlns:a16="http://schemas.microsoft.com/office/drawing/2014/main" id="{EB1AEA7C-DD6D-6E66-4E44-E31529F879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49823" y="1148907"/>
                <a:ext cx="362109" cy="2196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コネクタ 179">
                <a:extLst>
                  <a:ext uri="{FF2B5EF4-FFF2-40B4-BE49-F238E27FC236}">
                    <a16:creationId xmlns:a16="http://schemas.microsoft.com/office/drawing/2014/main" id="{8E2629E7-8BEC-8301-2227-BB4633049F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35104" y="3324452"/>
                <a:ext cx="93873" cy="680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E2F57637-BA06-AEFE-FD97-3B5660741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5876" y="6895358"/>
                <a:ext cx="225878" cy="7774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テキスト ボックス 184">
                <a:extLst>
                  <a:ext uri="{FF2B5EF4-FFF2-40B4-BE49-F238E27FC236}">
                    <a16:creationId xmlns:a16="http://schemas.microsoft.com/office/drawing/2014/main" id="{EC8A7CAB-6402-0F4F-73F7-5A55EA404ABA}"/>
                  </a:ext>
                </a:extLst>
              </p:cNvPr>
              <p:cNvSpPr txBox="1"/>
              <p:nvPr/>
            </p:nvSpPr>
            <p:spPr>
              <a:xfrm>
                <a:off x="386884" y="6489170"/>
                <a:ext cx="257474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Helmholtz coil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sp>
            <p:nvSpPr>
              <p:cNvPr id="186" name="テキスト ボックス 185">
                <a:extLst>
                  <a:ext uri="{FF2B5EF4-FFF2-40B4-BE49-F238E27FC236}">
                    <a16:creationId xmlns:a16="http://schemas.microsoft.com/office/drawing/2014/main" id="{F1E68C85-C048-ED59-C44D-5C7B2770B888}"/>
                  </a:ext>
                </a:extLst>
              </p:cNvPr>
              <p:cNvSpPr txBox="1"/>
              <p:nvPr/>
            </p:nvSpPr>
            <p:spPr>
              <a:xfrm>
                <a:off x="3970157" y="6528134"/>
                <a:ext cx="161614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Cryostat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1E1C5706-6276-D502-57D9-889819F503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00038" y="6806590"/>
                <a:ext cx="659985" cy="229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テキスト ボックス 188">
                <a:extLst>
                  <a:ext uri="{FF2B5EF4-FFF2-40B4-BE49-F238E27FC236}">
                    <a16:creationId xmlns:a16="http://schemas.microsoft.com/office/drawing/2014/main" id="{FF1CC82D-FFA2-2879-811A-61FCE3041845}"/>
                  </a:ext>
                </a:extLst>
              </p:cNvPr>
              <p:cNvSpPr txBox="1"/>
              <p:nvPr/>
            </p:nvSpPr>
            <p:spPr>
              <a:xfrm>
                <a:off x="1943794" y="2152930"/>
                <a:ext cx="172376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3000" dirty="0">
                    <a:latin typeface="Helvetica" pitchFamily="2" charset="0"/>
                  </a:rPr>
                  <a:t>Sample</a:t>
                </a:r>
                <a:endParaRPr lang="ja-JP" altLang="en-US" sz="3000">
                  <a:latin typeface="Helvetica" pitchFamily="2" charset="0"/>
                </a:endParaRPr>
              </a:p>
            </p:txBody>
          </p:sp>
          <p:cxnSp>
            <p:nvCxnSpPr>
              <p:cNvPr id="190" name="直線コネクタ 189">
                <a:extLst>
                  <a:ext uri="{FF2B5EF4-FFF2-40B4-BE49-F238E27FC236}">
                    <a16:creationId xmlns:a16="http://schemas.microsoft.com/office/drawing/2014/main" id="{ABFD6331-89EE-A4AC-383A-FB8AB0F19C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9467" y="2633549"/>
                <a:ext cx="347016" cy="2290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8BE1BCF-22BC-9D10-15DE-C1A89DC066DC}"/>
                  </a:ext>
                </a:extLst>
              </p:cNvPr>
              <p:cNvSpPr txBox="1"/>
              <p:nvPr/>
            </p:nvSpPr>
            <p:spPr>
              <a:xfrm>
                <a:off x="112086" y="5739625"/>
                <a:ext cx="193995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3200" dirty="0">
                    <a:latin typeface="Helvetica" pitchFamily="2" charset="0"/>
                    <a:cs typeface="Times New Roman" panose="02020603050405020304" pitchFamily="18" charset="0"/>
                  </a:rPr>
                  <a:t>Side view</a:t>
                </a:r>
                <a:endParaRPr lang="ja-JP" altLang="en-US" sz="3200">
                  <a:latin typeface="Helvetica" pitchFamily="2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AE0921B8-8CEF-EBA0-02C9-4D0AF8815A7D}"/>
                  </a:ext>
                </a:extLst>
              </p:cNvPr>
              <p:cNvCxnSpPr>
                <a:cxnSpLocks/>
                <a:stCxn id="124" idx="1"/>
              </p:cNvCxnSpPr>
              <p:nvPr/>
            </p:nvCxnSpPr>
            <p:spPr>
              <a:xfrm flipH="1" flipV="1">
                <a:off x="5258141" y="3794356"/>
                <a:ext cx="263575" cy="141322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C959604C-7C03-58E8-D745-119F4E3AAC85}"/>
                  </a:ext>
                </a:extLst>
              </p:cNvPr>
              <p:cNvGrpSpPr/>
              <p:nvPr/>
            </p:nvGrpSpPr>
            <p:grpSpPr>
              <a:xfrm rot="19567328">
                <a:off x="3239273" y="1651873"/>
                <a:ext cx="647054" cy="647054"/>
                <a:chOff x="3284376" y="1732408"/>
                <a:chExt cx="1440000" cy="1440000"/>
              </a:xfrm>
            </p:grpSpPr>
            <p:cxnSp>
              <p:nvCxnSpPr>
                <p:cNvPr id="50" name="直線矢印コネクタ 49">
                  <a:extLst>
                    <a:ext uri="{FF2B5EF4-FFF2-40B4-BE49-F238E27FC236}">
                      <a16:creationId xmlns:a16="http://schemas.microsoft.com/office/drawing/2014/main" id="{F41F8C3E-CCBF-0378-1BD5-6A406AE2F4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84376" y="3172408"/>
                  <a:ext cx="1440000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線矢印コネクタ 50">
                  <a:extLst>
                    <a:ext uri="{FF2B5EF4-FFF2-40B4-BE49-F238E27FC236}">
                      <a16:creationId xmlns:a16="http://schemas.microsoft.com/office/drawing/2014/main" id="{F7B527B9-072C-9D6B-0689-A72A12C64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2564376" y="2452408"/>
                  <a:ext cx="1440000" cy="0"/>
                </a:xfrm>
                <a:prstGeom prst="straightConnector1">
                  <a:avLst/>
                </a:prstGeom>
                <a:ln w="317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0FAEEBF2-1903-7B85-CA2F-915B5498285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990" y="1451019"/>
                    <a:ext cx="490637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a:rPr lang="en-US" altLang="ja-JP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ja-JP" altLang="en-US" sz="300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0FAEEBF2-1903-7B85-CA2F-915B549828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990" y="1451019"/>
                    <a:ext cx="490637" cy="5539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05A78305-A0CA-14C9-FDF1-0C9C94B03BD3}"/>
                      </a:ext>
                    </a:extLst>
                  </p:cNvPr>
                  <p:cNvSpPr txBox="1"/>
                  <p:nvPr/>
                </p:nvSpPr>
                <p:spPr>
                  <a:xfrm>
                    <a:off x="3963143" y="1681511"/>
                    <a:ext cx="490637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p>
                            <m:sSupPr>
                              <m:ctrl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30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altLang="ja-JP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ja-JP" altLang="en-US" sz="300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05A78305-A0CA-14C9-FDF1-0C9C94B03B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3143" y="1681511"/>
                    <a:ext cx="490637" cy="5539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8A4C4AB6-E18E-7635-0244-127CAE9810C9}"/>
                </a:ext>
              </a:extLst>
            </p:cNvPr>
            <p:cNvCxnSpPr>
              <a:cxnSpLocks/>
            </p:cNvCxnSpPr>
            <p:nvPr/>
          </p:nvCxnSpPr>
          <p:spPr>
            <a:xfrm>
              <a:off x="7891770" y="11594855"/>
              <a:ext cx="668261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33F78EF-60AA-F1F1-0C5A-EF16C77B01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1295" y="7920000"/>
              <a:ext cx="0" cy="378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359B543-7F0B-D166-999A-97EF1C034BBA}"/>
                </a:ext>
              </a:extLst>
            </p:cNvPr>
            <p:cNvSpPr txBox="1"/>
            <p:nvPr/>
          </p:nvSpPr>
          <p:spPr>
            <a:xfrm>
              <a:off x="10443205" y="11552753"/>
              <a:ext cx="157974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0.915 m</a:t>
              </a:r>
              <a:endParaRPr lang="ja-JP" altLang="en-US" sz="3000">
                <a:latin typeface="Helvetica" pitchFamily="2" charset="0"/>
              </a:endParaRPr>
            </a:p>
          </p:txBody>
        </p:sp>
        <p:sp>
          <p:nvSpPr>
            <p:cNvPr id="28" name="円弧 27">
              <a:extLst>
                <a:ext uri="{FF2B5EF4-FFF2-40B4-BE49-F238E27FC236}">
                  <a16:creationId xmlns:a16="http://schemas.microsoft.com/office/drawing/2014/main" id="{821AB0EC-B04F-8EBE-BD9D-DACEE4303237}"/>
                </a:ext>
              </a:extLst>
            </p:cNvPr>
            <p:cNvSpPr/>
            <p:nvPr/>
          </p:nvSpPr>
          <p:spPr>
            <a:xfrm rot="297611">
              <a:off x="8329568" y="2397554"/>
              <a:ext cx="706046" cy="963795"/>
            </a:xfrm>
            <a:prstGeom prst="arc">
              <a:avLst>
                <a:gd name="adj1" fmla="val 17394420"/>
                <a:gd name="adj2" fmla="val 652253"/>
              </a:avLst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3DEE8C56-A6FC-1A12-2282-440540ADE32E}"/>
                </a:ext>
              </a:extLst>
            </p:cNvPr>
            <p:cNvSpPr txBox="1"/>
            <p:nvPr/>
          </p:nvSpPr>
          <p:spPr>
            <a:xfrm>
              <a:off x="8925019" y="2222240"/>
              <a:ext cx="103176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32°</a:t>
              </a:r>
              <a:endParaRPr lang="ja-JP" altLang="en-US" sz="3000">
                <a:latin typeface="Helvetica" pitchFamily="2" charset="0"/>
              </a:endParaRPr>
            </a:p>
          </p:txBody>
        </p:sp>
        <p:sp>
          <p:nvSpPr>
            <p:cNvPr id="30" name="円弧 29">
              <a:extLst>
                <a:ext uri="{FF2B5EF4-FFF2-40B4-BE49-F238E27FC236}">
                  <a16:creationId xmlns:a16="http://schemas.microsoft.com/office/drawing/2014/main" id="{5520BF46-36E7-B9E5-1F3B-C710E5EF1D36}"/>
                </a:ext>
              </a:extLst>
            </p:cNvPr>
            <p:cNvSpPr/>
            <p:nvPr/>
          </p:nvSpPr>
          <p:spPr>
            <a:xfrm rot="888109">
              <a:off x="8454153" y="8992271"/>
              <a:ext cx="280794" cy="276502"/>
            </a:xfrm>
            <a:prstGeom prst="arc">
              <a:avLst>
                <a:gd name="adj1" fmla="val 17394420"/>
                <a:gd name="adj2" fmla="val 2490147"/>
              </a:avLst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B6B37B24-9A5D-B732-FD36-AE07DC3F14B6}"/>
                </a:ext>
              </a:extLst>
            </p:cNvPr>
            <p:cNvSpPr txBox="1"/>
            <p:nvPr/>
          </p:nvSpPr>
          <p:spPr>
            <a:xfrm>
              <a:off x="8345569" y="8476544"/>
              <a:ext cx="154900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b="1" dirty="0">
                  <a:latin typeface="Helvetica" pitchFamily="2" charset="0"/>
                </a:rPr>
                <a:t>±</a:t>
              </a:r>
              <a:r>
                <a:rPr lang="en-US" altLang="ja-JP" sz="3000" dirty="0">
                  <a:latin typeface="Helvetica" pitchFamily="2" charset="0"/>
                </a:rPr>
                <a:t>4.0°</a:t>
              </a:r>
              <a:endParaRPr lang="ja-JP" altLang="en-US" sz="3000">
                <a:latin typeface="Helvetica" pitchFamily="2" charset="0"/>
              </a:endParaRPr>
            </a:p>
          </p:txBody>
        </p:sp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E3BF5BCA-B56B-B777-C2B6-28F4C4A8B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0376" y="11071181"/>
              <a:ext cx="2813219" cy="4503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4F7E605-4A4D-227F-6804-FC863DD83F46}"/>
                </a:ext>
              </a:extLst>
            </p:cNvPr>
            <p:cNvSpPr txBox="1"/>
            <p:nvPr/>
          </p:nvSpPr>
          <p:spPr>
            <a:xfrm>
              <a:off x="8474491" y="11019807"/>
              <a:ext cx="16649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000" dirty="0">
                  <a:latin typeface="Helvetica" pitchFamily="2" charset="0"/>
                </a:rPr>
                <a:t>0.430 m</a:t>
              </a:r>
              <a:endParaRPr lang="ja-JP" altLang="en-US" sz="3000">
                <a:latin typeface="Helvetica" pitchFamily="2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2A05D91-A519-73F3-222E-C7E0B0DC5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0824" y="8640000"/>
              <a:ext cx="0" cy="2664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914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A0013E2B-0312-D730-412D-795EB73411D6}"/>
              </a:ext>
            </a:extLst>
          </p:cNvPr>
          <p:cNvGrpSpPr/>
          <p:nvPr/>
        </p:nvGrpSpPr>
        <p:grpSpPr>
          <a:xfrm>
            <a:off x="5237946" y="3439190"/>
            <a:ext cx="12371791" cy="4601748"/>
            <a:chOff x="2200519" y="1577809"/>
            <a:chExt cx="8533632" cy="3174126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0B7D3EC-2844-30D9-FEE6-B80C6D9FC964}"/>
                </a:ext>
              </a:extLst>
            </p:cNvPr>
            <p:cNvGrpSpPr/>
            <p:nvPr/>
          </p:nvGrpSpPr>
          <p:grpSpPr>
            <a:xfrm>
              <a:off x="8826278" y="1855619"/>
              <a:ext cx="1819001" cy="2896316"/>
              <a:chOff x="7673548" y="1407885"/>
              <a:chExt cx="1932495" cy="3077028"/>
            </a:xfrm>
            <a:solidFill>
              <a:schemeClr val="bg2"/>
            </a:solidFill>
          </p:grpSpPr>
          <p:sp>
            <p:nvSpPr>
              <p:cNvPr id="62" name="台形 61">
                <a:extLst>
                  <a:ext uri="{FF2B5EF4-FFF2-40B4-BE49-F238E27FC236}">
                    <a16:creationId xmlns:a16="http://schemas.microsoft.com/office/drawing/2014/main" id="{230A8DBC-15EF-02EE-E469-AF102BF6A893}"/>
                  </a:ext>
                </a:extLst>
              </p:cNvPr>
              <p:cNvSpPr/>
              <p:nvPr/>
            </p:nvSpPr>
            <p:spPr>
              <a:xfrm rot="16200000">
                <a:off x="6587233" y="2494200"/>
                <a:ext cx="3077027" cy="904397"/>
              </a:xfrm>
              <a:prstGeom prst="trapezoid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0CA567A4-E6BE-9120-9B64-76F94E6AE538}"/>
                  </a:ext>
                </a:extLst>
              </p:cNvPr>
              <p:cNvSpPr/>
              <p:nvPr/>
            </p:nvSpPr>
            <p:spPr>
              <a:xfrm>
                <a:off x="8577946" y="1407885"/>
                <a:ext cx="1028097" cy="3077028"/>
              </a:xfrm>
              <a:prstGeom prst="rect">
                <a:avLst/>
              </a:prstGeom>
              <a:grp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80AE8490-62AA-2A19-3B22-10864C8C655F}"/>
                </a:ext>
              </a:extLst>
            </p:cNvPr>
            <p:cNvSpPr/>
            <p:nvPr/>
          </p:nvSpPr>
          <p:spPr>
            <a:xfrm>
              <a:off x="8985091" y="2331139"/>
              <a:ext cx="522134" cy="1978018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B2C0679E-1602-A82A-84FA-19A77AFA8B47}"/>
                </a:ext>
              </a:extLst>
            </p:cNvPr>
            <p:cNvSpPr/>
            <p:nvPr/>
          </p:nvSpPr>
          <p:spPr>
            <a:xfrm rot="16200000">
              <a:off x="7508791" y="2307801"/>
              <a:ext cx="1978017" cy="1991953"/>
            </a:xfrm>
            <a:prstGeom prst="ca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円柱 11">
              <a:extLst>
                <a:ext uri="{FF2B5EF4-FFF2-40B4-BE49-F238E27FC236}">
                  <a16:creationId xmlns:a16="http://schemas.microsoft.com/office/drawing/2014/main" id="{3AED0021-9E8B-D105-BAB1-38EF83E5067D}"/>
                </a:ext>
              </a:extLst>
            </p:cNvPr>
            <p:cNvSpPr/>
            <p:nvPr/>
          </p:nvSpPr>
          <p:spPr>
            <a:xfrm rot="16200000">
              <a:off x="6339420" y="2903569"/>
              <a:ext cx="910669" cy="765063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円柱 12">
              <a:extLst>
                <a:ext uri="{FF2B5EF4-FFF2-40B4-BE49-F238E27FC236}">
                  <a16:creationId xmlns:a16="http://schemas.microsoft.com/office/drawing/2014/main" id="{9BFC8291-1A77-8B6C-8491-3528E6259D47}"/>
                </a:ext>
              </a:extLst>
            </p:cNvPr>
            <p:cNvSpPr/>
            <p:nvPr/>
          </p:nvSpPr>
          <p:spPr>
            <a:xfrm rot="16200000">
              <a:off x="6035422" y="2591086"/>
              <a:ext cx="1506961" cy="1425841"/>
            </a:xfrm>
            <a:prstGeom prst="ca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4" name="円柱 13">
              <a:extLst>
                <a:ext uri="{FF2B5EF4-FFF2-40B4-BE49-F238E27FC236}">
                  <a16:creationId xmlns:a16="http://schemas.microsoft.com/office/drawing/2014/main" id="{38AE0851-F503-8421-7BC2-EBB9BC339393}"/>
                </a:ext>
              </a:extLst>
            </p:cNvPr>
            <p:cNvSpPr/>
            <p:nvPr/>
          </p:nvSpPr>
          <p:spPr>
            <a:xfrm rot="16200000">
              <a:off x="5775167" y="2077626"/>
              <a:ext cx="1978017" cy="2452304"/>
            </a:xfrm>
            <a:prstGeom prst="can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BB7811FB-BA6B-3067-1B81-7F5B5C11669F}"/>
                </a:ext>
              </a:extLst>
            </p:cNvPr>
            <p:cNvSpPr/>
            <p:nvPr/>
          </p:nvSpPr>
          <p:spPr>
            <a:xfrm>
              <a:off x="5671349" y="2823903"/>
              <a:ext cx="191184" cy="9597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6330EFA-F1CE-74B0-8F44-41EE2B864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54114" y="2550525"/>
              <a:ext cx="4981242" cy="693386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F1999070-66B5-6771-2E96-25F48C279D32}"/>
                </a:ext>
              </a:extLst>
            </p:cNvPr>
            <p:cNvSpPr/>
            <p:nvPr/>
          </p:nvSpPr>
          <p:spPr>
            <a:xfrm>
              <a:off x="9052738" y="2550525"/>
              <a:ext cx="365236" cy="1506963"/>
            </a:xfrm>
            <a:prstGeom prst="ellipse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683A7BC-9AEC-5DC9-EEC9-B2B58D8CA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3576" y="3325969"/>
              <a:ext cx="4982583" cy="7144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9FF46C3-6AA2-8071-8460-F715517F6C0B}"/>
                </a:ext>
              </a:extLst>
            </p:cNvPr>
            <p:cNvSpPr txBox="1"/>
            <p:nvPr/>
          </p:nvSpPr>
          <p:spPr>
            <a:xfrm>
              <a:off x="6454456" y="2572788"/>
              <a:ext cx="655899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cell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9D07D8F-4254-A7CB-2B0F-D999DA8C2A25}"/>
                </a:ext>
              </a:extLst>
            </p:cNvPr>
            <p:cNvSpPr txBox="1"/>
            <p:nvPr/>
          </p:nvSpPr>
          <p:spPr>
            <a:xfrm>
              <a:off x="6477089" y="2337489"/>
              <a:ext cx="607248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RF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CD0615C-B2B8-A7CB-3961-79B78A3AE72C}"/>
                </a:ext>
              </a:extLst>
            </p:cNvPr>
            <p:cNvSpPr txBox="1"/>
            <p:nvPr/>
          </p:nvSpPr>
          <p:spPr>
            <a:xfrm>
              <a:off x="6276410" y="2065398"/>
              <a:ext cx="100751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baseline="30000" dirty="0">
                  <a:latin typeface="Helvetica" pitchFamily="2" charset="0"/>
                </a:rPr>
                <a:t>3</a:t>
              </a:r>
              <a:r>
                <a:rPr lang="en-US" altLang="ja-JP" sz="1740" dirty="0">
                  <a:latin typeface="Helvetica" pitchFamily="2" charset="0"/>
                </a:rPr>
                <a:t>He NSF coil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02F24B9-B258-A2CD-DC9D-7BF5B94B9033}"/>
                </a:ext>
              </a:extLst>
            </p:cNvPr>
            <p:cNvSpPr txBox="1"/>
            <p:nvPr/>
          </p:nvSpPr>
          <p:spPr>
            <a:xfrm>
              <a:off x="7810185" y="2070149"/>
              <a:ext cx="1433203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guide tube</a:t>
              </a:r>
              <a:endParaRPr lang="ja-JP" altLang="en-US" sz="174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FDB43CA-CCD6-7E40-C603-0657E1A8497B}"/>
                </a:ext>
              </a:extLst>
            </p:cNvPr>
            <p:cNvSpPr txBox="1"/>
            <p:nvPr/>
          </p:nvSpPr>
          <p:spPr>
            <a:xfrm>
              <a:off x="9058019" y="1577809"/>
              <a:ext cx="1630460" cy="24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Neutron Area detector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FF94E495-C11C-C9D6-8C2A-9D06914F2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6875" y="1806885"/>
              <a:ext cx="213804" cy="2268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89BBD4C0-033F-C73E-F941-47BF7DB43D10}"/>
                </a:ext>
              </a:extLst>
            </p:cNvPr>
            <p:cNvSpPr txBox="1"/>
            <p:nvPr/>
          </p:nvSpPr>
          <p:spPr>
            <a:xfrm>
              <a:off x="9603196" y="2171416"/>
              <a:ext cx="1130955" cy="617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740" dirty="0">
                  <a:latin typeface="Helvetica" pitchFamily="2" charset="0"/>
                </a:rPr>
                <a:t>Polarization analysis region</a:t>
              </a:r>
              <a:endParaRPr lang="ja-JP" altLang="en-US" sz="1740">
                <a:latin typeface="Helvetica" pitchFamily="2" charset="0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61273BE-9EBB-9AD1-6EEE-401FF1362DC9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flipH="1">
              <a:off x="9289470" y="2480303"/>
              <a:ext cx="313726" cy="231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0D34F075-1AF6-E363-1C4E-D5A35A2C47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3629" y="2787586"/>
              <a:ext cx="142923" cy="847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0BF9407-3430-F005-23B2-B46EF40AD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063" y="2530408"/>
              <a:ext cx="104525" cy="496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123FB751-269E-DFA7-D299-A9A73F21E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4732" y="2275891"/>
              <a:ext cx="115507" cy="876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EFC16BFE-3E48-AB17-A46E-FDC675D25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4039" y="2275891"/>
              <a:ext cx="140967" cy="1046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822CEC21-13FB-0F60-2AAD-46E621203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86553" y="3011889"/>
              <a:ext cx="0" cy="537408"/>
            </a:xfrm>
            <a:prstGeom prst="straightConnector1">
              <a:avLst/>
            </a:prstGeom>
            <a:ln w="381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E931CC84-4219-CEE4-9D0B-23C271DAF2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0519" y="3273471"/>
              <a:ext cx="7034836" cy="923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D749F29-1D5B-6999-4914-D1A1EC04D3CD}"/>
              </a:ext>
            </a:extLst>
          </p:cNvPr>
          <p:cNvGrpSpPr/>
          <p:nvPr/>
        </p:nvGrpSpPr>
        <p:grpSpPr>
          <a:xfrm>
            <a:off x="8046082" y="1732408"/>
            <a:ext cx="1076486" cy="1076486"/>
            <a:chOff x="3284376" y="1732408"/>
            <a:chExt cx="1440000" cy="144000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0F7517AA-833B-9B2C-3D38-5C939203F0DD}"/>
                </a:ext>
              </a:extLst>
            </p:cNvPr>
            <p:cNvCxnSpPr>
              <a:cxnSpLocks/>
            </p:cNvCxnSpPr>
            <p:nvPr/>
          </p:nvCxnSpPr>
          <p:spPr>
            <a:xfrm>
              <a:off x="3284376" y="317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FBFBCEA8-E048-7EEC-DAC8-EBA95A71895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564376" y="2452408"/>
              <a:ext cx="14400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30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1D26-6F9C-1E81-23F9-9125A4CF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3DC6214-A296-5CC7-FCB8-2FA7C9FE1DFB}"/>
              </a:ext>
            </a:extLst>
          </p:cNvPr>
          <p:cNvSpPr>
            <a:spLocks/>
          </p:cNvSpPr>
          <p:nvPr/>
        </p:nvSpPr>
        <p:spPr>
          <a:xfrm>
            <a:off x="5100000" y="838519"/>
            <a:ext cx="9298606" cy="479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0404FF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6BE69F42-706E-A770-301F-F99FB84E8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8" y="1759625"/>
                <a:ext cx="1558238" cy="1558238"/>
              </a:xfrm>
              <a:prstGeom prst="rect">
                <a:avLst/>
              </a:prstGeom>
              <a:blipFill>
                <a:blip r:embed="rId3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0404FF"/>
                              </a:solidFill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ja-JP" sz="3400">
                          <a:solidFill>
                            <a:srgbClr val="0404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7D64F825-965E-1610-9835-C0F97B02E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867" y="1759625"/>
                <a:ext cx="1558238" cy="1558238"/>
              </a:xfrm>
              <a:prstGeom prst="rect">
                <a:avLst/>
              </a:prstGeom>
              <a:blipFill>
                <a:blip r:embed="rId4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F0D440-36CB-1F18-FA9A-00D15FC0CD73}"/>
              </a:ext>
            </a:extLst>
          </p:cNvPr>
          <p:cNvSpPr txBox="1">
            <a:spLocks/>
          </p:cNvSpPr>
          <p:nvPr/>
        </p:nvSpPr>
        <p:spPr>
          <a:xfrm>
            <a:off x="11608702" y="2063350"/>
            <a:ext cx="53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/>
              <a:t>...</a:t>
            </a:r>
            <a:endParaRPr lang="ja-JP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118B5CAE-74E8-3038-B250-6F9A4775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792" y="1151982"/>
                <a:ext cx="1238481" cy="615553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8E05C9A-7B4D-6110-C576-BD417233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71" y="1151982"/>
                <a:ext cx="1238481" cy="615553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17ABD34-C772-8CE4-22C6-27A6F6C9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46" y="3278390"/>
                <a:ext cx="994183" cy="627864"/>
              </a:xfrm>
              <a:prstGeom prst="rect">
                <a:avLst/>
              </a:prstGeom>
              <a:blipFill>
                <a:blip r:embed="rId7"/>
                <a:stretch>
                  <a:fillRect l="-5000" t="-14000" r="-16250" b="-3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48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ja-JP" sz="3480" baseline="-25000" dirty="0">
                    <a:latin typeface="Helvetica" pitchFamily="2" charset="0"/>
                  </a:rPr>
                  <a:t> </a:t>
                </a:r>
                <a:r>
                  <a:rPr lang="en-US" altLang="ja-JP" sz="3480" dirty="0" err="1">
                    <a:latin typeface="Helvetica" pitchFamily="2" charset="0"/>
                  </a:rPr>
                  <a:t>ch</a:t>
                </a:r>
                <a:endParaRPr lang="ja-JP" altLang="en-US" sz="348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DE076F-41B8-5F8A-122F-242736BC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812404" y="2210090"/>
                <a:ext cx="994183" cy="627864"/>
              </a:xfrm>
              <a:prstGeom prst="rect">
                <a:avLst/>
              </a:prstGeom>
              <a:blipFill>
                <a:blip r:embed="rId8"/>
                <a:stretch>
                  <a:fillRect l="-14000" t="-16250" r="-36000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36A9B61-E413-4727-452E-5D2098630113}"/>
              </a:ext>
            </a:extLst>
          </p:cNvPr>
          <p:cNvSpPr txBox="1">
            <a:spLocks/>
          </p:cNvSpPr>
          <p:nvPr/>
        </p:nvSpPr>
        <p:spPr>
          <a:xfrm>
            <a:off x="5600426" y="498066"/>
            <a:ext cx="1845377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480" dirty="0">
                <a:highlight>
                  <a:srgbClr val="FFFFFF"/>
                </a:highlight>
                <a:latin typeface="Helvetica" pitchFamily="2" charset="0"/>
              </a:rPr>
              <a:t>Data set</a:t>
            </a:r>
            <a:endParaRPr lang="ja-JP" altLang="en-US" sz="3480" baseline="-25000">
              <a:highlight>
                <a:srgbClr val="FFFFFF"/>
              </a:highlight>
              <a:latin typeface="Helvetica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5EAA4D9-396A-F639-89F7-E34696E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799" y="3929051"/>
                <a:ext cx="1604927" cy="627864"/>
              </a:xfrm>
              <a:prstGeom prst="rect">
                <a:avLst/>
              </a:prstGeom>
              <a:blipFill>
                <a:blip r:embed="rId9"/>
                <a:stretch>
                  <a:fillRect t="-1961" r="-3937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11DB4AE0-078F-8F13-B24D-FCA516F51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599" y="4580769"/>
                <a:ext cx="1426993" cy="627864"/>
              </a:xfrm>
              <a:prstGeom prst="rect">
                <a:avLst/>
              </a:prstGeom>
              <a:blipFill>
                <a:blip r:embed="rId10"/>
                <a:stretch>
                  <a:fillRect r="-3540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F5FB6154-7B06-6646-1BEB-87821AD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8968" y="3743484"/>
                <a:ext cx="1499128" cy="627864"/>
              </a:xfrm>
              <a:prstGeom prst="rect">
                <a:avLst/>
              </a:prstGeom>
              <a:blipFill>
                <a:blip r:embed="rId11"/>
                <a:stretch>
                  <a:fillRect r="-3361" b="-21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ja-JP" sz="348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8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80">
                  <a:highlight>
                    <a:srgbClr val="FFFFFF"/>
                  </a:highlight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00CF423-5C6E-CBAE-924C-F0801CF5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8569" y="4451487"/>
                <a:ext cx="1510350" cy="627864"/>
              </a:xfrm>
              <a:prstGeom prst="rect">
                <a:avLst/>
              </a:prstGeom>
              <a:blipFill>
                <a:blip r:embed="rId12"/>
                <a:stretch>
                  <a:fillRect r="-3333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下矢印 59">
            <a:extLst>
              <a:ext uri="{FF2B5EF4-FFF2-40B4-BE49-F238E27FC236}">
                <a16:creationId xmlns:a16="http://schemas.microsoft.com/office/drawing/2014/main" id="{486F2C67-120E-0091-AEDC-29A7B6F4414A}"/>
              </a:ext>
            </a:extLst>
          </p:cNvPr>
          <p:cNvSpPr/>
          <p:nvPr/>
        </p:nvSpPr>
        <p:spPr>
          <a:xfrm>
            <a:off x="5600426" y="5950221"/>
            <a:ext cx="1851499" cy="4316722"/>
          </a:xfrm>
          <a:prstGeom prst="downArrow">
            <a:avLst/>
          </a:prstGeom>
          <a:solidFill>
            <a:schemeClr val="bg1"/>
          </a:solidFill>
          <a:ln w="28575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851499"/>
                      <a:gd name="csY0" fmla="*/ 2009956 h 2935705"/>
                      <a:gd name="csX1" fmla="*/ 462875 w 1851499"/>
                      <a:gd name="csY1" fmla="*/ 2009956 h 2935705"/>
                      <a:gd name="csX2" fmla="*/ 462875 w 1851499"/>
                      <a:gd name="csY2" fmla="*/ 1400269 h 2935705"/>
                      <a:gd name="csX3" fmla="*/ 462875 w 1851499"/>
                      <a:gd name="csY3" fmla="*/ 690085 h 2935705"/>
                      <a:gd name="csX4" fmla="*/ 462875 w 1851499"/>
                      <a:gd name="csY4" fmla="*/ 0 h 2935705"/>
                      <a:gd name="csX5" fmla="*/ 907235 w 1851499"/>
                      <a:gd name="csY5" fmla="*/ 0 h 2935705"/>
                      <a:gd name="csX6" fmla="*/ 1388624 w 1851499"/>
                      <a:gd name="csY6" fmla="*/ 0 h 2935705"/>
                      <a:gd name="csX7" fmla="*/ 1388624 w 1851499"/>
                      <a:gd name="csY7" fmla="*/ 609687 h 2935705"/>
                      <a:gd name="csX8" fmla="*/ 1388624 w 1851499"/>
                      <a:gd name="csY8" fmla="*/ 1319871 h 2935705"/>
                      <a:gd name="csX9" fmla="*/ 1388624 w 1851499"/>
                      <a:gd name="csY9" fmla="*/ 2009956 h 2935705"/>
                      <a:gd name="csX10" fmla="*/ 1851499 w 1851499"/>
                      <a:gd name="csY10" fmla="*/ 2009956 h 2935705"/>
                      <a:gd name="csX11" fmla="*/ 1379367 w 1851499"/>
                      <a:gd name="csY11" fmla="*/ 2482088 h 2935705"/>
                      <a:gd name="csX12" fmla="*/ 925750 w 1851499"/>
                      <a:gd name="csY12" fmla="*/ 2935705 h 2935705"/>
                      <a:gd name="csX13" fmla="*/ 481390 w 1851499"/>
                      <a:gd name="csY13" fmla="*/ 2491345 h 2935705"/>
                      <a:gd name="csX14" fmla="*/ 0 w 1851499"/>
                      <a:gd name="csY14" fmla="*/ 2009956 h 293570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851499" h="2935705" fill="none" extrusionOk="0">
                        <a:moveTo>
                          <a:pt x="0" y="2009956"/>
                        </a:moveTo>
                        <a:cubicBezTo>
                          <a:pt x="120222" y="2009769"/>
                          <a:pt x="341034" y="2006819"/>
                          <a:pt x="462875" y="2009956"/>
                        </a:cubicBezTo>
                        <a:cubicBezTo>
                          <a:pt x="475536" y="1844598"/>
                          <a:pt x="479785" y="1563324"/>
                          <a:pt x="462875" y="1400269"/>
                        </a:cubicBezTo>
                        <a:cubicBezTo>
                          <a:pt x="445965" y="1237214"/>
                          <a:pt x="467495" y="1010035"/>
                          <a:pt x="462875" y="690085"/>
                        </a:cubicBezTo>
                        <a:cubicBezTo>
                          <a:pt x="458255" y="370135"/>
                          <a:pt x="472578" y="155301"/>
                          <a:pt x="462875" y="0"/>
                        </a:cubicBezTo>
                        <a:cubicBezTo>
                          <a:pt x="599519" y="-18069"/>
                          <a:pt x="736871" y="21322"/>
                          <a:pt x="907235" y="0"/>
                        </a:cubicBezTo>
                        <a:cubicBezTo>
                          <a:pt x="1077599" y="-21322"/>
                          <a:pt x="1155665" y="19966"/>
                          <a:pt x="1388624" y="0"/>
                        </a:cubicBezTo>
                        <a:cubicBezTo>
                          <a:pt x="1413210" y="226452"/>
                          <a:pt x="1414733" y="353893"/>
                          <a:pt x="1388624" y="609687"/>
                        </a:cubicBezTo>
                        <a:cubicBezTo>
                          <a:pt x="1362515" y="865481"/>
                          <a:pt x="1390657" y="1126773"/>
                          <a:pt x="1388624" y="1319871"/>
                        </a:cubicBezTo>
                        <a:cubicBezTo>
                          <a:pt x="1386591" y="1512969"/>
                          <a:pt x="1386915" y="1854347"/>
                          <a:pt x="1388624" y="2009956"/>
                        </a:cubicBezTo>
                        <a:cubicBezTo>
                          <a:pt x="1570324" y="1995515"/>
                          <a:pt x="1662747" y="2011805"/>
                          <a:pt x="1851499" y="2009956"/>
                        </a:cubicBezTo>
                        <a:cubicBezTo>
                          <a:pt x="1624353" y="2191032"/>
                          <a:pt x="1583037" y="2273392"/>
                          <a:pt x="1379367" y="2482088"/>
                        </a:cubicBezTo>
                        <a:cubicBezTo>
                          <a:pt x="1175697" y="2690784"/>
                          <a:pt x="1130305" y="2705017"/>
                          <a:pt x="925750" y="2935705"/>
                        </a:cubicBezTo>
                        <a:cubicBezTo>
                          <a:pt x="725658" y="2721677"/>
                          <a:pt x="690934" y="2694940"/>
                          <a:pt x="481390" y="2491345"/>
                        </a:cubicBezTo>
                        <a:cubicBezTo>
                          <a:pt x="271846" y="2287751"/>
                          <a:pt x="205221" y="2188228"/>
                          <a:pt x="0" y="2009956"/>
                        </a:cubicBezTo>
                        <a:close/>
                      </a:path>
                      <a:path w="1851499" h="2935705" stroke="0" extrusionOk="0">
                        <a:moveTo>
                          <a:pt x="0" y="2009956"/>
                        </a:moveTo>
                        <a:cubicBezTo>
                          <a:pt x="152673" y="2016662"/>
                          <a:pt x="262221" y="2006007"/>
                          <a:pt x="462875" y="2009956"/>
                        </a:cubicBezTo>
                        <a:cubicBezTo>
                          <a:pt x="485323" y="1715818"/>
                          <a:pt x="467608" y="1673325"/>
                          <a:pt x="462875" y="1400269"/>
                        </a:cubicBezTo>
                        <a:cubicBezTo>
                          <a:pt x="458142" y="1127213"/>
                          <a:pt x="473411" y="882367"/>
                          <a:pt x="462875" y="690085"/>
                        </a:cubicBezTo>
                        <a:cubicBezTo>
                          <a:pt x="452339" y="497803"/>
                          <a:pt x="480091" y="335956"/>
                          <a:pt x="462875" y="0"/>
                        </a:cubicBezTo>
                        <a:cubicBezTo>
                          <a:pt x="572380" y="-19618"/>
                          <a:pt x="774606" y="6241"/>
                          <a:pt x="907235" y="0"/>
                        </a:cubicBezTo>
                        <a:cubicBezTo>
                          <a:pt x="1039864" y="-6241"/>
                          <a:pt x="1246579" y="-4294"/>
                          <a:pt x="1388624" y="0"/>
                        </a:cubicBezTo>
                        <a:cubicBezTo>
                          <a:pt x="1361956" y="183639"/>
                          <a:pt x="1358160" y="482436"/>
                          <a:pt x="1388624" y="629786"/>
                        </a:cubicBezTo>
                        <a:cubicBezTo>
                          <a:pt x="1419088" y="777136"/>
                          <a:pt x="1365825" y="1001986"/>
                          <a:pt x="1388624" y="1299772"/>
                        </a:cubicBezTo>
                        <a:cubicBezTo>
                          <a:pt x="1411423" y="1597558"/>
                          <a:pt x="1419187" y="1843232"/>
                          <a:pt x="1388624" y="2009956"/>
                        </a:cubicBezTo>
                        <a:cubicBezTo>
                          <a:pt x="1497145" y="2024879"/>
                          <a:pt x="1637648" y="2032374"/>
                          <a:pt x="1851499" y="2009956"/>
                        </a:cubicBezTo>
                        <a:cubicBezTo>
                          <a:pt x="1643289" y="2182052"/>
                          <a:pt x="1527627" y="2322926"/>
                          <a:pt x="1416397" y="2445058"/>
                        </a:cubicBezTo>
                        <a:cubicBezTo>
                          <a:pt x="1305167" y="2567190"/>
                          <a:pt x="1076781" y="2766308"/>
                          <a:pt x="925750" y="2935705"/>
                        </a:cubicBezTo>
                        <a:cubicBezTo>
                          <a:pt x="748920" y="2771058"/>
                          <a:pt x="649008" y="2668428"/>
                          <a:pt x="481390" y="2491345"/>
                        </a:cubicBezTo>
                        <a:cubicBezTo>
                          <a:pt x="313772" y="2314262"/>
                          <a:pt x="151324" y="2203052"/>
                          <a:pt x="0" y="20099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0B77A3DA-6807-C57E-8839-F92F1444EFFC}"/>
              </a:ext>
            </a:extLst>
          </p:cNvPr>
          <p:cNvGrpSpPr/>
          <p:nvPr/>
        </p:nvGrpSpPr>
        <p:grpSpPr>
          <a:xfrm>
            <a:off x="6489706" y="6029507"/>
            <a:ext cx="7908900" cy="523220"/>
            <a:chOff x="2526826" y="6029507"/>
            <a:chExt cx="7908900" cy="523220"/>
          </a:xfrm>
        </p:grpSpPr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4F57541-6E31-81C4-9C24-6A598754A7D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6291117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/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correction to each data.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51B96247-317E-E33A-C88A-62F58B0EC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029507"/>
                  <a:ext cx="669818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894" t="-11905" r="-947" b="-3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/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200" dirty="0"/>
                  <a:t>Slice the (</a:t>
                </a:r>
                <a14:m>
                  <m:oMath xmlns:m="http://schemas.openxmlformats.org/officeDocument/2006/math"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en-US" altLang="ja-JP" sz="3200" dirty="0">
                    <a:latin typeface="Helvetica" pitchFamily="2" charset="0"/>
                  </a:rPr>
                  <a:t>) data on an arbitrary plane.</a:t>
                </a:r>
                <a:endParaRPr kumimoji="1" lang="ja-JP" altLang="en-US" sz="32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31D91129-5D1A-B52F-D86F-F7EE565EC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64" y="10398082"/>
                <a:ext cx="8088881" cy="584775"/>
              </a:xfrm>
              <a:prstGeom prst="rect">
                <a:avLst/>
              </a:prstGeom>
              <a:blipFill>
                <a:blip r:embed="rId14"/>
                <a:stretch>
                  <a:fillRect l="-1721" t="-12500" r="-782" b="-312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8F3BA155-0D68-8A71-A7A7-3EA7A3E1BE74}"/>
              </a:ext>
            </a:extLst>
          </p:cNvPr>
          <p:cNvGrpSpPr/>
          <p:nvPr/>
        </p:nvGrpSpPr>
        <p:grpSpPr>
          <a:xfrm>
            <a:off x="6489706" y="6908245"/>
            <a:ext cx="7218006" cy="954107"/>
            <a:chOff x="2526826" y="6846688"/>
            <a:chExt cx="7218006" cy="954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/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Convert detector coodinates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and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sample orientation</a:t>
                  </a:r>
                  <a:r>
                    <a:rPr kumimoji="1" lang="en-US" altLang="ja-JP" sz="28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ABE4A7D9-4A4C-834A-20E9-7456CD13A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6846688"/>
                  <a:ext cx="6007286" cy="954107"/>
                </a:xfrm>
                <a:prstGeom prst="rect">
                  <a:avLst/>
                </a:prstGeom>
                <a:blipFill>
                  <a:blip r:embed="rId15"/>
                  <a:stretch>
                    <a:fillRect l="-2110" t="-5195" r="-1055" b="-1688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557CF4B-3A0D-472F-A00B-D4F7717D9E7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7323741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993715DC-F6F8-5265-B417-8271D18EB0BB}"/>
              </a:ext>
            </a:extLst>
          </p:cNvPr>
          <p:cNvGrpSpPr/>
          <p:nvPr/>
        </p:nvGrpSpPr>
        <p:grpSpPr>
          <a:xfrm>
            <a:off x="6489707" y="8217868"/>
            <a:ext cx="6953061" cy="954107"/>
            <a:chOff x="2526826" y="8217867"/>
            <a:chExt cx="6953061" cy="954107"/>
          </a:xfrm>
        </p:grpSpPr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22E1ED-1478-4EA4-15C5-655807AB091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826" y="8694920"/>
              <a:ext cx="108000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/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2800" dirty="0"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 i="1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280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sty m:val="p"/>
                        </m:rPr>
                        <a:rPr kumimoji="1" lang="en-US" altLang="ja-JP" sz="2800" i="1" baseline="-25000">
                          <a:latin typeface="Cambria Math" panose="02040503050406030204" pitchFamily="18" charset="0"/>
                        </a:rPr>
                        <m:t>z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800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2800" dirty="0">
                      <a:latin typeface="Helvetica" pitchFamily="2" charset="0"/>
                    </a:rPr>
                    <a:t> using</a:t>
                  </a:r>
                  <a:br>
                    <a:rPr kumimoji="1" lang="en-US" altLang="ja-JP" sz="2800" dirty="0">
                      <a:latin typeface="Helvetica" pitchFamily="2" charset="0"/>
                    </a:rPr>
                  </a:br>
                  <a:r>
                    <a:rPr kumimoji="1" lang="en-US" altLang="ja-JP" sz="2800" dirty="0">
                      <a:latin typeface="Helvetica" pitchFamily="2" charset="0"/>
                    </a:rPr>
                    <a:t>the UB matrix.</a:t>
                  </a:r>
                  <a:endParaRPr kumimoji="1" lang="ja-JP" altLang="en-US" sz="28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737D49DD-DC17-BBAF-E42A-5F7E36FB5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7546" y="8217867"/>
                  <a:ext cx="5742341" cy="954107"/>
                </a:xfrm>
                <a:prstGeom prst="rect">
                  <a:avLst/>
                </a:prstGeom>
                <a:blipFill>
                  <a:blip r:embed="rId16"/>
                  <a:stretch>
                    <a:fillRect l="-2208" t="-7895" r="-1325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00" baseline="-250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3400">
                  <a:solidFill>
                    <a:srgbClr val="FF0B0B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B74246D1-C326-9A9D-68FE-EA6C04DDB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179" y="1759625"/>
                <a:ext cx="1558238" cy="1558238"/>
              </a:xfrm>
              <a:prstGeom prst="rect">
                <a:avLst/>
              </a:prstGeom>
              <a:blipFill>
                <a:blip r:embed="rId17"/>
                <a:stretch>
                  <a:fillRect l="-8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CC69C8AA-3583-36B0-DE5F-4781056B2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683" y="1136187"/>
                <a:ext cx="1238481" cy="615553"/>
              </a:xfrm>
              <a:prstGeom prst="rect">
                <a:avLst/>
              </a:prstGeom>
              <a:blipFill>
                <a:blip r:embed="rId18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3400" i="1">
                              <a:solidFill>
                                <a:srgbClr val="FF0B0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en-US" altLang="ja-JP" sz="3400">
                          <a:solidFill>
                            <a:srgbClr val="FF0B0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>
                  <a:solidFill>
                    <a:prstClr val="black"/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2462F3EB-97BF-D06D-56C7-2A44B1C16C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6614" y="1720152"/>
                <a:ext cx="1558238" cy="1558238"/>
              </a:xfrm>
              <a:prstGeom prst="rect">
                <a:avLst/>
              </a:prstGeom>
              <a:blipFill>
                <a:blip r:embed="rId19"/>
                <a:stretch>
                  <a:fillRect l="-4000" r="-64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altLang="ja-JP" sz="34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348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ja-JP" sz="348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ja-JP" sz="3480" i="1" baseline="-250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ja-JP" altLang="en-US" sz="3480" baseline="-2500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72D6724C-8DCE-10EB-214D-3F1695EB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018" y="1112509"/>
                <a:ext cx="1238481" cy="615553"/>
              </a:xfrm>
              <a:prstGeom prst="rect">
                <a:avLst/>
              </a:prstGeom>
              <a:blipFill>
                <a:blip r:embed="rId20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100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3070-D453-57A5-E902-43AA1557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EC9E0EDC-A4A8-31A4-7E2D-4102FD84D021}"/>
              </a:ext>
            </a:extLst>
          </p:cNvPr>
          <p:cNvGrpSpPr/>
          <p:nvPr/>
        </p:nvGrpSpPr>
        <p:grpSpPr>
          <a:xfrm>
            <a:off x="5100001" y="498066"/>
            <a:ext cx="10396915" cy="8977006"/>
            <a:chOff x="338294" y="498066"/>
            <a:chExt cx="10396915" cy="897700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6B2D2FB-6130-8FC2-C99D-F7930C64A015}"/>
                </a:ext>
              </a:extLst>
            </p:cNvPr>
            <p:cNvSpPr>
              <a:spLocks/>
            </p:cNvSpPr>
            <p:nvPr/>
          </p:nvSpPr>
          <p:spPr>
            <a:xfrm>
              <a:off x="338294" y="5984712"/>
              <a:ext cx="10396915" cy="34903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790218-E06C-C66A-BCCC-CAE81FEE85DA}"/>
                </a:ext>
              </a:extLst>
            </p:cNvPr>
            <p:cNvSpPr>
              <a:spLocks/>
            </p:cNvSpPr>
            <p:nvPr/>
          </p:nvSpPr>
          <p:spPr>
            <a:xfrm>
              <a:off x="338294" y="838519"/>
              <a:ext cx="10396915" cy="43637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2C4E3A38-56E3-85F6-86F9-3D39BB1164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716" y="1641483"/>
                  <a:ext cx="1558238" cy="1558238"/>
                </a:xfrm>
                <a:prstGeom prst="rect">
                  <a:avLst/>
                </a:prstGeom>
                <a:blipFill>
                  <a:blip r:embed="rId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28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6B1BE15-D33B-2D8D-1C50-7B505AE8F0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104" y="1641483"/>
                  <a:ext cx="1558238" cy="1558238"/>
                </a:xfrm>
                <a:prstGeom prst="rect">
                  <a:avLst/>
                </a:prstGeom>
                <a:blipFill>
                  <a:blip r:embed="rId4"/>
                  <a:stretch>
                    <a:fillRect l="-31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35C19FE-345F-137B-DA82-68E62237C348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2035881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55E4764-5CEE-BF2E-5C43-235AD529B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9049" y="1033812"/>
                  <a:ext cx="1178015" cy="573427"/>
                </a:xfrm>
                <a:prstGeom prst="rect">
                  <a:avLst/>
                </a:prstGeom>
                <a:blipFill>
                  <a:blip r:embed="rId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8AF602B0-11F6-03BD-03EB-DF211AFF1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7437" y="1033812"/>
                  <a:ext cx="1178015" cy="573427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F2DB9E95-ED7A-8038-2C80-2F9DE5FDB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07" y="3153698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C9AD0DA0-2ECB-3677-AA85-12A1B3606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84183" y="2121665"/>
                  <a:ext cx="926857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4894" t="-14865" r="-31915" b="-40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F546923-15D3-DC83-7D6E-04EBBB40AC21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498066"/>
              <a:ext cx="17796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Set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0083400-9BDC-32BD-7CB3-A1CDD4BE8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477" y="3752505"/>
                  <a:ext cx="1492716" cy="627864"/>
                </a:xfrm>
                <a:prstGeom prst="rect">
                  <a:avLst/>
                </a:prstGeom>
                <a:blipFill>
                  <a:blip r:embed="rId9"/>
                  <a:stretch>
                    <a:fillRect t="-1961" r="-3390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23720C6-49D1-8616-D2AF-839E0E5DD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7518" y="4404223"/>
                  <a:ext cx="1338635" cy="627864"/>
                </a:xfrm>
                <a:prstGeom prst="rect">
                  <a:avLst/>
                </a:prstGeom>
                <a:blipFill>
                  <a:blip r:embed="rId10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/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Apply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𝑇𝑎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correction to each data.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Convert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ja-JP" sz="34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.</a:t>
                  </a:r>
                </a:p>
                <a:p>
                  <a:pPr marL="432000" indent="-432000">
                    <a:spcBef>
                      <a:spcPts val="300"/>
                    </a:spcBef>
                    <a:spcAft>
                      <a:spcPts val="300"/>
                    </a:spcAft>
                    <a:buFont typeface="+mj-lt"/>
                    <a:buAutoNum type="arabicPeriod"/>
                  </a:pP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Transform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ja-JP" sz="3400" i="1" baseline="-2500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𝑄𝑦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𝑄𝑧</m:t>
                      </m:r>
                    </m:oMath>
                  </a14:m>
                  <a:r>
                    <a:rPr kumimoji="1" lang="en-US" altLang="ja-JP" sz="3400" i="1" dirty="0">
                      <a:highlight>
                        <a:srgbClr val="FFFFFF"/>
                      </a:highlight>
                      <a:latin typeface="Helvetica" pitchFamily="2" charset="0"/>
                    </a:rPr>
                    <a:t> </a:t>
                  </a:r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to </a:t>
                  </a:r>
                  <a14:m>
                    <m:oMath xmlns:m="http://schemas.openxmlformats.org/officeDocument/2006/math"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34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kumimoji="1" lang="en-US" altLang="ja-JP" sz="3400" dirty="0">
                      <a:highlight>
                        <a:srgbClr val="FFFFFF"/>
                      </a:highlight>
                      <a:latin typeface="Helvetica" pitchFamily="2" charset="0"/>
                    </a:rPr>
                    <a:t> using the UB matrix.</a:t>
                  </a:r>
                  <a:endParaRPr kumimoji="1" lang="ja-JP" altLang="en-US" sz="340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0" name="テキスト ボックス 69">
                  <a:extLst>
                    <a:ext uri="{FF2B5EF4-FFF2-40B4-BE49-F238E27FC236}">
                      <a16:creationId xmlns:a16="http://schemas.microsoft.com/office/drawing/2014/main" id="{76C336D8-ABCF-1718-01D9-4B64094F2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32" y="6366739"/>
                  <a:ext cx="10078649" cy="2339102"/>
                </a:xfrm>
                <a:prstGeom prst="rect">
                  <a:avLst/>
                </a:prstGeom>
                <a:blipFill>
                  <a:blip r:embed="rId11"/>
                  <a:stretch>
                    <a:fillRect l="-1259" t="-3243" b="-81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/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3200" b="1" dirty="0"/>
                    <a:t>Slice the (</a:t>
                  </a:r>
                  <a14:m>
                    <m:oMath xmlns:m="http://schemas.openxmlformats.org/officeDocument/2006/math"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1" i="1">
                          <a:latin typeface="Cambria Math" panose="02040503050406030204" pitchFamily="18" charset="0"/>
                        </a:rPr>
                        <m:t>𝑳</m:t>
                      </m:r>
                    </m:oMath>
                  </a14:m>
                  <a:r>
                    <a:rPr kumimoji="1" lang="en-US" altLang="ja-JP" sz="3200" b="1" dirty="0">
                      <a:latin typeface="Helvetica" pitchFamily="2" charset="0"/>
                    </a:rPr>
                    <a:t>) data on an arbitrary plane.</a:t>
                  </a:r>
                  <a:endParaRPr kumimoji="1" lang="ja-JP" altLang="en-US" sz="320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82D579A2-3C06-D2A8-17D9-F577D0B6D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483" y="8765406"/>
                  <a:ext cx="8562537" cy="584775"/>
                </a:xfrm>
                <a:prstGeom prst="rect">
                  <a:avLst/>
                </a:prstGeom>
                <a:blipFill>
                  <a:blip r:embed="rId12"/>
                  <a:stretch>
                    <a:fillRect l="-1775" t="-10417" r="-740" b="-3333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31EC8D0-D6A6-F1A6-D481-BD05665606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910" y="1641483"/>
                  <a:ext cx="1558238" cy="1558238"/>
                </a:xfrm>
                <a:prstGeom prst="rect">
                  <a:avLst/>
                </a:prstGeom>
                <a:blipFill>
                  <a:blip r:embed="rId13"/>
                  <a:stretch>
                    <a:fillRect l="-32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830AD712-0672-8FFE-185B-34204FD88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243" y="1033812"/>
                  <a:ext cx="1178015" cy="573427"/>
                </a:xfrm>
                <a:prstGeom prst="rect">
                  <a:avLst/>
                </a:prstGeom>
                <a:blipFill>
                  <a:blip r:embed="rId14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26C8A292-C5BC-3F6D-202A-1E54A07FF6BE}"/>
                </a:ext>
              </a:extLst>
            </p:cNvPr>
            <p:cNvSpPr txBox="1">
              <a:spLocks/>
            </p:cNvSpPr>
            <p:nvPr/>
          </p:nvSpPr>
          <p:spPr>
            <a:xfrm>
              <a:off x="591439" y="5700951"/>
              <a:ext cx="26693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200" dirty="0">
                  <a:highlight>
                    <a:srgbClr val="FFFFFF"/>
                  </a:highlight>
                  <a:latin typeface="Helvetica" pitchFamily="2" charset="0"/>
                </a:rPr>
                <a:t>Data Analysis</a:t>
              </a:r>
              <a:endParaRPr lang="ja-JP" altLang="en-US" sz="3200" baseline="-25000">
                <a:highlight>
                  <a:srgbClr val="FFFFFF"/>
                </a:highlight>
                <a:latin typeface="Helvetica" pitchFamily="2" charset="0"/>
              </a:endParaRPr>
            </a:p>
          </p:txBody>
        </p:sp>
        <p:sp>
          <p:nvSpPr>
            <p:cNvPr id="15" name="下矢印 14">
              <a:extLst>
                <a:ext uri="{FF2B5EF4-FFF2-40B4-BE49-F238E27FC236}">
                  <a16:creationId xmlns:a16="http://schemas.microsoft.com/office/drawing/2014/main" id="{2AE56FB8-02B2-A81F-BA58-A9B935B8CE48}"/>
                </a:ext>
              </a:extLst>
            </p:cNvPr>
            <p:cNvSpPr/>
            <p:nvPr/>
          </p:nvSpPr>
          <p:spPr>
            <a:xfrm>
              <a:off x="4610712" y="8230543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下矢印 15">
              <a:extLst>
                <a:ext uri="{FF2B5EF4-FFF2-40B4-BE49-F238E27FC236}">
                  <a16:creationId xmlns:a16="http://schemas.microsoft.com/office/drawing/2014/main" id="{B885730B-A77A-A7A7-AF79-CB27FF145BAE}"/>
                </a:ext>
              </a:extLst>
            </p:cNvPr>
            <p:cNvSpPr/>
            <p:nvPr/>
          </p:nvSpPr>
          <p:spPr>
            <a:xfrm>
              <a:off x="4610711" y="5385632"/>
              <a:ext cx="1513069" cy="457200"/>
            </a:xfrm>
            <a:prstGeom prst="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  <m:r>
                          <a:rPr lang="en-US" altLang="ja-JP" sz="3400">
                            <a:solidFill>
                              <a:srgbClr val="FF0B0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0F303F4C-CFD2-8081-AE9C-B06115B089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860" y="1641483"/>
                  <a:ext cx="1558238" cy="1558238"/>
                </a:xfrm>
                <a:prstGeom prst="rect">
                  <a:avLst/>
                </a:prstGeom>
                <a:blipFill>
                  <a:blip r:embed="rId15"/>
                  <a:stretch>
                    <a:fillRect l="-3200" r="-64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613261F-7B71-8ADA-4872-436DB6FE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209" y="3752505"/>
                  <a:ext cx="1447640" cy="627864"/>
                </a:xfrm>
                <a:prstGeom prst="rect">
                  <a:avLst/>
                </a:prstGeom>
                <a:blipFill>
                  <a:blip r:embed="rId16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EB223664-FD41-D613-DF3A-85D1D77B2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711" y="4404223"/>
                  <a:ext cx="1338636" cy="627864"/>
                </a:xfrm>
                <a:prstGeom prst="rect">
                  <a:avLst/>
                </a:prstGeom>
                <a:blipFill>
                  <a:blip r:embed="rId17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1D60B553-B9EC-A062-25B8-43A68123F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403" y="3752505"/>
                  <a:ext cx="1447640" cy="627864"/>
                </a:xfrm>
                <a:prstGeom prst="rect">
                  <a:avLst/>
                </a:prstGeom>
                <a:blipFill>
                  <a:blip r:embed="rId18"/>
                  <a:stretch>
                    <a:fillRect t="-1961" r="-4348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0D5741CA-EA93-C492-6EAE-83048978D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5905" y="4404223"/>
                  <a:ext cx="1338636" cy="627864"/>
                </a:xfrm>
                <a:prstGeom prst="rect">
                  <a:avLst/>
                </a:prstGeom>
                <a:blipFill>
                  <a:blip r:embed="rId19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8AB4225F-0A7B-64D5-6805-156F0DE8C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283" y="3752505"/>
                  <a:ext cx="1529393" cy="627864"/>
                </a:xfrm>
                <a:prstGeom prst="rect">
                  <a:avLst/>
                </a:prstGeom>
                <a:blipFill>
                  <a:blip r:embed="rId20"/>
                  <a:stretch>
                    <a:fillRect t="-1961" r="-4132" b="-215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348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ja-JP" sz="3480" i="1" baseline="-25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348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ja-JP" sz="3480" i="1" baseline="-2500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oMath>
                    </m:oMathPara>
                  </a14:m>
                  <a:endParaRPr lang="ja-JP" altLang="en-US" sz="3480">
                    <a:highlight>
                      <a:srgbClr val="FFFFFF"/>
                    </a:highlight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F2463D-E67A-968C-F529-286E6EAF7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9785" y="4404223"/>
                  <a:ext cx="1420389" cy="627864"/>
                </a:xfrm>
                <a:prstGeom prst="rect">
                  <a:avLst/>
                </a:prstGeom>
                <a:blipFill>
                  <a:blip r:embed="rId21"/>
                  <a:stretch>
                    <a:fillRect b="-1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l-GR" altLang="ja-JP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ja-JP" sz="3200" i="1" baseline="-250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3200" i="1">
                            <a:latin typeface="Cambria Math" panose="02040503050406030204" pitchFamily="18" charset="0"/>
                          </a:rPr>
                          <m:t>𝑡𝑚</m:t>
                        </m:r>
                      </m:oMath>
                    </m:oMathPara>
                  </a14:m>
                  <a:endParaRPr lang="ja-JP" altLang="en-US" sz="3200" i="1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1D44C50-3A5C-4120-C717-A4DE476578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267" y="1033812"/>
                  <a:ext cx="1389163" cy="573427"/>
                </a:xfrm>
                <a:prstGeom prst="rect">
                  <a:avLst/>
                </a:prstGeom>
                <a:blipFill>
                  <a:blip r:embed="rId22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922E613-B856-E3FC-C0E4-A6A2D4D1B60D}"/>
                </a:ext>
              </a:extLst>
            </p:cNvPr>
            <p:cNvSpPr txBox="1">
              <a:spLocks/>
            </p:cNvSpPr>
            <p:nvPr/>
          </p:nvSpPr>
          <p:spPr>
            <a:xfrm>
              <a:off x="7367413" y="3889564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4400" dirty="0"/>
                <a:t>...</a:t>
              </a:r>
              <a:endParaRPr lang="ja-JP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3871975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293F8-7A43-F94C-A3AE-87A0D18D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グループ化 278">
            <a:extLst>
              <a:ext uri="{FF2B5EF4-FFF2-40B4-BE49-F238E27FC236}">
                <a16:creationId xmlns:a16="http://schemas.microsoft.com/office/drawing/2014/main" id="{73080A32-EB80-D076-7E3E-636DEB33DE73}"/>
              </a:ext>
            </a:extLst>
          </p:cNvPr>
          <p:cNvGrpSpPr/>
          <p:nvPr/>
        </p:nvGrpSpPr>
        <p:grpSpPr>
          <a:xfrm>
            <a:off x="870293" y="1023267"/>
            <a:ext cx="19784494" cy="8765801"/>
            <a:chOff x="870293" y="1023267"/>
            <a:chExt cx="19784494" cy="8765801"/>
          </a:xfrm>
        </p:grpSpPr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798C0950-51BE-FC89-EF9A-DC3F8AC26B73}"/>
                </a:ext>
              </a:extLst>
            </p:cNvPr>
            <p:cNvSpPr/>
            <p:nvPr/>
          </p:nvSpPr>
          <p:spPr>
            <a:xfrm rot="5400000">
              <a:off x="12571222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5" name="グループ化 234">
              <a:extLst>
                <a:ext uri="{FF2B5EF4-FFF2-40B4-BE49-F238E27FC236}">
                  <a16:creationId xmlns:a16="http://schemas.microsoft.com/office/drawing/2014/main" id="{C38871DD-F29D-642B-2E11-CFF99D61CC05}"/>
                </a:ext>
              </a:extLst>
            </p:cNvPr>
            <p:cNvGrpSpPr/>
            <p:nvPr/>
          </p:nvGrpSpPr>
          <p:grpSpPr>
            <a:xfrm>
              <a:off x="11305797" y="1943196"/>
              <a:ext cx="2790378" cy="7719001"/>
              <a:chOff x="11446360" y="1943196"/>
              <a:chExt cx="2790378" cy="7719001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935E5B98-089B-5409-5187-F186CD8DEEB4}"/>
                  </a:ext>
                </a:extLst>
              </p:cNvPr>
              <p:cNvGrpSpPr/>
              <p:nvPr/>
            </p:nvGrpSpPr>
            <p:grpSpPr>
              <a:xfrm>
                <a:off x="11446360" y="1943196"/>
                <a:ext cx="2790378" cy="3637495"/>
                <a:chOff x="11446360" y="1475366"/>
                <a:chExt cx="2790378" cy="3637495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04BD75FA-27C6-7461-0BAF-1DE7673D1EA9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BCA67D3B-057A-9F44-1124-6A0C1ECDAD3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5AF16080-C356-FAFA-F9D6-50DECF07C93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0AE01D1-99E8-5CA2-C7DF-82AE626F832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21996521-935F-5C43-F991-7AFD082EF8E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16919BC6-8A4C-539E-7B88-8BBCF066D6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76F34106-A892-8F0D-2D26-76BC3BADFC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0404FF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7BA0D18C-6627-BDA1-9B9C-6B9B9AF14FC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0168F43E-A504-5A6B-550F-0B62642AA19F}"/>
                    </a:ext>
                  </a:extLst>
                </p:cNvPr>
                <p:cNvSpPr/>
                <p:nvPr/>
              </p:nvSpPr>
              <p:spPr>
                <a:xfrm rot="5400000">
                  <a:off x="12571222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0239F935-8688-1E75-996D-7706D2DA70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90DF0134-295E-04E5-386E-33FB836547CA}"/>
                  </a:ext>
                </a:extLst>
              </p:cNvPr>
              <p:cNvGrpSpPr/>
              <p:nvPr/>
            </p:nvGrpSpPr>
            <p:grpSpPr>
              <a:xfrm>
                <a:off x="11664349" y="5977558"/>
                <a:ext cx="2354400" cy="3684639"/>
                <a:chOff x="11664349" y="5977558"/>
                <a:chExt cx="2354400" cy="3684639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43CB884B-42B6-42D6-5F19-4297AC5A5D63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720725E5-D9F4-7C7A-BCF0-F2715710487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D66C08CF-3690-8CAE-42CA-79A4B5194BA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742A02D7-F196-4348-E480-8B7E23E15A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B6DBCED0-B1FC-8468-A00D-5CD1E6FBC57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44305254-F5C2-64BE-61E7-F96F1DBE4BB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151BD224-AFE2-6E98-E42E-B3ADE8E48E3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just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+−</m:t>
                                  </m:r>
                                </m:sup>
                              </m:sSubSup>
                              <m:r>
                                <a:rPr lang="en-US" altLang="ja-JP" sz="34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FF0B0B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E8C14B6D-047F-AB5F-B45D-0EBFCCBAFFC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9744713C-A5FC-6316-0A3E-842AE651E8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610" b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811A34B3-694D-7D10-20E7-653B6A16C501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ACB9764E-630E-C4CF-57CB-EBE68AC8C378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79FA792B-293F-C06D-1242-2C4E0531C76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70798CF3-0923-687C-A750-574396A515A5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DA34C36D-2B10-5215-FE21-E5B488B3F971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DA4AFFCE-1AF9-68D2-47EF-FB2D7887653D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4CDA5838-E6FE-F09C-57C2-1D0E37173082}"/>
                </a:ext>
              </a:extLst>
            </p:cNvPr>
            <p:cNvSpPr/>
            <p:nvPr/>
          </p:nvSpPr>
          <p:spPr>
            <a:xfrm>
              <a:off x="1607791" y="2136751"/>
              <a:ext cx="3472516" cy="716685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1D29C00-529C-A8F1-3FB9-14F14CE4A624}"/>
                </a:ext>
              </a:extLst>
            </p:cNvPr>
            <p:cNvSpPr/>
            <p:nvPr/>
          </p:nvSpPr>
          <p:spPr>
            <a:xfrm>
              <a:off x="5197535" y="2109969"/>
              <a:ext cx="3472516" cy="7193636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0EFFE90-545C-140D-F372-3AD0417B1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b="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905705C6-5BB6-D2A1-0432-393DFC28D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8"/>
                  <a:stretch>
                    <a:fillRect l="-461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52B4F24-4D53-4A58-DA9B-077A55D8E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2A2647DC-AEDF-590D-799F-085F69DB35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2934B124-0236-7B23-7FD4-A993A7D2CA5C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7B59A355-C39F-39FC-91DE-475EA433B3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A4A89A0-6EBD-2385-9C76-5AE468E57090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dirty="0">
                    <a:solidFill>
                      <a:srgbClr val="0404FF"/>
                    </a:solidFill>
                    <a:latin typeface="Helvetica" pitchFamily="2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50BC672-06A9-F8EB-B15D-1379F7B419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l="-538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3A4ACB92-ABAE-D4DF-D5D9-AEE43E10BD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09998E4-691E-F157-A329-19914A9CD711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73649A7B-8F47-04DD-5460-C9E62FF31AD6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02963D27-C9AC-AE7D-503A-73E4ECF17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9175A14-09B3-0B9C-6497-404D98439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C9232B9-BAE1-D488-F338-6193AC522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FBCDCA-FBB1-B10B-5C5E-1CEC7C1C4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0138E0E-91A4-4381-BA6E-90C13CC31277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3F6F4033-CE81-0407-8C78-0DB1E8D89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52D79B2-C024-7543-3EA7-05D08A83A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3F42F33B-889D-9B52-0855-3AB4E7041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16F76C5-30BD-973D-B963-88C864EEC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20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C057F6E9-16E8-ED3E-15FD-2584F96FB2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57C06065-1E8A-A469-29A2-51A4B8978917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D0F40CA-36C8-F1B0-1271-B87B4BB2C067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4" name="グループ化 233">
              <a:extLst>
                <a:ext uri="{FF2B5EF4-FFF2-40B4-BE49-F238E27FC236}">
                  <a16:creationId xmlns:a16="http://schemas.microsoft.com/office/drawing/2014/main" id="{BF5BFFC4-1E28-5E90-FBBC-2CB45670DA94}"/>
                </a:ext>
              </a:extLst>
            </p:cNvPr>
            <p:cNvGrpSpPr/>
            <p:nvPr/>
          </p:nvGrpSpPr>
          <p:grpSpPr>
            <a:xfrm>
              <a:off x="16654349" y="1259284"/>
              <a:ext cx="4000438" cy="8442283"/>
              <a:chOff x="16518881" y="1259284"/>
              <a:chExt cx="4000438" cy="8442283"/>
            </a:xfrm>
          </p:grpSpPr>
          <p:grpSp>
            <p:nvGrpSpPr>
              <p:cNvPr id="230" name="グループ化 229">
                <a:extLst>
                  <a:ext uri="{FF2B5EF4-FFF2-40B4-BE49-F238E27FC236}">
                    <a16:creationId xmlns:a16="http://schemas.microsoft.com/office/drawing/2014/main" id="{628570BC-D440-0008-DE70-EDD92BB9758F}"/>
                  </a:ext>
                </a:extLst>
              </p:cNvPr>
              <p:cNvGrpSpPr/>
              <p:nvPr/>
            </p:nvGrpSpPr>
            <p:grpSpPr>
              <a:xfrm>
                <a:off x="16518881" y="1259284"/>
                <a:ext cx="4000438" cy="4360777"/>
                <a:chOff x="16518881" y="791454"/>
                <a:chExt cx="4000438" cy="4360777"/>
              </a:xfrm>
            </p:grpSpPr>
            <p:grpSp>
              <p:nvGrpSpPr>
                <p:cNvPr id="194" name="グループ化 193">
                  <a:extLst>
                    <a:ext uri="{FF2B5EF4-FFF2-40B4-BE49-F238E27FC236}">
                      <a16:creationId xmlns:a16="http://schemas.microsoft.com/office/drawing/2014/main" id="{D413DDF7-7807-8B42-682B-CE5B3C70A994}"/>
                    </a:ext>
                  </a:extLst>
                </p:cNvPr>
                <p:cNvGrpSpPr/>
                <p:nvPr/>
              </p:nvGrpSpPr>
              <p:grpSpPr>
                <a:xfrm>
                  <a:off x="16518881" y="791454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145" name="直線矢印コネクタ 144">
                    <a:extLst>
                      <a:ext uri="{FF2B5EF4-FFF2-40B4-BE49-F238E27FC236}">
                        <a16:creationId xmlns:a16="http://schemas.microsoft.com/office/drawing/2014/main" id="{3E6C712E-96F9-4A14-069A-049750D4E5C8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線矢印コネクタ 145">
                    <a:extLst>
                      <a:ext uri="{FF2B5EF4-FFF2-40B4-BE49-F238E27FC236}">
                        <a16:creationId xmlns:a16="http://schemas.microsoft.com/office/drawing/2014/main" id="{65BE1336-5450-2C37-737D-0169844BB3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線矢印コネクタ 146">
                    <a:extLst>
                      <a:ext uri="{FF2B5EF4-FFF2-40B4-BE49-F238E27FC236}">
                        <a16:creationId xmlns:a16="http://schemas.microsoft.com/office/drawing/2014/main" id="{6A381706-7693-C2B9-F6F3-288D7BAAE3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グループ化 187">
                    <a:extLst>
                      <a:ext uri="{FF2B5EF4-FFF2-40B4-BE49-F238E27FC236}">
                        <a16:creationId xmlns:a16="http://schemas.microsoft.com/office/drawing/2014/main" id="{5CE9AEC2-9569-ED1E-6DEF-06F43B8208A3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175" name="フリーフォーム 174">
                      <a:extLst>
                        <a:ext uri="{FF2B5EF4-FFF2-40B4-BE49-F238E27FC236}">
                          <a16:creationId xmlns:a16="http://schemas.microsoft.com/office/drawing/2014/main" id="{C6CBFE1A-F955-864E-B594-F8750A192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0404FF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6" name="フリーフォーム 175">
                      <a:extLst>
                        <a:ext uri="{FF2B5EF4-FFF2-40B4-BE49-F238E27FC236}">
                          <a16:creationId xmlns:a16="http://schemas.microsoft.com/office/drawing/2014/main" id="{41CC594C-D3A7-E7C9-EBC1-477F4858EA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7" name="フリーフォーム 176">
                      <a:extLst>
                        <a:ext uri="{FF2B5EF4-FFF2-40B4-BE49-F238E27FC236}">
                          <a16:creationId xmlns:a16="http://schemas.microsoft.com/office/drawing/2014/main" id="{FE21FAE6-890F-0AB5-1F7B-70C041487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9" name="フリーフォーム 178">
                      <a:extLst>
                        <a:ext uri="{FF2B5EF4-FFF2-40B4-BE49-F238E27FC236}">
                          <a16:creationId xmlns:a16="http://schemas.microsoft.com/office/drawing/2014/main" id="{371F0A01-A249-F4CB-E057-CEC7E34D36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181" name="直線コネクタ 180">
                      <a:extLst>
                        <a:ext uri="{FF2B5EF4-FFF2-40B4-BE49-F238E27FC236}">
                          <a16:creationId xmlns:a16="http://schemas.microsoft.com/office/drawing/2014/main" id="{BDB8B557-DEDE-3C95-D527-D7129E9E34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4" name="フリーフォーム 183">
                      <a:extLst>
                        <a:ext uri="{FF2B5EF4-FFF2-40B4-BE49-F238E27FC236}">
                          <a16:creationId xmlns:a16="http://schemas.microsoft.com/office/drawing/2014/main" id="{3B5C9B6A-2894-71B7-E6F8-DB0789E2B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78" name="フリーフォーム 177">
                      <a:extLst>
                        <a:ext uri="{FF2B5EF4-FFF2-40B4-BE49-F238E27FC236}">
                          <a16:creationId xmlns:a16="http://schemas.microsoft.com/office/drawing/2014/main" id="{824C4838-C021-0E65-AC3A-A295D99E5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0" name="テキスト ボックス 189">
                        <a:extLst>
                          <a:ext uri="{FF2B5EF4-FFF2-40B4-BE49-F238E27FC236}">
                            <a16:creationId xmlns:a16="http://schemas.microsoft.com/office/drawing/2014/main" id="{FF0D161E-0A41-9CDA-3272-E973FFD539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10526" b="-2608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2" name="テキスト ボックス 191">
                        <a:extLst>
                          <a:ext uri="{FF2B5EF4-FFF2-40B4-BE49-F238E27FC236}">
                            <a16:creationId xmlns:a16="http://schemas.microsoft.com/office/drawing/2014/main" id="{ED730357-151D-3200-D277-1C8B145A0F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10714" b="-1632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3" name="テキスト ボックス 192">
                        <a:extLst>
                          <a:ext uri="{FF2B5EF4-FFF2-40B4-BE49-F238E27FC236}">
                            <a16:creationId xmlns:a16="http://schemas.microsoft.com/office/drawing/2014/main" id="{6D5F0C58-EEF8-7D6F-C0BC-2D4134F485B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3"/>
                        <a:stretch>
                          <a:fillRect l="-10909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1" name="テキスト ボックス 210">
                      <a:extLst>
                        <a:ext uri="{FF2B5EF4-FFF2-40B4-BE49-F238E27FC236}">
                          <a16:creationId xmlns:a16="http://schemas.microsoft.com/office/drawing/2014/main" id="{ECE6FB5E-1BFB-3D38-E625-7015891B89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3" y="4457938"/>
                      <a:ext cx="3456139" cy="694293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b="-160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3" name="グループ化 232">
                <a:extLst>
                  <a:ext uri="{FF2B5EF4-FFF2-40B4-BE49-F238E27FC236}">
                    <a16:creationId xmlns:a16="http://schemas.microsoft.com/office/drawing/2014/main" id="{208414B6-C0BF-88D9-A99A-07CB5FBAC171}"/>
                  </a:ext>
                </a:extLst>
              </p:cNvPr>
              <p:cNvGrpSpPr/>
              <p:nvPr/>
            </p:nvGrpSpPr>
            <p:grpSpPr>
              <a:xfrm>
                <a:off x="16518881" y="5443882"/>
                <a:ext cx="4000438" cy="4257685"/>
                <a:chOff x="16518881" y="5443882"/>
                <a:chExt cx="4000438" cy="425768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2" name="テキスト ボックス 211">
                      <a:extLst>
                        <a:ext uri="{FF2B5EF4-FFF2-40B4-BE49-F238E27FC236}">
                          <a16:creationId xmlns:a16="http://schemas.microsoft.com/office/drawing/2014/main" id="{8D991A3E-1D67-DC9D-7185-093B3947AD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865924" y="9007274"/>
                      <a:ext cx="3456139" cy="69429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636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3" name="グループ化 212">
                  <a:extLst>
                    <a:ext uri="{FF2B5EF4-FFF2-40B4-BE49-F238E27FC236}">
                      <a16:creationId xmlns:a16="http://schemas.microsoft.com/office/drawing/2014/main" id="{D0E1DFA8-47CC-6832-968D-708C513DD1B8}"/>
                    </a:ext>
                  </a:extLst>
                </p:cNvPr>
                <p:cNvGrpSpPr/>
                <p:nvPr/>
              </p:nvGrpSpPr>
              <p:grpSpPr>
                <a:xfrm>
                  <a:off x="16518881" y="5443882"/>
                  <a:ext cx="4000438" cy="3528514"/>
                  <a:chOff x="15398170" y="3215283"/>
                  <a:chExt cx="4335811" cy="3824323"/>
                </a:xfrm>
              </p:grpSpPr>
              <p:cxnSp>
                <p:nvCxnSpPr>
                  <p:cNvPr id="214" name="直線矢印コネクタ 213">
                    <a:extLst>
                      <a:ext uri="{FF2B5EF4-FFF2-40B4-BE49-F238E27FC236}">
                        <a16:creationId xmlns:a16="http://schemas.microsoft.com/office/drawing/2014/main" id="{D83B3B3D-65D2-C344-9DCB-B0A9CCBDD951}"/>
                      </a:ext>
                    </a:extLst>
                  </p:cNvPr>
                  <p:cNvCxnSpPr/>
                  <p:nvPr/>
                </p:nvCxnSpPr>
                <p:spPr>
                  <a:xfrm>
                    <a:off x="16051565" y="5157773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直線矢印コネクタ 214">
                    <a:extLst>
                      <a:ext uri="{FF2B5EF4-FFF2-40B4-BE49-F238E27FC236}">
                        <a16:creationId xmlns:a16="http://schemas.microsoft.com/office/drawing/2014/main" id="{D79B4DBC-8DFF-1447-EEF6-B2398ED19A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V="1">
                    <a:off x="15613415" y="5097797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直線矢印コネクタ 215">
                    <a:extLst>
                      <a:ext uri="{FF2B5EF4-FFF2-40B4-BE49-F238E27FC236}">
                        <a16:creationId xmlns:a16="http://schemas.microsoft.com/office/drawing/2014/main" id="{C543974C-63ED-4F92-CAEE-BD2142D1DF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100000" flipV="1">
                    <a:off x="15398170" y="5339454"/>
                    <a:ext cx="3009900" cy="1831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headEnd w="lg" len="lg"/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17" name="グループ化 216">
                    <a:extLst>
                      <a:ext uri="{FF2B5EF4-FFF2-40B4-BE49-F238E27FC236}">
                        <a16:creationId xmlns:a16="http://schemas.microsoft.com/office/drawing/2014/main" id="{3C980E5D-183D-C46E-F250-408C0E9C977C}"/>
                      </a:ext>
                    </a:extLst>
                  </p:cNvPr>
                  <p:cNvGrpSpPr/>
                  <p:nvPr/>
                </p:nvGrpSpPr>
                <p:grpSpPr>
                  <a:xfrm>
                    <a:off x="16948261" y="4673362"/>
                    <a:ext cx="1772362" cy="2366244"/>
                    <a:chOff x="15134519" y="7961404"/>
                    <a:chExt cx="3495405" cy="4666644"/>
                  </a:xfrm>
                </p:grpSpPr>
                <p:sp>
                  <p:nvSpPr>
                    <p:cNvPr id="221" name="フリーフォーム 220">
                      <a:extLst>
                        <a:ext uri="{FF2B5EF4-FFF2-40B4-BE49-F238E27FC236}">
                          <a16:creationId xmlns:a16="http://schemas.microsoft.com/office/drawing/2014/main" id="{72A89D98-885C-EE88-4C37-89937276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134519" y="7963283"/>
                      <a:ext cx="3495405" cy="4664765"/>
                    </a:xfrm>
                    <a:custGeom>
                      <a:avLst/>
                      <a:gdLst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26504 w 3366052"/>
                        <a:gd name="csY1" fmla="*/ 4412974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0 w 3366052"/>
                        <a:gd name="csY0" fmla="*/ 1603513 h 4664765"/>
                        <a:gd name="csX1" fmla="*/ 79513 w 3366052"/>
                        <a:gd name="csY1" fmla="*/ 4386470 h 4664765"/>
                        <a:gd name="csX2" fmla="*/ 649357 w 3366052"/>
                        <a:gd name="csY2" fmla="*/ 4664765 h 4664765"/>
                        <a:gd name="csX3" fmla="*/ 3299791 w 3366052"/>
                        <a:gd name="csY3" fmla="*/ 3101009 h 4664765"/>
                        <a:gd name="csX4" fmla="*/ 3366052 w 3366052"/>
                        <a:gd name="csY4" fmla="*/ 463826 h 4664765"/>
                        <a:gd name="csX5" fmla="*/ 2358887 w 3366052"/>
                        <a:gd name="csY5" fmla="*/ 0 h 4664765"/>
                        <a:gd name="csX6" fmla="*/ 0 w 3366052"/>
                        <a:gd name="csY6" fmla="*/ 1603513 h 4664765"/>
                        <a:gd name="csX0" fmla="*/ 78466 w 3444518"/>
                        <a:gd name="csY0" fmla="*/ 1603513 h 4664765"/>
                        <a:gd name="csX1" fmla="*/ 157979 w 3444518"/>
                        <a:gd name="csY1" fmla="*/ 4386470 h 4664765"/>
                        <a:gd name="csX2" fmla="*/ 727823 w 3444518"/>
                        <a:gd name="csY2" fmla="*/ 4664765 h 4664765"/>
                        <a:gd name="csX3" fmla="*/ 3378257 w 3444518"/>
                        <a:gd name="csY3" fmla="*/ 3101009 h 4664765"/>
                        <a:gd name="csX4" fmla="*/ 3444518 w 3444518"/>
                        <a:gd name="csY4" fmla="*/ 463826 h 4664765"/>
                        <a:gd name="csX5" fmla="*/ 2437353 w 3444518"/>
                        <a:gd name="csY5" fmla="*/ 0 h 4664765"/>
                        <a:gd name="csX6" fmla="*/ 78466 w 3444518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  <a:gd name="csX0" fmla="*/ 129353 w 3495405"/>
                        <a:gd name="csY0" fmla="*/ 1603513 h 4664765"/>
                        <a:gd name="csX1" fmla="*/ 208866 w 3495405"/>
                        <a:gd name="csY1" fmla="*/ 4386470 h 4664765"/>
                        <a:gd name="csX2" fmla="*/ 778710 w 3495405"/>
                        <a:gd name="csY2" fmla="*/ 4664765 h 4664765"/>
                        <a:gd name="csX3" fmla="*/ 3429144 w 3495405"/>
                        <a:gd name="csY3" fmla="*/ 3101009 h 4664765"/>
                        <a:gd name="csX4" fmla="*/ 3495405 w 3495405"/>
                        <a:gd name="csY4" fmla="*/ 463826 h 4664765"/>
                        <a:gd name="csX5" fmla="*/ 2488240 w 3495405"/>
                        <a:gd name="csY5" fmla="*/ 0 h 4664765"/>
                        <a:gd name="csX6" fmla="*/ 129353 w 3495405"/>
                        <a:gd name="csY6" fmla="*/ 1603513 h 466476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</a:cxnLst>
                      <a:rect l="l" t="t" r="r" b="b"/>
                      <a:pathLst>
                        <a:path w="3495405" h="4664765">
                          <a:moveTo>
                            <a:pt x="129353" y="1603513"/>
                          </a:moveTo>
                          <a:cubicBezTo>
                            <a:pt x="-3169" y="2504661"/>
                            <a:pt x="-109185" y="3432314"/>
                            <a:pt x="208866" y="4386470"/>
                          </a:cubicBezTo>
                          <a:lnTo>
                            <a:pt x="778710" y="4664765"/>
                          </a:lnTo>
                          <a:cubicBezTo>
                            <a:pt x="1582675" y="4037495"/>
                            <a:pt x="2519162" y="3317462"/>
                            <a:pt x="3429144" y="3101009"/>
                          </a:cubicBezTo>
                          <a:cubicBezTo>
                            <a:pt x="3159683" y="2036417"/>
                            <a:pt x="3420310" y="1329635"/>
                            <a:pt x="3495405" y="463826"/>
                          </a:cubicBezTo>
                          <a:lnTo>
                            <a:pt x="2488240" y="0"/>
                          </a:lnTo>
                          <a:cubicBezTo>
                            <a:pt x="1489909" y="348973"/>
                            <a:pt x="796380" y="976244"/>
                            <a:pt x="129353" y="1603513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5000"/>
                            <a:lumOff val="95000"/>
                            <a:alpha val="30000"/>
                          </a:schemeClr>
                        </a:gs>
                        <a:gs pos="100000">
                          <a:srgbClr val="FF0B0B">
                            <a:alpha val="30000"/>
                          </a:srgbClr>
                        </a:gs>
                      </a:gsLst>
                      <a:lin ang="5400000" scaled="1"/>
                      <a:tileRect/>
                    </a:gra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2" name="フリーフォーム 221">
                      <a:extLst>
                        <a:ext uri="{FF2B5EF4-FFF2-40B4-BE49-F238E27FC236}">
                          <a16:creationId xmlns:a16="http://schemas.microsoft.com/office/drawing/2014/main" id="{F4BF5726-3585-EAE7-2A1E-3C926D4895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83613" y="8420672"/>
                      <a:ext cx="2631924" cy="1450461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631924" h="1450461">
                          <a:moveTo>
                            <a:pt x="2631924" y="0"/>
                          </a:moveTo>
                          <a:cubicBezTo>
                            <a:pt x="1476586" y="269965"/>
                            <a:pt x="702491" y="858278"/>
                            <a:pt x="0" y="1450461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3" name="フリーフォーム 222">
                      <a:extLst>
                        <a:ext uri="{FF2B5EF4-FFF2-40B4-BE49-F238E27FC236}">
                          <a16:creationId xmlns:a16="http://schemas.microsoft.com/office/drawing/2014/main" id="{8E23E41E-F25D-A9C3-FEF3-3050FBD7B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54028" y="9552786"/>
                      <a:ext cx="706361" cy="319315"/>
                    </a:xfrm>
                    <a:custGeom>
                      <a:avLst/>
                      <a:gdLst>
                        <a:gd name="csX0" fmla="*/ 0 w 740228"/>
                        <a:gd name="csY0" fmla="*/ 0 h 339635"/>
                        <a:gd name="csX1" fmla="*/ 740228 w 740228"/>
                        <a:gd name="csY1" fmla="*/ 339635 h 339635"/>
                        <a:gd name="csX0" fmla="*/ 0 w 706361"/>
                        <a:gd name="csY0" fmla="*/ 0 h 319315"/>
                        <a:gd name="csX1" fmla="*/ 706361 w 706361"/>
                        <a:gd name="csY1" fmla="*/ 319315 h 31931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706361" h="319315">
                          <a:moveTo>
                            <a:pt x="0" y="0"/>
                          </a:moveTo>
                          <a:lnTo>
                            <a:pt x="706361" y="319315"/>
                          </a:ln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4" name="フリーフォーム 223">
                      <a:extLst>
                        <a:ext uri="{FF2B5EF4-FFF2-40B4-BE49-F238E27FC236}">
                          <a16:creationId xmlns:a16="http://schemas.microsoft.com/office/drawing/2014/main" id="{5EEDD651-5531-E420-DD1E-FBCD07C77A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26461" y="7961404"/>
                      <a:ext cx="191381" cy="2623559"/>
                    </a:xfrm>
                    <a:custGeom>
                      <a:avLst/>
                      <a:gdLst>
                        <a:gd name="csX0" fmla="*/ 0 w 76912"/>
                        <a:gd name="csY0" fmla="*/ 0 h 2785929"/>
                        <a:gd name="csX1" fmla="*/ 76912 w 76912"/>
                        <a:gd name="csY1" fmla="*/ 2785929 h 2785929"/>
                        <a:gd name="csX0" fmla="*/ 64084 w 140996"/>
                        <a:gd name="csY0" fmla="*/ 0 h 2785929"/>
                        <a:gd name="csX1" fmla="*/ 140996 w 140996"/>
                        <a:gd name="csY1" fmla="*/ 2785929 h 2785929"/>
                        <a:gd name="csX0" fmla="*/ 117045 w 193957"/>
                        <a:gd name="csY0" fmla="*/ 0 h 2785929"/>
                        <a:gd name="csX1" fmla="*/ 193957 w 193957"/>
                        <a:gd name="csY1" fmla="*/ 2785929 h 2785929"/>
                        <a:gd name="csX0" fmla="*/ 191381 w 191381"/>
                        <a:gd name="csY0" fmla="*/ 0 h 2623559"/>
                        <a:gd name="csX1" fmla="*/ 131560 w 191381"/>
                        <a:gd name="csY1" fmla="*/ 2623559 h 262355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91381" h="2623559">
                          <a:moveTo>
                            <a:pt x="191381" y="0"/>
                          </a:moveTo>
                          <a:cubicBezTo>
                            <a:pt x="20464" y="937189"/>
                            <a:pt x="-107722" y="1720554"/>
                            <a:pt x="131560" y="2623559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225" name="直線コネクタ 224">
                      <a:extLst>
                        <a:ext uri="{FF2B5EF4-FFF2-40B4-BE49-F238E27FC236}">
                          <a16:creationId xmlns:a16="http://schemas.microsoft.com/office/drawing/2014/main" id="{93286489-CECA-43F3-C1A9-61D6E9DC02C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43527" y="10593763"/>
                      <a:ext cx="1011121" cy="46570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6" name="フリーフォーム 225">
                      <a:extLst>
                        <a:ext uri="{FF2B5EF4-FFF2-40B4-BE49-F238E27FC236}">
                          <a16:creationId xmlns:a16="http://schemas.microsoft.com/office/drawing/2014/main" id="{BB8C48A4-1F15-60DB-295F-CBB50A4AD1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36510" y="10616356"/>
                      <a:ext cx="2204634" cy="1715380"/>
                    </a:xfrm>
                    <a:custGeom>
                      <a:avLst/>
                      <a:gdLst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577737 w 2577737"/>
                        <a:gd name="csY0" fmla="*/ 0 h 1436914"/>
                        <a:gd name="csX1" fmla="*/ 0 w 2577737"/>
                        <a:gd name="csY1" fmla="*/ 1436914 h 1436914"/>
                        <a:gd name="csX0" fmla="*/ 2631924 w 2631924"/>
                        <a:gd name="csY0" fmla="*/ 0 h 1450461"/>
                        <a:gd name="csX1" fmla="*/ 0 w 2631924"/>
                        <a:gd name="csY1" fmla="*/ 1450461 h 1450461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  <a:gd name="csX0" fmla="*/ 2204634 w 2204634"/>
                        <a:gd name="csY0" fmla="*/ 0 h 1715380"/>
                        <a:gd name="csX1" fmla="*/ 0 w 2204634"/>
                        <a:gd name="csY1" fmla="*/ 1715380 h 171538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2204634" h="1715380">
                          <a:moveTo>
                            <a:pt x="2204634" y="0"/>
                          </a:moveTo>
                          <a:cubicBezTo>
                            <a:pt x="1220212" y="483610"/>
                            <a:pt x="608487" y="1063376"/>
                            <a:pt x="0" y="1715380"/>
                          </a:cubicBezTo>
                        </a:path>
                      </a:pathLst>
                    </a:custGeom>
                    <a:noFill/>
                    <a:ln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27" name="フリーフォーム 226">
                      <a:extLst>
                        <a:ext uri="{FF2B5EF4-FFF2-40B4-BE49-F238E27FC236}">
                          <a16:creationId xmlns:a16="http://schemas.microsoft.com/office/drawing/2014/main" id="{140DEEE2-600D-F07B-843C-A4FEB2AFF4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93927" y="9883712"/>
                      <a:ext cx="165496" cy="2734492"/>
                    </a:xfrm>
                    <a:custGeom>
                      <a:avLst/>
                      <a:gdLst>
                        <a:gd name="csX0" fmla="*/ 43543 w 43543"/>
                        <a:gd name="csY0" fmla="*/ 0 h 2734492"/>
                        <a:gd name="csX1" fmla="*/ 0 w 43543"/>
                        <a:gd name="csY1" fmla="*/ 2734492 h 2734492"/>
                        <a:gd name="csX0" fmla="*/ 99663 w 99663"/>
                        <a:gd name="csY0" fmla="*/ 0 h 2734492"/>
                        <a:gd name="csX1" fmla="*/ 56120 w 99663"/>
                        <a:gd name="csY1" fmla="*/ 2734492 h 2734492"/>
                        <a:gd name="csX0" fmla="*/ 165496 w 165496"/>
                        <a:gd name="csY0" fmla="*/ 0 h 2734492"/>
                        <a:gd name="csX1" fmla="*/ 121953 w 165496"/>
                        <a:gd name="csY1" fmla="*/ 2734492 h 2734492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</a:cxnLst>
                      <a:rect l="l" t="t" r="r" b="b"/>
                      <a:pathLst>
                        <a:path w="165496" h="2734492">
                          <a:moveTo>
                            <a:pt x="165496" y="0"/>
                          </a:moveTo>
                          <a:cubicBezTo>
                            <a:pt x="-75441" y="885372"/>
                            <a:pt x="-20288" y="1831704"/>
                            <a:pt x="121953" y="2734492"/>
                          </a:cubicBezTo>
                        </a:path>
                      </a:pathLst>
                    </a:cu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8" name="テキスト ボックス 217">
                        <a:extLst>
                          <a:ext uri="{FF2B5EF4-FFF2-40B4-BE49-F238E27FC236}">
                            <a16:creationId xmlns:a16="http://schemas.microsoft.com/office/drawing/2014/main" id="{3F4AEF9F-B119-8850-293D-78E58808729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963298" y="6126181"/>
                        <a:ext cx="768094" cy="615553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 l="-10526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19" name="テキスト ボックス 218">
                        <a:extLst>
                          <a:ext uri="{FF2B5EF4-FFF2-40B4-BE49-F238E27FC236}">
                            <a16:creationId xmlns:a16="http://schemas.microsoft.com/office/drawing/2014/main" id="{D28DCE2F-87D6-A804-19CE-D6ABDCC7FA2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979224" y="4744616"/>
                        <a:ext cx="754757" cy="663643"/>
                      </a:xfrm>
                      <a:prstGeom prst="rect">
                        <a:avLst/>
                      </a:prstGeom>
                      <a:blipFill>
                        <a:blip r:embed="rId27"/>
                        <a:stretch>
                          <a:fillRect l="-10714" b="-183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sz="3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3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20" name="テキスト ボックス 219">
                        <a:extLst>
                          <a:ext uri="{FF2B5EF4-FFF2-40B4-BE49-F238E27FC236}">
                            <a16:creationId xmlns:a16="http://schemas.microsoft.com/office/drawing/2014/main" id="{EAE85D9B-0D11-711E-7DFC-6F57014F8A2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098921" y="3215283"/>
                        <a:ext cx="735521" cy="615553"/>
                      </a:xfrm>
                      <a:prstGeom prst="rect">
                        <a:avLst/>
                      </a:prstGeom>
                      <a:blipFill>
                        <a:blip r:embed="rId28"/>
                        <a:stretch>
                          <a:fillRect l="-10909" b="-2391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88F237FE-E2F0-FD75-D5E0-8DCFAB10AE41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4F1B4AAD-FCC3-B759-8D48-1D1B5D98E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497301CF-E959-C8C6-89BF-C325C06E5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D7067ADD-5DFA-7071-B9D6-19719F094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EEECBD73-59FE-4B35-70E8-C6B1E19FF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A22D0949-EDAC-7CDA-C4AD-1618403FF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5A6062E0-E4D6-EE24-442E-2C950F48BFB3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1E59AD25-A92F-EA6D-2AFF-78E3D6AA9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8437B60B-473E-36B6-955A-01A4675E3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BD834DD2-6FC7-57AA-BCAE-6B0F7CC88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72F60B1C-4E5E-E67A-0593-4BD3C6078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23DC38BF-A624-6C1D-02CD-FA69D006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F8A9C3FF-9BB5-A371-C0E5-8BC3CCFF70DA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43D94AD0-3FF4-515A-6EFA-A0DF4DC9F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26540569-B469-4F4B-EB00-8AAA58569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14AD268D-5BD1-15FF-2B88-F8D464FD1B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9BDAB9F0-4E68-0F29-86F5-119BC4D13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1D5E4073-8F39-35D8-50FD-5B8E8D187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1B4CD3C0-7E1D-4806-EA4F-A5EC7BE4FE03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AA62C5F0-BA02-4E2F-073A-110F741AF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1318A453-7754-802F-44F1-21105B95B1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61283310-ACCC-CEFA-AE3C-120B85435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E7B61A9A-44AC-1947-CACF-A9F902B68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8C357C50-1B78-919B-233D-119FED9732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4A6558D7-23BD-7A37-CACB-25CE64E970A1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BE1722B4-5EE1-7D6C-D272-CEF3CFD32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9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26BE9262-B4E6-8F16-C541-B047A8616F9A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46CF465B-EE25-9EE9-2215-15A2EA966CE7}"/>
                </a:ext>
              </a:extLst>
            </p:cNvPr>
            <p:cNvGrpSpPr/>
            <p:nvPr/>
          </p:nvGrpSpPr>
          <p:grpSpPr>
            <a:xfrm>
              <a:off x="11106634" y="1422054"/>
              <a:ext cx="1603085" cy="1847099"/>
              <a:chOff x="10979128" y="1373067"/>
              <a:chExt cx="1603085" cy="1847099"/>
            </a:xfrm>
          </p:grpSpPr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C3E407BC-938D-0249-5910-7C2FD6D5A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4013" y="1942627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582B0CB3-1F69-9033-1542-959A65B03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CB4FAF7E-4A8D-79F0-711F-C256D33CD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6" name="グループ化 275">
              <a:extLst>
                <a:ext uri="{FF2B5EF4-FFF2-40B4-BE49-F238E27FC236}">
                  <a16:creationId xmlns:a16="http://schemas.microsoft.com/office/drawing/2014/main" id="{0487B717-6728-8420-4D4C-2CED2FB1551B}"/>
                </a:ext>
              </a:extLst>
            </p:cNvPr>
            <p:cNvGrpSpPr/>
            <p:nvPr/>
          </p:nvGrpSpPr>
          <p:grpSpPr>
            <a:xfrm>
              <a:off x="11106634" y="5445729"/>
              <a:ext cx="1603085" cy="1847099"/>
              <a:chOff x="11070849" y="5445729"/>
              <a:chExt cx="1603085" cy="1847099"/>
            </a:xfrm>
          </p:grpSpPr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5AA95D15-04E6-A2EC-D2BA-DA26C2D444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85734" y="6015289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BF27128F-17F2-015C-7BAB-37C836F62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0AEE869D-8500-3937-FD6B-8DF6C2D2DC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B2F55CE8-E26A-E0A5-DC70-71EFFFD9FFBF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</p:grpSp>
    </p:spTree>
    <p:extLst>
      <p:ext uri="{BB962C8B-B14F-4D97-AF65-F5344CB8AC3E}">
        <p14:creationId xmlns:p14="http://schemas.microsoft.com/office/powerpoint/2010/main" val="331828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BAD-319C-1AFA-73A5-E2A71C6F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F99E1B62-FD80-4DDD-D2ED-2D3B1A440D51}"/>
              </a:ext>
            </a:extLst>
          </p:cNvPr>
          <p:cNvGrpSpPr/>
          <p:nvPr/>
        </p:nvGrpSpPr>
        <p:grpSpPr>
          <a:xfrm>
            <a:off x="870293" y="1023267"/>
            <a:ext cx="19809129" cy="8765801"/>
            <a:chOff x="870293" y="1023267"/>
            <a:chExt cx="19809129" cy="8765801"/>
          </a:xfrm>
        </p:grpSpPr>
        <p:sp>
          <p:nvSpPr>
            <p:cNvPr id="112" name="右中かっこ 111">
              <a:extLst>
                <a:ext uri="{FF2B5EF4-FFF2-40B4-BE49-F238E27FC236}">
                  <a16:creationId xmlns:a16="http://schemas.microsoft.com/office/drawing/2014/main" id="{815FB118-D54A-6810-EC4D-27CB9C6F7326}"/>
                </a:ext>
              </a:extLst>
            </p:cNvPr>
            <p:cNvSpPr/>
            <p:nvPr/>
          </p:nvSpPr>
          <p:spPr>
            <a:xfrm rot="5400000">
              <a:off x="12571222" y="7225719"/>
              <a:ext cx="540654" cy="2790378"/>
            </a:xfrm>
            <a:prstGeom prst="rightBrace">
              <a:avLst/>
            </a:prstGeom>
            <a:ln w="25400" cap="rnd">
              <a:solidFill>
                <a:schemeClr val="tx1"/>
              </a:solidFill>
              <a:round/>
              <a:headEnd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35" name="グループ化 234">
              <a:extLst>
                <a:ext uri="{FF2B5EF4-FFF2-40B4-BE49-F238E27FC236}">
                  <a16:creationId xmlns:a16="http://schemas.microsoft.com/office/drawing/2014/main" id="{2CFD41AB-D33E-074C-69B1-49208BF009F5}"/>
                </a:ext>
              </a:extLst>
            </p:cNvPr>
            <p:cNvGrpSpPr/>
            <p:nvPr/>
          </p:nvGrpSpPr>
          <p:grpSpPr>
            <a:xfrm>
              <a:off x="11305797" y="1943196"/>
              <a:ext cx="2790378" cy="7719001"/>
              <a:chOff x="11446360" y="1943196"/>
              <a:chExt cx="2790378" cy="7719001"/>
            </a:xfrm>
          </p:grpSpPr>
          <p:grpSp>
            <p:nvGrpSpPr>
              <p:cNvPr id="229" name="グループ化 228">
                <a:extLst>
                  <a:ext uri="{FF2B5EF4-FFF2-40B4-BE49-F238E27FC236}">
                    <a16:creationId xmlns:a16="http://schemas.microsoft.com/office/drawing/2014/main" id="{E70D0F2E-9457-6855-EC57-5EB518FADCA4}"/>
                  </a:ext>
                </a:extLst>
              </p:cNvPr>
              <p:cNvGrpSpPr/>
              <p:nvPr/>
            </p:nvGrpSpPr>
            <p:grpSpPr>
              <a:xfrm>
                <a:off x="11446360" y="1943196"/>
                <a:ext cx="2790378" cy="3637495"/>
                <a:chOff x="11446360" y="1475366"/>
                <a:chExt cx="2790378" cy="3637495"/>
              </a:xfrm>
            </p:grpSpPr>
            <p:grpSp>
              <p:nvGrpSpPr>
                <p:cNvPr id="60" name="グループ化 59">
                  <a:extLst>
                    <a:ext uri="{FF2B5EF4-FFF2-40B4-BE49-F238E27FC236}">
                      <a16:creationId xmlns:a16="http://schemas.microsoft.com/office/drawing/2014/main" id="{916656FB-5AB7-9FE4-D3B5-326CD767BE08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1475366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48" name="正方形/長方形 47">
                    <a:extLst>
                      <a:ext uri="{FF2B5EF4-FFF2-40B4-BE49-F238E27FC236}">
                        <a16:creationId xmlns:a16="http://schemas.microsoft.com/office/drawing/2014/main" id="{98BA22F9-F332-BAB6-824D-F94FCF69E2F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4" name="正方形/長方形 53">
                    <a:extLst>
                      <a:ext uri="{FF2B5EF4-FFF2-40B4-BE49-F238E27FC236}">
                        <a16:creationId xmlns:a16="http://schemas.microsoft.com/office/drawing/2014/main" id="{DCF69FD9-C66F-4996-072C-E32175FE03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9ACC735C-37F8-AD6B-5C91-1CFEBE06491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13A0E867-CA9C-08DA-E648-E56487A5896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6FD4E181-C630-E056-08A2-D85D8FFD795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1E254032-E465-C841-A088-12078FB3F89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0404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++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0404FF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5EE97B99-CD85-4ACF-4C59-14DEF7AAEF7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78" name="右中かっこ 77">
                  <a:extLst>
                    <a:ext uri="{FF2B5EF4-FFF2-40B4-BE49-F238E27FC236}">
                      <a16:creationId xmlns:a16="http://schemas.microsoft.com/office/drawing/2014/main" id="{938E1AEE-D252-BAD7-574D-59E66F1F57D8}"/>
                    </a:ext>
                  </a:extLst>
                </p:cNvPr>
                <p:cNvSpPr/>
                <p:nvPr/>
              </p:nvSpPr>
              <p:spPr>
                <a:xfrm rot="5400000">
                  <a:off x="12571222" y="2723527"/>
                  <a:ext cx="540654" cy="2790378"/>
                </a:xfrm>
                <a:prstGeom prst="rightBrace">
                  <a:avLst/>
                </a:prstGeom>
                <a:ln w="25400" cap="rnd">
                  <a:solidFill>
                    <a:schemeClr val="tx1"/>
                  </a:solidFill>
                  <a:round/>
                  <a:headEnd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0404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0404FF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7" name="テキスト ボックス 86">
                      <a:extLst>
                        <a:ext uri="{FF2B5EF4-FFF2-40B4-BE49-F238E27FC236}">
                          <a16:creationId xmlns:a16="http://schemas.microsoft.com/office/drawing/2014/main" id="{E95F2013-2981-C0AD-1D03-21439E094A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4497308"/>
                      <a:ext cx="1972271" cy="61555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6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32" name="グループ化 231">
                <a:extLst>
                  <a:ext uri="{FF2B5EF4-FFF2-40B4-BE49-F238E27FC236}">
                    <a16:creationId xmlns:a16="http://schemas.microsoft.com/office/drawing/2014/main" id="{AE5C9177-E003-5779-D7E3-A8C44628237D}"/>
                  </a:ext>
                </a:extLst>
              </p:cNvPr>
              <p:cNvGrpSpPr/>
              <p:nvPr/>
            </p:nvGrpSpPr>
            <p:grpSpPr>
              <a:xfrm>
                <a:off x="11664349" y="5977558"/>
                <a:ext cx="2354400" cy="3684639"/>
                <a:chOff x="11664349" y="5977558"/>
                <a:chExt cx="2354400" cy="3684639"/>
              </a:xfrm>
            </p:grpSpPr>
            <p:grpSp>
              <p:nvGrpSpPr>
                <p:cNvPr id="111" name="グループ化 110">
                  <a:extLst>
                    <a:ext uri="{FF2B5EF4-FFF2-40B4-BE49-F238E27FC236}">
                      <a16:creationId xmlns:a16="http://schemas.microsoft.com/office/drawing/2014/main" id="{04DE8876-F599-A2A9-88EE-FF88BBB45537}"/>
                    </a:ext>
                  </a:extLst>
                </p:cNvPr>
                <p:cNvGrpSpPr/>
                <p:nvPr/>
              </p:nvGrpSpPr>
              <p:grpSpPr>
                <a:xfrm rot="5400000">
                  <a:off x="11664349" y="5977558"/>
                  <a:ext cx="2354400" cy="2354400"/>
                  <a:chOff x="11687241" y="1598899"/>
                  <a:chExt cx="2354400" cy="2354400"/>
                </a:xfrm>
              </p:grpSpPr>
              <p:sp>
                <p:nvSpPr>
                  <p:cNvPr id="114" name="正方形/長方形 113">
                    <a:extLst>
                      <a:ext uri="{FF2B5EF4-FFF2-40B4-BE49-F238E27FC236}">
                        <a16:creationId xmlns:a16="http://schemas.microsoft.com/office/drawing/2014/main" id="{35048533-D1E7-F58F-3FEB-00CFDBE4C39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687241" y="1598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5" name="正方形/長方形 114">
                    <a:extLst>
                      <a:ext uri="{FF2B5EF4-FFF2-40B4-BE49-F238E27FC236}">
                        <a16:creationId xmlns:a16="http://schemas.microsoft.com/office/drawing/2014/main" id="{43EA97DB-ED30-6CB7-E543-1E303A5E72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839641" y="17512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6" name="正方形/長方形 115">
                    <a:extLst>
                      <a:ext uri="{FF2B5EF4-FFF2-40B4-BE49-F238E27FC236}">
                        <a16:creationId xmlns:a16="http://schemas.microsoft.com/office/drawing/2014/main" id="{92F982A2-0467-5093-2588-7311492E047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1992041" y="19036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7" name="正方形/長方形 116">
                    <a:extLst>
                      <a:ext uri="{FF2B5EF4-FFF2-40B4-BE49-F238E27FC236}">
                        <a16:creationId xmlns:a16="http://schemas.microsoft.com/office/drawing/2014/main" id="{4F79906A-C000-23E7-AE99-E33F3D560AB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144441" y="20560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8" name="正方形/長方形 117">
                    <a:extLst>
                      <a:ext uri="{FF2B5EF4-FFF2-40B4-BE49-F238E27FC236}">
                        <a16:creationId xmlns:a16="http://schemas.microsoft.com/office/drawing/2014/main" id="{96C189BF-7F8C-57B0-BDC2-B121AB0BFF5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296841" y="22084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19" name="正方形/長方形 118">
                    <a:extLst>
                      <a:ext uri="{FF2B5EF4-FFF2-40B4-BE49-F238E27FC236}">
                        <a16:creationId xmlns:a16="http://schemas.microsoft.com/office/drawing/2014/main" id="{6969C76A-3C75-033F-150F-6E59C080E02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449241" y="2360899"/>
                    <a:ext cx="1440000" cy="144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:endParaRPr lang="ja-JP" altLang="en-US" sz="3400">
                      <a:solidFill>
                        <a:srgbClr val="FF0B0B"/>
                      </a:solidFill>
                      <a:latin typeface="Helvetica" pitchFamily="2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just"/>
                        <a14:m>
                          <m:oMathPara xmlns:m="http://schemas.openxmlformats.org/officeDocument/2006/math">
                            <m:oMath>
                              <m:sSubSup>
                                <m:sSubSupPr>
                                  <m:ctrl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corr</m:t>
                                  </m:r>
                                </m:sub>
                                <m:sup>
                                  <m:r>
                                    <a:rPr lang="en-US" altLang="ja-JP" sz="3400" i="1">
                                      <a:solidFill>
                                        <a:srgbClr val="FF0B0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+−</m:t>
                                  </m:r>
                                </m:sup>
                              </m:sSubSup>
                              <m:r>
                                <a:rPr lang="en-US" altLang="ja-JP" sz="3400" i="1">
                                  <a:solidFill>
                                    <a:srgbClr val="FF0B0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m:oMathPara>
                        </a14:m>
                        <a:endParaRPr kumimoji="1" lang="ja-JP" altLang="en-US" sz="3400">
                          <a:solidFill>
                            <a:srgbClr val="FF0B0B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0" name="正方形/長方形 119">
                        <a:extLst>
                          <a:ext uri="{FF2B5EF4-FFF2-40B4-BE49-F238E27FC236}">
                            <a16:creationId xmlns:a16="http://schemas.microsoft.com/office/drawing/2014/main" id="{C257E6C0-E03D-8CCB-3771-86A654FB946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6200000">
                        <a:off x="12601641" y="2513299"/>
                        <a:ext cx="1440000" cy="1440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Sup>
                              <m:sSubSup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corr</m:t>
                                </m:r>
                              </m:sub>
                              <m:sup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+−</m:t>
                                </m:r>
                              </m:sup>
                            </m:sSub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ja-JP" sz="3400" b="0" i="1" smtClean="0">
                                        <a:solidFill>
                                          <a:srgbClr val="FF0B0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kumimoji="1" lang="ja-JP" altLang="en-US" sz="3400">
                        <a:solidFill>
                          <a:srgbClr val="FF0B0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テキスト ボックス 112">
                      <a:extLst>
                        <a:ext uri="{FF2B5EF4-FFF2-40B4-BE49-F238E27FC236}">
                          <a16:creationId xmlns:a16="http://schemas.microsoft.com/office/drawing/2014/main" id="{A8315022-A434-40EC-5EAB-B1272AE919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30305" y="9046644"/>
                      <a:ext cx="2068450" cy="61555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610" b="-244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D1B9FD74-E6A2-46E6-1F43-DD8CCA9A578C}"/>
                </a:ext>
              </a:extLst>
            </p:cNvPr>
            <p:cNvGrpSpPr/>
            <p:nvPr/>
          </p:nvGrpSpPr>
          <p:grpSpPr>
            <a:xfrm>
              <a:off x="8693430" y="3241663"/>
              <a:ext cx="2666559" cy="4215326"/>
              <a:chOff x="7787627" y="3154448"/>
              <a:chExt cx="2666559" cy="4215326"/>
            </a:xfrm>
          </p:grpSpPr>
          <p:sp>
            <p:nvSpPr>
              <p:cNvPr id="129" name="右矢印 128">
                <a:extLst>
                  <a:ext uri="{FF2B5EF4-FFF2-40B4-BE49-F238E27FC236}">
                    <a16:creationId xmlns:a16="http://schemas.microsoft.com/office/drawing/2014/main" id="{06B4924E-3398-D1A7-3BEE-DF62A3E215B3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30CACE18-9857-0685-5010-E0FF2A589EA0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Time Dependent Correction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grpSp>
          <p:nvGrpSpPr>
            <p:cNvPr id="134" name="グループ化 133">
              <a:extLst>
                <a:ext uri="{FF2B5EF4-FFF2-40B4-BE49-F238E27FC236}">
                  <a16:creationId xmlns:a16="http://schemas.microsoft.com/office/drawing/2014/main" id="{B7D49281-3511-F810-A95D-C01F35923384}"/>
                </a:ext>
              </a:extLst>
            </p:cNvPr>
            <p:cNvGrpSpPr/>
            <p:nvPr/>
          </p:nvGrpSpPr>
          <p:grpSpPr>
            <a:xfrm>
              <a:off x="14041983" y="3220166"/>
              <a:ext cx="2666559" cy="4215326"/>
              <a:chOff x="7787627" y="3154448"/>
              <a:chExt cx="2666559" cy="4215326"/>
            </a:xfrm>
          </p:grpSpPr>
          <p:sp>
            <p:nvSpPr>
              <p:cNvPr id="135" name="右矢印 134">
                <a:extLst>
                  <a:ext uri="{FF2B5EF4-FFF2-40B4-BE49-F238E27FC236}">
                    <a16:creationId xmlns:a16="http://schemas.microsoft.com/office/drawing/2014/main" id="{21896631-11DB-BAD0-B804-DB8E0EBFD28F}"/>
                  </a:ext>
                </a:extLst>
              </p:cNvPr>
              <p:cNvSpPr/>
              <p:nvPr/>
            </p:nvSpPr>
            <p:spPr>
              <a:xfrm>
                <a:off x="8214641" y="3154448"/>
                <a:ext cx="1812530" cy="4215326"/>
              </a:xfrm>
              <a:prstGeom prst="rightArrow">
                <a:avLst>
                  <a:gd name="adj1" fmla="val 55227"/>
                  <a:gd name="adj2" fmla="val 10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6" name="テキスト ボックス 135">
                <a:extLst>
                  <a:ext uri="{FF2B5EF4-FFF2-40B4-BE49-F238E27FC236}">
                    <a16:creationId xmlns:a16="http://schemas.microsoft.com/office/drawing/2014/main" id="{A32F26FF-ECAB-FA0C-37F0-D2E1E649E5D4}"/>
                  </a:ext>
                </a:extLst>
              </p:cNvPr>
              <p:cNvSpPr txBox="1"/>
              <p:nvPr/>
            </p:nvSpPr>
            <p:spPr>
              <a:xfrm>
                <a:off x="7787627" y="4391946"/>
                <a:ext cx="2666559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Map to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Reciprocal</a:t>
                </a:r>
                <a:br>
                  <a:rPr kumimoji="1" lang="en-US" altLang="ja-JP" sz="3400" dirty="0">
                    <a:latin typeface="Helvetica" pitchFamily="2" charset="0"/>
                  </a:rPr>
                </a:br>
                <a:r>
                  <a:rPr kumimoji="1" lang="en-US" altLang="ja-JP" sz="3400" dirty="0">
                    <a:latin typeface="Helvetica" pitchFamily="2" charset="0"/>
                  </a:rPr>
                  <a:t>Space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9C310205-2247-0BDE-5EB1-4A50FED8D940}"/>
                </a:ext>
              </a:extLst>
            </p:cNvPr>
            <p:cNvSpPr/>
            <p:nvPr/>
          </p:nvSpPr>
          <p:spPr>
            <a:xfrm>
              <a:off x="1607791" y="2136751"/>
              <a:ext cx="3472516" cy="7166858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606763C8-7799-6BCF-D027-183DF0026172}"/>
                </a:ext>
              </a:extLst>
            </p:cNvPr>
            <p:cNvSpPr/>
            <p:nvPr/>
          </p:nvSpPr>
          <p:spPr>
            <a:xfrm>
              <a:off x="5197535" y="2109969"/>
              <a:ext cx="3472516" cy="7193636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9597"/>
              </a:schemeClr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5B09612-9D3D-C8BD-5780-B91FC3519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911278" y="2694223"/>
                  <a:ext cx="926857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12766" t="-14865" r="-31915" b="-54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b="0" i="1" dirty="0">
                    <a:solidFill>
                      <a:srgbClr val="0404FF"/>
                    </a:solidFill>
                    <a:latin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3400" b="0" i="1" smtClean="0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srgbClr val="0404FF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0DB47C47-618B-CC4C-FE82-FF957AF581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7093" y="2176610"/>
                  <a:ext cx="1620000" cy="1620000"/>
                </a:xfrm>
                <a:prstGeom prst="rect">
                  <a:avLst/>
                </a:prstGeom>
                <a:blipFill>
                  <a:blip r:embed="rId8"/>
                  <a:stretch>
                    <a:fillRect l="-461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r>
                    <a:rPr lang="en-US" altLang="ja-JP" sz="3200" baseline="-25000" dirty="0">
                      <a:latin typeface="Helvetica" pitchFamily="2" charset="0"/>
                    </a:rPr>
                    <a:t> </a:t>
                  </a:r>
                  <a:r>
                    <a:rPr lang="en-US" altLang="ja-JP" sz="3200" dirty="0" err="1">
                      <a:latin typeface="Helvetica" pitchFamily="2" charset="0"/>
                    </a:rPr>
                    <a:t>ch</a:t>
                  </a:r>
                  <a:endParaRPr lang="ja-JP" altLang="en-US" sz="3200" baseline="-2500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AA03B52-FEC7-E20F-C961-B6321B0362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3665" y="3736701"/>
                  <a:ext cx="926857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4054" t="-12766" r="-14865" b="-34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72D4002A-C537-083E-00F7-EDC4BC2597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645" y="4192374"/>
                  <a:ext cx="1620000" cy="16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A02082C9-AFC4-38B9-48B7-905ECDE7212B}"/>
                </a:ext>
              </a:extLst>
            </p:cNvPr>
            <p:cNvCxnSpPr/>
            <p:nvPr/>
          </p:nvCxnSpPr>
          <p:spPr>
            <a:xfrm>
              <a:off x="1555134" y="5662889"/>
              <a:ext cx="0" cy="2936631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02B8C4B0-CE8E-B35E-C73E-3D08BCCFEF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7622" y="4983553"/>
              <a:ext cx="0" cy="7200000"/>
            </a:xfrm>
            <a:prstGeom prst="straightConnector1">
              <a:avLst/>
            </a:prstGeom>
            <a:ln w="44450">
              <a:solidFill>
                <a:schemeClr val="tx1"/>
              </a:solidFill>
              <a:headEnd type="triangle" w="lg" len="lg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905FCC5-6BAC-244F-47A0-20F1A39CEC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8179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dirty="0">
                    <a:solidFill>
                      <a:srgbClr val="0404FF"/>
                    </a:solidFill>
                    <a:latin typeface="Helvetica" pitchFamily="2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3400" i="1">
                            <a:solidFill>
                              <a:srgbClr val="0404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3400">
                    <a:solidFill>
                      <a:prstClr val="black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975E26E0-734E-33BA-83C8-2F3AB96D44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197" y="2176610"/>
                  <a:ext cx="1620000" cy="1620000"/>
                </a:xfrm>
                <a:prstGeom prst="rect">
                  <a:avLst/>
                </a:prstGeom>
                <a:blipFill>
                  <a:blip r:embed="rId11"/>
                  <a:stretch>
                    <a:fillRect l="-5385" r="-46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obs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</m:oMath>
                    </m:oMathPara>
                  </a14:m>
                  <a:endParaRPr lang="en-US" altLang="ja-JP" sz="3400" i="1" dirty="0">
                    <a:solidFill>
                      <a:srgbClr val="FF0B0B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3400" i="1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ja-JP" altLang="en-US" sz="3400">
                    <a:solidFill>
                      <a:srgbClr val="FF0B0B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58271956-2C73-7744-4764-7A475CC0F6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750" y="4192374"/>
                  <a:ext cx="1620000" cy="16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7C399C6-4B15-F8A7-CAEC-71931EB8B1DD}"/>
                </a:ext>
              </a:extLst>
            </p:cNvPr>
            <p:cNvCxnSpPr>
              <a:cxnSpLocks/>
            </p:cNvCxnSpPr>
            <p:nvPr/>
          </p:nvCxnSpPr>
          <p:spPr>
            <a:xfrm>
              <a:off x="5138921" y="1988620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A8BCFD5-D80C-A9E4-ACFF-4837B24938E4}"/>
                </a:ext>
              </a:extLst>
            </p:cNvPr>
            <p:cNvCxnSpPr>
              <a:cxnSpLocks/>
            </p:cNvCxnSpPr>
            <p:nvPr/>
          </p:nvCxnSpPr>
          <p:spPr>
            <a:xfrm>
              <a:off x="6932523" y="1988622"/>
              <a:ext cx="0" cy="68039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/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9211C02-8498-9BEC-142A-ED768EDD3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4798" y="8547211"/>
                  <a:ext cx="630301" cy="615553"/>
                </a:xfrm>
                <a:prstGeom prst="rect">
                  <a:avLst/>
                </a:prstGeom>
                <a:blipFill>
                  <a:blip r:embed="rId1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/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78187D70-2990-AA93-81F5-7ECCC0FAB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4606" y="8547210"/>
                  <a:ext cx="640367" cy="615553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/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79A4901-CD77-0A38-FA16-9B2C4E0A3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9158" y="8547212"/>
                  <a:ext cx="640367" cy="615553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/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86B3DB7-CB32-6BDB-8848-6975993A8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3711" y="8547211"/>
                  <a:ext cx="640367" cy="615553"/>
                </a:xfrm>
                <a:prstGeom prst="rect">
                  <a:avLst/>
                </a:prstGeom>
                <a:blipFill>
                  <a:blip r:embed="rId1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231A3F7-515B-0DAD-40CE-865E6A14F2FF}"/>
                </a:ext>
              </a:extLst>
            </p:cNvPr>
            <p:cNvSpPr txBox="1"/>
            <p:nvPr/>
          </p:nvSpPr>
          <p:spPr>
            <a:xfrm>
              <a:off x="2209848" y="1023267"/>
              <a:ext cx="231666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baseline="30000" dirty="0"/>
                <a:t>3</a:t>
              </a:r>
              <a:r>
                <a:rPr kumimoji="1" lang="en-US" altLang="ja-JP" sz="3200" dirty="0"/>
                <a:t>He spin flip</a:t>
              </a:r>
              <a:br>
                <a:rPr kumimoji="1" lang="en-US" altLang="ja-JP" sz="3200" dirty="0"/>
              </a:br>
              <a:r>
                <a:rPr kumimoji="1" lang="en-US" altLang="ja-JP" sz="3200" dirty="0"/>
                <a:t>(AFP-NMR)</a:t>
              </a:r>
              <a:endParaRPr kumimoji="1" lang="ja-JP" altLang="en-US" sz="3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/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C349F213-1C23-A6E4-4291-8623451AF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891" y="9142737"/>
                  <a:ext cx="818301" cy="646331"/>
                </a:xfrm>
                <a:prstGeom prst="rect">
                  <a:avLst/>
                </a:prstGeom>
                <a:blipFill>
                  <a:blip r:embed="rId17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/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600" i="1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698536C4-263F-B387-9802-EB9D4BCE0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3722" y="9142737"/>
                  <a:ext cx="829008" cy="646331"/>
                </a:xfrm>
                <a:prstGeom prst="rect">
                  <a:avLst/>
                </a:prstGeom>
                <a:blipFill>
                  <a:blip r:embed="rId18"/>
                  <a:stretch>
                    <a:fillRect b="-39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/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FF93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FF930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A0CF6492-5637-E9EB-6177-28081651A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0611" y="5865742"/>
                  <a:ext cx="1292149" cy="646331"/>
                </a:xfrm>
                <a:prstGeom prst="rect">
                  <a:avLst/>
                </a:prstGeom>
                <a:blipFill>
                  <a:blip r:embed="rId19"/>
                  <a:stretch>
                    <a:fillRect r="-5825" b="-211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/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6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sz="3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ja-JP" altLang="en-US" sz="3600" i="1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80226698-AE6F-856A-C387-C52BD11B3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304" y="7569930"/>
                  <a:ext cx="1326196" cy="646331"/>
                </a:xfrm>
                <a:prstGeom prst="rect">
                  <a:avLst/>
                </a:prstGeom>
                <a:blipFill>
                  <a:blip r:embed="rId20"/>
                  <a:stretch>
                    <a:fillRect r="-3774"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B8CD7304-4702-7E19-FB75-C72BC0C049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4095" y="5967219"/>
              <a:ext cx="70920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 138">
              <a:extLst>
                <a:ext uri="{FF2B5EF4-FFF2-40B4-BE49-F238E27FC236}">
                  <a16:creationId xmlns:a16="http://schemas.microsoft.com/office/drawing/2014/main" id="{896FC74E-0640-876C-ED80-E72015B78F5C}"/>
                </a:ext>
              </a:extLst>
            </p:cNvPr>
            <p:cNvSpPr/>
            <p:nvPr/>
          </p:nvSpPr>
          <p:spPr>
            <a:xfrm>
              <a:off x="1550911" y="5967219"/>
              <a:ext cx="7096664" cy="120770"/>
            </a:xfrm>
            <a:custGeom>
              <a:avLst/>
              <a:gdLst>
                <a:gd name="csX0" fmla="*/ 0 w 7096664"/>
                <a:gd name="csY0" fmla="*/ 0 h 120770"/>
                <a:gd name="csX1" fmla="*/ 753374 w 7096664"/>
                <a:gd name="csY1" fmla="*/ 5751 h 120770"/>
                <a:gd name="csX2" fmla="*/ 1454989 w 7096664"/>
                <a:gd name="csY2" fmla="*/ 5751 h 120770"/>
                <a:gd name="csX3" fmla="*/ 2300377 w 7096664"/>
                <a:gd name="csY3" fmla="*/ 17253 h 120770"/>
                <a:gd name="csX4" fmla="*/ 2955985 w 7096664"/>
                <a:gd name="csY4" fmla="*/ 28755 h 120770"/>
                <a:gd name="csX5" fmla="*/ 3623094 w 7096664"/>
                <a:gd name="csY5" fmla="*/ 34506 h 120770"/>
                <a:gd name="csX6" fmla="*/ 4278702 w 7096664"/>
                <a:gd name="csY6" fmla="*/ 51759 h 120770"/>
                <a:gd name="csX7" fmla="*/ 4940060 w 7096664"/>
                <a:gd name="csY7" fmla="*/ 63261 h 120770"/>
                <a:gd name="csX8" fmla="*/ 5681932 w 7096664"/>
                <a:gd name="csY8" fmla="*/ 80513 h 120770"/>
                <a:gd name="csX9" fmla="*/ 6343291 w 7096664"/>
                <a:gd name="csY9" fmla="*/ 103517 h 120770"/>
                <a:gd name="csX10" fmla="*/ 7096664 w 7096664"/>
                <a:gd name="csY10" fmla="*/ 120770 h 1207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096664" h="120770">
                  <a:moveTo>
                    <a:pt x="0" y="0"/>
                  </a:moveTo>
                  <a:lnTo>
                    <a:pt x="753374" y="5751"/>
                  </a:lnTo>
                  <a:lnTo>
                    <a:pt x="1454989" y="5751"/>
                  </a:lnTo>
                  <a:lnTo>
                    <a:pt x="2300377" y="17253"/>
                  </a:lnTo>
                  <a:lnTo>
                    <a:pt x="2955985" y="28755"/>
                  </a:lnTo>
                  <a:lnTo>
                    <a:pt x="3623094" y="34506"/>
                  </a:lnTo>
                  <a:lnTo>
                    <a:pt x="4278702" y="51759"/>
                  </a:lnTo>
                  <a:lnTo>
                    <a:pt x="4940060" y="63261"/>
                  </a:lnTo>
                  <a:lnTo>
                    <a:pt x="5681932" y="80513"/>
                  </a:lnTo>
                  <a:lnTo>
                    <a:pt x="6343291" y="103517"/>
                  </a:lnTo>
                  <a:lnTo>
                    <a:pt x="7096664" y="120770"/>
                  </a:lnTo>
                </a:path>
              </a:pathLst>
            </a:custGeom>
            <a:noFill/>
            <a:ln w="31750">
              <a:solidFill>
                <a:srgbClr val="FF9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フリーフォーム 141">
              <a:extLst>
                <a:ext uri="{FF2B5EF4-FFF2-40B4-BE49-F238E27FC236}">
                  <a16:creationId xmlns:a16="http://schemas.microsoft.com/office/drawing/2014/main" id="{2645F80E-3A12-7E11-2696-611B8FED84EF}"/>
                </a:ext>
              </a:extLst>
            </p:cNvPr>
            <p:cNvSpPr/>
            <p:nvPr/>
          </p:nvSpPr>
          <p:spPr>
            <a:xfrm>
              <a:off x="1555134" y="7510204"/>
              <a:ext cx="7076901" cy="371302"/>
            </a:xfrm>
            <a:custGeom>
              <a:avLst/>
              <a:gdLst>
                <a:gd name="csX0" fmla="*/ 0 w 7076901"/>
                <a:gd name="csY0" fmla="*/ 0 h 371302"/>
                <a:gd name="csX1" fmla="*/ 415636 w 7076901"/>
                <a:gd name="csY1" fmla="*/ 55418 h 371302"/>
                <a:gd name="csX2" fmla="*/ 764771 w 7076901"/>
                <a:gd name="csY2" fmla="*/ 88669 h 371302"/>
                <a:gd name="csX3" fmla="*/ 1230283 w 7076901"/>
                <a:gd name="csY3" fmla="*/ 127462 h 371302"/>
                <a:gd name="csX4" fmla="*/ 1745672 w 7076901"/>
                <a:gd name="csY4" fmla="*/ 166254 h 371302"/>
                <a:gd name="csX5" fmla="*/ 2183476 w 7076901"/>
                <a:gd name="csY5" fmla="*/ 193963 h 371302"/>
                <a:gd name="csX6" fmla="*/ 2637905 w 7076901"/>
                <a:gd name="csY6" fmla="*/ 221673 h 371302"/>
                <a:gd name="csX7" fmla="*/ 3120043 w 7076901"/>
                <a:gd name="csY7" fmla="*/ 249382 h 371302"/>
                <a:gd name="csX8" fmla="*/ 3574472 w 7076901"/>
                <a:gd name="csY8" fmla="*/ 271549 h 371302"/>
                <a:gd name="csX9" fmla="*/ 4067694 w 7076901"/>
                <a:gd name="csY9" fmla="*/ 293716 h 371302"/>
                <a:gd name="csX10" fmla="*/ 4627418 w 7076901"/>
                <a:gd name="csY10" fmla="*/ 304800 h 371302"/>
                <a:gd name="csX11" fmla="*/ 5115098 w 7076901"/>
                <a:gd name="csY11" fmla="*/ 326967 h 371302"/>
                <a:gd name="csX12" fmla="*/ 5757949 w 7076901"/>
                <a:gd name="csY12" fmla="*/ 338051 h 371302"/>
                <a:gd name="csX13" fmla="*/ 6256712 w 7076901"/>
                <a:gd name="csY13" fmla="*/ 349134 h 371302"/>
                <a:gd name="csX14" fmla="*/ 6683432 w 7076901"/>
                <a:gd name="csY14" fmla="*/ 360218 h 371302"/>
                <a:gd name="csX15" fmla="*/ 7076901 w 7076901"/>
                <a:gd name="csY15" fmla="*/ 371302 h 371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076901" h="371302">
                  <a:moveTo>
                    <a:pt x="0" y="0"/>
                  </a:moveTo>
                  <a:lnTo>
                    <a:pt x="415636" y="55418"/>
                  </a:lnTo>
                  <a:cubicBezTo>
                    <a:pt x="543098" y="70196"/>
                    <a:pt x="764771" y="88669"/>
                    <a:pt x="764771" y="88669"/>
                  </a:cubicBezTo>
                  <a:lnTo>
                    <a:pt x="1230283" y="127462"/>
                  </a:lnTo>
                  <a:lnTo>
                    <a:pt x="1745672" y="166254"/>
                  </a:lnTo>
                  <a:lnTo>
                    <a:pt x="2183476" y="193963"/>
                  </a:lnTo>
                  <a:lnTo>
                    <a:pt x="2637905" y="221673"/>
                  </a:lnTo>
                  <a:lnTo>
                    <a:pt x="3120043" y="249382"/>
                  </a:lnTo>
                  <a:lnTo>
                    <a:pt x="3574472" y="271549"/>
                  </a:lnTo>
                  <a:lnTo>
                    <a:pt x="4067694" y="293716"/>
                  </a:lnTo>
                  <a:cubicBezTo>
                    <a:pt x="4243185" y="299258"/>
                    <a:pt x="4452851" y="299258"/>
                    <a:pt x="4627418" y="304800"/>
                  </a:cubicBezTo>
                  <a:cubicBezTo>
                    <a:pt x="4801985" y="310342"/>
                    <a:pt x="4926676" y="321425"/>
                    <a:pt x="5115098" y="326967"/>
                  </a:cubicBezTo>
                  <a:cubicBezTo>
                    <a:pt x="5303520" y="332509"/>
                    <a:pt x="5757949" y="338051"/>
                    <a:pt x="5757949" y="338051"/>
                  </a:cubicBezTo>
                  <a:lnTo>
                    <a:pt x="6256712" y="349134"/>
                  </a:lnTo>
                  <a:lnTo>
                    <a:pt x="6683432" y="360218"/>
                  </a:lnTo>
                  <a:lnTo>
                    <a:pt x="7076901" y="371302"/>
                  </a:lnTo>
                </a:path>
              </a:pathLst>
            </a:custGeom>
            <a:noFill/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/>
                <p:nvPr/>
              </p:nvSpPr>
              <p:spPr>
                <a:xfrm>
                  <a:off x="16778371" y="4838684"/>
                  <a:ext cx="345613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corr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0404FF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0404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0404FF"/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テキスト ボックス 210">
                  <a:extLst>
                    <a:ext uri="{FF2B5EF4-FFF2-40B4-BE49-F238E27FC236}">
                      <a16:creationId xmlns:a16="http://schemas.microsoft.com/office/drawing/2014/main" id="{CC848C76-918C-245F-FE45-85DED4CB0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1" y="4838684"/>
                  <a:ext cx="3456139" cy="694293"/>
                </a:xfrm>
                <a:prstGeom prst="rect">
                  <a:avLst/>
                </a:prstGeom>
                <a:blipFill>
                  <a:blip r:embed="rId21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/>
                <p:nvPr/>
              </p:nvSpPr>
              <p:spPr>
                <a:xfrm>
                  <a:off x="16778372" y="8920190"/>
                  <a:ext cx="3456139" cy="69429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corr</m:t>
                            </m:r>
                          </m:sub>
                          <m:sup>
                            <m:r>
                              <a:rPr lang="en-US" altLang="ja-JP" sz="3400" i="1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+−</m:t>
                            </m:r>
                          </m:sup>
                        </m:sSubSup>
                        <m:d>
                          <m:dPr>
                            <m:ctrlP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kumimoji="1" lang="en-US" altLang="ja-JP" sz="3400" b="0" i="1" smtClean="0">
                                <a:solidFill>
                                  <a:srgbClr val="FF0B0B"/>
                                </a:solidFill>
                                <a:latin typeface="Cambria Math" panose="02040503050406030204" pitchFamily="18" charset="0"/>
                              </a:rPr>
                              <m:t>, </m:t>
                            </m:r>
                            <m:sSub>
                              <m:sSubPr>
                                <m:ctrlP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kumimoji="1" lang="en-US" altLang="ja-JP" sz="3400" b="0" i="1" smtClean="0">
                                    <a:solidFill>
                                      <a:srgbClr val="FF0B0B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1" lang="ja-JP" altLang="en-US" sz="3400">
                    <a:solidFill>
                      <a:srgbClr val="FF0B0B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テキスト ボックス 211">
                  <a:extLst>
                    <a:ext uri="{FF2B5EF4-FFF2-40B4-BE49-F238E27FC236}">
                      <a16:creationId xmlns:a16="http://schemas.microsoft.com/office/drawing/2014/main" id="{048761FF-DC33-2199-4ABE-12B455B00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8372" y="8920190"/>
                  <a:ext cx="3456139" cy="694293"/>
                </a:xfrm>
                <a:prstGeom prst="rect">
                  <a:avLst/>
                </a:prstGeom>
                <a:blipFill>
                  <a:blip r:embed="rId22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4" name="グループ化 243">
              <a:extLst>
                <a:ext uri="{FF2B5EF4-FFF2-40B4-BE49-F238E27FC236}">
                  <a16:creationId xmlns:a16="http://schemas.microsoft.com/office/drawing/2014/main" id="{0016196F-0E12-AD82-E576-F31E6D1A50C0}"/>
                </a:ext>
              </a:extLst>
            </p:cNvPr>
            <p:cNvGrpSpPr/>
            <p:nvPr/>
          </p:nvGrpSpPr>
          <p:grpSpPr>
            <a:xfrm>
              <a:off x="185730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38" name="直線コネクタ 237">
                <a:extLst>
                  <a:ext uri="{FF2B5EF4-FFF2-40B4-BE49-F238E27FC236}">
                    <a16:creationId xmlns:a16="http://schemas.microsoft.com/office/drawing/2014/main" id="{2E88D90B-F61F-3CAE-9594-43F52AE99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線コネクタ 238">
                <a:extLst>
                  <a:ext uri="{FF2B5EF4-FFF2-40B4-BE49-F238E27FC236}">
                    <a16:creationId xmlns:a16="http://schemas.microsoft.com/office/drawing/2014/main" id="{6D464564-FFF2-BCB3-3563-7A41FCDC3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線コネクタ 239">
                <a:extLst>
                  <a:ext uri="{FF2B5EF4-FFF2-40B4-BE49-F238E27FC236}">
                    <a16:creationId xmlns:a16="http://schemas.microsoft.com/office/drawing/2014/main" id="{B2CA10A0-652F-56D3-36C1-6CF6BBC28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線コネクタ 240">
                <a:extLst>
                  <a:ext uri="{FF2B5EF4-FFF2-40B4-BE49-F238E27FC236}">
                    <a16:creationId xmlns:a16="http://schemas.microsoft.com/office/drawing/2014/main" id="{0D5A87D5-87F8-10BB-A920-DA66475BF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7313EDC7-8952-E85D-E53C-1FF74772B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304BBBFE-28AE-2283-FD1A-511F555039D9}"/>
                </a:ext>
              </a:extLst>
            </p:cNvPr>
            <p:cNvGrpSpPr/>
            <p:nvPr/>
          </p:nvGrpSpPr>
          <p:grpSpPr>
            <a:xfrm>
              <a:off x="3649202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46" name="直線コネクタ 245">
                <a:extLst>
                  <a:ext uri="{FF2B5EF4-FFF2-40B4-BE49-F238E27FC236}">
                    <a16:creationId xmlns:a16="http://schemas.microsoft.com/office/drawing/2014/main" id="{997388F4-C980-5E8A-3960-B87B19622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線コネクタ 246">
                <a:extLst>
                  <a:ext uri="{FF2B5EF4-FFF2-40B4-BE49-F238E27FC236}">
                    <a16:creationId xmlns:a16="http://schemas.microsoft.com/office/drawing/2014/main" id="{6036C9D7-E18B-B187-4FBD-63DB7978E3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線コネクタ 247">
                <a:extLst>
                  <a:ext uri="{FF2B5EF4-FFF2-40B4-BE49-F238E27FC236}">
                    <a16:creationId xmlns:a16="http://schemas.microsoft.com/office/drawing/2014/main" id="{539D515D-8C1E-DCD7-2C5D-F70F2C559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線コネクタ 248">
                <a:extLst>
                  <a:ext uri="{FF2B5EF4-FFF2-40B4-BE49-F238E27FC236}">
                    <a16:creationId xmlns:a16="http://schemas.microsoft.com/office/drawing/2014/main" id="{C41ED3DE-2EC8-7F5F-959C-2275DDA4E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線コネクタ 249">
                <a:extLst>
                  <a:ext uri="{FF2B5EF4-FFF2-40B4-BE49-F238E27FC236}">
                    <a16:creationId xmlns:a16="http://schemas.microsoft.com/office/drawing/2014/main" id="{9799060C-58DB-A3E6-23EE-8DCE77025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グループ化 250">
              <a:extLst>
                <a:ext uri="{FF2B5EF4-FFF2-40B4-BE49-F238E27FC236}">
                  <a16:creationId xmlns:a16="http://schemas.microsoft.com/office/drawing/2014/main" id="{006DD98A-4C81-5BF6-F5DF-5365651F7E39}"/>
                </a:ext>
              </a:extLst>
            </p:cNvPr>
            <p:cNvGrpSpPr/>
            <p:nvPr/>
          </p:nvGrpSpPr>
          <p:grpSpPr>
            <a:xfrm>
              <a:off x="5431374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2" name="直線コネクタ 251">
                <a:extLst>
                  <a:ext uri="{FF2B5EF4-FFF2-40B4-BE49-F238E27FC236}">
                    <a16:creationId xmlns:a16="http://schemas.microsoft.com/office/drawing/2014/main" id="{2B95B70C-BCA0-E1B2-D67D-F858A7746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線コネクタ 252">
                <a:extLst>
                  <a:ext uri="{FF2B5EF4-FFF2-40B4-BE49-F238E27FC236}">
                    <a16:creationId xmlns:a16="http://schemas.microsoft.com/office/drawing/2014/main" id="{0278963F-6E48-8D0A-F2F4-0A68DDB5B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線コネクタ 253">
                <a:extLst>
                  <a:ext uri="{FF2B5EF4-FFF2-40B4-BE49-F238E27FC236}">
                    <a16:creationId xmlns:a16="http://schemas.microsoft.com/office/drawing/2014/main" id="{22D215EE-215D-8C46-D403-8558D37D39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線コネクタ 254">
                <a:extLst>
                  <a:ext uri="{FF2B5EF4-FFF2-40B4-BE49-F238E27FC236}">
                    <a16:creationId xmlns:a16="http://schemas.microsoft.com/office/drawing/2014/main" id="{F5407C22-5B1D-3DA1-203C-6BF9FCF35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線コネクタ 255">
                <a:extLst>
                  <a:ext uri="{FF2B5EF4-FFF2-40B4-BE49-F238E27FC236}">
                    <a16:creationId xmlns:a16="http://schemas.microsoft.com/office/drawing/2014/main" id="{77FEC86D-40E6-52EC-85F0-FAE4F1EE6F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7" name="グループ化 256">
              <a:extLst>
                <a:ext uri="{FF2B5EF4-FFF2-40B4-BE49-F238E27FC236}">
                  <a16:creationId xmlns:a16="http://schemas.microsoft.com/office/drawing/2014/main" id="{7161CDD6-B220-1C20-D22B-1D1E687BA1A2}"/>
                </a:ext>
              </a:extLst>
            </p:cNvPr>
            <p:cNvGrpSpPr/>
            <p:nvPr/>
          </p:nvGrpSpPr>
          <p:grpSpPr>
            <a:xfrm>
              <a:off x="7206878" y="8218208"/>
              <a:ext cx="1208696" cy="468000"/>
              <a:chOff x="1857308" y="8216261"/>
              <a:chExt cx="1208696" cy="468000"/>
            </a:xfrm>
          </p:grpSpPr>
          <p:cxnSp>
            <p:nvCxnSpPr>
              <p:cNvPr id="258" name="直線コネクタ 257">
                <a:extLst>
                  <a:ext uri="{FF2B5EF4-FFF2-40B4-BE49-F238E27FC236}">
                    <a16:creationId xmlns:a16="http://schemas.microsoft.com/office/drawing/2014/main" id="{0B2D5846-CEBC-7290-F34C-5CBBB8520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08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線コネクタ 258">
                <a:extLst>
                  <a:ext uri="{FF2B5EF4-FFF2-40B4-BE49-F238E27FC236}">
                    <a16:creationId xmlns:a16="http://schemas.microsoft.com/office/drawing/2014/main" id="{A0C90B2A-DDD7-BF01-4993-33494A1C2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6004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線コネクタ 259">
                <a:extLst>
                  <a:ext uri="{FF2B5EF4-FFF2-40B4-BE49-F238E27FC236}">
                    <a16:creationId xmlns:a16="http://schemas.microsoft.com/office/drawing/2014/main" id="{78296A25-C4F9-C8F6-C3BA-D6D1CDDF0D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9482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線コネクタ 260">
                <a:extLst>
                  <a:ext uri="{FF2B5EF4-FFF2-40B4-BE49-F238E27FC236}">
                    <a16:creationId xmlns:a16="http://schemas.microsoft.com/office/drawing/2014/main" id="{C908F5C8-6829-B407-3910-C70927581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30" y="8348234"/>
                <a:ext cx="0" cy="2396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線コネクタ 261">
                <a:extLst>
                  <a:ext uri="{FF2B5EF4-FFF2-40B4-BE49-F238E27FC236}">
                    <a16:creationId xmlns:a16="http://schemas.microsoft.com/office/drawing/2014/main" id="{D7B5FC23-99FD-B04E-F297-AEB41791D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1656" y="8216261"/>
                <a:ext cx="0" cy="468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テキスト ボックス 262">
              <a:extLst>
                <a:ext uri="{FF2B5EF4-FFF2-40B4-BE49-F238E27FC236}">
                  <a16:creationId xmlns:a16="http://schemas.microsoft.com/office/drawing/2014/main" id="{D2A52627-1ADF-BC73-7487-5B1637B85685}"/>
                </a:ext>
              </a:extLst>
            </p:cNvPr>
            <p:cNvSpPr txBox="1"/>
            <p:nvPr/>
          </p:nvSpPr>
          <p:spPr>
            <a:xfrm>
              <a:off x="8238090" y="8577229"/>
              <a:ext cx="1098378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400" b="0" dirty="0"/>
                <a:t>Time</a:t>
              </a:r>
              <a:endParaRPr kumimoji="1" lang="ja-JP" altLang="en-US" sz="3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/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kumimoji="1" lang="en-US" altLang="ja-JP" sz="3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ja-JP" sz="3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400"/>
                </a:p>
              </p:txBody>
            </p:sp>
          </mc:Choice>
          <mc:Fallback xmlns="">
            <p:sp>
              <p:nvSpPr>
                <p:cNvPr id="264" name="テキスト ボックス 263">
                  <a:extLst>
                    <a:ext uri="{FF2B5EF4-FFF2-40B4-BE49-F238E27FC236}">
                      <a16:creationId xmlns:a16="http://schemas.microsoft.com/office/drawing/2014/main" id="{5B5782EF-E3A4-BEE2-8264-DA5DE8732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42928" y="6139739"/>
                  <a:ext cx="1270284" cy="615553"/>
                </a:xfrm>
                <a:prstGeom prst="rect">
                  <a:avLst/>
                </a:prstGeom>
                <a:blipFill>
                  <a:blip r:embed="rId23"/>
                  <a:stretch>
                    <a:fillRect b="-99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9" name="テキスト ボックス 268">
              <a:extLst>
                <a:ext uri="{FF2B5EF4-FFF2-40B4-BE49-F238E27FC236}">
                  <a16:creationId xmlns:a16="http://schemas.microsoft.com/office/drawing/2014/main" id="{C96BC9DA-43A9-5AD5-F402-5BD5457DB3E8}"/>
                </a:ext>
              </a:extLst>
            </p:cNvPr>
            <p:cNvSpPr txBox="1"/>
            <p:nvPr/>
          </p:nvSpPr>
          <p:spPr>
            <a:xfrm>
              <a:off x="4775565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1B521155-5C3C-C759-7AB9-D4A7786A792E}"/>
                </a:ext>
              </a:extLst>
            </p:cNvPr>
            <p:cNvGrpSpPr/>
            <p:nvPr/>
          </p:nvGrpSpPr>
          <p:grpSpPr>
            <a:xfrm>
              <a:off x="11106634" y="1422054"/>
              <a:ext cx="1603085" cy="1847099"/>
              <a:chOff x="10979128" y="1373067"/>
              <a:chExt cx="1603085" cy="1847099"/>
            </a:xfrm>
          </p:grpSpPr>
          <p:cxnSp>
            <p:nvCxnSpPr>
              <p:cNvPr id="267" name="直線コネクタ 266">
                <a:extLst>
                  <a:ext uri="{FF2B5EF4-FFF2-40B4-BE49-F238E27FC236}">
                    <a16:creationId xmlns:a16="http://schemas.microsoft.com/office/drawing/2014/main" id="{DA518F55-EDBA-6CAC-84C5-37246774A8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94013" y="1942627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78D4C691-AD42-8668-356D-6A6549F94E09}"/>
                      </a:ext>
                    </a:extLst>
                  </p:cNvPr>
                  <p:cNvSpPr txBox="1"/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1" name="テキスト ボックス 270">
                    <a:extLst>
                      <a:ext uri="{FF2B5EF4-FFF2-40B4-BE49-F238E27FC236}">
                        <a16:creationId xmlns:a16="http://schemas.microsoft.com/office/drawing/2014/main" id="{78D4C691-AD42-8668-356D-6A6549F94E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79128" y="2604613"/>
                    <a:ext cx="514885" cy="61555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7849D25D-7839-67A3-4297-BF848E19D911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2" name="テキスト ボックス 271">
                    <a:extLst>
                      <a:ext uri="{FF2B5EF4-FFF2-40B4-BE49-F238E27FC236}">
                        <a16:creationId xmlns:a16="http://schemas.microsoft.com/office/drawing/2014/main" id="{7849D25D-7839-67A3-4297-BF848E19D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1876" y="1373067"/>
                    <a:ext cx="530337" cy="61555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6" name="グループ化 275">
              <a:extLst>
                <a:ext uri="{FF2B5EF4-FFF2-40B4-BE49-F238E27FC236}">
                  <a16:creationId xmlns:a16="http://schemas.microsoft.com/office/drawing/2014/main" id="{799A5A24-1454-6545-9FF1-F51424E1E164}"/>
                </a:ext>
              </a:extLst>
            </p:cNvPr>
            <p:cNvGrpSpPr/>
            <p:nvPr/>
          </p:nvGrpSpPr>
          <p:grpSpPr>
            <a:xfrm>
              <a:off x="11106634" y="5445729"/>
              <a:ext cx="1603085" cy="1847099"/>
              <a:chOff x="11070849" y="5445729"/>
              <a:chExt cx="1603085" cy="1847099"/>
            </a:xfrm>
          </p:grpSpPr>
          <p:cxnSp>
            <p:nvCxnSpPr>
              <p:cNvPr id="273" name="直線コネクタ 272">
                <a:extLst>
                  <a:ext uri="{FF2B5EF4-FFF2-40B4-BE49-F238E27FC236}">
                    <a16:creationId xmlns:a16="http://schemas.microsoft.com/office/drawing/2014/main" id="{1A3B4385-78A2-3AEB-4675-450BAB435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85734" y="6015289"/>
                <a:ext cx="591458" cy="656209"/>
              </a:xfrm>
              <a:prstGeom prst="line">
                <a:avLst/>
              </a:prstGeom>
              <a:ln w="73025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1C774485-F8FE-3312-D91C-1A53E62E5D2F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ja-JP" altLang="en-US" sz="3400"/>
                  </a:p>
                </p:txBody>
              </p:sp>
            </mc:Choice>
            <mc:Fallback xmlns="">
              <p:sp>
                <p:nvSpPr>
                  <p:cNvPr id="274" name="テキスト ボックス 273">
                    <a:extLst>
                      <a:ext uri="{FF2B5EF4-FFF2-40B4-BE49-F238E27FC236}">
                        <a16:creationId xmlns:a16="http://schemas.microsoft.com/office/drawing/2014/main" id="{1C774485-F8FE-3312-D91C-1A53E62E5D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0849" y="6677275"/>
                    <a:ext cx="514885" cy="615553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2439" r="-243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41D06C22-6E11-1B5A-E22D-DB4B01830166}"/>
                      </a:ext>
                    </a:extLst>
                  </p:cNvPr>
                  <p:cNvSpPr txBox="1"/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sz="3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kumimoji="1" lang="ja-JP" altLang="en-US" sz="3400" i="1"/>
                  </a:p>
                </p:txBody>
              </p:sp>
            </mc:Choice>
            <mc:Fallback xmlns="">
              <p:sp>
                <p:nvSpPr>
                  <p:cNvPr id="275" name="テキスト ボックス 274">
                    <a:extLst>
                      <a:ext uri="{FF2B5EF4-FFF2-40B4-BE49-F238E27FC236}">
                        <a16:creationId xmlns:a16="http://schemas.microsoft.com/office/drawing/2014/main" id="{41D06C22-6E11-1B5A-E22D-DB4B018301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43597" y="5445729"/>
                    <a:ext cx="530337" cy="61555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8" name="テキスト ボックス 277">
              <a:extLst>
                <a:ext uri="{FF2B5EF4-FFF2-40B4-BE49-F238E27FC236}">
                  <a16:creationId xmlns:a16="http://schemas.microsoft.com/office/drawing/2014/main" id="{40A16CEB-3DE0-832C-35AD-67DD5A9EABDE}"/>
                </a:ext>
              </a:extLst>
            </p:cNvPr>
            <p:cNvSpPr txBox="1"/>
            <p:nvPr/>
          </p:nvSpPr>
          <p:spPr>
            <a:xfrm>
              <a:off x="6560466" y="1454154"/>
              <a:ext cx="744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200" dirty="0"/>
                <a:t>flip</a:t>
              </a:r>
              <a:endParaRPr kumimoji="1" lang="ja-JP" altLang="en-US" sz="3200"/>
            </a:p>
          </p:txBody>
        </p:sp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6276BE5A-CB32-5066-9387-735AA8E44AD1}"/>
                </a:ext>
              </a:extLst>
            </p:cNvPr>
            <p:cNvGrpSpPr/>
            <p:nvPr/>
          </p:nvGrpSpPr>
          <p:grpSpPr>
            <a:xfrm>
              <a:off x="16410118" y="5651304"/>
              <a:ext cx="4000438" cy="3310801"/>
              <a:chOff x="16633138" y="5651304"/>
              <a:chExt cx="4000438" cy="3310801"/>
            </a:xfrm>
          </p:grpSpPr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9175DAED-DD01-0229-DD5C-19F8E19A2011}"/>
                  </a:ext>
                </a:extLst>
              </p:cNvPr>
              <p:cNvCxnSpPr/>
              <p:nvPr/>
            </p:nvCxnSpPr>
            <p:spPr>
              <a:xfrm>
                <a:off x="17235993" y="7225831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E64EE9AB-25EB-D47C-D413-8C2166075D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6831734" y="7170494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130652A3-09F0-CBF2-C919-65D1C0908D91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633138" y="739345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/>
                  <p:nvPr/>
                </p:nvSpPr>
                <p:spPr>
                  <a:xfrm>
                    <a:off x="17154554" y="8119333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EF391A89-1FC5-2395-2C9A-4A22F9BF44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54554" y="8119333"/>
                    <a:ext cx="708682" cy="56794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8621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7199" y="6844631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テキスト ボックス 19">
                    <a:extLst>
                      <a:ext uri="{FF2B5EF4-FFF2-40B4-BE49-F238E27FC236}">
                        <a16:creationId xmlns:a16="http://schemas.microsoft.com/office/drawing/2014/main" id="{1B560AED-0407-D5DD-9625-E770895299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7199" y="6844631"/>
                    <a:ext cx="696377" cy="61231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10714" b="-1632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5655" y="5651304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テキスト ボックス 20">
                    <a:extLst>
                      <a:ext uri="{FF2B5EF4-FFF2-40B4-BE49-F238E27FC236}">
                        <a16:creationId xmlns:a16="http://schemas.microsoft.com/office/drawing/2014/main" id="{5FAC95F4-B3D1-8EBD-F5AC-673B90E4DE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5655" y="5651304"/>
                    <a:ext cx="678629" cy="56794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0909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8AE79522-90B1-5AFD-D490-144B20FF79F9}"/>
                  </a:ext>
                </a:extLst>
              </p:cNvPr>
              <p:cNvGrpSpPr/>
              <p:nvPr/>
            </p:nvGrpSpPr>
            <p:grpSpPr>
              <a:xfrm>
                <a:off x="18063330" y="6778888"/>
                <a:ext cx="1635271" cy="2183217"/>
                <a:chOff x="18084541" y="2604581"/>
                <a:chExt cx="1635271" cy="2183217"/>
              </a:xfrm>
            </p:grpSpPr>
            <p:sp>
              <p:nvSpPr>
                <p:cNvPr id="28" name="円/楕円 27">
                  <a:extLst>
                    <a:ext uri="{FF2B5EF4-FFF2-40B4-BE49-F238E27FC236}">
                      <a16:creationId xmlns:a16="http://schemas.microsoft.com/office/drawing/2014/main" id="{3E4372E9-4F96-80A7-A504-754DA07EA6C7}"/>
                    </a:ext>
                  </a:extLst>
                </p:cNvPr>
                <p:cNvSpPr/>
                <p:nvPr/>
              </p:nvSpPr>
              <p:spPr>
                <a:xfrm rot="10800000">
                  <a:off x="18936799" y="3364804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9" name="円/楕円 28">
                  <a:extLst>
                    <a:ext uri="{FF2B5EF4-FFF2-40B4-BE49-F238E27FC236}">
                      <a16:creationId xmlns:a16="http://schemas.microsoft.com/office/drawing/2014/main" id="{CE3FD9B9-6298-D791-B6AA-DF8AFF9AE4C8}"/>
                    </a:ext>
                  </a:extLst>
                </p:cNvPr>
                <p:cNvSpPr/>
                <p:nvPr/>
              </p:nvSpPr>
              <p:spPr>
                <a:xfrm rot="10800000">
                  <a:off x="18537255" y="3691195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0" name="円/楕円 29">
                  <a:extLst>
                    <a:ext uri="{FF2B5EF4-FFF2-40B4-BE49-F238E27FC236}">
                      <a16:creationId xmlns:a16="http://schemas.microsoft.com/office/drawing/2014/main" id="{E9D5E61C-DEA8-519B-1B28-F8C37D4469FE}"/>
                    </a:ext>
                  </a:extLst>
                </p:cNvPr>
                <p:cNvSpPr/>
                <p:nvPr/>
              </p:nvSpPr>
              <p:spPr>
                <a:xfrm rot="10800000">
                  <a:off x="18936798" y="3796610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9901AEE7-5F2A-C380-830E-420C1E67201A}"/>
                    </a:ext>
                  </a:extLst>
                </p:cNvPr>
                <p:cNvGrpSpPr/>
                <p:nvPr/>
              </p:nvGrpSpPr>
              <p:grpSpPr>
                <a:xfrm>
                  <a:off x="18084541" y="2604581"/>
                  <a:ext cx="1635271" cy="2183217"/>
                  <a:chOff x="15134519" y="7961404"/>
                  <a:chExt cx="3495405" cy="4666644"/>
                </a:xfrm>
              </p:grpSpPr>
              <p:sp>
                <p:nvSpPr>
                  <p:cNvPr id="31" name="フリーフォーム 30">
                    <a:extLst>
                      <a:ext uri="{FF2B5EF4-FFF2-40B4-BE49-F238E27FC236}">
                        <a16:creationId xmlns:a16="http://schemas.microsoft.com/office/drawing/2014/main" id="{F7A28EF7-4820-3AEA-A275-4ECF57437B60}"/>
                      </a:ext>
                    </a:extLst>
                  </p:cNvPr>
                  <p:cNvSpPr/>
                  <p:nvPr/>
                </p:nvSpPr>
                <p:spPr>
                  <a:xfrm>
                    <a:off x="15134519" y="7963283"/>
                    <a:ext cx="3495405" cy="4664765"/>
                  </a:xfrm>
                  <a:custGeom>
                    <a:avLst/>
                    <a:gdLst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79513 w 3366052"/>
                      <a:gd name="csY1" fmla="*/ 4386470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78466 w 3444518"/>
                      <a:gd name="csY0" fmla="*/ 1603513 h 4664765"/>
                      <a:gd name="csX1" fmla="*/ 157979 w 3444518"/>
                      <a:gd name="csY1" fmla="*/ 4386470 h 4664765"/>
                      <a:gd name="csX2" fmla="*/ 727823 w 3444518"/>
                      <a:gd name="csY2" fmla="*/ 4664765 h 4664765"/>
                      <a:gd name="csX3" fmla="*/ 3378257 w 3444518"/>
                      <a:gd name="csY3" fmla="*/ 3101009 h 4664765"/>
                      <a:gd name="csX4" fmla="*/ 3444518 w 3444518"/>
                      <a:gd name="csY4" fmla="*/ 463826 h 4664765"/>
                      <a:gd name="csX5" fmla="*/ 2437353 w 3444518"/>
                      <a:gd name="csY5" fmla="*/ 0 h 4664765"/>
                      <a:gd name="csX6" fmla="*/ 78466 w 3444518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495405" h="4664765">
                        <a:moveTo>
                          <a:pt x="129353" y="1603513"/>
                        </a:moveTo>
                        <a:cubicBezTo>
                          <a:pt x="-3169" y="2504661"/>
                          <a:pt x="-109185" y="3432314"/>
                          <a:pt x="208866" y="4386470"/>
                        </a:cubicBezTo>
                        <a:lnTo>
                          <a:pt x="778710" y="4664765"/>
                        </a:lnTo>
                        <a:cubicBezTo>
                          <a:pt x="1582675" y="4037495"/>
                          <a:pt x="2519162" y="3317462"/>
                          <a:pt x="3429144" y="3101009"/>
                        </a:cubicBezTo>
                        <a:cubicBezTo>
                          <a:pt x="3159683" y="2036417"/>
                          <a:pt x="3420310" y="1329635"/>
                          <a:pt x="3495405" y="463826"/>
                        </a:cubicBezTo>
                        <a:lnTo>
                          <a:pt x="2488240" y="0"/>
                        </a:lnTo>
                        <a:cubicBezTo>
                          <a:pt x="1489909" y="348973"/>
                          <a:pt x="796380" y="976244"/>
                          <a:pt x="129353" y="160351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  <a:alpha val="30000"/>
                        </a:schemeClr>
                      </a:gs>
                      <a:gs pos="100000">
                        <a:srgbClr val="FF0B0B">
                          <a:alpha val="30000"/>
                        </a:srgbClr>
                      </a:gs>
                    </a:gsLst>
                    <a:lin ang="5400000" scaled="1"/>
                    <a:tileRect/>
                  </a:gra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フリーフォーム 33">
                    <a:extLst>
                      <a:ext uri="{FF2B5EF4-FFF2-40B4-BE49-F238E27FC236}">
                        <a16:creationId xmlns:a16="http://schemas.microsoft.com/office/drawing/2014/main" id="{7168828D-3CAF-3439-F90C-B8A72A4DE34E}"/>
                      </a:ext>
                    </a:extLst>
                  </p:cNvPr>
                  <p:cNvSpPr/>
                  <p:nvPr/>
                </p:nvSpPr>
                <p:spPr>
                  <a:xfrm>
                    <a:off x="15983613" y="8420672"/>
                    <a:ext cx="2631924" cy="1450461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631924" h="1450461">
                        <a:moveTo>
                          <a:pt x="2631924" y="0"/>
                        </a:moveTo>
                        <a:cubicBezTo>
                          <a:pt x="1476586" y="269965"/>
                          <a:pt x="702491" y="858278"/>
                          <a:pt x="0" y="1450461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5" name="フリーフォーム 34">
                    <a:extLst>
                      <a:ext uri="{FF2B5EF4-FFF2-40B4-BE49-F238E27FC236}">
                        <a16:creationId xmlns:a16="http://schemas.microsoft.com/office/drawing/2014/main" id="{A609BCBD-8849-D8B6-0C65-812BC34903C6}"/>
                      </a:ext>
                    </a:extLst>
                  </p:cNvPr>
                  <p:cNvSpPr/>
                  <p:nvPr/>
                </p:nvSpPr>
                <p:spPr>
                  <a:xfrm>
                    <a:off x="15254028" y="9552786"/>
                    <a:ext cx="706361" cy="319315"/>
                  </a:xfrm>
                  <a:custGeom>
                    <a:avLst/>
                    <a:gdLst>
                      <a:gd name="csX0" fmla="*/ 0 w 740228"/>
                      <a:gd name="csY0" fmla="*/ 0 h 339635"/>
                      <a:gd name="csX1" fmla="*/ 740228 w 740228"/>
                      <a:gd name="csY1" fmla="*/ 339635 h 339635"/>
                      <a:gd name="csX0" fmla="*/ 0 w 706361"/>
                      <a:gd name="csY0" fmla="*/ 0 h 319315"/>
                      <a:gd name="csX1" fmla="*/ 706361 w 706361"/>
                      <a:gd name="csY1" fmla="*/ 319315 h 3193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06361" h="319315">
                        <a:moveTo>
                          <a:pt x="0" y="0"/>
                        </a:moveTo>
                        <a:lnTo>
                          <a:pt x="706361" y="319315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フリーフォーム 35">
                    <a:extLst>
                      <a:ext uri="{FF2B5EF4-FFF2-40B4-BE49-F238E27FC236}">
                        <a16:creationId xmlns:a16="http://schemas.microsoft.com/office/drawing/2014/main" id="{52B17E0B-4780-BB78-36B6-9D165B4D16D9}"/>
                      </a:ext>
                    </a:extLst>
                  </p:cNvPr>
                  <p:cNvSpPr/>
                  <p:nvPr/>
                </p:nvSpPr>
                <p:spPr>
                  <a:xfrm>
                    <a:off x="17426461" y="7961404"/>
                    <a:ext cx="191381" cy="2623559"/>
                  </a:xfrm>
                  <a:custGeom>
                    <a:avLst/>
                    <a:gdLst>
                      <a:gd name="csX0" fmla="*/ 0 w 76912"/>
                      <a:gd name="csY0" fmla="*/ 0 h 2785929"/>
                      <a:gd name="csX1" fmla="*/ 76912 w 76912"/>
                      <a:gd name="csY1" fmla="*/ 2785929 h 2785929"/>
                      <a:gd name="csX0" fmla="*/ 64084 w 140996"/>
                      <a:gd name="csY0" fmla="*/ 0 h 2785929"/>
                      <a:gd name="csX1" fmla="*/ 140996 w 140996"/>
                      <a:gd name="csY1" fmla="*/ 2785929 h 2785929"/>
                      <a:gd name="csX0" fmla="*/ 117045 w 193957"/>
                      <a:gd name="csY0" fmla="*/ 0 h 2785929"/>
                      <a:gd name="csX1" fmla="*/ 193957 w 193957"/>
                      <a:gd name="csY1" fmla="*/ 2785929 h 2785929"/>
                      <a:gd name="csX0" fmla="*/ 191381 w 191381"/>
                      <a:gd name="csY0" fmla="*/ 0 h 2623559"/>
                      <a:gd name="csX1" fmla="*/ 131560 w 191381"/>
                      <a:gd name="csY1" fmla="*/ 2623559 h 26235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91381" h="2623559">
                        <a:moveTo>
                          <a:pt x="191381" y="0"/>
                        </a:moveTo>
                        <a:cubicBezTo>
                          <a:pt x="20464" y="937189"/>
                          <a:pt x="-107722" y="1720554"/>
                          <a:pt x="131560" y="2623559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37" name="直線コネクタ 36">
                    <a:extLst>
                      <a:ext uri="{FF2B5EF4-FFF2-40B4-BE49-F238E27FC236}">
                        <a16:creationId xmlns:a16="http://schemas.microsoft.com/office/drawing/2014/main" id="{5F9B339A-1D2D-18CD-4BC1-954925CD76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3527" y="10593763"/>
                    <a:ext cx="1011121" cy="46570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" name="フリーフォーム 37">
                    <a:extLst>
                      <a:ext uri="{FF2B5EF4-FFF2-40B4-BE49-F238E27FC236}">
                        <a16:creationId xmlns:a16="http://schemas.microsoft.com/office/drawing/2014/main" id="{8E47415F-98E6-F519-25BE-3AF52A6ABBD6}"/>
                      </a:ext>
                    </a:extLst>
                  </p:cNvPr>
                  <p:cNvSpPr/>
                  <p:nvPr/>
                </p:nvSpPr>
                <p:spPr>
                  <a:xfrm>
                    <a:off x="15336510" y="10616356"/>
                    <a:ext cx="2204634" cy="1715380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204634" h="1715380">
                        <a:moveTo>
                          <a:pt x="2204634" y="0"/>
                        </a:moveTo>
                        <a:cubicBezTo>
                          <a:pt x="1220212" y="483610"/>
                          <a:pt x="608487" y="1063376"/>
                          <a:pt x="0" y="1715380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9" name="フリーフォーム 38">
                    <a:extLst>
                      <a:ext uri="{FF2B5EF4-FFF2-40B4-BE49-F238E27FC236}">
                        <a16:creationId xmlns:a16="http://schemas.microsoft.com/office/drawing/2014/main" id="{F268AE44-9CF6-21F6-4015-C3F61E237D2D}"/>
                      </a:ext>
                    </a:extLst>
                  </p:cNvPr>
                  <p:cNvSpPr/>
                  <p:nvPr/>
                </p:nvSpPr>
                <p:spPr>
                  <a:xfrm>
                    <a:off x="15793927" y="9883712"/>
                    <a:ext cx="165496" cy="2734492"/>
                  </a:xfrm>
                  <a:custGeom>
                    <a:avLst/>
                    <a:gdLst>
                      <a:gd name="csX0" fmla="*/ 43543 w 43543"/>
                      <a:gd name="csY0" fmla="*/ 0 h 2734492"/>
                      <a:gd name="csX1" fmla="*/ 0 w 43543"/>
                      <a:gd name="csY1" fmla="*/ 2734492 h 2734492"/>
                      <a:gd name="csX0" fmla="*/ 99663 w 99663"/>
                      <a:gd name="csY0" fmla="*/ 0 h 2734492"/>
                      <a:gd name="csX1" fmla="*/ 56120 w 99663"/>
                      <a:gd name="csY1" fmla="*/ 2734492 h 2734492"/>
                      <a:gd name="csX0" fmla="*/ 165496 w 165496"/>
                      <a:gd name="csY0" fmla="*/ 0 h 2734492"/>
                      <a:gd name="csX1" fmla="*/ 121953 w 165496"/>
                      <a:gd name="csY1" fmla="*/ 2734492 h 27344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65496" h="2734492">
                        <a:moveTo>
                          <a:pt x="165496" y="0"/>
                        </a:moveTo>
                        <a:cubicBezTo>
                          <a:pt x="-75441" y="885372"/>
                          <a:pt x="-20288" y="1831704"/>
                          <a:pt x="121953" y="2734492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648CCA3B-2173-1246-C6C8-4383FEFD3D02}"/>
                </a:ext>
              </a:extLst>
            </p:cNvPr>
            <p:cNvGrpSpPr/>
            <p:nvPr/>
          </p:nvGrpSpPr>
          <p:grpSpPr>
            <a:xfrm>
              <a:off x="16431329" y="1416392"/>
              <a:ext cx="4248093" cy="3414948"/>
              <a:chOff x="16654349" y="1416392"/>
              <a:chExt cx="4248093" cy="3414948"/>
            </a:xfrm>
          </p:grpSpPr>
          <p:cxnSp>
            <p:nvCxnSpPr>
              <p:cNvPr id="145" name="直線矢印コネクタ 144">
                <a:extLst>
                  <a:ext uri="{FF2B5EF4-FFF2-40B4-BE49-F238E27FC236}">
                    <a16:creationId xmlns:a16="http://schemas.microsoft.com/office/drawing/2014/main" id="{C8C08ADE-1CCB-0B7F-81E0-F2DF8A7F44C5}"/>
                  </a:ext>
                </a:extLst>
              </p:cNvPr>
              <p:cNvCxnSpPr/>
              <p:nvPr/>
            </p:nvCxnSpPr>
            <p:spPr>
              <a:xfrm>
                <a:off x="17257204" y="3095066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線矢印コネクタ 145">
                <a:extLst>
                  <a:ext uri="{FF2B5EF4-FFF2-40B4-BE49-F238E27FC236}">
                    <a16:creationId xmlns:a16="http://schemas.microsoft.com/office/drawing/2014/main" id="{B88CDE7F-ABA5-8EB1-2A47-99AEA4C54AF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6852945" y="3039729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矢印コネクタ 146">
                <a:extLst>
                  <a:ext uri="{FF2B5EF4-FFF2-40B4-BE49-F238E27FC236}">
                    <a16:creationId xmlns:a16="http://schemas.microsoft.com/office/drawing/2014/main" id="{A6CE9BB2-C550-DB3E-C06B-CB7272A2451B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 flipV="1">
                <a:off x="16654349" y="3262694"/>
                <a:ext cx="2777086" cy="1689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テキスト ボックス 189">
                    <a:extLst>
                      <a:ext uri="{FF2B5EF4-FFF2-40B4-BE49-F238E27FC236}">
                        <a16:creationId xmlns:a16="http://schemas.microsoft.com/office/drawing/2014/main" id="{D7770474-E11F-6614-7296-62220D92908E}"/>
                      </a:ext>
                    </a:extLst>
                  </p:cNvPr>
                  <p:cNvSpPr txBox="1"/>
                  <p:nvPr/>
                </p:nvSpPr>
                <p:spPr>
                  <a:xfrm>
                    <a:off x="17175765" y="3988568"/>
                    <a:ext cx="708682" cy="5679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0" name="テキスト ボックス 189">
                    <a:extLst>
                      <a:ext uri="{FF2B5EF4-FFF2-40B4-BE49-F238E27FC236}">
                        <a16:creationId xmlns:a16="http://schemas.microsoft.com/office/drawing/2014/main" id="{D7770474-E11F-6614-7296-62220D9290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175765" y="3988568"/>
                    <a:ext cx="708682" cy="56794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0526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テキスト ボックス 191">
                    <a:extLst>
                      <a:ext uri="{FF2B5EF4-FFF2-40B4-BE49-F238E27FC236}">
                        <a16:creationId xmlns:a16="http://schemas.microsoft.com/office/drawing/2014/main" id="{F7962730-4A5F-DF57-921D-95684CED380F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8410" y="2713866"/>
                    <a:ext cx="696377" cy="61231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2" name="テキスト ボックス 191">
                    <a:extLst>
                      <a:ext uri="{FF2B5EF4-FFF2-40B4-BE49-F238E27FC236}">
                        <a16:creationId xmlns:a16="http://schemas.microsoft.com/office/drawing/2014/main" id="{F7962730-4A5F-DF57-921D-95684CED38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8410" y="2713866"/>
                    <a:ext cx="696377" cy="612311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8929" b="-16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テキスト ボックス 192">
                    <a:extLst>
                      <a:ext uri="{FF2B5EF4-FFF2-40B4-BE49-F238E27FC236}">
                        <a16:creationId xmlns:a16="http://schemas.microsoft.com/office/drawing/2014/main" id="{98ABD1E7-1EB2-272B-A355-151961D35CE4}"/>
                      </a:ext>
                    </a:extLst>
                  </p:cNvPr>
                  <p:cNvSpPr txBox="1"/>
                  <p:nvPr/>
                </p:nvSpPr>
                <p:spPr>
                  <a:xfrm>
                    <a:off x="17526866" y="1520539"/>
                    <a:ext cx="678629" cy="56794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3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3" name="テキスト ボックス 192">
                    <a:extLst>
                      <a:ext uri="{FF2B5EF4-FFF2-40B4-BE49-F238E27FC236}">
                        <a16:creationId xmlns:a16="http://schemas.microsoft.com/office/drawing/2014/main" id="{98ABD1E7-1EB2-272B-A355-151961D35C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26866" y="1520539"/>
                    <a:ext cx="678629" cy="56794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1111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52FF48E5-1B0A-6640-2202-8B114CF964D2}"/>
                  </a:ext>
                </a:extLst>
              </p:cNvPr>
              <p:cNvGrpSpPr/>
              <p:nvPr/>
            </p:nvGrpSpPr>
            <p:grpSpPr>
              <a:xfrm>
                <a:off x="18084541" y="2648123"/>
                <a:ext cx="1635271" cy="2183217"/>
                <a:chOff x="18084541" y="2604581"/>
                <a:chExt cx="1635271" cy="2183217"/>
              </a:xfrm>
            </p:grpSpPr>
            <p:sp>
              <p:nvSpPr>
                <p:cNvPr id="2" name="円/楕円 1">
                  <a:extLst>
                    <a:ext uri="{FF2B5EF4-FFF2-40B4-BE49-F238E27FC236}">
                      <a16:creationId xmlns:a16="http://schemas.microsoft.com/office/drawing/2014/main" id="{2C7F828A-08DF-9830-99E9-C73B70015CFC}"/>
                    </a:ext>
                  </a:extLst>
                </p:cNvPr>
                <p:cNvSpPr/>
                <p:nvPr/>
              </p:nvSpPr>
              <p:spPr>
                <a:xfrm rot="10800000">
                  <a:off x="18936799" y="3364804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" name="円/楕円 6">
                  <a:extLst>
                    <a:ext uri="{FF2B5EF4-FFF2-40B4-BE49-F238E27FC236}">
                      <a16:creationId xmlns:a16="http://schemas.microsoft.com/office/drawing/2014/main" id="{C05BEE23-401C-FA31-28FF-CD280AFDCEDE}"/>
                    </a:ext>
                  </a:extLst>
                </p:cNvPr>
                <p:cNvSpPr/>
                <p:nvPr/>
              </p:nvSpPr>
              <p:spPr>
                <a:xfrm rot="10800000">
                  <a:off x="18537255" y="3691195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" name="円/楕円 7">
                  <a:extLst>
                    <a:ext uri="{FF2B5EF4-FFF2-40B4-BE49-F238E27FC236}">
                      <a16:creationId xmlns:a16="http://schemas.microsoft.com/office/drawing/2014/main" id="{BB92C375-298D-15F9-5AEB-6F2E8C8AC94C}"/>
                    </a:ext>
                  </a:extLst>
                </p:cNvPr>
                <p:cNvSpPr/>
                <p:nvPr/>
              </p:nvSpPr>
              <p:spPr>
                <a:xfrm rot="10800000">
                  <a:off x="18936798" y="3796610"/>
                  <a:ext cx="192205" cy="1922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30000"/>
                      </a:schemeClr>
                    </a:gs>
                    <a:gs pos="10000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188" name="グループ化 187">
                  <a:extLst>
                    <a:ext uri="{FF2B5EF4-FFF2-40B4-BE49-F238E27FC236}">
                      <a16:creationId xmlns:a16="http://schemas.microsoft.com/office/drawing/2014/main" id="{C421ADF1-6C7E-3D66-7B5F-E13F56819F54}"/>
                    </a:ext>
                  </a:extLst>
                </p:cNvPr>
                <p:cNvGrpSpPr/>
                <p:nvPr/>
              </p:nvGrpSpPr>
              <p:grpSpPr>
                <a:xfrm>
                  <a:off x="18084541" y="2604581"/>
                  <a:ext cx="1635271" cy="2183217"/>
                  <a:chOff x="15134519" y="7961404"/>
                  <a:chExt cx="3495405" cy="4666644"/>
                </a:xfrm>
              </p:grpSpPr>
              <p:sp>
                <p:nvSpPr>
                  <p:cNvPr id="175" name="フリーフォーム 174">
                    <a:extLst>
                      <a:ext uri="{FF2B5EF4-FFF2-40B4-BE49-F238E27FC236}">
                        <a16:creationId xmlns:a16="http://schemas.microsoft.com/office/drawing/2014/main" id="{D09F9BE6-BCA5-0AB9-2158-4833C4C76B60}"/>
                      </a:ext>
                    </a:extLst>
                  </p:cNvPr>
                  <p:cNvSpPr/>
                  <p:nvPr/>
                </p:nvSpPr>
                <p:spPr>
                  <a:xfrm>
                    <a:off x="15134519" y="7963283"/>
                    <a:ext cx="3495405" cy="4664765"/>
                  </a:xfrm>
                  <a:custGeom>
                    <a:avLst/>
                    <a:gdLst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26504 w 3366052"/>
                      <a:gd name="csY1" fmla="*/ 4412974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0 w 3366052"/>
                      <a:gd name="csY0" fmla="*/ 1603513 h 4664765"/>
                      <a:gd name="csX1" fmla="*/ 79513 w 3366052"/>
                      <a:gd name="csY1" fmla="*/ 4386470 h 4664765"/>
                      <a:gd name="csX2" fmla="*/ 649357 w 3366052"/>
                      <a:gd name="csY2" fmla="*/ 4664765 h 4664765"/>
                      <a:gd name="csX3" fmla="*/ 3299791 w 3366052"/>
                      <a:gd name="csY3" fmla="*/ 3101009 h 4664765"/>
                      <a:gd name="csX4" fmla="*/ 3366052 w 3366052"/>
                      <a:gd name="csY4" fmla="*/ 463826 h 4664765"/>
                      <a:gd name="csX5" fmla="*/ 2358887 w 3366052"/>
                      <a:gd name="csY5" fmla="*/ 0 h 4664765"/>
                      <a:gd name="csX6" fmla="*/ 0 w 3366052"/>
                      <a:gd name="csY6" fmla="*/ 1603513 h 4664765"/>
                      <a:gd name="csX0" fmla="*/ 78466 w 3444518"/>
                      <a:gd name="csY0" fmla="*/ 1603513 h 4664765"/>
                      <a:gd name="csX1" fmla="*/ 157979 w 3444518"/>
                      <a:gd name="csY1" fmla="*/ 4386470 h 4664765"/>
                      <a:gd name="csX2" fmla="*/ 727823 w 3444518"/>
                      <a:gd name="csY2" fmla="*/ 4664765 h 4664765"/>
                      <a:gd name="csX3" fmla="*/ 3378257 w 3444518"/>
                      <a:gd name="csY3" fmla="*/ 3101009 h 4664765"/>
                      <a:gd name="csX4" fmla="*/ 3444518 w 3444518"/>
                      <a:gd name="csY4" fmla="*/ 463826 h 4664765"/>
                      <a:gd name="csX5" fmla="*/ 2437353 w 3444518"/>
                      <a:gd name="csY5" fmla="*/ 0 h 4664765"/>
                      <a:gd name="csX6" fmla="*/ 78466 w 3444518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  <a:gd name="csX0" fmla="*/ 129353 w 3495405"/>
                      <a:gd name="csY0" fmla="*/ 1603513 h 4664765"/>
                      <a:gd name="csX1" fmla="*/ 208866 w 3495405"/>
                      <a:gd name="csY1" fmla="*/ 4386470 h 4664765"/>
                      <a:gd name="csX2" fmla="*/ 778710 w 3495405"/>
                      <a:gd name="csY2" fmla="*/ 4664765 h 4664765"/>
                      <a:gd name="csX3" fmla="*/ 3429144 w 3495405"/>
                      <a:gd name="csY3" fmla="*/ 3101009 h 4664765"/>
                      <a:gd name="csX4" fmla="*/ 3495405 w 3495405"/>
                      <a:gd name="csY4" fmla="*/ 463826 h 4664765"/>
                      <a:gd name="csX5" fmla="*/ 2488240 w 3495405"/>
                      <a:gd name="csY5" fmla="*/ 0 h 4664765"/>
                      <a:gd name="csX6" fmla="*/ 129353 w 3495405"/>
                      <a:gd name="csY6" fmla="*/ 1603513 h 46647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495405" h="4664765">
                        <a:moveTo>
                          <a:pt x="129353" y="1603513"/>
                        </a:moveTo>
                        <a:cubicBezTo>
                          <a:pt x="-3169" y="2504661"/>
                          <a:pt x="-109185" y="3432314"/>
                          <a:pt x="208866" y="4386470"/>
                        </a:cubicBezTo>
                        <a:lnTo>
                          <a:pt x="778710" y="4664765"/>
                        </a:lnTo>
                        <a:cubicBezTo>
                          <a:pt x="1582675" y="4037495"/>
                          <a:pt x="2519162" y="3317462"/>
                          <a:pt x="3429144" y="3101009"/>
                        </a:cubicBezTo>
                        <a:cubicBezTo>
                          <a:pt x="3159683" y="2036417"/>
                          <a:pt x="3420310" y="1329635"/>
                          <a:pt x="3495405" y="463826"/>
                        </a:cubicBezTo>
                        <a:lnTo>
                          <a:pt x="2488240" y="0"/>
                        </a:lnTo>
                        <a:cubicBezTo>
                          <a:pt x="1489909" y="348973"/>
                          <a:pt x="796380" y="976244"/>
                          <a:pt x="129353" y="160351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  <a:alpha val="30000"/>
                        </a:schemeClr>
                      </a:gs>
                      <a:gs pos="100000">
                        <a:srgbClr val="0404FF">
                          <a:alpha val="30000"/>
                        </a:srgbClr>
                      </a:gs>
                    </a:gsLst>
                    <a:lin ang="5400000" scaled="1"/>
                    <a:tileRect/>
                  </a:gra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6" name="フリーフォーム 175">
                    <a:extLst>
                      <a:ext uri="{FF2B5EF4-FFF2-40B4-BE49-F238E27FC236}">
                        <a16:creationId xmlns:a16="http://schemas.microsoft.com/office/drawing/2014/main" id="{8400CF35-9628-FD80-59E1-D8DDB9E5FEDE}"/>
                      </a:ext>
                    </a:extLst>
                  </p:cNvPr>
                  <p:cNvSpPr/>
                  <p:nvPr/>
                </p:nvSpPr>
                <p:spPr>
                  <a:xfrm>
                    <a:off x="15983613" y="8420672"/>
                    <a:ext cx="2631924" cy="1450461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631924" h="1450461">
                        <a:moveTo>
                          <a:pt x="2631924" y="0"/>
                        </a:moveTo>
                        <a:cubicBezTo>
                          <a:pt x="1476586" y="269965"/>
                          <a:pt x="702491" y="858278"/>
                          <a:pt x="0" y="1450461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7" name="フリーフォーム 176">
                    <a:extLst>
                      <a:ext uri="{FF2B5EF4-FFF2-40B4-BE49-F238E27FC236}">
                        <a16:creationId xmlns:a16="http://schemas.microsoft.com/office/drawing/2014/main" id="{F481DD53-01D3-6E93-2FB1-520E40563F8B}"/>
                      </a:ext>
                    </a:extLst>
                  </p:cNvPr>
                  <p:cNvSpPr/>
                  <p:nvPr/>
                </p:nvSpPr>
                <p:spPr>
                  <a:xfrm>
                    <a:off x="15254028" y="9552786"/>
                    <a:ext cx="706361" cy="319315"/>
                  </a:xfrm>
                  <a:custGeom>
                    <a:avLst/>
                    <a:gdLst>
                      <a:gd name="csX0" fmla="*/ 0 w 740228"/>
                      <a:gd name="csY0" fmla="*/ 0 h 339635"/>
                      <a:gd name="csX1" fmla="*/ 740228 w 740228"/>
                      <a:gd name="csY1" fmla="*/ 339635 h 339635"/>
                      <a:gd name="csX0" fmla="*/ 0 w 706361"/>
                      <a:gd name="csY0" fmla="*/ 0 h 319315"/>
                      <a:gd name="csX1" fmla="*/ 706361 w 706361"/>
                      <a:gd name="csY1" fmla="*/ 319315 h 31931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06361" h="319315">
                        <a:moveTo>
                          <a:pt x="0" y="0"/>
                        </a:moveTo>
                        <a:lnTo>
                          <a:pt x="706361" y="319315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9" name="フリーフォーム 178">
                    <a:extLst>
                      <a:ext uri="{FF2B5EF4-FFF2-40B4-BE49-F238E27FC236}">
                        <a16:creationId xmlns:a16="http://schemas.microsoft.com/office/drawing/2014/main" id="{1A8E5F00-EFC2-7438-C091-65E88EAAA116}"/>
                      </a:ext>
                    </a:extLst>
                  </p:cNvPr>
                  <p:cNvSpPr/>
                  <p:nvPr/>
                </p:nvSpPr>
                <p:spPr>
                  <a:xfrm>
                    <a:off x="17426461" y="7961404"/>
                    <a:ext cx="191381" cy="2623559"/>
                  </a:xfrm>
                  <a:custGeom>
                    <a:avLst/>
                    <a:gdLst>
                      <a:gd name="csX0" fmla="*/ 0 w 76912"/>
                      <a:gd name="csY0" fmla="*/ 0 h 2785929"/>
                      <a:gd name="csX1" fmla="*/ 76912 w 76912"/>
                      <a:gd name="csY1" fmla="*/ 2785929 h 2785929"/>
                      <a:gd name="csX0" fmla="*/ 64084 w 140996"/>
                      <a:gd name="csY0" fmla="*/ 0 h 2785929"/>
                      <a:gd name="csX1" fmla="*/ 140996 w 140996"/>
                      <a:gd name="csY1" fmla="*/ 2785929 h 2785929"/>
                      <a:gd name="csX0" fmla="*/ 117045 w 193957"/>
                      <a:gd name="csY0" fmla="*/ 0 h 2785929"/>
                      <a:gd name="csX1" fmla="*/ 193957 w 193957"/>
                      <a:gd name="csY1" fmla="*/ 2785929 h 2785929"/>
                      <a:gd name="csX0" fmla="*/ 191381 w 191381"/>
                      <a:gd name="csY0" fmla="*/ 0 h 2623559"/>
                      <a:gd name="csX1" fmla="*/ 131560 w 191381"/>
                      <a:gd name="csY1" fmla="*/ 2623559 h 26235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91381" h="2623559">
                        <a:moveTo>
                          <a:pt x="191381" y="0"/>
                        </a:moveTo>
                        <a:cubicBezTo>
                          <a:pt x="20464" y="937189"/>
                          <a:pt x="-107722" y="1720554"/>
                          <a:pt x="131560" y="2623559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81" name="直線コネクタ 180">
                    <a:extLst>
                      <a:ext uri="{FF2B5EF4-FFF2-40B4-BE49-F238E27FC236}">
                        <a16:creationId xmlns:a16="http://schemas.microsoft.com/office/drawing/2014/main" id="{9ECD239E-64E9-0693-3BBD-DEA82725C5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3527" y="10593763"/>
                    <a:ext cx="1011121" cy="46570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4" name="フリーフォーム 183">
                    <a:extLst>
                      <a:ext uri="{FF2B5EF4-FFF2-40B4-BE49-F238E27FC236}">
                        <a16:creationId xmlns:a16="http://schemas.microsoft.com/office/drawing/2014/main" id="{05FAEA4C-3D6D-7CC1-4DAF-DF04A5F5B6AB}"/>
                      </a:ext>
                    </a:extLst>
                  </p:cNvPr>
                  <p:cNvSpPr/>
                  <p:nvPr/>
                </p:nvSpPr>
                <p:spPr>
                  <a:xfrm>
                    <a:off x="15336510" y="10616356"/>
                    <a:ext cx="2204634" cy="1715380"/>
                  </a:xfrm>
                  <a:custGeom>
                    <a:avLst/>
                    <a:gdLst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577737 w 2577737"/>
                      <a:gd name="csY0" fmla="*/ 0 h 1436914"/>
                      <a:gd name="csX1" fmla="*/ 0 w 2577737"/>
                      <a:gd name="csY1" fmla="*/ 1436914 h 1436914"/>
                      <a:gd name="csX0" fmla="*/ 2631924 w 2631924"/>
                      <a:gd name="csY0" fmla="*/ 0 h 1450461"/>
                      <a:gd name="csX1" fmla="*/ 0 w 2631924"/>
                      <a:gd name="csY1" fmla="*/ 1450461 h 1450461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  <a:gd name="csX0" fmla="*/ 2204634 w 2204634"/>
                      <a:gd name="csY0" fmla="*/ 0 h 1715380"/>
                      <a:gd name="csX1" fmla="*/ 0 w 2204634"/>
                      <a:gd name="csY1" fmla="*/ 1715380 h 171538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204634" h="1715380">
                        <a:moveTo>
                          <a:pt x="2204634" y="0"/>
                        </a:moveTo>
                        <a:cubicBezTo>
                          <a:pt x="1220212" y="483610"/>
                          <a:pt x="608487" y="1063376"/>
                          <a:pt x="0" y="1715380"/>
                        </a:cubicBezTo>
                      </a:path>
                    </a:pathLst>
                  </a:custGeom>
                  <a:noFill/>
                  <a:ln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8" name="フリーフォーム 177">
                    <a:extLst>
                      <a:ext uri="{FF2B5EF4-FFF2-40B4-BE49-F238E27FC236}">
                        <a16:creationId xmlns:a16="http://schemas.microsoft.com/office/drawing/2014/main" id="{955FE3FD-56E5-D93B-F070-1FD76141428A}"/>
                      </a:ext>
                    </a:extLst>
                  </p:cNvPr>
                  <p:cNvSpPr/>
                  <p:nvPr/>
                </p:nvSpPr>
                <p:spPr>
                  <a:xfrm>
                    <a:off x="15793927" y="9883712"/>
                    <a:ext cx="165496" cy="2734492"/>
                  </a:xfrm>
                  <a:custGeom>
                    <a:avLst/>
                    <a:gdLst>
                      <a:gd name="csX0" fmla="*/ 43543 w 43543"/>
                      <a:gd name="csY0" fmla="*/ 0 h 2734492"/>
                      <a:gd name="csX1" fmla="*/ 0 w 43543"/>
                      <a:gd name="csY1" fmla="*/ 2734492 h 2734492"/>
                      <a:gd name="csX0" fmla="*/ 99663 w 99663"/>
                      <a:gd name="csY0" fmla="*/ 0 h 2734492"/>
                      <a:gd name="csX1" fmla="*/ 56120 w 99663"/>
                      <a:gd name="csY1" fmla="*/ 2734492 h 2734492"/>
                      <a:gd name="csX0" fmla="*/ 165496 w 165496"/>
                      <a:gd name="csY0" fmla="*/ 0 h 2734492"/>
                      <a:gd name="csX1" fmla="*/ 121953 w 165496"/>
                      <a:gd name="csY1" fmla="*/ 2734492 h 27344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65496" h="2734492">
                        <a:moveTo>
                          <a:pt x="165496" y="0"/>
                        </a:moveTo>
                        <a:cubicBezTo>
                          <a:pt x="-75441" y="885372"/>
                          <a:pt x="-20288" y="1831704"/>
                          <a:pt x="121953" y="2734492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F8FEA92F-6DA5-510D-FACD-FB15E036E7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040205" y="2502407"/>
                <a:ext cx="473694" cy="9472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DF8C24D-5458-3DF3-CC60-6573CDE074BD}"/>
                  </a:ext>
                </a:extLst>
              </p:cNvPr>
              <p:cNvSpPr txBox="1"/>
              <p:nvPr/>
            </p:nvSpPr>
            <p:spPr>
              <a:xfrm>
                <a:off x="18125356" y="1416392"/>
                <a:ext cx="2777086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3400" dirty="0">
                    <a:latin typeface="Helvetica" pitchFamily="2" charset="0"/>
                  </a:rPr>
                  <a:t>Magnetic reflections</a:t>
                </a:r>
                <a:endParaRPr kumimoji="1" lang="ja-JP" altLang="en-US" sz="3400">
                  <a:latin typeface="Helvetic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1037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E7EE906-A19A-702A-E72B-5F74C22328DC}"/>
              </a:ext>
            </a:extLst>
          </p:cNvPr>
          <p:cNvGrpSpPr/>
          <p:nvPr/>
        </p:nvGrpSpPr>
        <p:grpSpPr>
          <a:xfrm>
            <a:off x="5558881" y="2709391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C2E901E-1AB2-07D4-AE00-74DC1D40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30561D50-8796-F765-708D-908FF22B61AF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83D7528-16C4-71A2-F491-B4432753D0D1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EC78F74-32E0-094F-CE6A-DCABE2E8215B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807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6101-227D-13D6-63F8-620EAE33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A147F85-8D4F-0482-3E93-A47C19860BFB}"/>
              </a:ext>
            </a:extLst>
          </p:cNvPr>
          <p:cNvGrpSpPr/>
          <p:nvPr/>
        </p:nvGrpSpPr>
        <p:grpSpPr>
          <a:xfrm>
            <a:off x="2264795" y="2649133"/>
            <a:ext cx="8119719" cy="6002332"/>
            <a:chOff x="2421890" y="1074420"/>
            <a:chExt cx="5600700" cy="41402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BE5220B-8078-6544-14F1-247DD69D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1890" y="1074420"/>
              <a:ext cx="5600700" cy="4140200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BF8A248-26E9-44B3-891C-23AF1DA44DD6}"/>
                </a:ext>
              </a:extLst>
            </p:cNvPr>
            <p:cNvSpPr txBox="1"/>
            <p:nvPr/>
          </p:nvSpPr>
          <p:spPr>
            <a:xfrm>
              <a:off x="5222240" y="3746549"/>
              <a:ext cx="2106571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FC679D-E789-F720-600E-A26676809E49}"/>
                </a:ext>
              </a:extLst>
            </p:cNvPr>
            <p:cNvSpPr txBox="1"/>
            <p:nvPr/>
          </p:nvSpPr>
          <p:spPr>
            <a:xfrm>
              <a:off x="5571066" y="2775188"/>
              <a:ext cx="1634439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ED3B461-1DBC-DF0D-72A1-6C8C99ED776C}"/>
                </a:ext>
              </a:extLst>
            </p:cNvPr>
            <p:cNvSpPr txBox="1"/>
            <p:nvPr/>
          </p:nvSpPr>
          <p:spPr>
            <a:xfrm>
              <a:off x="5222240" y="1370806"/>
              <a:ext cx="2043547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61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1F101ACE-BC43-19E7-24AD-64AA1C049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080" y="2756239"/>
            <a:ext cx="8119719" cy="59394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5FC43C-E014-5EF1-F469-21EE041CE442}"/>
              </a:ext>
            </a:extLst>
          </p:cNvPr>
          <p:cNvSpPr txBox="1"/>
          <p:nvPr/>
        </p:nvSpPr>
        <p:spPr>
          <a:xfrm>
            <a:off x="14858704" y="6518062"/>
            <a:ext cx="305404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transmission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69061B-2E7C-D4B4-8126-82F72348275F}"/>
              </a:ext>
            </a:extLst>
          </p:cNvPr>
          <p:cNvSpPr txBox="1"/>
          <p:nvPr/>
        </p:nvSpPr>
        <p:spPr>
          <a:xfrm>
            <a:off x="14858704" y="5129900"/>
            <a:ext cx="2369560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DEF68D-3E2D-B807-5182-F07813BC1D58}"/>
              </a:ext>
            </a:extLst>
          </p:cNvPr>
          <p:cNvSpPr txBox="1"/>
          <p:nvPr/>
        </p:nvSpPr>
        <p:spPr>
          <a:xfrm>
            <a:off x="14858704" y="3174217"/>
            <a:ext cx="2962672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polarization</a:t>
            </a:r>
            <a:endParaRPr lang="ja-JP" altLang="en-US" sz="261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16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E83D55C-F3BE-8DFC-C0A4-04D5227DACD1}"/>
              </a:ext>
            </a:extLst>
          </p:cNvPr>
          <p:cNvGrpSpPr/>
          <p:nvPr/>
        </p:nvGrpSpPr>
        <p:grpSpPr>
          <a:xfrm>
            <a:off x="6748156" y="1298557"/>
            <a:ext cx="6946900" cy="5118100"/>
            <a:chOff x="1986450" y="1298557"/>
            <a:chExt cx="6946900" cy="5118100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4339DE4-D863-92D7-3D10-FE8BB0107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6450" y="1298557"/>
              <a:ext cx="6946900" cy="511810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BD0197C-1DA7-90BE-7257-C14D77701FF9}"/>
                </a:ext>
              </a:extLst>
            </p:cNvPr>
            <p:cNvSpPr txBox="1"/>
            <p:nvPr/>
          </p:nvSpPr>
          <p:spPr>
            <a:xfrm>
              <a:off x="5786368" y="4776943"/>
              <a:ext cx="23807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transmission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F472883-6A09-6EC5-ABFA-D8FED87031E0}"/>
                </a:ext>
              </a:extLst>
            </p:cNvPr>
            <p:cNvSpPr txBox="1"/>
            <p:nvPr/>
          </p:nvSpPr>
          <p:spPr>
            <a:xfrm>
              <a:off x="5786368" y="3752036"/>
              <a:ext cx="1854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CD6E7CD-DD4E-A424-85DC-64DD8D1350EF}"/>
                </a:ext>
              </a:extLst>
            </p:cNvPr>
            <p:cNvSpPr txBox="1"/>
            <p:nvPr/>
          </p:nvSpPr>
          <p:spPr>
            <a:xfrm>
              <a:off x="5786368" y="2297394"/>
              <a:ext cx="2310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Neutron polarization</a:t>
              </a:r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6000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274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B42F9DA-7E83-C565-0E9B-221B100D9A28}"/>
              </a:ext>
            </a:extLst>
          </p:cNvPr>
          <p:cNvGrpSpPr/>
          <p:nvPr/>
        </p:nvGrpSpPr>
        <p:grpSpPr>
          <a:xfrm>
            <a:off x="3888062" y="3717157"/>
            <a:ext cx="15485372" cy="5650493"/>
            <a:chOff x="326440" y="1755252"/>
            <a:chExt cx="10681272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847F88E-48F3-4375-D3AB-34612564B1CE}"/>
                </a:ext>
              </a:extLst>
            </p:cNvPr>
            <p:cNvSpPr/>
            <p:nvPr/>
          </p:nvSpPr>
          <p:spPr>
            <a:xfrm>
              <a:off x="108355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907FF93-F01D-C575-493E-D779EB28A2B8}"/>
                </a:ext>
              </a:extLst>
            </p:cNvPr>
            <p:cNvCxnSpPr>
              <a:cxnSpLocks/>
            </p:cNvCxnSpPr>
            <p:nvPr/>
          </p:nvCxnSpPr>
          <p:spPr>
            <a:xfrm>
              <a:off x="1452414" y="3775402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00BE3B94-423D-B9A2-BA70-DC69DF7FC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2413" y="2615101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813715D-C0C3-B8D7-C5A7-BB542B4ACBCB}"/>
                </a:ext>
              </a:extLst>
            </p:cNvPr>
            <p:cNvSpPr txBox="1"/>
            <p:nvPr/>
          </p:nvSpPr>
          <p:spPr>
            <a:xfrm>
              <a:off x="761465" y="4755414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/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54CB1CE2-8CAF-0F3F-F808-D08761379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180" y="4757949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925C73F2-78FA-E00D-2967-47863B831681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29011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49AD8DAD-E689-1824-04DF-2E3DB439AEF6}"/>
                </a:ext>
              </a:extLst>
            </p:cNvPr>
            <p:cNvCxnSpPr>
              <a:cxnSpLocks/>
            </p:cNvCxnSpPr>
            <p:nvPr/>
          </p:nvCxnSpPr>
          <p:spPr>
            <a:xfrm>
              <a:off x="3566039" y="289354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EAC64A1-2B10-35F6-AD2E-088E03E59141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349696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754B160-000D-B641-8470-891A833F96A0}"/>
                </a:ext>
              </a:extLst>
            </p:cNvPr>
            <p:cNvCxnSpPr>
              <a:cxnSpLocks/>
            </p:cNvCxnSpPr>
            <p:nvPr/>
          </p:nvCxnSpPr>
          <p:spPr>
            <a:xfrm>
              <a:off x="3552380" y="4100382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60ABD1B1-D301-42E1-B8C9-CE7531BB9EA4}"/>
                </a:ext>
              </a:extLst>
            </p:cNvPr>
            <p:cNvSpPr txBox="1"/>
            <p:nvPr/>
          </p:nvSpPr>
          <p:spPr>
            <a:xfrm>
              <a:off x="2928440" y="4757949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AD7DE5A-0F1E-6703-1443-CA634B5441EC}"/>
                </a:ext>
              </a:extLst>
            </p:cNvPr>
            <p:cNvSpPr txBox="1"/>
            <p:nvPr/>
          </p:nvSpPr>
          <p:spPr>
            <a:xfrm>
              <a:off x="6509062" y="4757949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/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/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24442B-21EB-38D7-4617-CB29DEF7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553" y="2430435"/>
                  <a:ext cx="723549" cy="392212"/>
                </a:xfrm>
                <a:prstGeom prst="rect">
                  <a:avLst/>
                </a:prstGeom>
                <a:blipFill>
                  <a:blip r:embed="rId4"/>
                  <a:stretch>
                    <a:fillRect l="-15663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/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362FB15-A343-7B03-AEA7-64D320516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7331" y="3580028"/>
                  <a:ext cx="1311382" cy="362094"/>
                </a:xfrm>
                <a:prstGeom prst="rect">
                  <a:avLst/>
                </a:prstGeom>
                <a:blipFill>
                  <a:blip r:embed="rId5"/>
                  <a:stretch>
                    <a:fillRect l="-5960" r="-5960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279F0C65-68C0-6F2F-D0EA-17CFACB3DEE7}"/>
                </a:ext>
              </a:extLst>
            </p:cNvPr>
            <p:cNvGrpSpPr/>
            <p:nvPr/>
          </p:nvGrpSpPr>
          <p:grpSpPr>
            <a:xfrm>
              <a:off x="3184210" y="1755252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236A4B6E-D3C4-D0A5-3260-86476C58B0A3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0CB76F-2038-A1E0-6145-F59EA5E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3E0BC761-3B87-EB11-2F70-1C2A3BB1E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3849CAD9-A6D9-5A77-71EE-6140488075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826BFAD-4947-E5CC-96B0-9AF60B4209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/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4373DC3-5887-B971-764B-8581154ED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7769" y="2105454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/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BE989CA8-533B-3A9A-5DC3-9393E1981F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2705053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/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B4CED75B-AED1-129C-0989-F0B5AFDA4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304652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/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6856EC8B-30B5-1046-CFEE-035F9E97A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901" y="3927155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/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EC278C09-04D6-D8A7-1644-4932956D3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098041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10714" r="-119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1A8E31FE-63B4-C05E-30C8-AEE8F52CBC8E}"/>
                </a:ext>
              </a:extLst>
            </p:cNvPr>
            <p:cNvSpPr/>
            <p:nvPr/>
          </p:nvSpPr>
          <p:spPr>
            <a:xfrm>
              <a:off x="4728846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55CD3C87-E144-F978-4249-9E60AB967415}"/>
                </a:ext>
              </a:extLst>
            </p:cNvPr>
            <p:cNvSpPr/>
            <p:nvPr/>
          </p:nvSpPr>
          <p:spPr>
            <a:xfrm>
              <a:off x="6829498" y="1755252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/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E93EC44A-5ACD-E89F-5B41-95C7D8CD72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298472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10714" r="-119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/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7570FEE1-C262-791C-8D9C-91FE1714F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3919538"/>
                  <a:ext cx="130997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5960" r="-5298"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/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0C640FB4-AB5C-836E-7A18-0EF6C1580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179" y="2712696"/>
                  <a:ext cx="130997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5960" r="-5298" b="-1463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69DCA230-107B-7879-CC0D-2A1A9A9F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440" y="2615101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/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AA40B86E-1240-8039-CA96-939417BE6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2447790"/>
                  <a:ext cx="337978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/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F45D9F06-0A38-31C8-7746-67ABAC3FA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2087333"/>
                  <a:ext cx="1803921" cy="362094"/>
                </a:xfrm>
                <a:prstGeom prst="rect">
                  <a:avLst/>
                </a:prstGeom>
                <a:blipFill>
                  <a:blip r:embed="rId15"/>
                  <a:stretch>
                    <a:fillRect l="-971" r="-2913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/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8A698A8-FC3C-E96D-DC8C-28480C162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528" y="2683637"/>
                  <a:ext cx="2550449" cy="362094"/>
                </a:xfrm>
                <a:prstGeom prst="rect">
                  <a:avLst/>
                </a:prstGeom>
                <a:blipFill>
                  <a:blip r:embed="rId16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/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7E59A3A8-A74C-014F-0494-C522D7320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6" y="3277056"/>
                  <a:ext cx="2550449" cy="362094"/>
                </a:xfrm>
                <a:prstGeom prst="rect">
                  <a:avLst/>
                </a:prstGeom>
                <a:blipFill>
                  <a:blip r:embed="rId17"/>
                  <a:stretch>
                    <a:fillRect l="-687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/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Sup>
                          <m:sSub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2C6CDC6A-E630-CB61-358E-D2822D875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6615" y="3898122"/>
                  <a:ext cx="3217547" cy="362094"/>
                </a:xfrm>
                <a:prstGeom prst="rect">
                  <a:avLst/>
                </a:prstGeom>
                <a:blipFill>
                  <a:blip r:embed="rId18"/>
                  <a:stretch>
                    <a:fillRect l="-543" b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85A2AFEA-4D04-A4A4-5788-C3F460028147}"/>
                </a:ext>
              </a:extLst>
            </p:cNvPr>
            <p:cNvSpPr/>
            <p:nvPr/>
          </p:nvSpPr>
          <p:spPr>
            <a:xfrm>
              <a:off x="10026866" y="1771646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/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67A6D27-7B35-16A2-73BD-FC17C7993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9734" y="3036533"/>
                  <a:ext cx="337978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30769" r="-512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A3AD0EC-9DA0-88E5-DFE5-C01365382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414" y="3775402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/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785AB2D3-AAA6-A89E-BD44-1B7043ED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25" y="3580028"/>
                  <a:ext cx="337978" cy="340731"/>
                </a:xfrm>
                <a:prstGeom prst="rect">
                  <a:avLst/>
                </a:prstGeom>
                <a:blipFill>
                  <a:blip r:embed="rId20"/>
                  <a:stretch>
                    <a:fillRect l="-2051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7650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4D08-6ECF-3675-E7B6-EF915792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854FB0-D83F-87A3-EED0-9E91C12622D1}"/>
              </a:ext>
            </a:extLst>
          </p:cNvPr>
          <p:cNvGrpSpPr/>
          <p:nvPr/>
        </p:nvGrpSpPr>
        <p:grpSpPr>
          <a:xfrm>
            <a:off x="3899335" y="3717157"/>
            <a:ext cx="15263937" cy="5650493"/>
            <a:chOff x="1277194" y="1769540"/>
            <a:chExt cx="10528534" cy="389751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9427171-152C-4C98-9D98-A577869EFF1C}"/>
                </a:ext>
              </a:extLst>
            </p:cNvPr>
            <p:cNvSpPr/>
            <p:nvPr/>
          </p:nvSpPr>
          <p:spPr>
            <a:xfrm>
              <a:off x="202653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E2128AA5-E3FB-14B6-A1E9-BEE9E523A4EF}"/>
                </a:ext>
              </a:extLst>
            </p:cNvPr>
            <p:cNvCxnSpPr>
              <a:cxnSpLocks/>
            </p:cNvCxnSpPr>
            <p:nvPr/>
          </p:nvCxnSpPr>
          <p:spPr>
            <a:xfrm>
              <a:off x="2395393" y="3789690"/>
              <a:ext cx="172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AA11003D-7B27-0D37-2D3A-672BF69AAF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5392" y="2629389"/>
              <a:ext cx="1728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0B9836FB-F6D8-7FE3-75C4-4F50D8C149AD}"/>
                </a:ext>
              </a:extLst>
            </p:cNvPr>
            <p:cNvSpPr txBox="1"/>
            <p:nvPr/>
          </p:nvSpPr>
          <p:spPr>
            <a:xfrm>
              <a:off x="1704442" y="4769702"/>
              <a:ext cx="1004193" cy="894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Polarizer</a:t>
              </a:r>
              <a:br>
                <a:rPr lang="en-US" altLang="ja-JP" sz="2610" dirty="0"/>
              </a:br>
              <a:r>
                <a:rPr lang="en-US" altLang="ja-JP" sz="2610" dirty="0"/>
                <a:t>Cu</a:t>
              </a:r>
              <a:r>
                <a:rPr lang="en-US" altLang="ja-JP" sz="2610" baseline="-25000" dirty="0"/>
                <a:t>2</a:t>
              </a:r>
              <a:r>
                <a:rPr lang="en-US" altLang="ja-JP" sz="2610" dirty="0"/>
                <a:t>MnAl</a:t>
              </a:r>
              <a:br>
                <a:rPr lang="en-US" altLang="ja-JP" sz="2610" dirty="0"/>
              </a:br>
              <a:r>
                <a:rPr lang="en-US" altLang="ja-JP" sz="2610" dirty="0"/>
                <a:t>+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/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/>
                    <a:t>Analyzer</a:t>
                  </a:r>
                  <a:br>
                    <a:rPr lang="en-US" altLang="ja-JP" sz="2610" dirty="0"/>
                  </a:br>
                  <a:r>
                    <a:rPr lang="en-US" altLang="ja-JP" sz="2610" i="1" dirty="0"/>
                    <a:t>ex-situ</a:t>
                  </a:r>
                  <a:r>
                    <a:rPr lang="en-US" altLang="ja-JP" sz="2610" dirty="0"/>
                    <a:t> </a:t>
                  </a:r>
                  <a:r>
                    <a:rPr lang="en-US" altLang="ja-JP" sz="2610" baseline="30000" dirty="0"/>
                    <a:t>3</a:t>
                  </a:r>
                  <a:r>
                    <a:rPr lang="en-US" altLang="ja-JP" sz="2610" dirty="0"/>
                    <a:t>He-NSF</a:t>
                  </a:r>
                  <a:br>
                    <a:rPr lang="en-US" altLang="ja-JP" sz="2610" dirty="0"/>
                  </a:br>
                  <a:r>
                    <a:rPr lang="en-US" altLang="ja-JP" sz="2610" dirty="0"/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/>
                    <a:t>)</a:t>
                  </a:r>
                  <a:endParaRPr lang="ja-JP" altLang="en-US" sz="2610"/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9F9109A-C382-9C10-4ADB-C635AAD1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159" y="4772237"/>
                  <a:ext cx="1692112" cy="894817"/>
                </a:xfrm>
                <a:prstGeom prst="rect">
                  <a:avLst/>
                </a:prstGeom>
                <a:blipFill>
                  <a:blip r:embed="rId3"/>
                  <a:stretch>
                    <a:fillRect l="-4124" t="-3883" r="-360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DCC75E9-EC38-07F0-5573-67EF685D596C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304407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3EDB027E-8FAF-E824-A9AA-B2775713BC27}"/>
                </a:ext>
              </a:extLst>
            </p:cNvPr>
            <p:cNvCxnSpPr>
              <a:cxnSpLocks/>
            </p:cNvCxnSpPr>
            <p:nvPr/>
          </p:nvCxnSpPr>
          <p:spPr>
            <a:xfrm>
              <a:off x="4509018" y="2907828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0D49C663-18E6-B0DB-836B-A79CEB92D48D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3511249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B68E40F-C7E0-6362-8DF5-6DA5EAF37EA0}"/>
                </a:ext>
              </a:extLst>
            </p:cNvPr>
            <p:cNvCxnSpPr>
              <a:cxnSpLocks/>
            </p:cNvCxnSpPr>
            <p:nvPr/>
          </p:nvCxnSpPr>
          <p:spPr>
            <a:xfrm>
              <a:off x="4495359" y="4114670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5377292-3F37-4AAC-239F-67695EFD326C}"/>
                </a:ext>
              </a:extLst>
            </p:cNvPr>
            <p:cNvSpPr txBox="1"/>
            <p:nvPr/>
          </p:nvSpPr>
          <p:spPr>
            <a:xfrm>
              <a:off x="3871420" y="4772237"/>
              <a:ext cx="888095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Sample</a:t>
              </a:r>
              <a:endParaRPr lang="ja-JP" altLang="en-US" sz="261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9725CF-4954-74AE-B8ED-3D71DF54DBF9}"/>
                </a:ext>
              </a:extLst>
            </p:cNvPr>
            <p:cNvSpPr txBox="1"/>
            <p:nvPr/>
          </p:nvSpPr>
          <p:spPr>
            <a:xfrm>
              <a:off x="7452039" y="4772237"/>
              <a:ext cx="100087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/>
                <a:t>Detector</a:t>
              </a:r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/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202CDD44-3344-7CCF-011B-42A4C124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6532" y="2444723"/>
                  <a:ext cx="723549" cy="362094"/>
                </a:xfrm>
                <a:prstGeom prst="rect">
                  <a:avLst/>
                </a:prstGeom>
                <a:blipFill>
                  <a:blip r:embed="rId4"/>
                  <a:stretch>
                    <a:fillRect l="-4819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/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7A9FF203-34F3-D7BF-E001-D4015ACCC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309" y="3594316"/>
                  <a:ext cx="1396933" cy="362094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FCC78BBE-8B9B-38EB-90CA-CD3D78E42C09}"/>
                </a:ext>
              </a:extLst>
            </p:cNvPr>
            <p:cNvGrpSpPr/>
            <p:nvPr/>
          </p:nvGrpSpPr>
          <p:grpSpPr>
            <a:xfrm>
              <a:off x="4127189" y="1769540"/>
              <a:ext cx="368276" cy="2880000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2E710C7-5433-4BE5-BFA0-3B92A4685772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30335D88-83D4-B639-C0BC-2D8ED2FE60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1079BFF9-9D11-A08F-8818-8929691B2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2EA88450-3217-199F-56B1-A46D780ECA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9B7E1BD-16B4-8B9A-2E9D-CBA613423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/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3CE45CEC-AA60-F8A5-6F77-3E9768251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748" y="2119742"/>
                  <a:ext cx="723549" cy="3407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/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33138C78-9300-EC80-FD5D-19F5240F0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2719341"/>
                  <a:ext cx="723549" cy="3407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/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2DA666D-A3E7-83DD-B8FE-DA869E3EC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318940"/>
                  <a:ext cx="723549" cy="3407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/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1B3D7008-6CE2-0F09-34F6-8FE3C66E7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4880" y="3941443"/>
                  <a:ext cx="723549" cy="3407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/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AA5FF9A6-231B-0770-64EC-494082E2E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112329"/>
                  <a:ext cx="723549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E99601E-76B2-2C2F-BD39-B3D94E75EF7F}"/>
                </a:ext>
              </a:extLst>
            </p:cNvPr>
            <p:cNvSpPr/>
            <p:nvPr/>
          </p:nvSpPr>
          <p:spPr>
            <a:xfrm>
              <a:off x="5671825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180EFFA-E442-1145-6A66-93E814151EF6}"/>
                </a:ext>
              </a:extLst>
            </p:cNvPr>
            <p:cNvSpPr/>
            <p:nvPr/>
          </p:nvSpPr>
          <p:spPr>
            <a:xfrm>
              <a:off x="7772477" y="1769540"/>
              <a:ext cx="360000" cy="28800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/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838DE999-E50F-DBB4-628B-646968876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312760"/>
                  <a:ext cx="723549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1F22C2BE-0FDF-9F54-A90E-137D1F1543D1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2026537" y="2639139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/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ACCCD8EA-2E5A-399D-47D3-0981FA74E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2101621"/>
                  <a:ext cx="1803921" cy="362094"/>
                </a:xfrm>
                <a:prstGeom prst="rect">
                  <a:avLst/>
                </a:prstGeom>
                <a:blipFill>
                  <a:blip r:embed="rId12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/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30F47D1F-6751-A39E-3C95-AE274AA3E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2507" y="2697925"/>
                  <a:ext cx="2550449" cy="362094"/>
                </a:xfrm>
                <a:prstGeom prst="rect">
                  <a:avLst/>
                </a:prstGeom>
                <a:blipFill>
                  <a:blip r:embed="rId13"/>
                  <a:stretch>
                    <a:fillRect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/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A3596202-CEAD-B3AC-C523-69AECB054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5" y="3291344"/>
                  <a:ext cx="2550449" cy="381951"/>
                </a:xfrm>
                <a:prstGeom prst="rect">
                  <a:avLst/>
                </a:prstGeom>
                <a:blipFill>
                  <a:blip r:embed="rId14"/>
                  <a:stretch>
                    <a:fillRect l="-687" b="-444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/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ja-JP" sz="261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61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 (1−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7CDC6E86-4CB5-1826-C3C7-74DE1D9D1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9594" y="3912410"/>
                  <a:ext cx="3217547" cy="381951"/>
                </a:xfrm>
                <a:prstGeom prst="rect">
                  <a:avLst/>
                </a:prstGeom>
                <a:blipFill>
                  <a:blip r:embed="rId15"/>
                  <a:stretch>
                    <a:fillRect l="-543" b="-1590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91F08892-CB5C-04FF-DAB8-C29CC76E2CE4}"/>
                </a:ext>
              </a:extLst>
            </p:cNvPr>
            <p:cNvSpPr/>
            <p:nvPr/>
          </p:nvSpPr>
          <p:spPr>
            <a:xfrm>
              <a:off x="10824882" y="1785934"/>
              <a:ext cx="567981" cy="2880000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/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7F5028AC-CBD0-5573-5989-9329D139EE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67750" y="3050821"/>
                  <a:ext cx="337978" cy="340731"/>
                </a:xfrm>
                <a:prstGeom prst="rect">
                  <a:avLst/>
                </a:prstGeom>
                <a:blipFill>
                  <a:blip r:embed="rId16"/>
                  <a:stretch>
                    <a:fillRect l="-30769" r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446B5791-0584-3FD4-831E-8BEB7C294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7194" y="3235487"/>
              <a:ext cx="720000" cy="1070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/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C4AD651-5B96-0635-4055-594E645D2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2722340"/>
                  <a:ext cx="1452257" cy="340731"/>
                </a:xfrm>
                <a:prstGeom prst="rect">
                  <a:avLst/>
                </a:prstGeom>
                <a:blipFill>
                  <a:blip r:embed="rId17"/>
                  <a:stretch>
                    <a:fillRect b="-1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/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61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7473E53-9C15-42D0-0562-8C2097C9B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1855" y="3935904"/>
                  <a:ext cx="1452257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1794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60804D3E-1636-598B-1A1F-BD335A9C6F53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12" y="3212225"/>
              <a:ext cx="324819" cy="57040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/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61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68AA1AB-50EE-001E-AB65-F59729D48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804" y="3050821"/>
                  <a:ext cx="291143" cy="340731"/>
                </a:xfrm>
                <a:prstGeom prst="rect">
                  <a:avLst/>
                </a:prstGeom>
                <a:blipFill>
                  <a:blip r:embed="rId19"/>
                  <a:stretch>
                    <a:fillRect l="-26471" r="-29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2071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2B25-46C2-8440-AE26-28BAA31E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D3A2DA6-06E5-C1B3-B9ED-CAF11C85600F}"/>
              </a:ext>
            </a:extLst>
          </p:cNvPr>
          <p:cNvGrpSpPr/>
          <p:nvPr/>
        </p:nvGrpSpPr>
        <p:grpSpPr>
          <a:xfrm>
            <a:off x="5130403" y="3297740"/>
            <a:ext cx="11510168" cy="5650494"/>
            <a:chOff x="368697" y="3297740"/>
            <a:chExt cx="11510168" cy="565049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65D435C-CA69-7FD9-F527-A853395994A3}"/>
                </a:ext>
              </a:extLst>
            </p:cNvPr>
            <p:cNvSpPr/>
            <p:nvPr/>
          </p:nvSpPr>
          <p:spPr>
            <a:xfrm>
              <a:off x="145507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0A272B17-0B1C-040B-E09D-CAB7538FCA60}"/>
                </a:ext>
              </a:extLst>
            </p:cNvPr>
            <p:cNvCxnSpPr>
              <a:cxnSpLocks/>
            </p:cNvCxnSpPr>
            <p:nvPr/>
          </p:nvCxnSpPr>
          <p:spPr>
            <a:xfrm>
              <a:off x="1989829" y="6226490"/>
              <a:ext cx="250520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56668515-5FEE-5886-A3D1-875870DEB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827" y="4544322"/>
              <a:ext cx="2505203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73A810E-A4B1-1A06-B75D-A7A129BF4CB0}"/>
                </a:ext>
              </a:extLst>
            </p:cNvPr>
            <p:cNvSpPr txBox="1"/>
            <p:nvPr/>
          </p:nvSpPr>
          <p:spPr>
            <a:xfrm>
              <a:off x="964064" y="7647280"/>
              <a:ext cx="1503938" cy="1297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Polarizer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Cu</a:t>
              </a:r>
              <a:r>
                <a:rPr lang="en-US" altLang="ja-JP" sz="2610" baseline="-25000" dirty="0">
                  <a:latin typeface="Helvetica" pitchFamily="2" charset="0"/>
                </a:rPr>
                <a:t>2</a:t>
              </a:r>
              <a:r>
                <a:rPr lang="en-US" altLang="ja-JP" sz="2610" dirty="0">
                  <a:latin typeface="Helvetica" pitchFamily="2" charset="0"/>
                </a:rPr>
                <a:t>MnAl</a:t>
              </a:r>
              <a:br>
                <a:rPr lang="en-US" altLang="ja-JP" sz="2610" dirty="0">
                  <a:latin typeface="Helvetica" pitchFamily="2" charset="0"/>
                </a:rPr>
              </a:br>
              <a:r>
                <a:rPr lang="en-US" altLang="ja-JP" sz="2610" dirty="0">
                  <a:latin typeface="Helvetica" pitchFamily="2" charset="0"/>
                </a:rPr>
                <a:t>+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23913F3-3157-A816-EFB8-DE8B8C733E80}"/>
                    </a:ext>
                  </a:extLst>
                </p:cNvPr>
                <p:cNvSpPr txBox="1"/>
                <p:nvPr/>
              </p:nvSpPr>
              <p:spPr>
                <a:xfrm>
                  <a:off x="5774674" y="7650956"/>
                  <a:ext cx="2595583" cy="12972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sz="2610" dirty="0">
                      <a:latin typeface="Helvetica" pitchFamily="2" charset="0"/>
                    </a:rPr>
                    <a:t>Analyzer</a:t>
                  </a:r>
                  <a:br>
                    <a:rPr lang="en-US" altLang="ja-JP" sz="2610" dirty="0">
                      <a:latin typeface="Helvetica" pitchFamily="2" charset="0"/>
                    </a:rPr>
                  </a:br>
                  <a:r>
                    <a:rPr lang="en-US" altLang="ja-JP" sz="2610" i="1" dirty="0">
                      <a:latin typeface="Helvetica" pitchFamily="2" charset="0"/>
                    </a:rPr>
                    <a:t>ex-situ</a:t>
                  </a:r>
                  <a:r>
                    <a:rPr lang="en-US" altLang="ja-JP" sz="2610" dirty="0">
                      <a:latin typeface="Helvetica" pitchFamily="2" charset="0"/>
                    </a:rPr>
                    <a:t> </a:t>
                  </a:r>
                  <a:r>
                    <a:rPr lang="en-US" altLang="ja-JP" sz="2610" baseline="30000" dirty="0">
                      <a:latin typeface="Helvetica" pitchFamily="2" charset="0"/>
                    </a:rPr>
                    <a:t>3</a:t>
                  </a:r>
                  <a:r>
                    <a:rPr lang="en-US" altLang="ja-JP" sz="2610" dirty="0">
                      <a:latin typeface="Helvetica" pitchFamily="2" charset="0"/>
                    </a:rPr>
                    <a:t>He-NSF</a:t>
                  </a:r>
                  <a:br>
                    <a:rPr lang="en-US" altLang="ja-JP" sz="2610" dirty="0">
                      <a:latin typeface="Helvetica" pitchFamily="2" charset="0"/>
                    </a:rPr>
                  </a:br>
                  <a:r>
                    <a:rPr lang="en-US" altLang="ja-JP" sz="2610" dirty="0">
                      <a:latin typeface="Helvetica" pitchFamily="2" charset="0"/>
                    </a:rPr>
                    <a:t>+ (or </a:t>
                  </a:r>
                  <a14:m>
                    <m:oMath xmlns:m="http://schemas.openxmlformats.org/officeDocument/2006/math"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023913F3-3157-A816-EFB8-DE8B8C733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4674" y="7650956"/>
                  <a:ext cx="2595583" cy="1297278"/>
                </a:xfrm>
                <a:prstGeom prst="rect">
                  <a:avLst/>
                </a:prstGeom>
                <a:blipFill>
                  <a:blip r:embed="rId3"/>
                  <a:stretch>
                    <a:fillRect l="-3398" t="-3883" r="-3398" b="-1068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8FECB02-7E56-0164-5434-BB9E38E24BE9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073173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1FD0654-434C-0B63-C0FF-F07F71564DFE}"/>
                </a:ext>
              </a:extLst>
            </p:cNvPr>
            <p:cNvCxnSpPr>
              <a:cxnSpLocks/>
            </p:cNvCxnSpPr>
            <p:nvPr/>
          </p:nvCxnSpPr>
          <p:spPr>
            <a:xfrm>
              <a:off x="5054099" y="4947994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AC35246-CD63-145D-61DB-958D93FC0A87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5822815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3D49454C-8644-309B-F365-1BBB2BB6356C}"/>
                </a:ext>
              </a:extLst>
            </p:cNvPr>
            <p:cNvCxnSpPr>
              <a:cxnSpLocks/>
            </p:cNvCxnSpPr>
            <p:nvPr/>
          </p:nvCxnSpPr>
          <p:spPr>
            <a:xfrm>
              <a:off x="5034297" y="6697636"/>
              <a:ext cx="46972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B5640B7-E354-5A53-99BD-4C64B8B79E82}"/>
                </a:ext>
              </a:extLst>
            </p:cNvPr>
            <p:cNvSpPr txBox="1"/>
            <p:nvPr/>
          </p:nvSpPr>
          <p:spPr>
            <a:xfrm>
              <a:off x="4114501" y="7650956"/>
              <a:ext cx="131799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Sample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3DD2A0F-4417-E6B0-A131-6213455FB2A5}"/>
                </a:ext>
              </a:extLst>
            </p:cNvPr>
            <p:cNvSpPr txBox="1"/>
            <p:nvPr/>
          </p:nvSpPr>
          <p:spPr>
            <a:xfrm>
              <a:off x="9320803" y="7650956"/>
              <a:ext cx="1451040" cy="493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610" dirty="0">
                  <a:latin typeface="Helvetica" pitchFamily="2" charset="0"/>
                </a:rPr>
                <a:t>Detector</a:t>
              </a:r>
              <a:endParaRPr lang="ja-JP" altLang="en-US" sz="261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/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566E81A-AD1F-3B8F-89E8-3BE451C26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452" y="4276599"/>
                  <a:ext cx="1048980" cy="556434"/>
                </a:xfrm>
                <a:prstGeom prst="rect">
                  <a:avLst/>
                </a:prstGeom>
                <a:blipFill>
                  <a:blip r:embed="rId4"/>
                  <a:stretch>
                    <a:fillRect l="-8434"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/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1C5E5C3-445E-0BA6-1162-3CC4605E9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429" y="5943243"/>
                  <a:ext cx="2124195" cy="556434"/>
                </a:xfrm>
                <a:prstGeom prst="rect">
                  <a:avLst/>
                </a:prstGeom>
                <a:blipFill>
                  <a:blip r:embed="rId5"/>
                  <a:stretch>
                    <a:fillRect l="-595" r="-595" b="-1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C91BF27-1149-826B-8CC5-56490A74466E}"/>
                </a:ext>
              </a:extLst>
            </p:cNvPr>
            <p:cNvGrpSpPr/>
            <p:nvPr/>
          </p:nvGrpSpPr>
          <p:grpSpPr>
            <a:xfrm>
              <a:off x="4500535" y="3297740"/>
              <a:ext cx="533916" cy="4175333"/>
              <a:chOff x="4287796" y="1755252"/>
              <a:chExt cx="368276" cy="288000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5E32CF3-0FF4-02BB-9662-B16F5A1D81F4}"/>
                  </a:ext>
                </a:extLst>
              </p:cNvPr>
              <p:cNvSpPr/>
              <p:nvPr/>
            </p:nvSpPr>
            <p:spPr>
              <a:xfrm>
                <a:off x="4287796" y="1755252"/>
                <a:ext cx="360000" cy="2880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cxnSp>
            <p:nvCxnSpPr>
              <p:cNvPr id="29" name="直線矢印コネクタ 28">
                <a:extLst>
                  <a:ext uri="{FF2B5EF4-FFF2-40B4-BE49-F238E27FC236}">
                    <a16:creationId xmlns:a16="http://schemas.microsoft.com/office/drawing/2014/main" id="{E4A12D7C-EB22-C203-E746-239B7F1D16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87802" y="229011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矢印コネクタ 30">
                <a:extLst>
                  <a:ext uri="{FF2B5EF4-FFF2-40B4-BE49-F238E27FC236}">
                    <a16:creationId xmlns:a16="http://schemas.microsoft.com/office/drawing/2014/main" id="{A74B3765-F24B-CCDA-EE67-138E0F070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3079" y="2608921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E43C2932-1F96-2004-FF5F-D543EF6F6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90801" y="3468037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E32D5ED1-CD3D-4C4A-BFBF-6D980A10D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96078" y="3786839"/>
                <a:ext cx="359994" cy="3249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/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8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80AC92D1-F7E4-CD76-F982-04A209FD2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575" y="3805452"/>
                  <a:ext cx="104898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36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/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8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1C3B647E-1A24-31F3-7026-CA23E35CC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4674732"/>
                  <a:ext cx="104898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36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/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8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A75BEA0C-501E-2F95-1D56-C537CF57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5544011"/>
                  <a:ext cx="104898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36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/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ja-JP" sz="28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8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−−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776A225-EB01-4DAA-76AB-68C1A6B921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068" y="6446497"/>
                  <a:ext cx="104898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36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/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16AB448-DC77-6C55-67EA-9D3DC591B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3794705"/>
                  <a:ext cx="1048980" cy="523220"/>
                </a:xfrm>
                <a:prstGeom prst="rect">
                  <a:avLst/>
                </a:prstGeom>
                <a:blipFill>
                  <a:blip r:embed="rId10"/>
                  <a:stretch>
                    <a:fillRect l="-8333" b="-1190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A856A97D-8D3B-85EB-FE6D-F66A74063BFB}"/>
                </a:ext>
              </a:extLst>
            </p:cNvPr>
            <p:cNvSpPr/>
            <p:nvPr/>
          </p:nvSpPr>
          <p:spPr>
            <a:xfrm>
              <a:off x="6739902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088094D-4FF0-54CF-0D6D-539AED83A46E}"/>
                </a:ext>
              </a:extLst>
            </p:cNvPr>
            <p:cNvSpPr/>
            <p:nvPr/>
          </p:nvSpPr>
          <p:spPr>
            <a:xfrm>
              <a:off x="9785365" y="3297740"/>
              <a:ext cx="521917" cy="417533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/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33E0FD94-C1A0-9A95-ED3F-D9AE49263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5535052"/>
                  <a:ext cx="1048980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8333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09FB0759-48B3-20E0-E436-A9C7969EA56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1455072" y="4558457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右中かっこ 2">
              <a:extLst>
                <a:ext uri="{FF2B5EF4-FFF2-40B4-BE49-F238E27FC236}">
                  <a16:creationId xmlns:a16="http://schemas.microsoft.com/office/drawing/2014/main" id="{2FD6EAD8-6894-23A9-188E-B0C120C81F48}"/>
                </a:ext>
              </a:extLst>
            </p:cNvPr>
            <p:cNvSpPr/>
            <p:nvPr/>
          </p:nvSpPr>
          <p:spPr>
            <a:xfrm>
              <a:off x="10456854" y="3321508"/>
              <a:ext cx="823442" cy="4175333"/>
            </a:xfrm>
            <a:prstGeom prst="rightBrace">
              <a:avLst>
                <a:gd name="adj1" fmla="val 33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/>
                <p:nvPr/>
              </p:nvSpPr>
              <p:spPr>
                <a:xfrm>
                  <a:off x="11388875" y="5155301"/>
                  <a:ext cx="4899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++</m:t>
                            </m:r>
                          </m:sup>
                        </m:sSup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586D2C5-1823-6F8A-EDAF-38812101F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8875" y="5155301"/>
                  <a:ext cx="489990" cy="523220"/>
                </a:xfrm>
                <a:prstGeom prst="rect">
                  <a:avLst/>
                </a:prstGeom>
                <a:blipFill>
                  <a:blip r:embed="rId12"/>
                  <a:stretch>
                    <a:fillRect l="-350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95160985-535F-3265-412E-0DDE867A3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97" y="5423024"/>
              <a:ext cx="1043835" cy="1552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/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FF970215-46A0-D948-6D39-4C8678979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4679079"/>
                  <a:ext cx="2105439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1198" r="-599" b="-190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/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ja-JP" sz="28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ja-JP" sz="280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0C54CB2-BA22-D2AF-3732-CDB282BA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001" y="6438466"/>
                  <a:ext cx="2105439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1198" r="-599" b="-162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C5BD1C6-F504-19EA-8D1B-94743993077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344" y="5389299"/>
              <a:ext cx="470913" cy="8269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/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ja-JP" altLang="en-US" sz="2800"/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0762EF33-B3C8-673A-1E43-E3BB7FAA7E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84" y="5155301"/>
                  <a:ext cx="422090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32353" r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9617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DFA2CEF-DB88-10BD-7605-D7606481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92" y="1151733"/>
            <a:ext cx="8027658" cy="95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5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111B3F16-A672-9CFD-125D-8A73C5CC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27" r="4188" b="4274"/>
          <a:stretch>
            <a:fillRect/>
          </a:stretch>
        </p:blipFill>
        <p:spPr>
          <a:xfrm>
            <a:off x="9422943" y="1865552"/>
            <a:ext cx="7302114" cy="854140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ED337C8-AA03-1090-58D9-EE201B31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99" r="5822" b="4615"/>
          <a:stretch>
            <a:fillRect/>
          </a:stretch>
        </p:blipFill>
        <p:spPr>
          <a:xfrm>
            <a:off x="2296263" y="1865551"/>
            <a:ext cx="7126681" cy="842989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5F0B03-2038-634A-A64D-CB9B97313BD9}"/>
              </a:ext>
            </a:extLst>
          </p:cNvPr>
          <p:cNvSpPr txBox="1"/>
          <p:nvPr/>
        </p:nvSpPr>
        <p:spPr>
          <a:xfrm>
            <a:off x="10374510" y="2035510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#Frame2-3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3BE19B-C8F2-CA5A-0012-9F8C04484A3B}"/>
              </a:ext>
            </a:extLst>
          </p:cNvPr>
          <p:cNvSpPr txBox="1"/>
          <p:nvPr/>
        </p:nvSpPr>
        <p:spPr>
          <a:xfrm>
            <a:off x="10374510" y="5982731"/>
            <a:ext cx="1822935" cy="8956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br>
              <a:rPr lang="en-US" altLang="ja-JP" sz="2610" dirty="0">
                <a:latin typeface="Helvetica" pitchFamily="2" charset="0"/>
              </a:rPr>
            </a:br>
            <a:r>
              <a:rPr lang="en-US" altLang="ja-JP" sz="2610" dirty="0">
                <a:latin typeface="Helvetica" pitchFamily="2" charset="0"/>
              </a:rPr>
              <a:t>#Frame5-6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DB9BD8D-ED43-2D9D-EE22-8F9D7381DF75}"/>
              </a:ext>
            </a:extLst>
          </p:cNvPr>
          <p:cNvSpPr txBox="1"/>
          <p:nvPr/>
        </p:nvSpPr>
        <p:spPr>
          <a:xfrm>
            <a:off x="-2522604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#1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CD260-5C6D-8D78-2865-DC9DC25E3AF9}"/>
              </a:ext>
            </a:extLst>
          </p:cNvPr>
          <p:cNvSpPr txBox="1"/>
          <p:nvPr/>
        </p:nvSpPr>
        <p:spPr>
          <a:xfrm>
            <a:off x="-1644027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#2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78FF56-7FAA-A116-2D5C-1A6B4E681022}"/>
              </a:ext>
            </a:extLst>
          </p:cNvPr>
          <p:cNvSpPr txBox="1"/>
          <p:nvPr/>
        </p:nvSpPr>
        <p:spPr>
          <a:xfrm>
            <a:off x="-765449" y="4359557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#3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079304-52C0-CFD1-91D9-E8F02E438C09}"/>
              </a:ext>
            </a:extLst>
          </p:cNvPr>
          <p:cNvSpPr txBox="1"/>
          <p:nvPr/>
        </p:nvSpPr>
        <p:spPr>
          <a:xfrm>
            <a:off x="6026565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#4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91D2184-8BA3-36DB-260A-87EE9D99EF7E}"/>
              </a:ext>
            </a:extLst>
          </p:cNvPr>
          <p:cNvSpPr txBox="1"/>
          <p:nvPr/>
        </p:nvSpPr>
        <p:spPr>
          <a:xfrm>
            <a:off x="6905142" y="4359555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#5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57A7D94-DD1C-EA2B-B4CB-BE89C21F0F73}"/>
              </a:ext>
            </a:extLst>
          </p:cNvPr>
          <p:cNvSpPr txBox="1"/>
          <p:nvPr/>
        </p:nvSpPr>
        <p:spPr>
          <a:xfrm>
            <a:off x="7783719" y="4359554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#6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616093-EAD2-D103-7C3C-EF935C686BEC}"/>
              </a:ext>
            </a:extLst>
          </p:cNvPr>
          <p:cNvSpPr txBox="1"/>
          <p:nvPr/>
        </p:nvSpPr>
        <p:spPr>
          <a:xfrm>
            <a:off x="8662296" y="4359552"/>
            <a:ext cx="473206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#7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262902B-4D33-01B2-6A45-D46486E3C0E2}"/>
              </a:ext>
            </a:extLst>
          </p:cNvPr>
          <p:cNvSpPr txBox="1"/>
          <p:nvPr/>
        </p:nvSpPr>
        <p:spPr>
          <a:xfrm>
            <a:off x="-2683505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1Å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07679B6-6056-FD0C-7EAA-7633D0BF55A6}"/>
              </a:ext>
            </a:extLst>
          </p:cNvPr>
          <p:cNvSpPr txBox="1"/>
          <p:nvPr/>
        </p:nvSpPr>
        <p:spPr>
          <a:xfrm>
            <a:off x="-2322303" y="1633989"/>
            <a:ext cx="50206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3Å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5F190A-661E-C45E-3E49-44AFB07DFA89}"/>
              </a:ext>
            </a:extLst>
          </p:cNvPr>
          <p:cNvSpPr txBox="1"/>
          <p:nvPr/>
        </p:nvSpPr>
        <p:spPr>
          <a:xfrm>
            <a:off x="-2522603" y="4004775"/>
            <a:ext cx="93487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Frame</a:t>
            </a:r>
            <a:endParaRPr lang="ja-JP" altLang="en-US" sz="203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5BF6969-6180-E366-88B1-51123C6B0101}"/>
              </a:ext>
            </a:extLst>
          </p:cNvPr>
          <p:cNvSpPr txBox="1"/>
          <p:nvPr/>
        </p:nvSpPr>
        <p:spPr>
          <a:xfrm>
            <a:off x="-3273634" y="8305580"/>
            <a:ext cx="1656223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0000FF"/>
                </a:solidFill>
                <a:latin typeface="Helvetica" pitchFamily="2" charset="0"/>
              </a:rPr>
              <a:t>Kicker signal</a:t>
            </a:r>
            <a:endParaRPr lang="ja-JP" altLang="en-US" sz="2030">
              <a:solidFill>
                <a:srgbClr val="0000FF"/>
              </a:solidFill>
              <a:latin typeface="Helvetica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0C1E3EB-3BB3-9B17-B718-07B05D5D9264}"/>
              </a:ext>
            </a:extLst>
          </p:cNvPr>
          <p:cNvSpPr txBox="1"/>
          <p:nvPr/>
        </p:nvSpPr>
        <p:spPr>
          <a:xfrm>
            <a:off x="6572449" y="6920488"/>
            <a:ext cx="2305439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Magnetic field of </a:t>
            </a:r>
            <a:b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</a:br>
            <a:r>
              <a:rPr lang="en-US" altLang="ja-JP" sz="2030" dirty="0">
                <a:solidFill>
                  <a:srgbClr val="FF0000"/>
                </a:solidFill>
                <a:latin typeface="Helvetica" pitchFamily="2" charset="0"/>
              </a:rPr>
              <a:t>long pulse magnet</a:t>
            </a:r>
            <a:endParaRPr lang="ja-JP" altLang="en-US" sz="203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E5BA487-13EE-44CE-D73A-6976B2760E79}"/>
              </a:ext>
            </a:extLst>
          </p:cNvPr>
          <p:cNvSpPr txBox="1"/>
          <p:nvPr/>
        </p:nvSpPr>
        <p:spPr>
          <a:xfrm>
            <a:off x="6572448" y="5325491"/>
            <a:ext cx="2254143" cy="36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Phase transition field</a:t>
            </a:r>
            <a:endParaRPr lang="ja-JP" altLang="en-US" sz="1740">
              <a:latin typeface="Helvetica" pitchFamily="2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A2C201F-BCEE-DCB4-2C4D-5D87F0B435F7}"/>
              </a:ext>
            </a:extLst>
          </p:cNvPr>
          <p:cNvSpPr txBox="1"/>
          <p:nvPr/>
        </p:nvSpPr>
        <p:spPr>
          <a:xfrm>
            <a:off x="6701520" y="2632881"/>
            <a:ext cx="2364750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740" dirty="0">
                <a:latin typeface="Helvetica" pitchFamily="2" charset="0"/>
              </a:rPr>
              <a:t>Sample position</a:t>
            </a:r>
            <a:br>
              <a:rPr lang="en-US" altLang="ja-JP" sz="1740" dirty="0">
                <a:latin typeface="Helvetica" pitchFamily="2" charset="0"/>
              </a:rPr>
            </a:br>
            <a:r>
              <a:rPr lang="en-US" altLang="ja-JP" sz="1740" dirty="0">
                <a:latin typeface="Helvetica" pitchFamily="2" charset="0"/>
              </a:rPr>
              <a:t>from spallation source</a:t>
            </a:r>
            <a:endParaRPr lang="ja-JP" altLang="en-US" sz="1740">
              <a:latin typeface="Helvetica" pitchFamily="2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5E6A69-83F3-5D73-BA9D-0247A0C8F89E}"/>
              </a:ext>
            </a:extLst>
          </p:cNvPr>
          <p:cNvCxnSpPr>
            <a:cxnSpLocks/>
          </p:cNvCxnSpPr>
          <p:nvPr/>
        </p:nvCxnSpPr>
        <p:spPr>
          <a:xfrm>
            <a:off x="6572449" y="2521590"/>
            <a:ext cx="208733" cy="3083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93923D5-FCC4-CC2C-85E3-9F4B7132781C}"/>
              </a:ext>
            </a:extLst>
          </p:cNvPr>
          <p:cNvCxnSpPr>
            <a:cxnSpLocks/>
          </p:cNvCxnSpPr>
          <p:nvPr/>
        </p:nvCxnSpPr>
        <p:spPr>
          <a:xfrm flipH="1">
            <a:off x="6486575" y="5537717"/>
            <a:ext cx="180113" cy="39271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14E8DBC1-577B-BAC6-BA20-1753A5B3AFA4}"/>
              </a:ext>
            </a:extLst>
          </p:cNvPr>
          <p:cNvGrpSpPr/>
          <p:nvPr/>
        </p:nvGrpSpPr>
        <p:grpSpPr>
          <a:xfrm>
            <a:off x="13520910" y="6214854"/>
            <a:ext cx="2795958" cy="1422703"/>
            <a:chOff x="7913825" y="3492365"/>
            <a:chExt cx="1928555" cy="981331"/>
          </a:xfrm>
        </p:grpSpPr>
        <p:grpSp>
          <p:nvGrpSpPr>
            <p:cNvPr id="84" name="グループ化 83">
              <a:extLst>
                <a:ext uri="{FF2B5EF4-FFF2-40B4-BE49-F238E27FC236}">
                  <a16:creationId xmlns:a16="http://schemas.microsoft.com/office/drawing/2014/main" id="{02971D01-25C4-4ACD-5EB6-71A43335D874}"/>
                </a:ext>
              </a:extLst>
            </p:cNvPr>
            <p:cNvGrpSpPr/>
            <p:nvPr/>
          </p:nvGrpSpPr>
          <p:grpSpPr>
            <a:xfrm>
              <a:off x="8306018" y="3492365"/>
              <a:ext cx="1272536" cy="667212"/>
              <a:chOff x="7854462" y="3429000"/>
              <a:chExt cx="1766275" cy="939800"/>
            </a:xfrm>
          </p:grpSpPr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E00A6D4C-A772-33FD-B01D-C74F135D051B}"/>
                  </a:ext>
                </a:extLst>
              </p:cNvPr>
              <p:cNvCxnSpPr/>
              <p:nvPr/>
            </p:nvCxnSpPr>
            <p:spPr>
              <a:xfrm flipH="1">
                <a:off x="7854462" y="3898900"/>
                <a:ext cx="13550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F15719C9-279E-21CA-B4E4-BE11D4C2094D}"/>
                  </a:ext>
                </a:extLst>
              </p:cNvPr>
              <p:cNvGrpSpPr/>
              <p:nvPr/>
            </p:nvGrpSpPr>
            <p:grpSpPr>
              <a:xfrm>
                <a:off x="7971301" y="3429000"/>
                <a:ext cx="1444618" cy="939800"/>
                <a:chOff x="1892300" y="1651000"/>
                <a:chExt cx="2889236" cy="1879600"/>
              </a:xfrm>
            </p:grpSpPr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94936738-DBD0-6269-75D7-2E80E66FAE28}"/>
                    </a:ext>
                  </a:extLst>
                </p:cNvPr>
                <p:cNvGrpSpPr/>
                <p:nvPr/>
              </p:nvGrpSpPr>
              <p:grpSpPr>
                <a:xfrm>
                  <a:off x="1892300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2" name="円/楕円 41">
                    <a:extLst>
                      <a:ext uri="{FF2B5EF4-FFF2-40B4-BE49-F238E27FC236}">
                        <a16:creationId xmlns:a16="http://schemas.microsoft.com/office/drawing/2014/main" id="{9D5B5760-0769-031D-85ED-34CB18FD0E76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535C26A5-DBC1-D495-83A3-686C0857214F}"/>
                      </a:ext>
                    </a:extLst>
                  </p:cNvPr>
                  <p:cNvCxnSpPr>
                    <a:cxnSpLocks/>
                    <a:stCxn id="42" idx="0"/>
                    <a:endCxn id="4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F6A13398-BD6D-E71E-C54C-E87204446A25}"/>
                      </a:ext>
                    </a:extLst>
                  </p:cNvPr>
                  <p:cNvCxnSpPr>
                    <a:cxnSpLocks/>
                    <a:stCxn id="42" idx="6"/>
                    <a:endCxn id="4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矢印コネクタ 44">
                    <a:extLst>
                      <a:ext uri="{FF2B5EF4-FFF2-40B4-BE49-F238E27FC236}">
                        <a16:creationId xmlns:a16="http://schemas.microsoft.com/office/drawing/2014/main" id="{967FE876-54DB-51CA-C469-EC96A3D510A9}"/>
                      </a:ext>
                    </a:extLst>
                  </p:cNvPr>
                  <p:cNvCxnSpPr>
                    <a:cxnSpLocks/>
                    <a:endCxn id="42" idx="0"/>
                  </p:cNvCxnSpPr>
                  <p:nvPr/>
                </p:nvCxnSpPr>
                <p:spPr>
                  <a:xfrm flipV="1">
                    <a:off x="2305050" y="1651000"/>
                    <a:ext cx="0" cy="93980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A89CEA06-26D2-04CC-0352-951C8139C736}"/>
                    </a:ext>
                  </a:extLst>
                </p:cNvPr>
                <p:cNvGrpSpPr/>
                <p:nvPr/>
              </p:nvGrpSpPr>
              <p:grpSpPr>
                <a:xfrm>
                  <a:off x="2408234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47" name="円/楕円 46">
                    <a:extLst>
                      <a:ext uri="{FF2B5EF4-FFF2-40B4-BE49-F238E27FC236}">
                        <a16:creationId xmlns:a16="http://schemas.microsoft.com/office/drawing/2014/main" id="{B8AFA4B3-098D-502B-CD77-5EDC1550684C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5CAECFD4-62B5-8B80-358E-90E48C10336A}"/>
                      </a:ext>
                    </a:extLst>
                  </p:cNvPr>
                  <p:cNvCxnSpPr>
                    <a:cxnSpLocks/>
                    <a:stCxn id="47" idx="0"/>
                    <a:endCxn id="4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260B98AF-8177-E7E5-9567-B3383461A1BE}"/>
                      </a:ext>
                    </a:extLst>
                  </p:cNvPr>
                  <p:cNvCxnSpPr>
                    <a:cxnSpLocks/>
                    <a:stCxn id="47" idx="6"/>
                    <a:endCxn id="4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矢印コネクタ 49">
                    <a:extLst>
                      <a:ext uri="{FF2B5EF4-FFF2-40B4-BE49-F238E27FC236}">
                        <a16:creationId xmlns:a16="http://schemas.microsoft.com/office/drawing/2014/main" id="{004D18E2-9E12-7A30-A823-D682551B4E9F}"/>
                      </a:ext>
                    </a:extLst>
                  </p:cNvPr>
                  <p:cNvCxnSpPr>
                    <a:cxnSpLocks/>
                    <a:endCxn id="47" idx="7"/>
                  </p:cNvCxnSpPr>
                  <p:nvPr/>
                </p:nvCxnSpPr>
                <p:spPr>
                  <a:xfrm flipV="1">
                    <a:off x="2305050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1" name="グループ化 50">
                  <a:extLst>
                    <a:ext uri="{FF2B5EF4-FFF2-40B4-BE49-F238E27FC236}">
                      <a16:creationId xmlns:a16="http://schemas.microsoft.com/office/drawing/2014/main" id="{632ADB75-0E38-F06F-73CA-25C30DD2B5C7}"/>
                    </a:ext>
                  </a:extLst>
                </p:cNvPr>
                <p:cNvGrpSpPr/>
                <p:nvPr/>
              </p:nvGrpSpPr>
              <p:grpSpPr>
                <a:xfrm>
                  <a:off x="2924168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2" name="円/楕円 51">
                    <a:extLst>
                      <a:ext uri="{FF2B5EF4-FFF2-40B4-BE49-F238E27FC236}">
                        <a16:creationId xmlns:a16="http://schemas.microsoft.com/office/drawing/2014/main" id="{40C58F76-25A4-33D3-FB83-AF89B34274DF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052A1ED1-DAA1-D5BE-4E2E-B31066806847}"/>
                      </a:ext>
                    </a:extLst>
                  </p:cNvPr>
                  <p:cNvCxnSpPr>
                    <a:cxnSpLocks/>
                    <a:stCxn id="52" idx="0"/>
                    <a:endCxn id="5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CBD2D822-9E1E-F048-F91D-5970B2A04B62}"/>
                      </a:ext>
                    </a:extLst>
                  </p:cNvPr>
                  <p:cNvCxnSpPr>
                    <a:cxnSpLocks/>
                    <a:stCxn id="52" idx="6"/>
                    <a:endCxn id="5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矢印コネクタ 54">
                    <a:extLst>
                      <a:ext uri="{FF2B5EF4-FFF2-40B4-BE49-F238E27FC236}">
                        <a16:creationId xmlns:a16="http://schemas.microsoft.com/office/drawing/2014/main" id="{594D6E03-45E6-E1F1-BF04-2A0BF1253620}"/>
                      </a:ext>
                    </a:extLst>
                  </p:cNvPr>
                  <p:cNvCxnSpPr>
                    <a:cxnSpLocks/>
                    <a:endCxn id="52" idx="5"/>
                  </p:cNvCxnSpPr>
                  <p:nvPr/>
                </p:nvCxnSpPr>
                <p:spPr>
                  <a:xfrm>
                    <a:off x="2305050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BDA066CB-5578-F0D9-12FC-64103ECA44E4}"/>
                    </a:ext>
                  </a:extLst>
                </p:cNvPr>
                <p:cNvGrpSpPr/>
                <p:nvPr/>
              </p:nvGrpSpPr>
              <p:grpSpPr>
                <a:xfrm>
                  <a:off x="3440102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57" name="円/楕円 56">
                    <a:extLst>
                      <a:ext uri="{FF2B5EF4-FFF2-40B4-BE49-F238E27FC236}">
                        <a16:creationId xmlns:a16="http://schemas.microsoft.com/office/drawing/2014/main" id="{09ECE4C2-AA98-BB74-6825-65A4B325E46B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58" name="直線コネクタ 57">
                    <a:extLst>
                      <a:ext uri="{FF2B5EF4-FFF2-40B4-BE49-F238E27FC236}">
                        <a16:creationId xmlns:a16="http://schemas.microsoft.com/office/drawing/2014/main" id="{74621BC1-C09D-7166-11EF-655D9134BD43}"/>
                      </a:ext>
                    </a:extLst>
                  </p:cNvPr>
                  <p:cNvCxnSpPr>
                    <a:cxnSpLocks/>
                    <a:stCxn id="57" idx="0"/>
                    <a:endCxn id="57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98CC0141-5876-2848-8205-A7B407D01156}"/>
                      </a:ext>
                    </a:extLst>
                  </p:cNvPr>
                  <p:cNvCxnSpPr>
                    <a:cxnSpLocks/>
                    <a:stCxn id="57" idx="6"/>
                    <a:endCxn id="57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矢印コネクタ 59">
                    <a:extLst>
                      <a:ext uri="{FF2B5EF4-FFF2-40B4-BE49-F238E27FC236}">
                        <a16:creationId xmlns:a16="http://schemas.microsoft.com/office/drawing/2014/main" id="{776DA987-2C96-A4FF-56A0-46D3CB52A03C}"/>
                      </a:ext>
                    </a:extLst>
                  </p:cNvPr>
                  <p:cNvCxnSpPr>
                    <a:cxnSpLocks/>
                    <a:endCxn id="57" idx="3"/>
                  </p:cNvCxnSpPr>
                  <p:nvPr/>
                </p:nvCxnSpPr>
                <p:spPr>
                  <a:xfrm flipH="1">
                    <a:off x="2013192" y="2590800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" name="グループ化 60">
                  <a:extLst>
                    <a:ext uri="{FF2B5EF4-FFF2-40B4-BE49-F238E27FC236}">
                      <a16:creationId xmlns:a16="http://schemas.microsoft.com/office/drawing/2014/main" id="{DAF38352-CF51-A95C-7586-65CF28BF3432}"/>
                    </a:ext>
                  </a:extLst>
                </p:cNvPr>
                <p:cNvGrpSpPr/>
                <p:nvPr/>
              </p:nvGrpSpPr>
              <p:grpSpPr>
                <a:xfrm>
                  <a:off x="3956036" y="1651000"/>
                  <a:ext cx="825500" cy="1879600"/>
                  <a:chOff x="1892300" y="1651000"/>
                  <a:chExt cx="825500" cy="1879600"/>
                </a:xfrm>
              </p:grpSpPr>
              <p:sp>
                <p:nvSpPr>
                  <p:cNvPr id="62" name="円/楕円 61">
                    <a:extLst>
                      <a:ext uri="{FF2B5EF4-FFF2-40B4-BE49-F238E27FC236}">
                        <a16:creationId xmlns:a16="http://schemas.microsoft.com/office/drawing/2014/main" id="{6D0B72E6-4FA6-3380-0E33-A00B0D142BF8}"/>
                      </a:ext>
                    </a:extLst>
                  </p:cNvPr>
                  <p:cNvSpPr/>
                  <p:nvPr/>
                </p:nvSpPr>
                <p:spPr>
                  <a:xfrm>
                    <a:off x="1892300" y="1651000"/>
                    <a:ext cx="825500" cy="1879600"/>
                  </a:xfrm>
                  <a:prstGeom prst="ellipse">
                    <a:avLst/>
                  </a:prstGeom>
                  <a:solidFill>
                    <a:srgbClr val="FFFFFF">
                      <a:alpha val="80000"/>
                    </a:srgb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CB25F6A3-6B1B-8269-2AC3-40A55140CDE4}"/>
                      </a:ext>
                    </a:extLst>
                  </p:cNvPr>
                  <p:cNvCxnSpPr>
                    <a:cxnSpLocks/>
                    <a:stCxn id="62" idx="0"/>
                    <a:endCxn id="62" idx="4"/>
                  </p:cNvCxnSpPr>
                  <p:nvPr/>
                </p:nvCxnSpPr>
                <p:spPr>
                  <a:xfrm>
                    <a:off x="2305050" y="1651000"/>
                    <a:ext cx="0" cy="1879600"/>
                  </a:xfrm>
                  <a:prstGeom prst="line">
                    <a:avLst/>
                  </a:prstGeom>
                  <a:ln w="9525">
                    <a:noFill/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103A9DCC-F6D0-50B1-17E1-7D108240B18F}"/>
                      </a:ext>
                    </a:extLst>
                  </p:cNvPr>
                  <p:cNvCxnSpPr>
                    <a:cxnSpLocks/>
                    <a:stCxn id="62" idx="6"/>
                    <a:endCxn id="62" idx="2"/>
                  </p:cNvCxnSpPr>
                  <p:nvPr/>
                </p:nvCxnSpPr>
                <p:spPr>
                  <a:xfrm flipH="1">
                    <a:off x="1892300" y="2590800"/>
                    <a:ext cx="825500" cy="0"/>
                  </a:xfrm>
                  <a:prstGeom prst="line">
                    <a:avLst/>
                  </a:prstGeom>
                  <a:ln w="9525">
                    <a:noFill/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矢印コネクタ 64">
                    <a:extLst>
                      <a:ext uri="{FF2B5EF4-FFF2-40B4-BE49-F238E27FC236}">
                        <a16:creationId xmlns:a16="http://schemas.microsoft.com/office/drawing/2014/main" id="{7B0C2818-AEA2-7005-7B24-E8A7C92FDDC0}"/>
                      </a:ext>
                    </a:extLst>
                  </p:cNvPr>
                  <p:cNvCxnSpPr>
                    <a:cxnSpLocks/>
                    <a:endCxn id="62" idx="1"/>
                  </p:cNvCxnSpPr>
                  <p:nvPr/>
                </p:nvCxnSpPr>
                <p:spPr>
                  <a:xfrm flipH="1" flipV="1">
                    <a:off x="2013192" y="1926261"/>
                    <a:ext cx="291858" cy="66453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B526424E-C23A-1754-A6DA-8FB750D6F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8619" y="3898900"/>
                <a:ext cx="37211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CD9A7EBC-650D-B926-8A39-CB8E01F75CD7}"/>
                </a:ext>
              </a:extLst>
            </p:cNvPr>
            <p:cNvSpPr txBox="1"/>
            <p:nvPr/>
          </p:nvSpPr>
          <p:spPr>
            <a:xfrm>
              <a:off x="7913825" y="4194530"/>
              <a:ext cx="192855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Non-collinear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E5A0D73-8D81-46AE-2FE6-89DB43970331}"/>
              </a:ext>
            </a:extLst>
          </p:cNvPr>
          <p:cNvSpPr txBox="1"/>
          <p:nvPr/>
        </p:nvSpPr>
        <p:spPr>
          <a:xfrm>
            <a:off x="9018984" y="1892552"/>
            <a:ext cx="595035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3543EC39-541F-8B19-20A9-4927475DA74E}"/>
              </a:ext>
            </a:extLst>
          </p:cNvPr>
          <p:cNvGrpSpPr/>
          <p:nvPr/>
        </p:nvGrpSpPr>
        <p:grpSpPr>
          <a:xfrm>
            <a:off x="13761803" y="2160274"/>
            <a:ext cx="2291013" cy="1691767"/>
            <a:chOff x="8079980" y="695657"/>
            <a:chExt cx="1580261" cy="1166922"/>
          </a:xfrm>
        </p:grpSpPr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CEEC7002-E31A-24E9-7095-5A2CA0526739}"/>
                </a:ext>
              </a:extLst>
            </p:cNvPr>
            <p:cNvSpPr txBox="1"/>
            <p:nvPr/>
          </p:nvSpPr>
          <p:spPr>
            <a:xfrm>
              <a:off x="8079980" y="1583413"/>
              <a:ext cx="1580261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>
                  <a:latin typeface="Helvetica" pitchFamily="2" charset="0"/>
                </a:rPr>
                <a:t>Collinear structure</a:t>
              </a:r>
              <a:endParaRPr lang="ja-JP" altLang="en-US" sz="2030">
                <a:latin typeface="Helvetica" pitchFamily="2" charset="0"/>
              </a:endParaRPr>
            </a:p>
          </p:txBody>
        </p:sp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4C5F6D02-EDDF-EE7B-1C0A-B21961B82840}"/>
                </a:ext>
              </a:extLst>
            </p:cNvPr>
            <p:cNvGrpSpPr/>
            <p:nvPr/>
          </p:nvGrpSpPr>
          <p:grpSpPr>
            <a:xfrm>
              <a:off x="8306151" y="695657"/>
              <a:ext cx="1229574" cy="888749"/>
              <a:chOff x="5985394" y="1336431"/>
              <a:chExt cx="3940484" cy="2289907"/>
            </a:xfrm>
            <a:solidFill>
              <a:schemeClr val="bg1">
                <a:lumMod val="65000"/>
              </a:schemeClr>
            </a:solidFill>
          </p:grpSpPr>
          <p:cxnSp>
            <p:nvCxnSpPr>
              <p:cNvPr id="93" name="カギ線コネクタ 92">
                <a:extLst>
                  <a:ext uri="{FF2B5EF4-FFF2-40B4-BE49-F238E27FC236}">
                    <a16:creationId xmlns:a16="http://schemas.microsoft.com/office/drawing/2014/main" id="{54CDB21E-1B45-E488-C730-237A24CCC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57942" y="1336431"/>
                <a:ext cx="2484000" cy="2289907"/>
              </a:xfrm>
              <a:prstGeom prst="bentConnector3">
                <a:avLst>
                  <a:gd name="adj1" fmla="val 756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上矢印 93">
                <a:extLst>
                  <a:ext uri="{FF2B5EF4-FFF2-40B4-BE49-F238E27FC236}">
                    <a16:creationId xmlns:a16="http://schemas.microsoft.com/office/drawing/2014/main" id="{35DD79A2-B951-09EA-7930-48D59ED82806}"/>
                  </a:ext>
                </a:extLst>
              </p:cNvPr>
              <p:cNvSpPr/>
              <p:nvPr/>
            </p:nvSpPr>
            <p:spPr>
              <a:xfrm>
                <a:off x="6150707" y="1402118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5" name="上矢印 94">
                <a:extLst>
                  <a:ext uri="{FF2B5EF4-FFF2-40B4-BE49-F238E27FC236}">
                    <a16:creationId xmlns:a16="http://schemas.microsoft.com/office/drawing/2014/main" id="{6D6F0576-9F0B-59EB-FB27-48D7A3678B2B}"/>
                  </a:ext>
                </a:extLst>
              </p:cNvPr>
              <p:cNvSpPr/>
              <p:nvPr/>
            </p:nvSpPr>
            <p:spPr>
              <a:xfrm>
                <a:off x="6717245" y="1402117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6" name="上矢印 95">
                <a:extLst>
                  <a:ext uri="{FF2B5EF4-FFF2-40B4-BE49-F238E27FC236}">
                    <a16:creationId xmlns:a16="http://schemas.microsoft.com/office/drawing/2014/main" id="{97BDC94A-C13A-DF62-135B-15ED5386D911}"/>
                  </a:ext>
                </a:extLst>
              </p:cNvPr>
              <p:cNvSpPr/>
              <p:nvPr/>
            </p:nvSpPr>
            <p:spPr>
              <a:xfrm>
                <a:off x="7315199" y="1402115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7" name="上矢印 96">
                <a:extLst>
                  <a:ext uri="{FF2B5EF4-FFF2-40B4-BE49-F238E27FC236}">
                    <a16:creationId xmlns:a16="http://schemas.microsoft.com/office/drawing/2014/main" id="{E8EB98FE-F2F2-DC02-31E8-DE449A8B7CD8}"/>
                  </a:ext>
                </a:extLst>
              </p:cNvPr>
              <p:cNvSpPr/>
              <p:nvPr/>
            </p:nvSpPr>
            <p:spPr>
              <a:xfrm rot="10800000">
                <a:off x="7969047" y="2499173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6AE9A925-1746-47DF-3A21-B61733AB4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85394" y="2480638"/>
                <a:ext cx="3940484" cy="1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カギ線コネクタ 98">
                <a:extLst>
                  <a:ext uri="{FF2B5EF4-FFF2-40B4-BE49-F238E27FC236}">
                    <a16:creationId xmlns:a16="http://schemas.microsoft.com/office/drawing/2014/main" id="{E892F62E-DAA9-BB3B-BF9F-0581C91743A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470092" y="1336431"/>
                <a:ext cx="1296000" cy="2289160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上矢印 99">
                <a:extLst>
                  <a:ext uri="{FF2B5EF4-FFF2-40B4-BE49-F238E27FC236}">
                    <a16:creationId xmlns:a16="http://schemas.microsoft.com/office/drawing/2014/main" id="{68B22792-698B-880C-9EA5-34870C4162CC}"/>
                  </a:ext>
                </a:extLst>
              </p:cNvPr>
              <p:cNvSpPr/>
              <p:nvPr/>
            </p:nvSpPr>
            <p:spPr>
              <a:xfrm rot="10800000">
                <a:off x="8535586" y="2499172"/>
                <a:ext cx="484632" cy="1078523"/>
              </a:xfrm>
              <a:prstGeom prst="upArrow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653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9CE573E1-40E2-B12C-0A3D-AB676A6B2101}"/>
              </a:ext>
            </a:extLst>
          </p:cNvPr>
          <p:cNvGrpSpPr/>
          <p:nvPr/>
        </p:nvGrpSpPr>
        <p:grpSpPr>
          <a:xfrm>
            <a:off x="-3356338" y="3594400"/>
            <a:ext cx="1196784" cy="2724985"/>
            <a:chOff x="1892300" y="1651000"/>
            <a:chExt cx="825500" cy="1879600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4EF3A4F3-D4D5-B360-19B5-0A69E82DC8CD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1B964F2-2DDB-5FFE-3D80-C647766C7FA0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5C38E61E-E67C-BB10-7729-F8D7904050EA}"/>
                </a:ext>
              </a:extLst>
            </p:cNvPr>
            <p:cNvCxnSpPr>
              <a:cxnSpLocks/>
              <a:stCxn id="4" idx="6"/>
              <a:endCxn id="4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35F19F6-0C92-85B2-CB7F-C7C45C4DD9C1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V="1">
              <a:off x="2305050" y="1651000"/>
              <a:ext cx="0" cy="939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48DB3A-1E5E-C65C-C5BC-13F84210AEBF}"/>
              </a:ext>
            </a:extLst>
          </p:cNvPr>
          <p:cNvGrpSpPr/>
          <p:nvPr/>
        </p:nvGrpSpPr>
        <p:grpSpPr>
          <a:xfrm>
            <a:off x="-2608352" y="3594400"/>
            <a:ext cx="1196784" cy="2724985"/>
            <a:chOff x="1892300" y="1651000"/>
            <a:chExt cx="825500" cy="1879600"/>
          </a:xfrm>
        </p:grpSpPr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A473807E-0273-3E1C-1249-67A8A3F105A8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DAC6CB4-46F9-4759-5D45-E5A6BC3AC4F6}"/>
                </a:ext>
              </a:extLst>
            </p:cNvPr>
            <p:cNvCxnSpPr>
              <a:cxnSpLocks/>
              <a:stCxn id="23" idx="0"/>
              <a:endCxn id="23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F3A69B5-1756-B90A-17E0-A721D285EA0B}"/>
                </a:ext>
              </a:extLst>
            </p:cNvPr>
            <p:cNvCxnSpPr>
              <a:cxnSpLocks/>
              <a:stCxn id="23" idx="6"/>
              <a:endCxn id="23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C0C12010-A623-3FC4-603E-6B218380228B}"/>
                </a:ext>
              </a:extLst>
            </p:cNvPr>
            <p:cNvCxnSpPr>
              <a:cxnSpLocks/>
              <a:endCxn id="23" idx="7"/>
            </p:cNvCxnSpPr>
            <p:nvPr/>
          </p:nvCxnSpPr>
          <p:spPr>
            <a:xfrm flipV="1">
              <a:off x="2305050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B64E52AE-2379-C5F9-443F-5E20E035278F}"/>
              </a:ext>
            </a:extLst>
          </p:cNvPr>
          <p:cNvGrpSpPr/>
          <p:nvPr/>
        </p:nvGrpSpPr>
        <p:grpSpPr>
          <a:xfrm>
            <a:off x="-1860368" y="3594400"/>
            <a:ext cx="1196784" cy="2724985"/>
            <a:chOff x="1892300" y="1651000"/>
            <a:chExt cx="825500" cy="1879600"/>
          </a:xfrm>
        </p:grpSpPr>
        <p:sp>
          <p:nvSpPr>
            <p:cNvPr id="46" name="円/楕円 45">
              <a:extLst>
                <a:ext uri="{FF2B5EF4-FFF2-40B4-BE49-F238E27FC236}">
                  <a16:creationId xmlns:a16="http://schemas.microsoft.com/office/drawing/2014/main" id="{01AADD03-92C5-6992-83C9-E6571C1504F7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894C4084-D97F-12B6-70DC-D26B2DF8B5ED}"/>
                </a:ext>
              </a:extLst>
            </p:cNvPr>
            <p:cNvCxnSpPr>
              <a:cxnSpLocks/>
              <a:stCxn id="46" idx="0"/>
              <a:endCxn id="46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249692BC-BAD9-17A3-C5EA-2E90520B73D3}"/>
                </a:ext>
              </a:extLst>
            </p:cNvPr>
            <p:cNvCxnSpPr>
              <a:cxnSpLocks/>
              <a:stCxn id="46" idx="6"/>
              <a:endCxn id="46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4557FB4-6F03-60C6-617A-56599813B0C3}"/>
                </a:ext>
              </a:extLst>
            </p:cNvPr>
            <p:cNvCxnSpPr>
              <a:cxnSpLocks/>
              <a:endCxn id="46" idx="5"/>
            </p:cNvCxnSpPr>
            <p:nvPr/>
          </p:nvCxnSpPr>
          <p:spPr>
            <a:xfrm>
              <a:off x="2305050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C6B695A-50A6-02FB-7D4B-28B084273D84}"/>
              </a:ext>
            </a:extLst>
          </p:cNvPr>
          <p:cNvGrpSpPr/>
          <p:nvPr/>
        </p:nvGrpSpPr>
        <p:grpSpPr>
          <a:xfrm>
            <a:off x="4801055" y="3594400"/>
            <a:ext cx="1196784" cy="2724985"/>
            <a:chOff x="1892300" y="1651000"/>
            <a:chExt cx="825500" cy="1879600"/>
          </a:xfrm>
        </p:grpSpPr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14C36BBB-6983-77A3-9114-56B358ED009C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A070D66-CCB6-B840-EF17-A41124F35BF1}"/>
                </a:ext>
              </a:extLst>
            </p:cNvPr>
            <p:cNvCxnSpPr>
              <a:cxnSpLocks/>
              <a:stCxn id="52" idx="0"/>
              <a:endCxn id="52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A7EAA228-217A-0F86-DE75-F257F4BD0195}"/>
                </a:ext>
              </a:extLst>
            </p:cNvPr>
            <p:cNvCxnSpPr>
              <a:cxnSpLocks/>
              <a:stCxn id="52" idx="6"/>
              <a:endCxn id="52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4E7B397-2374-8C01-B312-C570D684B23E}"/>
                </a:ext>
              </a:extLst>
            </p:cNvPr>
            <p:cNvCxnSpPr>
              <a:cxnSpLocks/>
              <a:endCxn id="52" idx="3"/>
            </p:cNvCxnSpPr>
            <p:nvPr/>
          </p:nvCxnSpPr>
          <p:spPr>
            <a:xfrm flipH="1">
              <a:off x="2013192" y="2590800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AC2AF51-86D7-8CB3-6F7F-4F6DE6F24578}"/>
              </a:ext>
            </a:extLst>
          </p:cNvPr>
          <p:cNvGrpSpPr/>
          <p:nvPr/>
        </p:nvGrpSpPr>
        <p:grpSpPr>
          <a:xfrm>
            <a:off x="5549038" y="3594400"/>
            <a:ext cx="1196784" cy="2724985"/>
            <a:chOff x="1892300" y="1651000"/>
            <a:chExt cx="825500" cy="1879600"/>
          </a:xfrm>
        </p:grpSpPr>
        <p:sp>
          <p:nvSpPr>
            <p:cNvPr id="58" name="円/楕円 57">
              <a:extLst>
                <a:ext uri="{FF2B5EF4-FFF2-40B4-BE49-F238E27FC236}">
                  <a16:creationId xmlns:a16="http://schemas.microsoft.com/office/drawing/2014/main" id="{2136681B-CE0C-F17C-6FF1-3D48C9735BA2}"/>
                </a:ext>
              </a:extLst>
            </p:cNvPr>
            <p:cNvSpPr/>
            <p:nvPr/>
          </p:nvSpPr>
          <p:spPr>
            <a:xfrm>
              <a:off x="1892300" y="1651000"/>
              <a:ext cx="825500" cy="18796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32F4FCE-69CA-DF92-FBE0-1A833CC9195E}"/>
                </a:ext>
              </a:extLst>
            </p:cNvPr>
            <p:cNvCxnSpPr>
              <a:cxnSpLocks/>
              <a:stCxn id="58" idx="0"/>
              <a:endCxn id="58" idx="4"/>
            </p:cNvCxnSpPr>
            <p:nvPr/>
          </p:nvCxnSpPr>
          <p:spPr>
            <a:xfrm>
              <a:off x="2305050" y="1651000"/>
              <a:ext cx="0" cy="1879600"/>
            </a:xfrm>
            <a:prstGeom prst="line">
              <a:avLst/>
            </a:prstGeom>
            <a:ln w="9525">
              <a:noFill/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3E3159A4-7192-7C60-85E4-80532FE1CF97}"/>
                </a:ext>
              </a:extLst>
            </p:cNvPr>
            <p:cNvCxnSpPr>
              <a:cxnSpLocks/>
              <a:stCxn id="58" idx="6"/>
              <a:endCxn id="58" idx="2"/>
            </p:cNvCxnSpPr>
            <p:nvPr/>
          </p:nvCxnSpPr>
          <p:spPr>
            <a:xfrm flipH="1">
              <a:off x="1892300" y="2590800"/>
              <a:ext cx="825500" cy="0"/>
            </a:xfrm>
            <a:prstGeom prst="line">
              <a:avLst/>
            </a:prstGeom>
            <a:ln w="9525">
              <a:noFill/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ABF1698E-5B24-24B0-5D05-9DF2E76357B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flipH="1" flipV="1">
              <a:off x="2013192" y="1926261"/>
              <a:ext cx="291858" cy="6645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3F866971-8B0A-8CF4-24B0-7D0BE4CD82F8}"/>
              </a:ext>
            </a:extLst>
          </p:cNvPr>
          <p:cNvGrpSpPr/>
          <p:nvPr/>
        </p:nvGrpSpPr>
        <p:grpSpPr>
          <a:xfrm>
            <a:off x="10725134" y="3089251"/>
            <a:ext cx="5712790" cy="3319835"/>
            <a:chOff x="5985394" y="1336431"/>
            <a:chExt cx="3940484" cy="2289907"/>
          </a:xfrm>
        </p:grpSpPr>
        <p:cxnSp>
          <p:nvCxnSpPr>
            <p:cNvPr id="66" name="カギ線コネクタ 65">
              <a:extLst>
                <a:ext uri="{FF2B5EF4-FFF2-40B4-BE49-F238E27FC236}">
                  <a16:creationId xmlns:a16="http://schemas.microsoft.com/office/drawing/2014/main" id="{507633C8-001A-8836-3C7A-13954A74FCFA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42" y="1336431"/>
              <a:ext cx="2484000" cy="2289907"/>
            </a:xfrm>
            <a:prstGeom prst="bentConnector3">
              <a:avLst>
                <a:gd name="adj1" fmla="val 756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上矢印 67">
              <a:extLst>
                <a:ext uri="{FF2B5EF4-FFF2-40B4-BE49-F238E27FC236}">
                  <a16:creationId xmlns:a16="http://schemas.microsoft.com/office/drawing/2014/main" id="{B100C1E2-882D-F6C6-D174-2F664F40776C}"/>
                </a:ext>
              </a:extLst>
            </p:cNvPr>
            <p:cNvSpPr/>
            <p:nvPr/>
          </p:nvSpPr>
          <p:spPr>
            <a:xfrm>
              <a:off x="6150707" y="1402118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69" name="上矢印 68">
              <a:extLst>
                <a:ext uri="{FF2B5EF4-FFF2-40B4-BE49-F238E27FC236}">
                  <a16:creationId xmlns:a16="http://schemas.microsoft.com/office/drawing/2014/main" id="{0E9C96FE-0D5D-B3D1-6D30-83230CE6363C}"/>
                </a:ext>
              </a:extLst>
            </p:cNvPr>
            <p:cNvSpPr/>
            <p:nvPr/>
          </p:nvSpPr>
          <p:spPr>
            <a:xfrm>
              <a:off x="6717245" y="1402117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2" name="上矢印 71">
              <a:extLst>
                <a:ext uri="{FF2B5EF4-FFF2-40B4-BE49-F238E27FC236}">
                  <a16:creationId xmlns:a16="http://schemas.microsoft.com/office/drawing/2014/main" id="{04CEEBFA-88A8-0431-E5AE-EBAD1EE4CEE2}"/>
                </a:ext>
              </a:extLst>
            </p:cNvPr>
            <p:cNvSpPr/>
            <p:nvPr/>
          </p:nvSpPr>
          <p:spPr>
            <a:xfrm>
              <a:off x="7315199" y="1402115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sp>
          <p:nvSpPr>
            <p:cNvPr id="73" name="上矢印 72">
              <a:extLst>
                <a:ext uri="{FF2B5EF4-FFF2-40B4-BE49-F238E27FC236}">
                  <a16:creationId xmlns:a16="http://schemas.microsoft.com/office/drawing/2014/main" id="{9EC8353C-C798-71B3-1B1A-0EE93744CE30}"/>
                </a:ext>
              </a:extLst>
            </p:cNvPr>
            <p:cNvSpPr/>
            <p:nvPr/>
          </p:nvSpPr>
          <p:spPr>
            <a:xfrm rot="10800000">
              <a:off x="7969047" y="2499173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5346DA3A-30B2-7F95-F373-EFAED8286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5394" y="2480638"/>
              <a:ext cx="3940484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1BC37781-41A9-F5E4-97DC-96AD56FCBB6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470092" y="1336431"/>
              <a:ext cx="1296000" cy="228916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上矢印 82">
              <a:extLst>
                <a:ext uri="{FF2B5EF4-FFF2-40B4-BE49-F238E27FC236}">
                  <a16:creationId xmlns:a16="http://schemas.microsoft.com/office/drawing/2014/main" id="{2C83EA5B-4681-6210-5C29-97212B6EBDAC}"/>
                </a:ext>
              </a:extLst>
            </p:cNvPr>
            <p:cNvSpPr/>
            <p:nvPr/>
          </p:nvSpPr>
          <p:spPr>
            <a:xfrm rot="10800000">
              <a:off x="8535586" y="2499172"/>
              <a:ext cx="484632" cy="107852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879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1D4A4A0-7D06-EECC-0C9D-DB4550821F14}"/>
              </a:ext>
            </a:extLst>
          </p:cNvPr>
          <p:cNvGrpSpPr/>
          <p:nvPr/>
        </p:nvGrpSpPr>
        <p:grpSpPr>
          <a:xfrm>
            <a:off x="5068298" y="1805729"/>
            <a:ext cx="9113970" cy="8873140"/>
            <a:chOff x="2083505" y="451104"/>
            <a:chExt cx="6286500" cy="612038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1EFC321D-9288-B213-7E23-E0628F361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A0D6D5C-4A17-DD0F-C4FE-DF0BDBEDCCB9}"/>
                </a:ext>
              </a:extLst>
            </p:cNvPr>
            <p:cNvSpPr txBox="1"/>
            <p:nvPr/>
          </p:nvSpPr>
          <p:spPr>
            <a:xfrm>
              <a:off x="3714701" y="712178"/>
              <a:ext cx="173505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E0C56FC-CF28-CB39-1C5D-95B4DEEC9472}"/>
                </a:ext>
              </a:extLst>
            </p:cNvPr>
            <p:cNvSpPr txBox="1"/>
            <p:nvPr/>
          </p:nvSpPr>
          <p:spPr>
            <a:xfrm>
              <a:off x="2303779" y="2741027"/>
              <a:ext cx="1749432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B5A6B62-B777-B306-2464-FBA33FBD469C}"/>
                </a:ext>
              </a:extLst>
            </p:cNvPr>
            <p:cNvSpPr txBox="1"/>
            <p:nvPr/>
          </p:nvSpPr>
          <p:spPr>
            <a:xfrm>
              <a:off x="4641757" y="1603511"/>
              <a:ext cx="2106571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46B864D-AF8E-A331-BE51-0635A3E4BF23}"/>
                </a:ext>
              </a:extLst>
            </p:cNvPr>
            <p:cNvSpPr txBox="1"/>
            <p:nvPr/>
          </p:nvSpPr>
          <p:spPr>
            <a:xfrm>
              <a:off x="3421619" y="4287614"/>
              <a:ext cx="1442049" cy="679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3D0D581-377A-4A3D-9166-790FDA466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48599B1-97AE-1239-E48E-CF077A423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D71BA81-534E-E3F4-A921-501BE9940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7349C00-61C4-6C15-2899-6FA3E32C53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21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6341C1F-FB7D-587A-35AB-718AE3C9D970}"/>
              </a:ext>
            </a:extLst>
          </p:cNvPr>
          <p:cNvGrpSpPr/>
          <p:nvPr/>
        </p:nvGrpSpPr>
        <p:grpSpPr>
          <a:xfrm>
            <a:off x="5933276" y="2592204"/>
            <a:ext cx="8821366" cy="6548430"/>
            <a:chOff x="2680137" y="993588"/>
            <a:chExt cx="6084672" cy="451688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30DD1CD-D1E2-6DB0-ED13-37A0E3E77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3477" t="30316" r="30100" b="35489"/>
            <a:stretch>
              <a:fillRect/>
            </a:stretch>
          </p:blipFill>
          <p:spPr>
            <a:xfrm>
              <a:off x="2680137" y="1347531"/>
              <a:ext cx="5912070" cy="41629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/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E6DDD13-2B9B-1AC9-5F9F-37FE2E2A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840853"/>
                  <a:ext cx="416670" cy="371514"/>
                </a:xfrm>
                <a:prstGeom prst="rect">
                  <a:avLst/>
                </a:prstGeom>
                <a:blipFill>
                  <a:blip r:embed="rId3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/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ja-JP" sz="29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</m:oMath>
                    </m:oMathPara>
                  </a14:m>
                  <a:endParaRPr lang="ja-JP" altLang="en-US" sz="2900" b="1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42FD9A2-999F-EF1A-047C-8C504590C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380" y="2801846"/>
                  <a:ext cx="452052" cy="400661"/>
                </a:xfrm>
                <a:prstGeom prst="rect">
                  <a:avLst/>
                </a:prstGeom>
                <a:blipFill>
                  <a:blip r:embed="rId4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/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ja-JP" sz="2900" b="1" i="1">
                            <a:solidFill>
                              <a:srgbClr val="FD3232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ja-JP" altLang="en-US" sz="2900" b="1">
                    <a:solidFill>
                      <a:srgbClr val="FD323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3C90597B-7E5E-F576-C9C3-C2909A9D7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538" y="3165655"/>
                  <a:ext cx="367312" cy="371514"/>
                </a:xfrm>
                <a:prstGeom prst="rect">
                  <a:avLst/>
                </a:prstGeom>
                <a:blipFill>
                  <a:blip r:embed="rId5"/>
                  <a:stretch>
                    <a:fillRect l="-4545" r="-4545" b="-1395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7CC36DE-A24D-7D14-1FD7-51D99823B355}"/>
                </a:ext>
              </a:extLst>
            </p:cNvPr>
            <p:cNvSpPr txBox="1"/>
            <p:nvPr/>
          </p:nvSpPr>
          <p:spPr>
            <a:xfrm>
              <a:off x="7025730" y="1152416"/>
              <a:ext cx="1561508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Two-dimensional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2467F13-B773-28CE-A82D-D9CD776E44D7}"/>
                </a:ext>
              </a:extLst>
            </p:cNvPr>
            <p:cNvSpPr txBox="1"/>
            <p:nvPr/>
          </p:nvSpPr>
          <p:spPr>
            <a:xfrm>
              <a:off x="4392627" y="1970849"/>
              <a:ext cx="1134665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Measurable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503389F-8BAA-FBB8-AEBC-2EBB9D177476}"/>
                </a:ext>
              </a:extLst>
            </p:cNvPr>
            <p:cNvSpPr txBox="1"/>
            <p:nvPr/>
          </p:nvSpPr>
          <p:spPr>
            <a:xfrm>
              <a:off x="3066182" y="993588"/>
              <a:ext cx="1183316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B8253C48-E730-E9CD-DAFA-27B6EB4297BE}"/>
                </a:ext>
              </a:extLst>
            </p:cNvPr>
            <p:cNvSpPr txBox="1"/>
            <p:nvPr/>
          </p:nvSpPr>
          <p:spPr>
            <a:xfrm>
              <a:off x="5572590" y="2678735"/>
              <a:ext cx="742143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2D69FAC-8ECE-09D8-B315-0227FC11D8C7}"/>
                </a:ext>
              </a:extLst>
            </p:cNvPr>
            <p:cNvSpPr txBox="1"/>
            <p:nvPr/>
          </p:nvSpPr>
          <p:spPr>
            <a:xfrm>
              <a:off x="6126467" y="3940599"/>
              <a:ext cx="1958409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 neutron spin filter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(Spin analyzer)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A43D3C5-0816-F896-DE76-45324A6A2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22" y="1253067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04ACB00D-42EB-D524-A1C9-3E56C93F5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4582" y="2328779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0A76959-A9C3-13E7-E4B1-C838C29188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5202" y="1531845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D878277-1008-EA91-33FA-C2AC4A00889C}"/>
                </a:ext>
              </a:extLst>
            </p:cNvPr>
            <p:cNvCxnSpPr>
              <a:cxnSpLocks/>
            </p:cNvCxnSpPr>
            <p:nvPr/>
          </p:nvCxnSpPr>
          <p:spPr>
            <a:xfrm>
              <a:off x="6517628" y="3589694"/>
              <a:ext cx="261469" cy="27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764AC20D-D4E6-D64B-7711-25331EBCF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34841" y="3016456"/>
              <a:ext cx="48398" cy="6817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4EFBB7C-1193-9D3C-6641-8C1916C513A9}"/>
                </a:ext>
              </a:extLst>
            </p:cNvPr>
            <p:cNvSpPr txBox="1"/>
            <p:nvPr/>
          </p:nvSpPr>
          <p:spPr>
            <a:xfrm>
              <a:off x="4658171" y="5179399"/>
              <a:ext cx="2294540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Incident polarized neutron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円/楕円 1">
              <a:extLst>
                <a:ext uri="{FF2B5EF4-FFF2-40B4-BE49-F238E27FC236}">
                  <a16:creationId xmlns:a16="http://schemas.microsoft.com/office/drawing/2014/main" id="{58150A27-8E00-99AE-02DD-B1CC153E4C8A}"/>
                </a:ext>
              </a:extLst>
            </p:cNvPr>
            <p:cNvSpPr/>
            <p:nvPr/>
          </p:nvSpPr>
          <p:spPr>
            <a:xfrm>
              <a:off x="6839601" y="2037956"/>
              <a:ext cx="1260915" cy="12609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70B1CE84-7CE5-C7B4-645E-39D5737A00B9}"/>
                </a:ext>
              </a:extLst>
            </p:cNvPr>
            <p:cNvCxnSpPr>
              <a:endCxn id="2" idx="2"/>
            </p:cNvCxnSpPr>
            <p:nvPr/>
          </p:nvCxnSpPr>
          <p:spPr>
            <a:xfrm flipV="1">
              <a:off x="6112481" y="2668414"/>
              <a:ext cx="727120" cy="92154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A0EB052-DCD6-0F46-57D7-242253D7A324}"/>
                </a:ext>
              </a:extLst>
            </p:cNvPr>
            <p:cNvCxnSpPr>
              <a:cxnSpLocks/>
              <a:endCxn id="2" idx="6"/>
            </p:cNvCxnSpPr>
            <p:nvPr/>
          </p:nvCxnSpPr>
          <p:spPr>
            <a:xfrm flipV="1">
              <a:off x="6125226" y="2668414"/>
              <a:ext cx="1975290" cy="10300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9D0A785-3987-D743-2175-8620E3C320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337" y="3049753"/>
              <a:ext cx="204686" cy="307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28A2D5C-3F12-BF9E-A756-F0BD9EA2D5D8}"/>
                </a:ext>
              </a:extLst>
            </p:cNvPr>
            <p:cNvSpPr txBox="1"/>
            <p:nvPr/>
          </p:nvSpPr>
          <p:spPr>
            <a:xfrm>
              <a:off x="6881588" y="3272992"/>
              <a:ext cx="1883221" cy="556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Polarization analysis </a:t>
              </a:r>
              <a:b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3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endParaRPr lang="ja-JP" altLang="en-US" sz="232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7D2C9876-9334-4530-9AD9-A1EF56616BFE}"/>
                </a:ext>
              </a:extLst>
            </p:cNvPr>
            <p:cNvSpPr/>
            <p:nvPr/>
          </p:nvSpPr>
          <p:spPr>
            <a:xfrm>
              <a:off x="4371923" y="2878179"/>
              <a:ext cx="1050888" cy="105088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689723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42D1D535-AD22-0D04-A847-8DCB47912F0A}"/>
              </a:ext>
            </a:extLst>
          </p:cNvPr>
          <p:cNvGrpSpPr/>
          <p:nvPr/>
        </p:nvGrpSpPr>
        <p:grpSpPr>
          <a:xfrm>
            <a:off x="3728915" y="2004843"/>
            <a:ext cx="13069214" cy="8021503"/>
            <a:chOff x="1159645" y="588446"/>
            <a:chExt cx="9014690" cy="5532954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E3CE7A2-1906-18DF-77D5-8DE1267A96A6}"/>
                </a:ext>
              </a:extLst>
            </p:cNvPr>
            <p:cNvGrpSpPr/>
            <p:nvPr/>
          </p:nvGrpSpPr>
          <p:grpSpPr>
            <a:xfrm>
              <a:off x="1159645" y="736600"/>
              <a:ext cx="9014690" cy="5384800"/>
              <a:chOff x="164690" y="736600"/>
              <a:chExt cx="9014690" cy="538480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2ACCA119-C495-C444-93EA-55AE66C69F91}"/>
                  </a:ext>
                </a:extLst>
              </p:cNvPr>
              <p:cNvGrpSpPr/>
              <p:nvPr/>
            </p:nvGrpSpPr>
            <p:grpSpPr>
              <a:xfrm>
                <a:off x="4679186" y="736600"/>
                <a:ext cx="4500194" cy="5384800"/>
                <a:chOff x="756115" y="736600"/>
                <a:chExt cx="4500194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0586F6A2-47E9-869B-5D11-E89AA4E8F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6214"/>
                <a:stretch>
                  <a:fillRect/>
                </a:stretch>
              </p:blipFill>
              <p:spPr>
                <a:xfrm>
                  <a:off x="756115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D78E28A8-CBAE-8E12-87C2-EF0789FE3A0E}"/>
                    </a:ext>
                  </a:extLst>
                </p:cNvPr>
                <p:cNvSpPr txBox="1"/>
                <p:nvPr/>
              </p:nvSpPr>
              <p:spPr>
                <a:xfrm rot="16200000">
                  <a:off x="4315849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10A34C08-7311-544D-5973-9AB402154C3F}"/>
                  </a:ext>
                </a:extLst>
              </p:cNvPr>
              <p:cNvGrpSpPr/>
              <p:nvPr/>
            </p:nvGrpSpPr>
            <p:grpSpPr>
              <a:xfrm>
                <a:off x="164690" y="736600"/>
                <a:ext cx="4607221" cy="5384800"/>
                <a:chOff x="164690" y="736600"/>
                <a:chExt cx="4607221" cy="5384800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A2D1F48D-CBD3-2916-AF73-E44F266169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5418"/>
                <a:stretch>
                  <a:fillRect/>
                </a:stretch>
              </p:blipFill>
              <p:spPr>
                <a:xfrm>
                  <a:off x="164690" y="736600"/>
                  <a:ext cx="4252191" cy="5384800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CA4F2CEF-D124-7C50-C512-4FF63DD178C5}"/>
                    </a:ext>
                  </a:extLst>
                </p:cNvPr>
                <p:cNvSpPr txBox="1"/>
                <p:nvPr/>
              </p:nvSpPr>
              <p:spPr>
                <a:xfrm rot="16200000">
                  <a:off x="3831451" y="3258636"/>
                  <a:ext cx="1540190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/>
                    <a:t>Intensity (</a:t>
                  </a:r>
                  <a:r>
                    <a:rPr lang="en-US" altLang="ja-JP" sz="2610" dirty="0" err="1"/>
                    <a:t>a.u</a:t>
                  </a:r>
                  <a:r>
                    <a:rPr lang="en-US" altLang="ja-JP" sz="2610" dirty="0"/>
                    <a:t>.)</a:t>
                  </a:r>
                  <a:endParaRPr lang="ja-JP" altLang="en-US" sz="2610"/>
                </a:p>
              </p:txBody>
            </p:sp>
          </p:grp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C42F7D0-AC14-4CA7-FBE6-C631805DCD80}"/>
                </a:ext>
              </a:extLst>
            </p:cNvPr>
            <p:cNvSpPr txBox="1"/>
            <p:nvPr/>
          </p:nvSpPr>
          <p:spPr>
            <a:xfrm>
              <a:off x="1802966" y="588446"/>
              <a:ext cx="16347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(a) Unpolarized</a:t>
              </a:r>
              <a:endParaRPr lang="ja-JP" altLang="en-US" sz="261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B0A1FB-1D3C-116E-7808-256C36AD0A4C}"/>
                </a:ext>
              </a:extLst>
            </p:cNvPr>
            <p:cNvSpPr txBox="1"/>
            <p:nvPr/>
          </p:nvSpPr>
          <p:spPr>
            <a:xfrm>
              <a:off x="6335683" y="588446"/>
              <a:ext cx="1353593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(b) Polarized</a:t>
              </a:r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3050197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B002AA5-582E-50E7-C34A-CA134B09A9B4}"/>
              </a:ext>
            </a:extLst>
          </p:cNvPr>
          <p:cNvGrpSpPr/>
          <p:nvPr/>
        </p:nvGrpSpPr>
        <p:grpSpPr>
          <a:xfrm>
            <a:off x="4300612" y="2480973"/>
            <a:ext cx="11518102" cy="5074171"/>
            <a:chOff x="1553980" y="916863"/>
            <a:chExt cx="7944787" cy="349998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45564A0-D3FD-6120-BED2-2955DF8A8369}"/>
                </a:ext>
              </a:extLst>
            </p:cNvPr>
            <p:cNvGrpSpPr/>
            <p:nvPr/>
          </p:nvGrpSpPr>
          <p:grpSpPr>
            <a:xfrm>
              <a:off x="1553980" y="1086787"/>
              <a:ext cx="7944787" cy="3330063"/>
              <a:chOff x="0" y="736600"/>
              <a:chExt cx="11142262" cy="4670287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F0FD4645-9695-1C81-6199-58D8ECF384C7}"/>
                  </a:ext>
                </a:extLst>
              </p:cNvPr>
              <p:cNvGrpSpPr/>
              <p:nvPr/>
            </p:nvGrpSpPr>
            <p:grpSpPr>
              <a:xfrm>
                <a:off x="0" y="736600"/>
                <a:ext cx="7533964" cy="4670287"/>
                <a:chOff x="257892" y="736600"/>
                <a:chExt cx="8686595" cy="5384800"/>
              </a:xfrm>
            </p:grpSpPr>
            <p:pic>
              <p:nvPicPr>
                <p:cNvPr id="5" name="図 4">
                  <a:extLst>
                    <a:ext uri="{FF2B5EF4-FFF2-40B4-BE49-F238E27FC236}">
                      <a16:creationId xmlns:a16="http://schemas.microsoft.com/office/drawing/2014/main" id="{D7A567F1-CBE2-0F4A-06D1-019D2A01F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7887" y="736600"/>
                  <a:ext cx="4546600" cy="5384800"/>
                </a:xfrm>
                <a:prstGeom prst="rect">
                  <a:avLst/>
                </a:prstGeom>
              </p:spPr>
            </p:pic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0162F9A2-ED34-FD11-6B96-1A6CC51A2B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7892" y="736600"/>
                  <a:ext cx="4508500" cy="5384800"/>
                </a:xfrm>
                <a:prstGeom prst="rect">
                  <a:avLst/>
                </a:prstGeom>
              </p:spPr>
            </p:pic>
          </p:grp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71CE6347-3762-3978-012C-EA7EB8575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3965" y="778330"/>
                <a:ext cx="3608297" cy="2164978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03534A5-D5DB-AEAF-AA2A-BCFFCE84A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33964" y="3071743"/>
                <a:ext cx="3608297" cy="2164978"/>
              </a:xfrm>
              <a:prstGeom prst="rect">
                <a:avLst/>
              </a:prstGeom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333BE67-8CC6-69CB-3EF3-005B78833A5D}"/>
                  </a:ext>
                </a:extLst>
              </p:cNvPr>
              <p:cNvSpPr/>
              <p:nvPr/>
            </p:nvSpPr>
            <p:spPr>
              <a:xfrm>
                <a:off x="4452079" y="2338466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A7D940FB-1536-B793-58C6-208279359BE2}"/>
                  </a:ext>
                </a:extLst>
              </p:cNvPr>
              <p:cNvSpPr/>
              <p:nvPr/>
            </p:nvSpPr>
            <p:spPr>
              <a:xfrm>
                <a:off x="4452078" y="3314783"/>
                <a:ext cx="1963711" cy="839449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610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2DFAA1ED-773A-5FB9-9D6A-4BC6CE71F9B8}"/>
                </a:ext>
              </a:extLst>
            </p:cNvPr>
            <p:cNvSpPr txBox="1"/>
            <p:nvPr/>
          </p:nvSpPr>
          <p:spPr>
            <a:xfrm>
              <a:off x="1960500" y="916863"/>
              <a:ext cx="130224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(c) Unpolarized</a:t>
              </a:r>
              <a:endParaRPr lang="ja-JP" altLang="en-US" sz="203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A745A7D-5E8C-76BC-3750-6229C5183CA0}"/>
                </a:ext>
              </a:extLst>
            </p:cNvPr>
            <p:cNvSpPr txBox="1"/>
            <p:nvPr/>
          </p:nvSpPr>
          <p:spPr>
            <a:xfrm>
              <a:off x="4514360" y="916864"/>
              <a:ext cx="10831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(d) Polarized</a:t>
              </a:r>
              <a:endParaRPr lang="ja-JP" altLang="en-US" sz="203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E6B882B-4E26-D5FD-FBB7-995C228ECF13}"/>
                </a:ext>
              </a:extLst>
            </p:cNvPr>
            <p:cNvSpPr txBox="1"/>
            <p:nvPr/>
          </p:nvSpPr>
          <p:spPr>
            <a:xfrm>
              <a:off x="4649195" y="2212933"/>
              <a:ext cx="328612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</a:t>
              </a:r>
              <a:endParaRPr lang="ja-JP" altLang="en-US" sz="203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B3C1ECB-7840-8D07-2CDC-3DC06D38B274}"/>
                </a:ext>
              </a:extLst>
            </p:cNvPr>
            <p:cNvSpPr txBox="1"/>
            <p:nvPr/>
          </p:nvSpPr>
          <p:spPr>
            <a:xfrm>
              <a:off x="4637973" y="2906574"/>
              <a:ext cx="291284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</a:t>
              </a:r>
              <a:endParaRPr lang="ja-JP" altLang="en-US" sz="203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3724550-BA9F-9173-1C78-A0B04A2AAC00}"/>
                </a:ext>
              </a:extLst>
            </p:cNvPr>
            <p:cNvSpPr txBox="1"/>
            <p:nvPr/>
          </p:nvSpPr>
          <p:spPr>
            <a:xfrm>
              <a:off x="7053624" y="916865"/>
              <a:ext cx="980973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(e) Line cut</a:t>
              </a:r>
              <a:endParaRPr lang="ja-JP" altLang="en-US" sz="203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5347DB-1327-653D-F849-5E014A0F7996}"/>
                </a:ext>
              </a:extLst>
            </p:cNvPr>
            <p:cNvSpPr txBox="1"/>
            <p:nvPr/>
          </p:nvSpPr>
          <p:spPr>
            <a:xfrm>
              <a:off x="7053624" y="2575076"/>
              <a:ext cx="943645" cy="279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30" dirty="0"/>
                <a:t>(f) Line cut</a:t>
              </a:r>
              <a:endParaRPr lang="ja-JP" altLang="en-US" sz="2030"/>
            </a:p>
          </p:txBody>
        </p:sp>
      </p:grpSp>
    </p:spTree>
    <p:extLst>
      <p:ext uri="{BB962C8B-B14F-4D97-AF65-F5344CB8AC3E}">
        <p14:creationId xmlns:p14="http://schemas.microsoft.com/office/powerpoint/2010/main" val="23740879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2F2A-D2FC-3387-F198-C62ADFF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170DA2E-3C98-FB50-8D47-288C01BD41EB}"/>
              </a:ext>
            </a:extLst>
          </p:cNvPr>
          <p:cNvGrpSpPr/>
          <p:nvPr/>
        </p:nvGrpSpPr>
        <p:grpSpPr>
          <a:xfrm>
            <a:off x="5991223" y="6784290"/>
            <a:ext cx="11518102" cy="4827821"/>
            <a:chOff x="0" y="736600"/>
            <a:chExt cx="11142262" cy="467028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7F8A326-289E-4195-BDA3-0966C384FDCF}"/>
                </a:ext>
              </a:extLst>
            </p:cNvPr>
            <p:cNvGrpSpPr/>
            <p:nvPr/>
          </p:nvGrpSpPr>
          <p:grpSpPr>
            <a:xfrm>
              <a:off x="0" y="736600"/>
              <a:ext cx="7533964" cy="4670287"/>
              <a:chOff x="257892" y="736600"/>
              <a:chExt cx="8686595" cy="5384800"/>
            </a:xfrm>
          </p:grpSpPr>
          <p:pic>
            <p:nvPicPr>
              <p:cNvPr id="5" name="図 4">
                <a:extLst>
                  <a:ext uri="{FF2B5EF4-FFF2-40B4-BE49-F238E27FC236}">
                    <a16:creationId xmlns:a16="http://schemas.microsoft.com/office/drawing/2014/main" id="{95A87911-F7D3-F11A-3D2F-6818B02FC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7887" y="736600"/>
                <a:ext cx="4546600" cy="5384800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E77ADE8C-992C-9C3C-E640-60EC3BA06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92" y="736600"/>
                <a:ext cx="4508500" cy="5384800"/>
              </a:xfrm>
              <a:prstGeom prst="rect">
                <a:avLst/>
              </a:prstGeom>
            </p:spPr>
          </p:pic>
        </p:grp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00F5C4B-867B-25FA-2260-D0BFDF4D2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33965" y="778330"/>
              <a:ext cx="3608297" cy="2164978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A8FCB9B5-6AE8-50AC-E2C8-2594E4853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33964" y="3071743"/>
              <a:ext cx="3608297" cy="2164978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5458AC2-3ABA-5B84-662A-92A0747C8EED}"/>
                </a:ext>
              </a:extLst>
            </p:cNvPr>
            <p:cNvSpPr/>
            <p:nvPr/>
          </p:nvSpPr>
          <p:spPr>
            <a:xfrm>
              <a:off x="4452079" y="2338466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0F3FBB3-A440-79C3-15EC-C0BFF9921CFB}"/>
                </a:ext>
              </a:extLst>
            </p:cNvPr>
            <p:cNvSpPr/>
            <p:nvPr/>
          </p:nvSpPr>
          <p:spPr>
            <a:xfrm>
              <a:off x="4452078" y="3314783"/>
              <a:ext cx="1963711" cy="83944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D8502CA-BDC5-2F19-B9BE-B9E374BE9AB7}"/>
              </a:ext>
            </a:extLst>
          </p:cNvPr>
          <p:cNvGrpSpPr/>
          <p:nvPr/>
        </p:nvGrpSpPr>
        <p:grpSpPr>
          <a:xfrm>
            <a:off x="13323283" y="1845299"/>
            <a:ext cx="4073462" cy="4554449"/>
            <a:chOff x="164690" y="736600"/>
            <a:chExt cx="4723246" cy="53848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16E73E6-9CD7-C109-1E05-D327B080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5418"/>
            <a:stretch>
              <a:fillRect/>
            </a:stretch>
          </p:blipFill>
          <p:spPr>
            <a:xfrm>
              <a:off x="164690" y="736600"/>
              <a:ext cx="4252191" cy="53848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C34EB1C-2618-DDC3-960C-D6F3EBB14401}"/>
                </a:ext>
              </a:extLst>
            </p:cNvPr>
            <p:cNvSpPr txBox="1"/>
            <p:nvPr/>
          </p:nvSpPr>
          <p:spPr>
            <a:xfrm rot="16200000">
              <a:off x="3281538" y="3142613"/>
              <a:ext cx="2640017" cy="572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/>
                <a:t>Intensity (</a:t>
              </a:r>
              <a:r>
                <a:rPr lang="en-US" altLang="ja-JP" sz="2610" dirty="0" err="1"/>
                <a:t>a.u</a:t>
              </a:r>
              <a:r>
                <a:rPr lang="en-US" altLang="ja-JP" sz="2610" dirty="0"/>
                <a:t>.)</a:t>
              </a:r>
              <a:endParaRPr lang="ja-JP" altLang="en-US" sz="261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512CD46-FF4D-8676-8412-CCA018F252F3}"/>
              </a:ext>
            </a:extLst>
          </p:cNvPr>
          <p:cNvGrpSpPr/>
          <p:nvPr/>
        </p:nvGrpSpPr>
        <p:grpSpPr>
          <a:xfrm>
            <a:off x="6173837" y="1259995"/>
            <a:ext cx="5931849" cy="5725050"/>
            <a:chOff x="2083505" y="451104"/>
            <a:chExt cx="6286500" cy="612038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AD5A1E95-7F93-F356-15B5-031523FE3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4559" b="2046"/>
            <a:stretch>
              <a:fillRect/>
            </a:stretch>
          </p:blipFill>
          <p:spPr>
            <a:xfrm>
              <a:off x="2083505" y="451104"/>
              <a:ext cx="6286500" cy="6120384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7F33C16-87F4-96E7-8418-A19A84B12D78}"/>
                </a:ext>
              </a:extLst>
            </p:cNvPr>
            <p:cNvSpPr txBox="1"/>
            <p:nvPr/>
          </p:nvSpPr>
          <p:spPr>
            <a:xfrm>
              <a:off x="3714702" y="712178"/>
              <a:ext cx="2665824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(a)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2753202-460A-BABD-9943-F7A797C809FE}"/>
                </a:ext>
              </a:extLst>
            </p:cNvPr>
            <p:cNvSpPr txBox="1"/>
            <p:nvPr/>
          </p:nvSpPr>
          <p:spPr>
            <a:xfrm>
              <a:off x="2303781" y="2741028"/>
              <a:ext cx="2687910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Sliced plane (b)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2A08713-167F-999F-1A0E-9F47836B19E0}"/>
                </a:ext>
              </a:extLst>
            </p:cNvPr>
            <p:cNvSpPr txBox="1"/>
            <p:nvPr/>
          </p:nvSpPr>
          <p:spPr>
            <a:xfrm>
              <a:off x="4641758" y="1603511"/>
              <a:ext cx="3236635" cy="575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Measured Q region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E3478A0-F280-2F84-E120-68C869D52FE0}"/>
                </a:ext>
              </a:extLst>
            </p:cNvPr>
            <p:cNvSpPr txBox="1"/>
            <p:nvPr/>
          </p:nvSpPr>
          <p:spPr>
            <a:xfrm>
              <a:off x="3421619" y="4287615"/>
              <a:ext cx="2215631" cy="1052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Reciprocal </a:t>
              </a:r>
              <a:b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2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lattice points</a:t>
              </a:r>
              <a:endParaRPr lang="ja-JP" altLang="en-US" sz="2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DC7FA5D-C44E-AC1D-30F5-600404E2E9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6474" y="1078093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99483B08-35A1-D3FC-32F8-7E60B274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8399" y="2003621"/>
              <a:ext cx="248356" cy="2935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23749461-0698-946D-2DA2-E3007BE79B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5674" y="3088800"/>
              <a:ext cx="109126" cy="3962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3D356E5F-5932-01A1-A741-9705949B73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6430" y="4444401"/>
              <a:ext cx="215189" cy="197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7385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7276-654F-FBE0-21D1-4DE7F4B7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AA7F14-74DB-F129-D2F7-724EE096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012" y="1525914"/>
            <a:ext cx="8748698" cy="52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98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291EF65-A34E-20BC-79ED-E3124D9B1CB7}"/>
              </a:ext>
            </a:extLst>
          </p:cNvPr>
          <p:cNvGrpSpPr/>
          <p:nvPr/>
        </p:nvGrpSpPr>
        <p:grpSpPr>
          <a:xfrm>
            <a:off x="2269348" y="2198018"/>
            <a:ext cx="16775765" cy="5570150"/>
            <a:chOff x="152886" y="721693"/>
            <a:chExt cx="11571340" cy="384209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FFDABD2-9076-7AA4-0088-675593EA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968" y="721693"/>
              <a:ext cx="5515132" cy="3819459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3A06580-1DE3-B340-A32E-1ACD6564D72E}"/>
                </a:ext>
              </a:extLst>
            </p:cNvPr>
            <p:cNvSpPr txBox="1"/>
            <p:nvPr/>
          </p:nvSpPr>
          <p:spPr>
            <a:xfrm rot="16200000">
              <a:off x="-289082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91D8EBFC-BD9E-F97A-4404-1982070C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09094" y="721693"/>
              <a:ext cx="5515132" cy="3842096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EB4ACBC-614D-BB1B-32E5-C4A7435B35BB}"/>
                </a:ext>
              </a:extLst>
            </p:cNvPr>
            <p:cNvSpPr txBox="1"/>
            <p:nvPr/>
          </p:nvSpPr>
          <p:spPr>
            <a:xfrm rot="16200000">
              <a:off x="5548417" y="2205284"/>
              <a:ext cx="1147712" cy="263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885" dirty="0"/>
                <a:t>Intensity (</a:t>
              </a:r>
              <a:r>
                <a:rPr lang="en-US" altLang="ja-JP" sz="1885" dirty="0" err="1"/>
                <a:t>a.u</a:t>
              </a:r>
              <a:r>
                <a:rPr lang="en-US" altLang="ja-JP" sz="1885" dirty="0"/>
                <a:t>.)</a:t>
              </a:r>
              <a:endParaRPr lang="ja-JP" altLang="en-US" sz="1885"/>
            </a:p>
          </p:txBody>
        </p:sp>
      </p:grpSp>
    </p:spTree>
    <p:extLst>
      <p:ext uri="{BB962C8B-B14F-4D97-AF65-F5344CB8AC3E}">
        <p14:creationId xmlns:p14="http://schemas.microsoft.com/office/powerpoint/2010/main" val="1272400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875EB5F3-1470-08C1-202C-FA869B156C0B}"/>
              </a:ext>
            </a:extLst>
          </p:cNvPr>
          <p:cNvGrpSpPr/>
          <p:nvPr/>
        </p:nvGrpSpPr>
        <p:grpSpPr>
          <a:xfrm>
            <a:off x="5159933" y="3017242"/>
            <a:ext cx="11451108" cy="6076445"/>
            <a:chOff x="962525" y="835686"/>
            <a:chExt cx="9673391" cy="5339871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1DD64DFB-B178-B8DE-0BD4-72A508498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582" t="3366" r="9137" b="4237"/>
            <a:stretch>
              <a:fillRect/>
            </a:stretch>
          </p:blipFill>
          <p:spPr>
            <a:xfrm>
              <a:off x="962525" y="1090937"/>
              <a:ext cx="4788569" cy="5069231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116146B8-A8A0-D4A6-D139-C096CE213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74" t="3366" r="8845" b="4238"/>
            <a:stretch>
              <a:fillRect/>
            </a:stretch>
          </p:blipFill>
          <p:spPr>
            <a:xfrm>
              <a:off x="5847347" y="1106326"/>
              <a:ext cx="4788569" cy="5069231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C5A9531-CCA3-3088-8B7D-52B5ABB099BC}"/>
                </a:ext>
              </a:extLst>
            </p:cNvPr>
            <p:cNvSpPr txBox="1"/>
            <p:nvPr/>
          </p:nvSpPr>
          <p:spPr>
            <a:xfrm>
              <a:off x="2351186" y="835686"/>
              <a:ext cx="2450312" cy="551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(a) Raw data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096C41-459B-0B47-B0E7-C28925B6FF36}"/>
                </a:ext>
              </a:extLst>
            </p:cNvPr>
            <p:cNvSpPr txBox="1"/>
            <p:nvPr/>
          </p:nvSpPr>
          <p:spPr>
            <a:xfrm>
              <a:off x="7139755" y="954363"/>
              <a:ext cx="3235871" cy="5517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3480" dirty="0">
                  <a:latin typeface="Helvetica" pitchFamily="2" charset="0"/>
                </a:rPr>
                <a:t>(b) Corrected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3396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4B91-CDDA-6D2E-0775-E9ACA05B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D9B1CD87-E58D-7F0A-B587-CB50DA9C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0" t="4489" r="4326" b="5568"/>
          <a:stretch>
            <a:fillRect/>
          </a:stretch>
        </p:blipFill>
        <p:spPr>
          <a:xfrm>
            <a:off x="10464740" y="3626070"/>
            <a:ext cx="5041167" cy="493460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7147965-CB32-4084-3EF9-E4867C774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11" t="4489" r="4459" b="5568"/>
          <a:stretch>
            <a:fillRect/>
          </a:stretch>
        </p:blipFill>
        <p:spPr>
          <a:xfrm>
            <a:off x="5486926" y="3626070"/>
            <a:ext cx="4977814" cy="4934607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24C23F-ADAC-ADF9-A904-67156EEA015B}"/>
              </a:ext>
            </a:extLst>
          </p:cNvPr>
          <p:cNvSpPr txBox="1"/>
          <p:nvPr/>
        </p:nvSpPr>
        <p:spPr>
          <a:xfrm>
            <a:off x="7051922" y="3368538"/>
            <a:ext cx="2302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(a) Raw data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45C9234-704A-2E74-D53C-8C164182E1BB}"/>
              </a:ext>
            </a:extLst>
          </p:cNvPr>
          <p:cNvSpPr txBox="1"/>
          <p:nvPr/>
        </p:nvSpPr>
        <p:spPr>
          <a:xfrm>
            <a:off x="11990445" y="3368538"/>
            <a:ext cx="31093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2800" dirty="0">
                <a:latin typeface="Helvetica" pitchFamily="2" charset="0"/>
              </a:rPr>
              <a:t>(b) Corrected data</a:t>
            </a:r>
          </a:p>
        </p:txBody>
      </p:sp>
    </p:spTree>
    <p:extLst>
      <p:ext uri="{BB962C8B-B14F-4D97-AF65-F5344CB8AC3E}">
        <p14:creationId xmlns:p14="http://schemas.microsoft.com/office/powerpoint/2010/main" val="2738488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8C41-37AB-F15B-1BB7-63DE1634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DE8FB7D-4D6C-2C91-234B-9A9917833A25}"/>
              </a:ext>
            </a:extLst>
          </p:cNvPr>
          <p:cNvGrpSpPr/>
          <p:nvPr/>
        </p:nvGrpSpPr>
        <p:grpSpPr>
          <a:xfrm>
            <a:off x="5473702" y="3139936"/>
            <a:ext cx="10356106" cy="5457827"/>
            <a:chOff x="5473702" y="3139936"/>
            <a:chExt cx="10356106" cy="5457827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E6BDA7F0-5991-8F46-8018-9DE4D7C35EA5}"/>
                </a:ext>
              </a:extLst>
            </p:cNvPr>
            <p:cNvSpPr txBox="1"/>
            <p:nvPr/>
          </p:nvSpPr>
          <p:spPr>
            <a:xfrm>
              <a:off x="6824830" y="3139936"/>
              <a:ext cx="23020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ja-JP" sz="2800" dirty="0">
                  <a:latin typeface="Helvetica" pitchFamily="2" charset="0"/>
                </a:rPr>
                <a:t>(a) Raw data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BB04A012-9AD5-7196-5F28-18DA83EE2F80}"/>
                </a:ext>
              </a:extLst>
            </p:cNvPr>
            <p:cNvSpPr txBox="1"/>
            <p:nvPr/>
          </p:nvSpPr>
          <p:spPr>
            <a:xfrm>
              <a:off x="11592590" y="3139936"/>
              <a:ext cx="31093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2800" dirty="0">
                  <a:latin typeface="Helvetica" pitchFamily="2" charset="0"/>
                </a:rPr>
                <a:t>(b) Corrected data</a:t>
              </a:r>
            </a:p>
          </p:txBody>
        </p:sp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7BC39A75-30B9-71BF-580D-99CA6C66D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3625" t="4352" r="6109" b="5705"/>
            <a:stretch>
              <a:fillRect/>
            </a:stretch>
          </p:blipFill>
          <p:spPr>
            <a:xfrm>
              <a:off x="10464740" y="3663156"/>
              <a:ext cx="5365068" cy="4934607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DC90B518-6F08-4C04-7389-82E7CF838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19" t="4769" r="4468" b="5289"/>
            <a:stretch>
              <a:fillRect/>
            </a:stretch>
          </p:blipFill>
          <p:spPr>
            <a:xfrm>
              <a:off x="5473702" y="3663156"/>
              <a:ext cx="5004262" cy="49346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4660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F97BDA3-19A6-693F-2CB2-57FC1652B3A6}"/>
              </a:ext>
            </a:extLst>
          </p:cNvPr>
          <p:cNvGrpSpPr/>
          <p:nvPr/>
        </p:nvGrpSpPr>
        <p:grpSpPr>
          <a:xfrm>
            <a:off x="4962474" y="1046378"/>
            <a:ext cx="10774849" cy="10797917"/>
            <a:chOff x="2010508" y="143902"/>
            <a:chExt cx="7432117" cy="7448028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9C1DD5E-2280-9B2C-2442-9482A8BF8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8" y="465883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6CFDDE24-89E3-520B-C5EB-B168632D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3" y="467366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AE275A8-B4E5-17EB-9194-86CB1D401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48" t="11201" r="9674"/>
            <a:stretch>
              <a:fillRect/>
            </a:stretch>
          </p:blipFill>
          <p:spPr>
            <a:xfrm>
              <a:off x="2425303" y="3449968"/>
              <a:ext cx="6660639" cy="41419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/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Non-spin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A89AE0CC-0519-DDFB-55DE-F5B5E6F73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2147" y="143902"/>
                  <a:ext cx="2324748" cy="340731"/>
                </a:xfrm>
                <a:prstGeom prst="rect">
                  <a:avLst/>
                </a:prstGeom>
                <a:blipFill>
                  <a:blip r:embed="rId6"/>
                  <a:stretch>
                    <a:fillRect l="-3383" t="-10000" r="-225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/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Spin flip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+−</m:t>
                          </m:r>
                        </m:sup>
                      </m:s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122542C1-632F-2251-FFB1-C26B20A1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951" y="143902"/>
                  <a:ext cx="1862567" cy="340731"/>
                </a:xfrm>
                <a:prstGeom prst="rect">
                  <a:avLst/>
                </a:prstGeom>
                <a:blipFill>
                  <a:blip r:embed="rId7"/>
                  <a:stretch>
                    <a:fillRect l="-4225" t="-10000" r="-3286" b="-2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C72D8A1-D5E2-9455-A740-59097D2468C0}"/>
                </a:ext>
              </a:extLst>
            </p:cNvPr>
            <p:cNvSpPr/>
            <p:nvPr/>
          </p:nvSpPr>
          <p:spPr>
            <a:xfrm>
              <a:off x="3566807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6EF55E3-22CF-52E3-D395-3E80FF3011BC}"/>
                </a:ext>
              </a:extLst>
            </p:cNvPr>
            <p:cNvSpPr/>
            <p:nvPr/>
          </p:nvSpPr>
          <p:spPr>
            <a:xfrm>
              <a:off x="7405269" y="1600205"/>
              <a:ext cx="570689" cy="313643"/>
            </a:xfrm>
            <a:prstGeom prst="rect">
              <a:avLst/>
            </a:prstGeom>
            <a:noFill/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B2E23A09-9878-AB61-A1CD-F583BF69BCA4}"/>
                </a:ext>
              </a:extLst>
            </p:cNvPr>
            <p:cNvCxnSpPr>
              <a:cxnSpLocks/>
            </p:cNvCxnSpPr>
            <p:nvPr/>
          </p:nvCxnSpPr>
          <p:spPr>
            <a:xfrm>
              <a:off x="4055706" y="1951382"/>
              <a:ext cx="1480390" cy="2133284"/>
            </a:xfrm>
            <a:prstGeom prst="line">
              <a:avLst/>
            </a:prstGeom>
            <a:ln w="12700">
              <a:solidFill>
                <a:srgbClr val="0404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72C73BED-D062-7828-7211-9A14BA8568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4705" y="1951299"/>
              <a:ext cx="1099785" cy="4872479"/>
            </a:xfrm>
            <a:prstGeom prst="line">
              <a:avLst/>
            </a:prstGeom>
            <a:ln w="12700">
              <a:solidFill>
                <a:srgbClr val="FF0B0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D5EE587-C638-B6A3-6D45-66F6FA98A752}"/>
                </a:ext>
              </a:extLst>
            </p:cNvPr>
            <p:cNvSpPr txBox="1"/>
            <p:nvPr/>
          </p:nvSpPr>
          <p:spPr>
            <a:xfrm>
              <a:off x="3729848" y="3482503"/>
              <a:ext cx="397166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5742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28A2-A226-A454-7DA8-A9A1886DE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D9072048-C9EB-747F-139B-FA1CE950A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3" y="1513177"/>
            <a:ext cx="5339916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3F5EAE98-B320-3BE7-21FC-A0FE5B83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4" y="1515327"/>
            <a:ext cx="5345299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0121E04-ED4F-A3C3-E408-270A44399E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200" y="6223271"/>
            <a:ext cx="9313017" cy="6004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/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(a) Non-spin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++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156687BF-56EB-B552-12D1-DE452506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199" y="1046379"/>
                <a:ext cx="3370346" cy="493981"/>
              </a:xfrm>
              <a:prstGeom prst="rect">
                <a:avLst/>
              </a:prstGeom>
              <a:blipFill>
                <a:blip r:embed="rId6"/>
                <a:stretch>
                  <a:fillRect l="-3383" t="-10000" r="-225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/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(b) Spin flip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+−</m:t>
                        </m:r>
                      </m:sup>
                    </m:sSup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)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90B1FE2-3269-BC8B-7A4E-BFCF69867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4095" y="1046379"/>
                <a:ext cx="2700291" cy="493981"/>
              </a:xfrm>
              <a:prstGeom prst="rect">
                <a:avLst/>
              </a:prstGeom>
              <a:blipFill>
                <a:blip r:embed="rId7"/>
                <a:stretch>
                  <a:fillRect l="-4225" t="-10000" r="-3286" b="-2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38B980-5ABA-ACBF-0EB8-C795D0BF6844}"/>
              </a:ext>
            </a:extLst>
          </p:cNvPr>
          <p:cNvSpPr/>
          <p:nvPr/>
        </p:nvSpPr>
        <p:spPr>
          <a:xfrm>
            <a:off x="721874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7E6A1FF-1EE6-4BB3-A5F4-9409D9B027FF}"/>
              </a:ext>
            </a:extLst>
          </p:cNvPr>
          <p:cNvSpPr/>
          <p:nvPr/>
        </p:nvSpPr>
        <p:spPr>
          <a:xfrm>
            <a:off x="12783628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344B23E-4F9B-FBE2-E65E-457D9072EE78}"/>
              </a:ext>
            </a:extLst>
          </p:cNvPr>
          <p:cNvSpPr txBox="1"/>
          <p:nvPr/>
        </p:nvSpPr>
        <p:spPr>
          <a:xfrm>
            <a:off x="6561498" y="5756557"/>
            <a:ext cx="8004423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  X-direction line profile (</a:t>
            </a:r>
            <a:r>
              <a:rPr lang="en-US" altLang="ja-JP" sz="2610" dirty="0" err="1">
                <a:latin typeface="Helvetica" pitchFamily="2" charset="0"/>
              </a:rPr>
              <a:t>dased</a:t>
            </a:r>
            <a:r>
              <a:rPr lang="en-US" altLang="ja-JP" sz="2610" dirty="0">
                <a:latin typeface="Helvetica" pitchFamily="2" charset="0"/>
              </a:rPr>
              <a:t> region in (a), (b))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6C555E-8E12-9C0E-B03A-77A59DFB9DE7}"/>
              </a:ext>
            </a:extLst>
          </p:cNvPr>
          <p:cNvSpPr txBox="1"/>
          <p:nvPr/>
        </p:nvSpPr>
        <p:spPr>
          <a:xfrm rot="16200000">
            <a:off x="2863584" y="8838733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0508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EF2B-C44D-B60C-8BE5-EF15F2C6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図 32">
            <a:extLst>
              <a:ext uri="{FF2B5EF4-FFF2-40B4-BE49-F238E27FC236}">
                <a16:creationId xmlns:a16="http://schemas.microsoft.com/office/drawing/2014/main" id="{58D6E39D-59AB-5A3B-79BE-E888BA9E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8" t="5215" r="4899" b="4989"/>
          <a:stretch>
            <a:fillRect/>
          </a:stretch>
        </p:blipFill>
        <p:spPr>
          <a:xfrm>
            <a:off x="4962472" y="1513177"/>
            <a:ext cx="5339917" cy="4274087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B4CAF6F7-1A9B-942F-54BD-C4E8D5AEEE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28" t="5215" r="4900" b="4989"/>
          <a:stretch>
            <a:fillRect/>
          </a:stretch>
        </p:blipFill>
        <p:spPr>
          <a:xfrm>
            <a:off x="10392021" y="1515327"/>
            <a:ext cx="5345300" cy="426978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2477CFA-7071-73E3-E470-166892D3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95" t="11201" r="9674"/>
          <a:stretch>
            <a:fillRect/>
          </a:stretch>
        </p:blipFill>
        <p:spPr>
          <a:xfrm>
            <a:off x="5907198" y="5821555"/>
            <a:ext cx="9313017" cy="600488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CE10FF-6884-4BD0-D432-4B55CEA0C09B}"/>
              </a:ext>
            </a:extLst>
          </p:cNvPr>
          <p:cNvSpPr txBox="1"/>
          <p:nvPr/>
        </p:nvSpPr>
        <p:spPr>
          <a:xfrm>
            <a:off x="469917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(a)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F60A8F-E27C-E33B-D2D6-315BCEFD6060}"/>
              </a:ext>
            </a:extLst>
          </p:cNvPr>
          <p:cNvSpPr txBox="1"/>
          <p:nvPr/>
        </p:nvSpPr>
        <p:spPr>
          <a:xfrm>
            <a:off x="10127469" y="1548537"/>
            <a:ext cx="595034" cy="493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(b)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3599D03-6928-B4EF-1C1D-7C2A14209456}"/>
              </a:ext>
            </a:extLst>
          </p:cNvPr>
          <p:cNvSpPr/>
          <p:nvPr/>
        </p:nvSpPr>
        <p:spPr>
          <a:xfrm>
            <a:off x="7218746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C7FE79A-5EC3-0317-1853-67802E9D2329}"/>
              </a:ext>
            </a:extLst>
          </p:cNvPr>
          <p:cNvSpPr/>
          <p:nvPr/>
        </p:nvSpPr>
        <p:spPr>
          <a:xfrm>
            <a:off x="12783627" y="3157680"/>
            <a:ext cx="827367" cy="454710"/>
          </a:xfrm>
          <a:prstGeom prst="rect">
            <a:avLst/>
          </a:prstGeom>
          <a:noFill/>
          <a:ln w="127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F6AC6BF-4188-CB0E-B176-63CDACFC61B7}"/>
              </a:ext>
            </a:extLst>
          </p:cNvPr>
          <p:cNvSpPr txBox="1"/>
          <p:nvPr/>
        </p:nvSpPr>
        <p:spPr>
          <a:xfrm>
            <a:off x="4708926" y="5771259"/>
            <a:ext cx="657250" cy="493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610" dirty="0">
                <a:latin typeface="Helvetica" pitchFamily="2" charset="0"/>
              </a:rPr>
              <a:t>(c)</a:t>
            </a:r>
            <a:endParaRPr lang="ja-JP" altLang="en-US" sz="2610"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3139B1-FE38-6D23-5824-BDE08E8C5C72}"/>
              </a:ext>
            </a:extLst>
          </p:cNvPr>
          <p:cNvSpPr txBox="1"/>
          <p:nvPr/>
        </p:nvSpPr>
        <p:spPr>
          <a:xfrm rot="16200000">
            <a:off x="2863582" y="8599320"/>
            <a:ext cx="5596404" cy="449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320" dirty="0">
                <a:latin typeface="Helvetica" pitchFamily="2" charset="0"/>
              </a:rPr>
              <a:t>Integrated intensity (y pixels 27-35) (</a:t>
            </a:r>
            <a:r>
              <a:rPr lang="en-US" altLang="ja-JP" sz="2320" dirty="0" err="1">
                <a:latin typeface="Helvetica" pitchFamily="2" charset="0"/>
              </a:rPr>
              <a:t>a.u</a:t>
            </a:r>
            <a:r>
              <a:rPr lang="en-US" altLang="ja-JP" sz="2320" dirty="0">
                <a:latin typeface="Helvetica" pitchFamily="2" charset="0"/>
              </a:rPr>
              <a:t>.)</a:t>
            </a:r>
            <a:endParaRPr lang="ja-JP" altLang="en-US" sz="232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02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6E84-9BDC-C53C-D98C-13B29C6F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7760BCE-3751-A9B2-8543-ED26A4BF591F}"/>
              </a:ext>
            </a:extLst>
          </p:cNvPr>
          <p:cNvGrpSpPr/>
          <p:nvPr/>
        </p:nvGrpSpPr>
        <p:grpSpPr>
          <a:xfrm>
            <a:off x="5366416" y="1113127"/>
            <a:ext cx="11038142" cy="10313265"/>
            <a:chOff x="1828899" y="249311"/>
            <a:chExt cx="7613727" cy="7113732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CC6E302E-2D60-51CD-F953-C0CBF45B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98" t="5215" r="4899" b="4989"/>
            <a:stretch>
              <a:fillRect/>
            </a:stretch>
          </p:blipFill>
          <p:spPr>
            <a:xfrm>
              <a:off x="2010509" y="249311"/>
              <a:ext cx="3683289" cy="2948117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8BC796D6-7963-11EF-1DD6-95492995E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728" t="5215" r="4900" b="4989"/>
            <a:stretch>
              <a:fillRect/>
            </a:stretch>
          </p:blipFill>
          <p:spPr>
            <a:xfrm>
              <a:off x="5755624" y="250794"/>
              <a:ext cx="3687002" cy="2945151"/>
            </a:xfrm>
            <a:prstGeom prst="rect">
              <a:avLst/>
            </a:prstGeom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0FB38C17-03E1-79DB-7D17-4C2221356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95" t="11201" r="9674"/>
            <a:stretch>
              <a:fillRect/>
            </a:stretch>
          </p:blipFill>
          <p:spPr>
            <a:xfrm>
              <a:off x="2662148" y="3221081"/>
              <a:ext cx="6423796" cy="4141962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6B60242-0E6E-A39D-7957-C465A74FD480}"/>
                </a:ext>
              </a:extLst>
            </p:cNvPr>
            <p:cNvSpPr txBox="1"/>
            <p:nvPr/>
          </p:nvSpPr>
          <p:spPr>
            <a:xfrm>
              <a:off x="1828899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(a)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DAC6B7C-3651-3087-7749-BD6C3CD74C89}"/>
                </a:ext>
              </a:extLst>
            </p:cNvPr>
            <p:cNvSpPr txBox="1"/>
            <p:nvPr/>
          </p:nvSpPr>
          <p:spPr>
            <a:xfrm>
              <a:off x="5573145" y="273701"/>
              <a:ext cx="410434" cy="34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(b)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F25085C-98FE-D007-C82D-C551FC5D2E85}"/>
                </a:ext>
              </a:extLst>
            </p:cNvPr>
            <p:cNvSpPr/>
            <p:nvPr/>
          </p:nvSpPr>
          <p:spPr>
            <a:xfrm>
              <a:off x="3566808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3A76CA-EFE0-A6B2-E138-44494EBBDEE6}"/>
                </a:ext>
              </a:extLst>
            </p:cNvPr>
            <p:cNvSpPr/>
            <p:nvPr/>
          </p:nvSpPr>
          <p:spPr>
            <a:xfrm>
              <a:off x="7405270" y="1383633"/>
              <a:ext cx="570689" cy="3136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2A218AA-5ABF-B514-8EF3-ED0BC9FC5FB9}"/>
                </a:ext>
              </a:extLst>
            </p:cNvPr>
            <p:cNvSpPr txBox="1"/>
            <p:nvPr/>
          </p:nvSpPr>
          <p:spPr>
            <a:xfrm>
              <a:off x="1835622" y="3186388"/>
              <a:ext cx="453348" cy="340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46128BD-36E3-7424-D7FC-7FC64C5B6C78}"/>
                </a:ext>
              </a:extLst>
            </p:cNvPr>
            <p:cNvSpPr txBox="1"/>
            <p:nvPr/>
          </p:nvSpPr>
          <p:spPr>
            <a:xfrm rot="16200000">
              <a:off x="562768" y="5137087"/>
              <a:ext cx="3860205" cy="3099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Integrated intensity (y pixels 27-35) (</a:t>
              </a:r>
              <a:r>
                <a:rPr lang="en-US" altLang="ja-JP" sz="2320" dirty="0" err="1">
                  <a:latin typeface="Helvetica" pitchFamily="2" charset="0"/>
                </a:rPr>
                <a:t>a.u</a:t>
              </a:r>
              <a:r>
                <a:rPr lang="en-US" altLang="ja-JP" sz="2320" dirty="0">
                  <a:latin typeface="Helvetica" pitchFamily="2" charset="0"/>
                </a:rPr>
                <a:t>.)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30C59FF0-7845-4195-2423-4319E9DCE4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706" y="5165291"/>
            <a:ext cx="74676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541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A2E5-17EC-5500-6B71-C84D8941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A90464C-776B-33DC-35B1-894CD0A4542B}"/>
              </a:ext>
            </a:extLst>
          </p:cNvPr>
          <p:cNvGrpSpPr/>
          <p:nvPr/>
        </p:nvGrpSpPr>
        <p:grpSpPr>
          <a:xfrm>
            <a:off x="5280819" y="1876291"/>
            <a:ext cx="11103768" cy="9953759"/>
            <a:chOff x="519113" y="1876290"/>
            <a:chExt cx="11103768" cy="9953759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300E30F-055C-E9A7-CAA1-0E4D02A90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8181" y="2020887"/>
              <a:ext cx="5854700" cy="43942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454E708E-D8CD-A80B-754F-9A6E19653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113" y="2020887"/>
              <a:ext cx="5854700" cy="439420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1480D542-4A61-42A4-E838-B2C9B5F0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-3327"/>
            <a:stretch>
              <a:fillRect/>
            </a:stretch>
          </p:blipFill>
          <p:spPr>
            <a:xfrm>
              <a:off x="2466181" y="6161086"/>
              <a:ext cx="7315200" cy="566896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/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194A5AA9-6F20-F135-31FD-18DC04E23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0038" y="1876290"/>
                  <a:ext cx="3680303" cy="509498"/>
                </a:xfrm>
                <a:prstGeom prst="rect">
                  <a:avLst/>
                </a:prstGeom>
                <a:blipFill>
                  <a:blip r:embed="rId6"/>
                  <a:stretch>
                    <a:fillRect l="-2749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/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1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altLang="ja-JP" sz="2610" i="1" dirty="0">
                          <a:latin typeface="Cambria Math" panose="02040503050406030204" pitchFamily="18" charset="0"/>
                        </a:rPr>
                        <m:t>02</m:t>
                      </m:r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reflection in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i="1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E7E206A4-55B7-A559-3F82-AF2813067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594" y="1876290"/>
                  <a:ext cx="3678315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3093" t="-7317" b="-2926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F2A32BB-E82B-743B-D919-77CA6F1F3DA8}"/>
                </a:ext>
              </a:extLst>
            </p:cNvPr>
            <p:cNvSpPr txBox="1"/>
            <p:nvPr/>
          </p:nvSpPr>
          <p:spPr>
            <a:xfrm>
              <a:off x="1883615" y="6263480"/>
              <a:ext cx="8480332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3998238-40F6-FEA9-B4A0-D8A24A99ADFE}"/>
                </a:ext>
              </a:extLst>
            </p:cNvPr>
            <p:cNvSpPr/>
            <p:nvPr/>
          </p:nvSpPr>
          <p:spPr>
            <a:xfrm>
              <a:off x="31237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3B796FB-2B88-9B69-1551-9475C68356D8}"/>
                </a:ext>
              </a:extLst>
            </p:cNvPr>
            <p:cNvSpPr/>
            <p:nvPr/>
          </p:nvSpPr>
          <p:spPr>
            <a:xfrm>
              <a:off x="8419689" y="3672030"/>
              <a:ext cx="827367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pic>
        <p:nvPicPr>
          <p:cNvPr id="2" name="図 1">
            <a:extLst>
              <a:ext uri="{FF2B5EF4-FFF2-40B4-BE49-F238E27FC236}">
                <a16:creationId xmlns:a16="http://schemas.microsoft.com/office/drawing/2014/main" id="{B4DA2CBE-5103-D064-E880-740B02364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287" y="3312570"/>
            <a:ext cx="7772400" cy="562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786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083D-7A02-DB9A-C503-AD28ABD0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6496F2-889E-E286-F5DB-898BB73ECB64}"/>
              </a:ext>
            </a:extLst>
          </p:cNvPr>
          <p:cNvGrpSpPr/>
          <p:nvPr/>
        </p:nvGrpSpPr>
        <p:grpSpPr>
          <a:xfrm>
            <a:off x="5773755" y="1876291"/>
            <a:ext cx="10044237" cy="10036213"/>
            <a:chOff x="5773755" y="1876291"/>
            <a:chExt cx="10044237" cy="10036213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33A121DC-FAB0-F752-ABE6-A2AF4062F00A}"/>
                </a:ext>
              </a:extLst>
            </p:cNvPr>
            <p:cNvGrpSpPr/>
            <p:nvPr/>
          </p:nvGrpSpPr>
          <p:grpSpPr>
            <a:xfrm>
              <a:off x="5773755" y="1876291"/>
              <a:ext cx="10044237" cy="10036213"/>
              <a:chOff x="5773755" y="1876291"/>
              <a:chExt cx="10044237" cy="10036213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517EE993-F334-CF5F-BB3D-EA64DE782FD0}"/>
                  </a:ext>
                </a:extLst>
              </p:cNvPr>
              <p:cNvGrpSpPr/>
              <p:nvPr/>
            </p:nvGrpSpPr>
            <p:grpSpPr>
              <a:xfrm>
                <a:off x="6555707" y="6263481"/>
                <a:ext cx="8480332" cy="5649023"/>
                <a:chOff x="6645321" y="6263481"/>
                <a:chExt cx="8480332" cy="5649023"/>
              </a:xfrm>
            </p:grpSpPr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DB6277E-0658-A3B2-6ED6-BFA9852F2206}"/>
                    </a:ext>
                  </a:extLst>
                </p:cNvPr>
                <p:cNvSpPr txBox="1"/>
                <p:nvPr/>
              </p:nvSpPr>
              <p:spPr>
                <a:xfrm>
                  <a:off x="6645321" y="6263481"/>
                  <a:ext cx="8480332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(c)  X projection of the dashed line region in (a) and (b))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0FB90900-8414-D1F8-39F8-FABF955E4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56267" y="6757462"/>
                  <a:ext cx="7058441" cy="5155042"/>
                </a:xfrm>
                <a:prstGeom prst="rect">
                  <a:avLst/>
                </a:prstGeom>
              </p:spPr>
            </p:pic>
          </p:grpSp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70F6E205-21AF-BF00-C475-89123725D6A4}"/>
                  </a:ext>
                </a:extLst>
              </p:cNvPr>
              <p:cNvGrpSpPr/>
              <p:nvPr/>
            </p:nvGrpSpPr>
            <p:grpSpPr>
              <a:xfrm>
                <a:off x="5773755" y="1876291"/>
                <a:ext cx="10044237" cy="4387190"/>
                <a:chOff x="5773755" y="1876291"/>
                <a:chExt cx="10044237" cy="438719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808F2F74-0EA6-2203-0102-D9B20157E2CC}"/>
                    </a:ext>
                  </a:extLst>
                </p:cNvPr>
                <p:cNvGrpSpPr/>
                <p:nvPr/>
              </p:nvGrpSpPr>
              <p:grpSpPr>
                <a:xfrm>
                  <a:off x="5773755" y="1876291"/>
                  <a:ext cx="4978400" cy="4387190"/>
                  <a:chOff x="5773755" y="1876291"/>
                  <a:chExt cx="4978400" cy="4387190"/>
                </a:xfrm>
              </p:grpSpPr>
              <p:pic>
                <p:nvPicPr>
                  <p:cNvPr id="7" name="図 6">
                    <a:extLst>
                      <a:ext uri="{FF2B5EF4-FFF2-40B4-BE49-F238E27FC236}">
                        <a16:creationId xmlns:a16="http://schemas.microsoft.com/office/drawing/2014/main" id="{DE543E6D-D216-1711-9089-40FFBB7098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773755" y="2402681"/>
                    <a:ext cx="4978400" cy="386080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(a)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b="0" i="1" smtClean="0">
                                    <a:latin typeface="Cambria Math" panose="02040503050406030204" pitchFamily="18" charset="0"/>
                                  </a:rPr>
                                  <m:t>++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テキスト ボックス 14">
                        <a:extLst>
                          <a:ext uri="{FF2B5EF4-FFF2-40B4-BE49-F238E27FC236}">
                            <a16:creationId xmlns:a16="http://schemas.microsoft.com/office/drawing/2014/main" id="{1812A9CE-DCC5-18E2-CB61-9FBDF8E8F2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422804" y="1876291"/>
                        <a:ext cx="3680303" cy="509498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E3C89CE2-D391-25D3-B84F-0EF3F6B15FFD}"/>
                    </a:ext>
                  </a:extLst>
                </p:cNvPr>
                <p:cNvGrpSpPr/>
                <p:nvPr/>
              </p:nvGrpSpPr>
              <p:grpSpPr>
                <a:xfrm>
                  <a:off x="10839592" y="1876291"/>
                  <a:ext cx="4978400" cy="4387190"/>
                  <a:chOff x="10839592" y="1876291"/>
                  <a:chExt cx="4978400" cy="438719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ja-JP" sz="2610" dirty="0">
                            <a:latin typeface="Helvetica" pitchFamily="2" charset="0"/>
                          </a:rPr>
                          <a:t>(b) </a:t>
                        </a:r>
                        <a14:m>
                          <m:oMath xmlns:m="http://schemas.openxmlformats.org/officeDocument/2006/math">
                            <m:acc>
                              <m:accPr>
                                <m:chr m:val="̅"/>
                                <m:ctrlP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 dirty="0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a14:m>
                        <a:r>
                          <a:rPr lang="en-US" altLang="ja-JP" sz="2610" dirty="0">
                            <a:latin typeface="Helvetica" pitchFamily="2" charset="0"/>
                          </a:rPr>
                          <a:t> reflection in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obs</m:t>
                                </m:r>
                              </m:sub>
                              <m:sup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261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oMath>
                        </a14:m>
                        <a:endParaRPr lang="ja-JP" altLang="en-US" sz="2610">
                          <a:latin typeface="Helvetica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テキスト ボックス 15">
                        <a:extLst>
                          <a:ext uri="{FF2B5EF4-FFF2-40B4-BE49-F238E27FC236}">
                            <a16:creationId xmlns:a16="http://schemas.microsoft.com/office/drawing/2014/main" id="{202B22AB-CAA3-969D-2683-306316194E2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489635" y="1876291"/>
                        <a:ext cx="3678315" cy="5094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749" t="-7317" b="-2926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pic>
                <p:nvPicPr>
                  <p:cNvPr id="9" name="図 8">
                    <a:extLst>
                      <a:ext uri="{FF2B5EF4-FFF2-40B4-BE49-F238E27FC236}">
                        <a16:creationId xmlns:a16="http://schemas.microsoft.com/office/drawing/2014/main" id="{3D98B3BD-F00F-D7B5-B94D-F735D169ED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839592" y="2402681"/>
                    <a:ext cx="4978400" cy="3860800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4877D6D-2903-2FC3-BC5B-E1C249CA4901}"/>
                </a:ext>
              </a:extLst>
            </p:cNvPr>
            <p:cNvSpPr/>
            <p:nvPr/>
          </p:nvSpPr>
          <p:spPr>
            <a:xfrm>
              <a:off x="7930465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7850C5-B620-3346-8936-F00FCAD3508B}"/>
                </a:ext>
              </a:extLst>
            </p:cNvPr>
            <p:cNvSpPr/>
            <p:nvPr/>
          </p:nvSpPr>
          <p:spPr>
            <a:xfrm>
              <a:off x="13037820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293290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A3BF-A304-4FC8-BEEF-05AA821A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578BBB71-D47E-FCF0-40E6-1DC397023013}"/>
              </a:ext>
            </a:extLst>
          </p:cNvPr>
          <p:cNvGrpSpPr/>
          <p:nvPr/>
        </p:nvGrpSpPr>
        <p:grpSpPr>
          <a:xfrm>
            <a:off x="6717070" y="6263481"/>
            <a:ext cx="8480332" cy="5649023"/>
            <a:chOff x="6645321" y="6263481"/>
            <a:chExt cx="8480332" cy="5649023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ACDFC0E-70BE-DEE6-BC07-B28282EE29CC}"/>
                </a:ext>
              </a:extLst>
            </p:cNvPr>
            <p:cNvSpPr txBox="1"/>
            <p:nvPr/>
          </p:nvSpPr>
          <p:spPr>
            <a:xfrm>
              <a:off x="6645321" y="6263481"/>
              <a:ext cx="8480332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(c)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6DECB402-30A1-3B9F-54FA-2D96640E9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6267" y="6757462"/>
              <a:ext cx="7058441" cy="515504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C15BD90E-43ED-DC8C-E00C-A1F9D67698ED}"/>
                  </a:ext>
                </a:extLst>
              </p:cNvPr>
              <p:cNvSpPr txBox="1"/>
              <p:nvPr/>
            </p:nvSpPr>
            <p:spPr>
              <a:xfrm>
                <a:off x="7247556" y="1876291"/>
                <a:ext cx="3680303" cy="509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(a)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1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1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altLang="ja-JP" sz="2610" i="1" dirty="0"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 reflection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61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61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610" b="0" i="1" smtClean="0">
                            <a:latin typeface="Cambria Math" panose="02040503050406030204" pitchFamily="18" charset="0"/>
                          </a:rPr>
                          <m:t>obs</m:t>
                        </m:r>
                      </m:sub>
                      <m:sup>
                        <m:r>
                          <a:rPr lang="en-US" altLang="ja-JP" sz="2610" b="0" i="1" smtClean="0">
                            <a:latin typeface="Cambria Math" panose="02040503050406030204" pitchFamily="18" charset="0"/>
                          </a:rPr>
                          <m:t>++</m:t>
                        </m:r>
                      </m:sup>
                    </m:sSubSup>
                  </m:oMath>
                </a14:m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C15BD90E-43ED-DC8C-E00C-A1F9D676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556" y="1876291"/>
                <a:ext cx="3680303" cy="509498"/>
              </a:xfrm>
              <a:prstGeom prst="rect">
                <a:avLst/>
              </a:prstGeom>
              <a:blipFill>
                <a:blip r:embed="rId4"/>
                <a:stretch>
                  <a:fillRect l="-2749" t="-7317" b="-292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54CE8D3-185F-A84E-D39B-FC73AB8B4B9C}"/>
                  </a:ext>
                </a:extLst>
              </p:cNvPr>
              <p:cNvSpPr txBox="1"/>
              <p:nvPr/>
            </p:nvSpPr>
            <p:spPr>
              <a:xfrm>
                <a:off x="10951753" y="1876291"/>
                <a:ext cx="3678315" cy="509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(b)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1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1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altLang="ja-JP" sz="2610" i="1" dirty="0"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r>
                  <a:rPr lang="en-US" altLang="ja-JP" sz="2610" dirty="0">
                    <a:latin typeface="Helvetica" pitchFamily="2" charset="0"/>
                  </a:rPr>
                  <a:t> reflection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61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610" i="1">
                            <a:latin typeface="Cambria Math" panose="02040503050406030204" pitchFamily="18" charset="0"/>
                          </a:rPr>
                          <m:t>obs</m:t>
                        </m:r>
                      </m:sub>
                      <m:sup>
                        <m:r>
                          <a:rPr lang="en-US" altLang="ja-JP" sz="261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61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endParaRPr lang="ja-JP" altLang="en-US" sz="261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54CE8D3-185F-A84E-D39B-FC73AB8B4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1753" y="1876291"/>
                <a:ext cx="3678315" cy="509498"/>
              </a:xfrm>
              <a:prstGeom prst="rect">
                <a:avLst/>
              </a:prstGeom>
              <a:blipFill>
                <a:blip r:embed="rId5"/>
                <a:stretch>
                  <a:fillRect l="-3103" t="-7317" b="-292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3B9347D-3974-2A8E-8B2C-E7EB15EBC2FA}"/>
              </a:ext>
            </a:extLst>
          </p:cNvPr>
          <p:cNvGrpSpPr/>
          <p:nvPr/>
        </p:nvGrpSpPr>
        <p:grpSpPr>
          <a:xfrm>
            <a:off x="10826249" y="2402681"/>
            <a:ext cx="4328357" cy="3860800"/>
            <a:chOff x="11489634" y="2402681"/>
            <a:chExt cx="4328357" cy="3860800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1CA5B1C-7244-9D5C-D0E7-5D659A348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3057"/>
            <a:stretch>
              <a:fillRect/>
            </a:stretch>
          </p:blipFill>
          <p:spPr>
            <a:xfrm>
              <a:off x="11489634" y="2402681"/>
              <a:ext cx="4328357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3DC4AF7-4127-993F-5847-97CE9FC12352}"/>
                </a:ext>
              </a:extLst>
            </p:cNvPr>
            <p:cNvSpPr/>
            <p:nvPr/>
          </p:nvSpPr>
          <p:spPr>
            <a:xfrm>
              <a:off x="13037820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B8EF758-6124-8529-6A7C-49508CE69309}"/>
              </a:ext>
            </a:extLst>
          </p:cNvPr>
          <p:cNvGrpSpPr/>
          <p:nvPr/>
        </p:nvGrpSpPr>
        <p:grpSpPr>
          <a:xfrm>
            <a:off x="7064670" y="2402681"/>
            <a:ext cx="3818480" cy="3860800"/>
            <a:chOff x="5773755" y="2402681"/>
            <a:chExt cx="3818480" cy="38608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658DD8AC-FA23-9596-05E2-9F3212E58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3299"/>
            <a:stretch>
              <a:fillRect/>
            </a:stretch>
          </p:blipFill>
          <p:spPr>
            <a:xfrm>
              <a:off x="5773755" y="2402681"/>
              <a:ext cx="3818480" cy="3860800"/>
            </a:xfrm>
            <a:prstGeom prst="rect">
              <a:avLst/>
            </a:prstGeom>
          </p:spPr>
        </p:pic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24AEA3D-FE5B-6B96-3335-1FB7793B77F6}"/>
                </a:ext>
              </a:extLst>
            </p:cNvPr>
            <p:cNvSpPr/>
            <p:nvPr/>
          </p:nvSpPr>
          <p:spPr>
            <a:xfrm>
              <a:off x="7930465" y="3798923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40230832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99F4-FC28-12B2-8CDF-EF8FE304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CA094CC5-A41F-6520-5962-B3FD664825F1}"/>
              </a:ext>
            </a:extLst>
          </p:cNvPr>
          <p:cNvGrpSpPr/>
          <p:nvPr/>
        </p:nvGrpSpPr>
        <p:grpSpPr>
          <a:xfrm>
            <a:off x="1179453" y="876906"/>
            <a:ext cx="11114874" cy="9829998"/>
            <a:chOff x="1179453" y="876906"/>
            <a:chExt cx="11114874" cy="9829998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DB64A552-301E-C59E-A814-0867284CF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105"/>
            <a:stretch>
              <a:fillRect/>
            </a:stretch>
          </p:blipFill>
          <p:spPr>
            <a:xfrm>
              <a:off x="7968332" y="1457533"/>
              <a:ext cx="4325995" cy="3860800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6855EF8A-DE43-2B48-26AE-76C5CC9E46C8}"/>
                </a:ext>
              </a:extLst>
            </p:cNvPr>
            <p:cNvSpPr txBox="1"/>
            <p:nvPr/>
          </p:nvSpPr>
          <p:spPr>
            <a:xfrm>
              <a:off x="2320062" y="5557944"/>
              <a:ext cx="9019339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(d)  X projection of the dashed line region in (a), (b) and (c))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8A5DFBD-CF9E-7C8E-1F39-E601A2C23864}"/>
                </a:ext>
              </a:extLst>
            </p:cNvPr>
            <p:cNvSpPr/>
            <p:nvPr/>
          </p:nvSpPr>
          <p:spPr>
            <a:xfrm>
              <a:off x="3336163" y="2862221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C7B6CF20-17BB-AEF9-4CAA-BF2592DB5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730" r="23952"/>
            <a:stretch>
              <a:fillRect/>
            </a:stretch>
          </p:blipFill>
          <p:spPr>
            <a:xfrm>
              <a:off x="4931221" y="1457533"/>
              <a:ext cx="3102429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5F4CD2F2-8C02-A413-025F-CFA7B10EFF33}"/>
                </a:ext>
              </a:extLst>
            </p:cNvPr>
            <p:cNvSpPr/>
            <p:nvPr/>
          </p:nvSpPr>
          <p:spPr>
            <a:xfrm>
              <a:off x="6423065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B5F66B6F-CCDD-44E9-5309-F44F156A0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2729" y="6158205"/>
              <a:ext cx="9874005" cy="454869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92228C3-CD08-06DE-3BEF-B8DE06E14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4068"/>
            <a:stretch>
              <a:fillRect/>
            </a:stretch>
          </p:blipFill>
          <p:spPr>
            <a:xfrm>
              <a:off x="1179453" y="1457533"/>
              <a:ext cx="3780233" cy="386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/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/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blipFill>
                  <a:blip r:embed="rId8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E93005D1-60F2-C37E-F6A5-32D1BA602E8D}"/>
                    </a:ext>
                  </a:extLst>
                </p:cNvPr>
                <p:cNvSpPr txBox="1"/>
                <p:nvPr/>
              </p:nvSpPr>
              <p:spPr>
                <a:xfrm>
                  <a:off x="8484203" y="876906"/>
                  <a:ext cx="2246641" cy="6027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(c)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unpol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E93005D1-60F2-C37E-F6A5-32D1BA602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4203" y="876906"/>
                  <a:ext cx="2246641" cy="602729"/>
                </a:xfrm>
                <a:prstGeom prst="rect">
                  <a:avLst/>
                </a:prstGeom>
                <a:blipFill>
                  <a:blip r:embed="rId9"/>
                  <a:stretch>
                    <a:fillRect l="-5085" r="-4520" b="-208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9669AD6B-03CD-50D4-5E32-F8140870C45D}"/>
                </a:ext>
              </a:extLst>
            </p:cNvPr>
            <p:cNvSpPr/>
            <p:nvPr/>
          </p:nvSpPr>
          <p:spPr>
            <a:xfrm>
              <a:off x="3356788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A5AF10C-9176-E88F-E250-ABB096908258}"/>
                </a:ext>
              </a:extLst>
            </p:cNvPr>
            <p:cNvSpPr/>
            <p:nvPr/>
          </p:nvSpPr>
          <p:spPr>
            <a:xfrm>
              <a:off x="9497523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20473284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7969-53B3-64DD-A9FA-2D2ADA23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9B77CCC-12C6-DBCB-2710-4313C18FB4D9}"/>
              </a:ext>
            </a:extLst>
          </p:cNvPr>
          <p:cNvGrpSpPr/>
          <p:nvPr/>
        </p:nvGrpSpPr>
        <p:grpSpPr>
          <a:xfrm>
            <a:off x="3447165" y="1207988"/>
            <a:ext cx="11114874" cy="9829998"/>
            <a:chOff x="1179453" y="876906"/>
            <a:chExt cx="11114874" cy="9829998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A960837C-187A-8D41-5A76-53A0CCECB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105"/>
            <a:stretch>
              <a:fillRect/>
            </a:stretch>
          </p:blipFill>
          <p:spPr>
            <a:xfrm>
              <a:off x="7968332" y="1457533"/>
              <a:ext cx="4325995" cy="3860800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22E72B60-8B64-8B89-E572-E05E8AC31EB7}"/>
                </a:ext>
              </a:extLst>
            </p:cNvPr>
            <p:cNvSpPr txBox="1"/>
            <p:nvPr/>
          </p:nvSpPr>
          <p:spPr>
            <a:xfrm>
              <a:off x="2320062" y="5557944"/>
              <a:ext cx="9019339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(d)  X projection of the dashed line region in (a), (b) and (c))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D0A421CE-2D29-1D9B-E248-F22FB84E2FD5}"/>
                </a:ext>
              </a:extLst>
            </p:cNvPr>
            <p:cNvSpPr/>
            <p:nvPr/>
          </p:nvSpPr>
          <p:spPr>
            <a:xfrm>
              <a:off x="3336163" y="2862221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3FDFD7A-9D77-A3C7-C1A9-BE15851E9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730" r="23952"/>
            <a:stretch>
              <a:fillRect/>
            </a:stretch>
          </p:blipFill>
          <p:spPr>
            <a:xfrm>
              <a:off x="4931221" y="1457533"/>
              <a:ext cx="3102429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938DE89A-DD7F-BCC5-B716-D0DD6C93033C}"/>
                </a:ext>
              </a:extLst>
            </p:cNvPr>
            <p:cNvSpPr/>
            <p:nvPr/>
          </p:nvSpPr>
          <p:spPr>
            <a:xfrm>
              <a:off x="6423065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34C511E4-0A77-7CB6-8F42-31EA4DC64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92729" y="6158205"/>
              <a:ext cx="9874005" cy="454869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26E3E72-B735-5699-2D8A-D9C283317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4068"/>
            <a:stretch>
              <a:fillRect/>
            </a:stretch>
          </p:blipFill>
          <p:spPr>
            <a:xfrm>
              <a:off x="1179453" y="1457533"/>
              <a:ext cx="3780233" cy="386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DB1C09EF-D444-70E6-BC50-617AF6762657}"/>
                    </a:ext>
                  </a:extLst>
                </p:cNvPr>
                <p:cNvSpPr txBox="1"/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317CB6FE-B2D0-EAB8-AA6A-F956F556F1A7}"/>
                    </a:ext>
                  </a:extLst>
                </p:cNvPr>
                <p:cNvSpPr txBox="1"/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blipFill>
                  <a:blip r:embed="rId8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94BB303-BAEA-75EC-BE28-BE8EAF01A965}"/>
                    </a:ext>
                  </a:extLst>
                </p:cNvPr>
                <p:cNvSpPr txBox="1"/>
                <p:nvPr/>
              </p:nvSpPr>
              <p:spPr>
                <a:xfrm>
                  <a:off x="8484203" y="876906"/>
                  <a:ext cx="2246641" cy="6027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(c)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unpol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E93005D1-60F2-C37E-F6A5-32D1BA602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4203" y="876906"/>
                  <a:ext cx="2246641" cy="602729"/>
                </a:xfrm>
                <a:prstGeom prst="rect">
                  <a:avLst/>
                </a:prstGeom>
                <a:blipFill>
                  <a:blip r:embed="rId9"/>
                  <a:stretch>
                    <a:fillRect l="-5085" r="-4520" b="-208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70E3F61F-BEE8-3A63-8F51-63D116D04517}"/>
                </a:ext>
              </a:extLst>
            </p:cNvPr>
            <p:cNvSpPr/>
            <p:nvPr/>
          </p:nvSpPr>
          <p:spPr>
            <a:xfrm>
              <a:off x="3356788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153F7839-A92F-809B-13E7-4A0713D8F0D2}"/>
                </a:ext>
              </a:extLst>
            </p:cNvPr>
            <p:cNvSpPr/>
            <p:nvPr/>
          </p:nvSpPr>
          <p:spPr>
            <a:xfrm>
              <a:off x="9497523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039371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E843-B4FF-7DFA-E798-695B6177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C9C0438-3739-10EF-B403-02B06C7DCE4F}"/>
              </a:ext>
            </a:extLst>
          </p:cNvPr>
          <p:cNvGrpSpPr/>
          <p:nvPr/>
        </p:nvGrpSpPr>
        <p:grpSpPr>
          <a:xfrm>
            <a:off x="2977099" y="1254603"/>
            <a:ext cx="10630014" cy="9736769"/>
            <a:chOff x="709387" y="923521"/>
            <a:chExt cx="10630014" cy="9736769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98C4668-4AA2-B8F4-B186-CA296F600788}"/>
                </a:ext>
              </a:extLst>
            </p:cNvPr>
            <p:cNvSpPr txBox="1"/>
            <p:nvPr/>
          </p:nvSpPr>
          <p:spPr>
            <a:xfrm>
              <a:off x="2320062" y="5557944"/>
              <a:ext cx="9019339" cy="49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610" dirty="0">
                  <a:latin typeface="Helvetica" pitchFamily="2" charset="0"/>
                </a:rPr>
                <a:t>(d)  X projection of the dashed line region in (a) and (b))</a:t>
              </a:r>
              <a:endParaRPr lang="ja-JP" altLang="en-US" sz="2610">
                <a:latin typeface="Helvetica" pitchFamily="2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00E8B9C-E695-CE19-84F2-355B7BBD397E}"/>
                </a:ext>
              </a:extLst>
            </p:cNvPr>
            <p:cNvSpPr/>
            <p:nvPr/>
          </p:nvSpPr>
          <p:spPr>
            <a:xfrm>
              <a:off x="3336163" y="2862221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5721A60-4D6D-73AE-81B2-5ACFC7BCF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730" r="20"/>
            <a:stretch>
              <a:fillRect/>
            </a:stretch>
          </p:blipFill>
          <p:spPr>
            <a:xfrm>
              <a:off x="4931221" y="1457533"/>
              <a:ext cx="4293820" cy="3860800"/>
            </a:xfrm>
            <a:prstGeom prst="rect">
              <a:avLst/>
            </a:prstGeom>
          </p:spPr>
        </p:pic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5A476F9-135F-BAC6-D034-4421A1B5C7AF}"/>
                </a:ext>
              </a:extLst>
            </p:cNvPr>
            <p:cNvSpPr/>
            <p:nvPr/>
          </p:nvSpPr>
          <p:spPr>
            <a:xfrm>
              <a:off x="6423065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C628A7D2-58EF-1DD7-2B88-2615D6D9F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9387" y="6111591"/>
              <a:ext cx="9874005" cy="4548699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CF66C4F-0333-0D29-7CF0-4DCFF39B6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4068"/>
            <a:stretch>
              <a:fillRect/>
            </a:stretch>
          </p:blipFill>
          <p:spPr>
            <a:xfrm>
              <a:off x="1179453" y="1457533"/>
              <a:ext cx="3780233" cy="3860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9E4FD8FE-C69C-86E4-6B21-78E7238509DB}"/>
                    </a:ext>
                  </a:extLst>
                </p:cNvPr>
                <p:cNvSpPr txBox="1"/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(a)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++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ED075171-6A4C-CDE2-1CD9-49133E103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406" y="923521"/>
                  <a:ext cx="1969514" cy="509498"/>
                </a:xfrm>
                <a:prstGeom prst="rect">
                  <a:avLst/>
                </a:prstGeom>
                <a:blipFill>
                  <a:blip r:embed="rId7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D909AAE3-FE84-D89E-2E33-EADABEA3A0AC}"/>
                    </a:ext>
                  </a:extLst>
                </p:cNvPr>
                <p:cNvSpPr txBox="1"/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(b)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sz="261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a14:m>
                  <a:r>
                    <a:rPr lang="en-US" altLang="ja-JP" sz="2610" dirty="0">
                      <a:latin typeface="Helvetica" pitchFamily="2" charset="0"/>
                    </a:rPr>
                    <a:t> map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026AC7E-6A1E-7DAB-1923-2743F5AD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184" y="923521"/>
                  <a:ext cx="1969514" cy="509498"/>
                </a:xfrm>
                <a:prstGeom prst="rect">
                  <a:avLst/>
                </a:prstGeom>
                <a:blipFill>
                  <a:blip r:embed="rId8"/>
                  <a:stretch>
                    <a:fillRect l="-5769" t="-7317" r="-4487" b="-268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31A7E2A-9B0D-CEE2-AA52-5DFAC821223F}"/>
                </a:ext>
              </a:extLst>
            </p:cNvPr>
            <p:cNvSpPr/>
            <p:nvPr/>
          </p:nvSpPr>
          <p:spPr>
            <a:xfrm>
              <a:off x="3356788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C33A60D9-ED4A-877F-BC78-4B57F3215BFB}"/>
                </a:ext>
              </a:extLst>
            </p:cNvPr>
            <p:cNvSpPr/>
            <p:nvPr/>
          </p:nvSpPr>
          <p:spPr>
            <a:xfrm>
              <a:off x="9497523" y="2871115"/>
              <a:ext cx="756335" cy="454710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1341863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2956434-F4AD-73E7-83E7-303AD421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99" y="-2880236"/>
            <a:ext cx="17484539" cy="8006164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A4C2295-FA6E-938C-5A43-C54A3AE2C67F}"/>
              </a:ext>
            </a:extLst>
          </p:cNvPr>
          <p:cNvGrpSpPr/>
          <p:nvPr/>
        </p:nvGrpSpPr>
        <p:grpSpPr>
          <a:xfrm>
            <a:off x="3376537" y="5246571"/>
            <a:ext cx="6698551" cy="4838617"/>
            <a:chOff x="916585" y="2824477"/>
            <a:chExt cx="4620428" cy="3337511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841A415-9029-1BBF-81F4-332984EE007D}"/>
                </a:ext>
              </a:extLst>
            </p:cNvPr>
            <p:cNvGrpSpPr/>
            <p:nvPr/>
          </p:nvGrpSpPr>
          <p:grpSpPr>
            <a:xfrm>
              <a:off x="916585" y="2824477"/>
              <a:ext cx="4620428" cy="3337511"/>
              <a:chOff x="916585" y="2824477"/>
              <a:chExt cx="4620428" cy="3337511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3A6BD201-8408-1A10-31E1-BA261DD6D1C5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B59A469-FF2C-3C28-E323-3A4C793E4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084BEF8C-965B-BB3D-BF2C-1F0FC44E0E2B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5A997123-CE8D-CF14-FB0D-A6BAA1DAE86C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E2954F77-961A-79CA-B281-7F4651842A96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0BA831A-26DE-EF7B-1EAE-2FB78D9499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7172" y="4817950"/>
                    <a:ext cx="552450" cy="34135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134C860-0A01-497F-9750-C4F5580AA2C8}"/>
                  </a:ext>
                </a:extLst>
              </p:cNvPr>
              <p:cNvSpPr txBox="1"/>
              <p:nvPr/>
            </p:nvSpPr>
            <p:spPr>
              <a:xfrm>
                <a:off x="4143405" y="5673273"/>
                <a:ext cx="1212043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(0,0,</a:t>
                </a:r>
                <a:r>
                  <a:rPr lang="en-US" altLang="ja-JP" sz="2320" i="1" dirty="0">
                    <a:latin typeface="Helvetica" pitchFamily="2" charset="0"/>
                  </a:rPr>
                  <a:t>L</a:t>
                </a:r>
                <a:r>
                  <a:rPr lang="en-US" altLang="ja-JP" sz="2320" dirty="0">
                    <a:latin typeface="Helvetica" pitchFamily="2" charset="0"/>
                  </a:rPr>
                  <a:t>) || y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0F4AE890-1596-10EE-A278-1AB5130AAFDA}"/>
                  </a:ext>
                </a:extLst>
              </p:cNvPr>
              <p:cNvSpPr txBox="1"/>
              <p:nvPr/>
            </p:nvSpPr>
            <p:spPr>
              <a:xfrm>
                <a:off x="990809" y="2824477"/>
                <a:ext cx="1550657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(0,-</a:t>
                </a:r>
                <a:r>
                  <a:rPr lang="en-US" altLang="ja-JP" sz="2320" i="1" dirty="0">
                    <a:latin typeface="Helvetica" pitchFamily="2" charset="0"/>
                  </a:rPr>
                  <a:t>K+</a:t>
                </a:r>
                <a:r>
                  <a:rPr lang="en-US" altLang="ja-JP" sz="2320" dirty="0">
                    <a:latin typeface="Helvetica" pitchFamily="2" charset="0"/>
                  </a:rPr>
                  <a:t>2</a:t>
                </a:r>
                <a:r>
                  <a:rPr lang="en-US" altLang="ja-JP" sz="2320" i="1" dirty="0">
                    <a:latin typeface="Helvetica" pitchFamily="2" charset="0"/>
                  </a:rPr>
                  <a:t>K</a:t>
                </a:r>
                <a:r>
                  <a:rPr lang="en-US" altLang="ja-JP" sz="2320" dirty="0">
                    <a:latin typeface="Helvetica" pitchFamily="2" charset="0"/>
                  </a:rPr>
                  <a:t>,</a:t>
                </a:r>
                <a:r>
                  <a:rPr lang="en-US" altLang="ja-JP" sz="2320" i="1" dirty="0">
                    <a:latin typeface="Helvetica" pitchFamily="2" charset="0"/>
                  </a:rPr>
                  <a:t>0</a:t>
                </a:r>
                <a:r>
                  <a:rPr lang="en-US" altLang="ja-JP" sz="2320" dirty="0">
                    <a:latin typeface="Helvetica" pitchFamily="2" charset="0"/>
                  </a:rPr>
                  <a:t>) || z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/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E4D2CD9C-9F84-6D90-7990-0F20C0FB66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6684" y="5253607"/>
                    <a:ext cx="911978" cy="3407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514B61E-E358-F340-19FA-79A5FD3C47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ABDD187E-D463-8BC9-495C-32B4E088B9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54799" y="5029794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A537DF1-FD21-089B-0825-983EA58A55BF}"/>
                  </a:ext>
                </a:extLst>
              </p:cNvPr>
              <p:cNvSpPr txBox="1"/>
              <p:nvPr/>
            </p:nvSpPr>
            <p:spPr>
              <a:xfrm>
                <a:off x="3186249" y="3779017"/>
                <a:ext cx="2350764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(c),(e)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B5D8524-0747-92A3-D6DA-E0D175D8A8C7}"/>
                  </a:ext>
                </a:extLst>
              </p:cNvPr>
              <p:cNvSpPr txBox="1"/>
              <p:nvPr/>
            </p:nvSpPr>
            <p:spPr>
              <a:xfrm>
                <a:off x="2398662" y="3369534"/>
                <a:ext cx="2350765" cy="340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610" dirty="0">
                    <a:latin typeface="Helvetica" pitchFamily="2" charset="0"/>
                  </a:rPr>
                  <a:t>Sliced Region (b),(d) </a:t>
                </a:r>
                <a:endParaRPr lang="ja-JP" altLang="en-US" sz="261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1" name="テキスト ボックス 40">
                    <a:extLst>
                      <a:ext uri="{FF2B5EF4-FFF2-40B4-BE49-F238E27FC236}">
                        <a16:creationId xmlns:a16="http://schemas.microsoft.com/office/drawing/2014/main" id="{FB919EA5-F6C3-3F04-41A6-6F0EC0D31D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561" y="4158099"/>
                    <a:ext cx="911978" cy="341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26DDE9B4-31BD-6525-FC57-05C9A2FF6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6684" y="4431700"/>
                <a:ext cx="75688" cy="2224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A3CA9EF-3DB8-6B73-DCAF-9C0E19CD75D3}"/>
                  </a:ext>
                </a:extLst>
              </p:cNvPr>
              <p:cNvSpPr txBox="1"/>
              <p:nvPr/>
            </p:nvSpPr>
            <p:spPr>
              <a:xfrm>
                <a:off x="1755598" y="4019929"/>
                <a:ext cx="1337420" cy="309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(-</a:t>
                </a:r>
                <a:r>
                  <a:rPr lang="en-US" altLang="ja-JP" sz="2320" i="1" dirty="0">
                    <a:latin typeface="Helvetica" pitchFamily="2" charset="0"/>
                  </a:rPr>
                  <a:t>H</a:t>
                </a:r>
                <a:r>
                  <a:rPr lang="en-US" altLang="ja-JP" sz="2320" dirty="0">
                    <a:latin typeface="Helvetica" pitchFamily="2" charset="0"/>
                  </a:rPr>
                  <a:t>,0,0) || -x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28EF781-47B5-E830-D4C8-AD86A6B98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8199FC2C-8197-A56D-1EF0-3ACED570D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8A3FE89-7CFB-2C1B-E3FC-1B5A614CD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0731"/>
                </a:xfrm>
                <a:prstGeom prst="rect">
                  <a:avLst/>
                </a:prstGeom>
                <a:blipFill>
                  <a:blip r:embed="rId8"/>
                  <a:stretch>
                    <a:fillRect l="-465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/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E85DC8F2-94BF-E40B-3B9B-D00D55044E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210" y="5187859"/>
                  <a:ext cx="367495" cy="340731"/>
                </a:xfrm>
                <a:prstGeom prst="rect">
                  <a:avLst/>
                </a:prstGeom>
                <a:blipFill>
                  <a:blip r:embed="rId9"/>
                  <a:stretch>
                    <a:fillRect l="-2326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1C2E84AA-E003-1DD3-0A3A-0E0332A2C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0731"/>
                </a:xfrm>
                <a:prstGeom prst="rect">
                  <a:avLst/>
                </a:prstGeom>
                <a:blipFill>
                  <a:blip r:embed="rId10"/>
                  <a:stretch>
                    <a:fillRect l="-4762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1600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5ADC-AED5-5BB4-CF21-1BBAECFB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52CD759C-641C-027C-0F09-29A89EBE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546" y="2576581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5EEC484-BE05-B870-7F55-36B6B12E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6122988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FCB4F2B8-2F45-DD97-192E-C27A273D5A5E}"/>
              </a:ext>
            </a:extLst>
          </p:cNvPr>
          <p:cNvCxnSpPr>
            <a:cxnSpLocks/>
          </p:cNvCxnSpPr>
          <p:nvPr/>
        </p:nvCxnSpPr>
        <p:spPr>
          <a:xfrm>
            <a:off x="7366661" y="628779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321B35E9-2D76-5AB2-7B31-3E424C95A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706" y="265024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03D36B3D-448B-D217-532E-382E56301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706" y="6384869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7525E93-F008-BDB1-8530-16A4690BFC00}"/>
              </a:ext>
            </a:extLst>
          </p:cNvPr>
          <p:cNvGrpSpPr/>
          <p:nvPr/>
        </p:nvGrpSpPr>
        <p:grpSpPr>
          <a:xfrm>
            <a:off x="1940728" y="3773004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30B4CE95-D8F3-A976-21AF-69ED506F86CA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E84B07B-B875-9E3D-181C-5D73A1A9221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21A930DB-E4A4-822F-7725-166116692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569D253E-6065-5A9E-C550-4B76EA35AE51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D80E0E39-C539-27D2-C8C3-B9431ABBEB16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5A1EC703-02F2-7DFC-412C-35DC2E46E13E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AD13DAF3-31D9-373F-1BD4-9599ADBC2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" r="-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0E62998-5ECE-0A53-FE8C-09BB7ABB4BEB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AF4320C-591D-16A0-5CFC-1FF5056751EE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(0,-</a:t>
                </a:r>
                <a:r>
                  <a:rPr lang="en-US" altLang="ja-JP" sz="2030" i="1" dirty="0">
                    <a:latin typeface="Helvetica" pitchFamily="2" charset="0"/>
                  </a:rPr>
                  <a:t>H+</a:t>
                </a:r>
                <a:r>
                  <a:rPr lang="en-US" altLang="ja-JP" sz="2030" dirty="0">
                    <a:latin typeface="Helvetica" pitchFamily="2" charset="0"/>
                  </a:rPr>
                  <a:t>2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DDEA18DB-7184-2BDE-8BF7-9BF7EAED19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604F6D2F-F1A3-84BD-2152-C449499F5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68E4AD2E-ED27-5A38-464C-35817988248E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525D0067-DD63-EA29-E6CC-BCDD16D68569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202A6E5-CECE-7EA1-D634-A565D058C301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658122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H-K/2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C06DCB33-79B4-AF75-AC21-1FF23C7A63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0F2A5A92-12B0-1872-2AAB-6C4515BFFD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E6810A23-B6C2-76BC-ED76-FED590018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128" r="-7692" b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2CEB7BEB-4D79-FF40-BBEA-FE7AE9BD7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5C2356D-E781-7FD5-41B6-A809D9ABB0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7500" r="-2500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0191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6064-F046-2E01-6020-1C473078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ABBE6E3E-1E68-6648-8B0F-091E0ED4C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9588" y="6323170"/>
            <a:ext cx="5309735" cy="331858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3ABA5C8-7F08-B486-CB37-F29776670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544" y="2581559"/>
            <a:ext cx="5309732" cy="3318582"/>
          </a:xfrm>
          <a:prstGeom prst="rect">
            <a:avLst/>
          </a:prstGeom>
        </p:spPr>
      </p:pic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3FF5A20E-9046-95CB-E51E-71F8B5D2F258}"/>
              </a:ext>
            </a:extLst>
          </p:cNvPr>
          <p:cNvCxnSpPr>
            <a:cxnSpLocks/>
          </p:cNvCxnSpPr>
          <p:nvPr/>
        </p:nvCxnSpPr>
        <p:spPr>
          <a:xfrm>
            <a:off x="7473631" y="6219102"/>
            <a:ext cx="7039818" cy="3490439"/>
          </a:xfrm>
          <a:prstGeom prst="bentConnector3">
            <a:avLst>
              <a:gd name="adj1" fmla="val 9966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図 47">
            <a:extLst>
              <a:ext uri="{FF2B5EF4-FFF2-40B4-BE49-F238E27FC236}">
                <a16:creationId xmlns:a16="http://schemas.microsoft.com/office/drawing/2014/main" id="{5E3A844B-67C6-0CB0-F76F-13447DDB4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7676" y="2581558"/>
            <a:ext cx="3641911" cy="3589002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6717B13D-2E1D-8DC3-978C-B8C04120E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7675" y="6470836"/>
            <a:ext cx="3600979" cy="3574630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03B6EE4C-3742-CDCC-35F5-C6EE0A9D8BCB}"/>
              </a:ext>
            </a:extLst>
          </p:cNvPr>
          <p:cNvGrpSpPr/>
          <p:nvPr/>
        </p:nvGrpSpPr>
        <p:grpSpPr>
          <a:xfrm>
            <a:off x="2047698" y="3704313"/>
            <a:ext cx="5374072" cy="4699973"/>
            <a:chOff x="916585" y="2848391"/>
            <a:chExt cx="4000249" cy="3313597"/>
          </a:xfrm>
        </p:grpSpPr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9AD14D69-BA25-1103-EE8C-7C0B29B00F99}"/>
                </a:ext>
              </a:extLst>
            </p:cNvPr>
            <p:cNvGrpSpPr/>
            <p:nvPr/>
          </p:nvGrpSpPr>
          <p:grpSpPr>
            <a:xfrm>
              <a:off x="916585" y="2848391"/>
              <a:ext cx="4000249" cy="3313597"/>
              <a:chOff x="916585" y="2848391"/>
              <a:chExt cx="4000249" cy="3313597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77F155B2-3EAF-3B42-7162-2F5CEB3322AC}"/>
                  </a:ext>
                </a:extLst>
              </p:cNvPr>
              <p:cNvGrpSpPr/>
              <p:nvPr/>
            </p:nvGrpSpPr>
            <p:grpSpPr>
              <a:xfrm>
                <a:off x="916585" y="2950023"/>
                <a:ext cx="3957145" cy="3211965"/>
                <a:chOff x="916585" y="2950023"/>
                <a:chExt cx="3957145" cy="3211965"/>
              </a:xfrm>
            </p:grpSpPr>
            <p:pic>
              <p:nvPicPr>
                <p:cNvPr id="29" name="図 28">
                  <a:extLst>
                    <a:ext uri="{FF2B5EF4-FFF2-40B4-BE49-F238E27FC236}">
                      <a16:creationId xmlns:a16="http://schemas.microsoft.com/office/drawing/2014/main" id="{6581266B-B243-7D57-9BC6-B95EA2935A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23307" t="22048" r="4567" b="21066"/>
                <a:stretch>
                  <a:fillRect/>
                </a:stretch>
              </p:blipFill>
              <p:spPr>
                <a:xfrm>
                  <a:off x="916585" y="3040980"/>
                  <a:ext cx="3957145" cy="3121008"/>
                </a:xfrm>
                <a:prstGeom prst="rect">
                  <a:avLst/>
                </a:prstGeom>
              </p:spPr>
            </p:pic>
            <p:sp>
              <p:nvSpPr>
                <p:cNvPr id="21" name="三角形 20">
                  <a:extLst>
                    <a:ext uri="{FF2B5EF4-FFF2-40B4-BE49-F238E27FC236}">
                      <a16:creationId xmlns:a16="http://schemas.microsoft.com/office/drawing/2014/main" id="{B9ACFC03-6E12-37A3-DB23-339E27970846}"/>
                    </a:ext>
                  </a:extLst>
                </p:cNvPr>
                <p:cNvSpPr/>
                <p:nvPr/>
              </p:nvSpPr>
              <p:spPr>
                <a:xfrm rot="6000000">
                  <a:off x="4668592" y="5598775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三角形 21">
                  <a:extLst>
                    <a:ext uri="{FF2B5EF4-FFF2-40B4-BE49-F238E27FC236}">
                      <a16:creationId xmlns:a16="http://schemas.microsoft.com/office/drawing/2014/main" id="{45FB3FF5-3428-575D-CC62-6D9965AAE577}"/>
                    </a:ext>
                  </a:extLst>
                </p:cNvPr>
                <p:cNvSpPr/>
                <p:nvPr/>
              </p:nvSpPr>
              <p:spPr>
                <a:xfrm>
                  <a:off x="922229" y="2950023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三角形 22">
                  <a:extLst>
                    <a:ext uri="{FF2B5EF4-FFF2-40B4-BE49-F238E27FC236}">
                      <a16:creationId xmlns:a16="http://schemas.microsoft.com/office/drawing/2014/main" id="{C06F1C67-66E2-F2D0-B981-C797F51B2409}"/>
                    </a:ext>
                  </a:extLst>
                </p:cNvPr>
                <p:cNvSpPr/>
                <p:nvPr/>
              </p:nvSpPr>
              <p:spPr>
                <a:xfrm rot="3659594">
                  <a:off x="1971744" y="4372580"/>
                  <a:ext cx="137160" cy="118241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acc>
                            <m:accPr>
                              <m:chr m:val="̅"/>
                              <m:ctrlP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61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02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0DA5CD54-F3FF-EC64-C234-6152543C33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43" y="4795048"/>
                    <a:ext cx="552450" cy="3489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90" r="-339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2F8C69A-5938-2C87-0CAB-15B13E09B7B7}"/>
                  </a:ext>
                </a:extLst>
              </p:cNvPr>
              <p:cNvSpPr txBox="1"/>
              <p:nvPr/>
            </p:nvSpPr>
            <p:spPr>
              <a:xfrm>
                <a:off x="3704791" y="5639423"/>
                <a:ext cx="1212043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(0,0,</a:t>
                </a:r>
                <a:r>
                  <a:rPr lang="en-US" altLang="ja-JP" sz="2030" i="1" dirty="0">
                    <a:latin typeface="Helvetica" pitchFamily="2" charset="0"/>
                  </a:rPr>
                  <a:t>L</a:t>
                </a:r>
                <a:r>
                  <a:rPr lang="en-US" altLang="ja-JP" sz="2030" dirty="0">
                    <a:latin typeface="Helvetica" pitchFamily="2" charset="0"/>
                  </a:rPr>
                  <a:t>) || y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45FA802-A275-16FE-BEBE-B7F90CBB2884}"/>
                  </a:ext>
                </a:extLst>
              </p:cNvPr>
              <p:cNvSpPr txBox="1"/>
              <p:nvPr/>
            </p:nvSpPr>
            <p:spPr>
              <a:xfrm>
                <a:off x="1042668" y="2848391"/>
                <a:ext cx="1722810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/2,</a:t>
                </a:r>
                <a:r>
                  <a:rPr lang="en-US" altLang="ja-JP" sz="2030" i="1" dirty="0">
                    <a:latin typeface="Helvetica" pitchFamily="2" charset="0"/>
                  </a:rPr>
                  <a:t>K</a:t>
                </a:r>
                <a:r>
                  <a:rPr lang="en-US" altLang="ja-JP" sz="2030" dirty="0">
                    <a:latin typeface="Helvetica" pitchFamily="2" charset="0"/>
                  </a:rPr>
                  <a:t>,0) || z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/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=1.5</m:t>
                          </m:r>
                        </m:oMath>
                      </m:oMathPara>
                    </a14:m>
                    <a:endParaRPr lang="ja-JP" altLang="en-US" sz="2610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2" name="テキスト ボックス 31">
                    <a:extLst>
                      <a:ext uri="{FF2B5EF4-FFF2-40B4-BE49-F238E27FC236}">
                        <a16:creationId xmlns:a16="http://schemas.microsoft.com/office/drawing/2014/main" id="{7AE92347-5EB7-56CC-84F8-2FB7B5D870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4449" y="5306296"/>
                    <a:ext cx="1131028" cy="3482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2A59189D-3F67-960D-48FF-97D37CC4E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5980" y="5253607"/>
                <a:ext cx="367495" cy="1053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864D5602-BB22-2BC0-EEF9-C7F7873AD913}"/>
                  </a:ext>
                </a:extLst>
              </p:cNvPr>
              <p:cNvSpPr txBox="1"/>
              <p:nvPr/>
            </p:nvSpPr>
            <p:spPr>
              <a:xfrm>
                <a:off x="3652921" y="3764375"/>
                <a:ext cx="1151160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(b),(d)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9A9C8317-B289-E45E-2B54-91EA95936842}"/>
                  </a:ext>
                </a:extLst>
              </p:cNvPr>
              <p:cNvSpPr txBox="1"/>
              <p:nvPr/>
            </p:nvSpPr>
            <p:spPr>
              <a:xfrm>
                <a:off x="2572546" y="3376633"/>
                <a:ext cx="1116433" cy="31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320" dirty="0">
                    <a:latin typeface="Helvetica" pitchFamily="2" charset="0"/>
                  </a:rPr>
                  <a:t>(c),(e) </a:t>
                </a:r>
                <a:endParaRPr lang="ja-JP" altLang="en-US" sz="2320">
                  <a:latin typeface="Helvetica" pitchFamily="2" charset="0"/>
                </a:endParaRPr>
              </a:p>
            </p:txBody>
          </p: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78989B6-9C45-FDB8-DD5C-F81211B48D2A}"/>
                  </a:ext>
                </a:extLst>
              </p:cNvPr>
              <p:cNvSpPr txBox="1"/>
              <p:nvPr/>
            </p:nvSpPr>
            <p:spPr>
              <a:xfrm>
                <a:off x="1237035" y="3984095"/>
                <a:ext cx="1252736" cy="28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030" dirty="0">
                    <a:latin typeface="Helvetica" pitchFamily="2" charset="0"/>
                  </a:rPr>
                  <a:t>(-</a:t>
                </a:r>
                <a:r>
                  <a:rPr lang="en-US" altLang="ja-JP" sz="2030" i="1" dirty="0">
                    <a:latin typeface="Helvetica" pitchFamily="2" charset="0"/>
                  </a:rPr>
                  <a:t>H</a:t>
                </a:r>
                <a:r>
                  <a:rPr lang="en-US" altLang="ja-JP" sz="2030" dirty="0">
                    <a:latin typeface="Helvetica" pitchFamily="2" charset="0"/>
                  </a:rPr>
                  <a:t>,0,0) || -x</a:t>
                </a:r>
                <a:endParaRPr lang="ja-JP" altLang="en-US" sz="2030">
                  <a:latin typeface="Helvetica" pitchFamily="2" charset="0"/>
                </a:endParaRPr>
              </a:p>
            </p:txBody>
          </p: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7A60ADD8-F22D-49F1-617D-B7A84488F7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4125" y="4084382"/>
                <a:ext cx="197243" cy="21650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46">
                <a:extLst>
                  <a:ext uri="{FF2B5EF4-FFF2-40B4-BE49-F238E27FC236}">
                    <a16:creationId xmlns:a16="http://schemas.microsoft.com/office/drawing/2014/main" id="{B6EBE5CE-B585-1304-7932-FB48A62D5C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19926" y="3738866"/>
                <a:ext cx="166323" cy="4094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/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73C432C5-9912-5F80-1606-C89FD0F78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157" y="4621379"/>
                  <a:ext cx="367495" cy="348269"/>
                </a:xfrm>
                <a:prstGeom prst="rect">
                  <a:avLst/>
                </a:prstGeom>
                <a:blipFill>
                  <a:blip r:embed="rId10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/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9DB39585-1E16-7964-A80B-94B5A7787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475" y="5449941"/>
                  <a:ext cx="367495" cy="348269"/>
                </a:xfrm>
                <a:prstGeom prst="rect">
                  <a:avLst/>
                </a:prstGeom>
                <a:blipFill>
                  <a:blip r:embed="rId11"/>
                  <a:stretch>
                    <a:fillRect l="-5128" r="-7692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/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21E88527-C5CA-A6B5-4EC0-80AB55A01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31" y="4255461"/>
                  <a:ext cx="367495" cy="348269"/>
                </a:xfrm>
                <a:prstGeom prst="rect">
                  <a:avLst/>
                </a:prstGeom>
                <a:blipFill>
                  <a:blip r:embed="rId12"/>
                  <a:stretch>
                    <a:fillRect l="-5000" r="-5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9678B9-2C36-E23E-B8CE-2189B5F8CF47}"/>
              </a:ext>
            </a:extLst>
          </p:cNvPr>
          <p:cNvSpPr/>
          <p:nvPr/>
        </p:nvSpPr>
        <p:spPr>
          <a:xfrm>
            <a:off x="11500350" y="3356323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14929C-0DA5-00F2-C1E9-421953772B48}"/>
              </a:ext>
            </a:extLst>
          </p:cNvPr>
          <p:cNvSpPr/>
          <p:nvPr/>
        </p:nvSpPr>
        <p:spPr>
          <a:xfrm>
            <a:off x="11500350" y="4100838"/>
            <a:ext cx="1889359" cy="69597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34F42D-12EA-9EBF-AB42-1526A5DD2D17}"/>
              </a:ext>
            </a:extLst>
          </p:cNvPr>
          <p:cNvSpPr txBox="1"/>
          <p:nvPr/>
        </p:nvSpPr>
        <p:spPr>
          <a:xfrm>
            <a:off x="-3795686" y="3196644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(a)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970054-5BF2-AB4B-192D-DD436B359141}"/>
              </a:ext>
            </a:extLst>
          </p:cNvPr>
          <p:cNvSpPr txBox="1"/>
          <p:nvPr/>
        </p:nvSpPr>
        <p:spPr>
          <a:xfrm>
            <a:off x="11272549" y="2200509"/>
            <a:ext cx="617477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(c)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7B5BB2-882C-6343-CCFF-88A57134F63F}"/>
              </a:ext>
            </a:extLst>
          </p:cNvPr>
          <p:cNvSpPr txBox="1"/>
          <p:nvPr/>
        </p:nvSpPr>
        <p:spPr>
          <a:xfrm>
            <a:off x="12896533" y="2983892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0C8524-6F0A-55D5-82E3-0C8F1308D075}"/>
              </a:ext>
            </a:extLst>
          </p:cNvPr>
          <p:cNvSpPr txBox="1"/>
          <p:nvPr/>
        </p:nvSpPr>
        <p:spPr>
          <a:xfrm>
            <a:off x="12896531" y="3844669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C5E7B33-EA7D-9238-476C-4A707376BB74}"/>
              </a:ext>
            </a:extLst>
          </p:cNvPr>
          <p:cNvSpPr txBox="1"/>
          <p:nvPr/>
        </p:nvSpPr>
        <p:spPr>
          <a:xfrm>
            <a:off x="15489593" y="2208341"/>
            <a:ext cx="53412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(f)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A9E60B-6770-1FD3-E171-28C8FDE90160}"/>
              </a:ext>
            </a:extLst>
          </p:cNvPr>
          <p:cNvSpPr txBox="1"/>
          <p:nvPr/>
        </p:nvSpPr>
        <p:spPr>
          <a:xfrm>
            <a:off x="15437301" y="572875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(g)</a:t>
            </a:r>
            <a:endParaRPr lang="ja-JP" altLang="en-US" sz="2900">
              <a:latin typeface="Helvetica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E94F3CA-52A0-4662-FB5C-886B950EF265}"/>
              </a:ext>
            </a:extLst>
          </p:cNvPr>
          <p:cNvSpPr txBox="1"/>
          <p:nvPr/>
        </p:nvSpPr>
        <p:spPr>
          <a:xfrm>
            <a:off x="11272546" y="6133840"/>
            <a:ext cx="63831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900" dirty="0">
                <a:latin typeface="Helvetica" pitchFamily="2" charset="0"/>
              </a:rPr>
              <a:t>(e)</a:t>
            </a:r>
            <a:endParaRPr lang="ja-JP" altLang="en-US" sz="290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87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9DEF-B979-0928-A479-8E73DF75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0FE25FDA-50C7-7C00-2D54-9B5AF1A3198C}"/>
              </a:ext>
            </a:extLst>
          </p:cNvPr>
          <p:cNvGrpSpPr/>
          <p:nvPr/>
        </p:nvGrpSpPr>
        <p:grpSpPr>
          <a:xfrm>
            <a:off x="2047700" y="3253051"/>
            <a:ext cx="8146387" cy="7313101"/>
            <a:chOff x="0" y="1449416"/>
            <a:chExt cx="5619095" cy="5044323"/>
          </a:xfrm>
        </p:grpSpPr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AA33E62-2CAC-C1B0-CBC9-ABBC1E07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973" y="3973739"/>
              <a:ext cx="2584122" cy="2520000"/>
            </a:xfrm>
            <a:prstGeom prst="rect">
              <a:avLst/>
            </a:prstGeom>
          </p:spPr>
        </p:pic>
        <p:pic>
          <p:nvPicPr>
            <p:cNvPr id="57" name="図 56">
              <a:extLst>
                <a:ext uri="{FF2B5EF4-FFF2-40B4-BE49-F238E27FC236}">
                  <a16:creationId xmlns:a16="http://schemas.microsoft.com/office/drawing/2014/main" id="{035D5D6D-C7EF-2891-47C5-33FF07FD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7797" y="1459120"/>
              <a:ext cx="2558474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BF63CD93-0AD3-B8CE-2ED2-837234B6CAE1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616D457A-495D-28E7-3228-E96BD587BDE8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79C88743-72E4-E0A0-2551-02A5949BCED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D8169FEF-851E-93AD-D5CA-72B6F799C7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B9566DC1-541E-61AE-D3DA-304FD8DA740E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6D37AF11-F834-3004-EE6A-E628DC1283BD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FB550CF7-79E7-9C67-460B-9E898914F82B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79A4CA15-CE06-9516-37B2-110AB8A95C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7F31A27-3DA5-172E-B5D5-2C7E62CD9A64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99161C07-EEFB-693B-1100-CA52FB0CE3CE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=1.5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2" name="テキスト ボックス 31">
                      <a:extLst>
                        <a:ext uri="{FF2B5EF4-FFF2-40B4-BE49-F238E27FC236}">
                          <a16:creationId xmlns:a16="http://schemas.microsoft.com/office/drawing/2014/main" id="{418172D6-4DFA-1B8A-4450-1DFF0D7FE8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5588" y="5310557"/>
                      <a:ext cx="1663391" cy="27772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5A8429CF-6851-7B76-D7C9-1B603CC87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15980" y="5253607"/>
                  <a:ext cx="367495" cy="10537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897C8024-ED61-3D7F-34B3-1318C646AC8D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FCC1D927-7618-BF28-1CB2-9342929C9204}"/>
                    </a:ext>
                  </a:extLst>
                </p:cNvPr>
                <p:cNvSpPr txBox="1"/>
                <p:nvPr/>
              </p:nvSpPr>
              <p:spPr>
                <a:xfrm>
                  <a:off x="2572546" y="3376633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E6CC278D-59FC-C596-997B-23346679A55B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B6324BF4-B2C9-BE16-3000-79F3989ED8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498A9FFA-52BC-301A-9AEA-F57C1C3A8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/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83476AA-E3CA-A39A-C351-CA18E1AB97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6887" y="4302402"/>
                    <a:ext cx="367495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9CC2BEDD-33F1-C8A6-8E8F-17123769C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3281194D-AE75-EF41-5C21-B1F7648CCF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0134" y="4620106"/>
                    <a:ext cx="367495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667" r="-40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12B51F4-3120-D81E-9737-DC84BCF22945}"/>
                </a:ext>
              </a:extLst>
            </p:cNvPr>
            <p:cNvSpPr txBox="1"/>
            <p:nvPr/>
          </p:nvSpPr>
          <p:spPr>
            <a:xfrm>
              <a:off x="101194" y="1455337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C8AFED0-2810-2871-6D09-AE8019CE1534}"/>
                </a:ext>
              </a:extLst>
            </p:cNvPr>
            <p:cNvSpPr txBox="1"/>
            <p:nvPr/>
          </p:nvSpPr>
          <p:spPr>
            <a:xfrm>
              <a:off x="2749068" y="1449416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813A061-E56A-55BE-3244-90EFF1666104}"/>
                </a:ext>
              </a:extLst>
            </p:cNvPr>
            <p:cNvSpPr txBox="1"/>
            <p:nvPr/>
          </p:nvSpPr>
          <p:spPr>
            <a:xfrm>
              <a:off x="2763197" y="3880572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/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269E7A2-DB48-E8DE-F0C4-92B7AF694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696" y="4688265"/>
                  <a:ext cx="260413" cy="340731"/>
                </a:xfrm>
                <a:prstGeom prst="rect">
                  <a:avLst/>
                </a:prstGeom>
                <a:blipFill>
                  <a:blip r:embed="rId11"/>
                  <a:stretch>
                    <a:fillRect l="-6667" r="-40000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/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0CEB1350-24D1-9AF8-D2DD-531901781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57" y="4345066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/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C6D91B9-6937-3DC9-7C44-EB00B049C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21" y="2855454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/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ADA07F1-FCA9-F33A-0387-B3635C5ED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353" y="2836037"/>
                  <a:ext cx="383597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444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/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ja-JP" sz="261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2610" b="1"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45C8C72-EF54-0907-D53F-188EE18C5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661" y="5204842"/>
                  <a:ext cx="260413" cy="340731"/>
                </a:xfrm>
                <a:prstGeom prst="rect">
                  <a:avLst/>
                </a:prstGeom>
                <a:blipFill>
                  <a:blip r:embed="rId15"/>
                  <a:stretch>
                    <a:fillRect l="-6452" r="-35484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44543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C170-F335-651A-F951-657DBD99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9C4AE89A-D298-113A-4BEE-D8B326EAFAFE}"/>
              </a:ext>
            </a:extLst>
          </p:cNvPr>
          <p:cNvGrpSpPr/>
          <p:nvPr/>
        </p:nvGrpSpPr>
        <p:grpSpPr>
          <a:xfrm>
            <a:off x="2047698" y="3042880"/>
            <a:ext cx="17454766" cy="7616017"/>
            <a:chOff x="0" y="1304448"/>
            <a:chExt cx="12039692" cy="5253264"/>
          </a:xfrm>
        </p:grpSpPr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C7A516E9-6D08-7296-3516-7055537419C2}"/>
                </a:ext>
              </a:extLst>
            </p:cNvPr>
            <p:cNvGrpSpPr/>
            <p:nvPr/>
          </p:nvGrpSpPr>
          <p:grpSpPr>
            <a:xfrm>
              <a:off x="0" y="1760680"/>
              <a:ext cx="3230160" cy="4065352"/>
              <a:chOff x="916584" y="2848391"/>
              <a:chExt cx="455840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71FFE5C6-D91A-CB5C-9E8A-D48160FBA15E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558408" cy="3313596"/>
                <a:chOff x="916584" y="2848391"/>
                <a:chExt cx="455840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092602D5-EEF5-C08E-8C7B-8227FC910BE4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467CA77C-55C4-7288-0212-CC8B41627B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A7D80F01-DEB8-7F0A-105B-011D9BEBCC0C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F0B80E4-F43C-5C04-0707-CF219EEED942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1AC554F-947E-E5C5-3858-1985CF8BF74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0D8E1A4-48AB-D5CA-E05E-1695A2CFA8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2" y="4795048"/>
                      <a:ext cx="552450" cy="27822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23949D64-1157-A2EB-24C9-A2DC938255F0}"/>
                    </a:ext>
                  </a:extLst>
                </p:cNvPr>
                <p:cNvSpPr txBox="1"/>
                <p:nvPr/>
              </p:nvSpPr>
              <p:spPr>
                <a:xfrm>
                  <a:off x="3669044" y="5704571"/>
                  <a:ext cx="1805948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D85BE51-CAB9-43E4-6974-19FA09B83736}"/>
                    </a:ext>
                  </a:extLst>
                </p:cNvPr>
                <p:cNvSpPr txBox="1"/>
                <p:nvPr/>
              </p:nvSpPr>
              <p:spPr>
                <a:xfrm>
                  <a:off x="1042666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30AD8D66-68B3-7812-2661-0C541649F54A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0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EF8A32C-07FB-9366-932F-18AE85876ED7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3A227D69-FD78-C1B9-6D52-AC1F92912850}"/>
                    </a:ext>
                  </a:extLst>
                </p:cNvPr>
                <p:cNvSpPr txBox="1"/>
                <p:nvPr/>
              </p:nvSpPr>
              <p:spPr>
                <a:xfrm>
                  <a:off x="1237035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4157B941-7AF7-E3EE-CE68-80E51CC811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1C5CA354-9228-233F-CA0C-1E6956DDC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7E7D509E-80FC-4B64-0A48-84E5A14EF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5" cy="27772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B745F376-D570-EFA5-DB8F-CB443A882F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5" cy="2777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A87DC8B0-67B6-D6C8-6F49-AC5A79428C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5" cy="2777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DCB0C07-A44C-9D84-C1B3-C19C73C9755B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0EF3055A-DF6D-D0C8-07D7-BB8BFA13C574}"/>
                </a:ext>
              </a:extLst>
            </p:cNvPr>
            <p:cNvGrpSpPr/>
            <p:nvPr/>
          </p:nvGrpSpPr>
          <p:grpSpPr>
            <a:xfrm>
              <a:off x="5505369" y="4037712"/>
              <a:ext cx="2520000" cy="2520000"/>
              <a:chOff x="5628949" y="1465041"/>
              <a:chExt cx="2520000" cy="2520000"/>
            </a:xfrm>
          </p:grpSpPr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4D2E0C07-6B50-91F6-CF6F-92BD681C74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8949" y="1465041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/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6" name="テキスト ボックス 25">
                    <a:extLst>
                      <a:ext uri="{FF2B5EF4-FFF2-40B4-BE49-F238E27FC236}">
                        <a16:creationId xmlns:a16="http://schemas.microsoft.com/office/drawing/2014/main" id="{B4F4095C-04E0-38AD-4A0B-58FD6952A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9873" y="2861375"/>
                    <a:ext cx="260413" cy="3407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BEDB8F53-CB35-1024-1BCC-EBFFA2ABC3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505" y="2841958"/>
                    <a:ext cx="383597" cy="3407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545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B7535547-DDEA-4266-5682-0732AC8978FA}"/>
                </a:ext>
              </a:extLst>
            </p:cNvPr>
            <p:cNvGrpSpPr/>
            <p:nvPr/>
          </p:nvGrpSpPr>
          <p:grpSpPr>
            <a:xfrm>
              <a:off x="5500802" y="1415953"/>
              <a:ext cx="2520000" cy="2520000"/>
              <a:chOff x="5616125" y="3979660"/>
              <a:chExt cx="2520000" cy="2520000"/>
            </a:xfrm>
          </p:grpSpPr>
          <p:pic>
            <p:nvPicPr>
              <p:cNvPr id="64" name="図 63">
                <a:extLst>
                  <a:ext uri="{FF2B5EF4-FFF2-40B4-BE49-F238E27FC236}">
                    <a16:creationId xmlns:a16="http://schemas.microsoft.com/office/drawing/2014/main" id="{9DA6E1CF-63BA-66AB-72A0-C608F31C0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6125" y="3979660"/>
                <a:ext cx="2520000" cy="252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/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8367FCFD-8F9C-F1AC-CFDF-2505BC3D89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5848" y="4694186"/>
                    <a:ext cx="260413" cy="3407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8FA1D851-E1D5-8B88-67BC-FB081F3E2D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709" y="4350987"/>
                    <a:ext cx="260413" cy="3407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/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697CE272-3282-A0AC-ADF3-975B5ED4C8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5813" y="5210763"/>
                    <a:ext cx="260413" cy="34073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667" r="-40000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545F46F3-71B5-A55E-A8C6-B0E29EB41C09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12776" y="1454024"/>
              <a:ext cx="2520000" cy="2520000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E75638A3-1194-05C7-9F45-34E2C5A8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77221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3198A34F-CF38-D30E-CC36-EE438C726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77222" y="1522465"/>
              <a:ext cx="3662469" cy="2289043"/>
            </a:xfrm>
            <a:prstGeom prst="rect">
              <a:avLst/>
            </a:prstGeom>
          </p:spPr>
        </p:pic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F6280A5A-1B19-3EFE-26A2-3647226F23ED}"/>
                </a:ext>
              </a:extLst>
            </p:cNvPr>
            <p:cNvCxnSpPr>
              <a:cxnSpLocks/>
            </p:cNvCxnSpPr>
            <p:nvPr/>
          </p:nvCxnSpPr>
          <p:spPr>
            <a:xfrm>
              <a:off x="2904555" y="3958537"/>
              <a:ext cx="5335912" cy="2381686"/>
            </a:xfrm>
            <a:prstGeom prst="bentConnector3">
              <a:avLst>
                <a:gd name="adj1" fmla="val 100168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5EEC3E89-E1D6-0262-43F5-7E8F730F8680}"/>
                </a:ext>
              </a:extLst>
            </p:cNvPr>
            <p:cNvPicPr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12776" y="4037712"/>
              <a:ext cx="2520000" cy="252000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5EA1ADE-D2EE-24BD-11E9-4FA7EA667201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734ECA0-201C-1EE0-6C5E-AB5DB1CD4301}"/>
                </a:ext>
              </a:extLst>
            </p:cNvPr>
            <p:cNvSpPr txBox="1"/>
            <p:nvPr/>
          </p:nvSpPr>
          <p:spPr>
            <a:xfrm>
              <a:off x="5343139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7BA03462-F0EB-6C9C-A02D-E8A2452BA86F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9567A65-CF10-BDC3-E82F-CB7E2FE2A343}"/>
                </a:ext>
              </a:extLst>
            </p:cNvPr>
            <p:cNvSpPr txBox="1"/>
            <p:nvPr/>
          </p:nvSpPr>
          <p:spPr>
            <a:xfrm>
              <a:off x="5343139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59C9A77-9B1D-7709-1D41-F6083757ADC0}"/>
                </a:ext>
              </a:extLst>
            </p:cNvPr>
            <p:cNvSpPr txBox="1"/>
            <p:nvPr/>
          </p:nvSpPr>
          <p:spPr>
            <a:xfrm>
              <a:off x="8299848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4236DAC4-76BC-069E-2D10-DDC645CA7CD9}"/>
                </a:ext>
              </a:extLst>
            </p:cNvPr>
            <p:cNvSpPr txBox="1"/>
            <p:nvPr/>
          </p:nvSpPr>
          <p:spPr>
            <a:xfrm>
              <a:off x="8307062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BA0E88F3-2A8F-020F-58EF-639767A1ACB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6887687-2376-F562-6CA8-9FA0AD0F1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5F36DBA1-1BB7-C300-F58E-92E3C5C054E7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FF2F69BC-3204-6658-6804-D82EBD56AE2A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7022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644D-ECA8-6923-9CC9-6EB6C5A0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9617658-169F-5890-944E-0947BFAF7C5A}"/>
              </a:ext>
            </a:extLst>
          </p:cNvPr>
          <p:cNvGrpSpPr/>
          <p:nvPr/>
        </p:nvGrpSpPr>
        <p:grpSpPr>
          <a:xfrm>
            <a:off x="2047699" y="3042879"/>
            <a:ext cx="17096478" cy="7625332"/>
            <a:chOff x="0" y="1304448"/>
            <a:chExt cx="11792557" cy="5259689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7AE0858-B01A-33AC-0EA1-8FBC6DCDB11E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802" y="4044137"/>
              <a:ext cx="2520000" cy="2520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44220B2-48D0-9725-EB09-DA3C4A0CE25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7036" y="4044137"/>
              <a:ext cx="2520000" cy="2520000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BB2B4FB-79A4-28C2-C349-7E46D7389316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57036" y="1472059"/>
              <a:ext cx="2520000" cy="2520000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14B35D73-45DD-A50D-27E6-1FD3BE85B376}"/>
                </a:ext>
              </a:extLst>
            </p:cNvPr>
            <p:cNvGrpSpPr/>
            <p:nvPr/>
          </p:nvGrpSpPr>
          <p:grpSpPr>
            <a:xfrm>
              <a:off x="0" y="1760680"/>
              <a:ext cx="3032447" cy="4065352"/>
              <a:chOff x="916584" y="2848391"/>
              <a:chExt cx="427939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E98E74E0-9299-F7BC-F034-DD95068D7FA1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279398" cy="3313596"/>
                <a:chOff x="916584" y="2848391"/>
                <a:chExt cx="427939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4D3A5CD7-A6D2-A888-68BD-6EBEB407E30E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F17BF4F1-02E1-AA78-A214-E3DE9E6403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1EC6ED84-3E35-84E9-1679-2B1137663AAD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455E532C-8DC2-2DF3-F23F-DB5E1E57F863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879EF664-8C9E-D004-CBB0-9C3CF62A0250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34874EFF-32E0-CE74-A12C-8C672C0DB3D0}"/>
                    </a:ext>
                  </a:extLst>
                </p:cNvPr>
                <p:cNvSpPr txBox="1"/>
                <p:nvPr/>
              </p:nvSpPr>
              <p:spPr>
                <a:xfrm>
                  <a:off x="3390033" y="5694499"/>
                  <a:ext cx="1805949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19399002-F0CD-AF86-6E55-3865BFA999BF}"/>
                    </a:ext>
                  </a:extLst>
                </p:cNvPr>
                <p:cNvSpPr txBox="1"/>
                <p:nvPr/>
              </p:nvSpPr>
              <p:spPr>
                <a:xfrm>
                  <a:off x="1042667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9F0FA78F-96B3-9B7B-272C-79F23975FEC2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0EFF2AEF-60CC-8F4F-BDEE-138CFC307F33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7023431-671A-202E-5659-523BE9526B8A}"/>
                    </a:ext>
                  </a:extLst>
                </p:cNvPr>
                <p:cNvSpPr txBox="1"/>
                <p:nvPr/>
              </p:nvSpPr>
              <p:spPr>
                <a:xfrm>
                  <a:off x="1237034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69C2B1E8-6BB2-598F-4AF0-E33ACDC99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F5C063D5-2C45-00E3-5982-142F6608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6328A7C-959B-61DF-1D14-6C549021269F}"/>
                </a:ext>
              </a:extLst>
            </p:cNvPr>
            <p:cNvSpPr txBox="1"/>
            <p:nvPr/>
          </p:nvSpPr>
          <p:spPr>
            <a:xfrm>
              <a:off x="174024" y="1454024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p:pic>
          <p:nvPicPr>
            <p:cNvPr id="64" name="図 63">
              <a:extLst>
                <a:ext uri="{FF2B5EF4-FFF2-40B4-BE49-F238E27FC236}">
                  <a16:creationId xmlns:a16="http://schemas.microsoft.com/office/drawing/2014/main" id="{D4F3D631-548E-9343-BE21-F2AE1E5A2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00802" y="1472059"/>
              <a:ext cx="2520000" cy="252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/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F3A1F26-F690-C347-F6E4-1D948B426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770" y="2130479"/>
                  <a:ext cx="260413" cy="340731"/>
                </a:xfrm>
                <a:prstGeom prst="rect">
                  <a:avLst/>
                </a:prstGeom>
                <a:blipFill>
                  <a:blip r:embed="rId12"/>
                  <a:stretch>
                    <a:fillRect l="-6452" r="-22581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/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C1F0604D-B003-4CFA-4D3B-6E47A9E37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9631" y="1787280"/>
                  <a:ext cx="260413" cy="340731"/>
                </a:xfrm>
                <a:prstGeom prst="rect">
                  <a:avLst/>
                </a:prstGeom>
                <a:blipFill>
                  <a:blip r:embed="rId13"/>
                  <a:stretch>
                    <a:fillRect l="-6667" r="-30000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/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3D9461A2-9178-C61D-66EE-E8F18B171E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735" y="2647056"/>
                  <a:ext cx="260413" cy="34073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B50D0F7-B4FF-E153-B366-C62B287B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30086" y="4170119"/>
              <a:ext cx="3662471" cy="2289044"/>
            </a:xfrm>
            <a:prstGeom prst="rect">
              <a:avLst/>
            </a:prstGeom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CD97F0E-72AB-7DF1-9234-FF6748D85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130087" y="1522465"/>
              <a:ext cx="3662469" cy="2289043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DB108A7-4367-AB8F-C714-1D6DDDF177DD}"/>
                </a:ext>
              </a:extLst>
            </p:cNvPr>
            <p:cNvSpPr txBox="1"/>
            <p:nvPr/>
          </p:nvSpPr>
          <p:spPr>
            <a:xfrm>
              <a:off x="2693580" y="130444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343EC2D-50C0-8D7F-BA66-8AC9543B4984}"/>
                </a:ext>
              </a:extLst>
            </p:cNvPr>
            <p:cNvSpPr txBox="1"/>
            <p:nvPr/>
          </p:nvSpPr>
          <p:spPr>
            <a:xfrm>
              <a:off x="5306068" y="1304448"/>
              <a:ext cx="425914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F06EB17-CFB0-6609-AFCF-268080303918}"/>
                </a:ext>
              </a:extLst>
            </p:cNvPr>
            <p:cNvSpPr txBox="1"/>
            <p:nvPr/>
          </p:nvSpPr>
          <p:spPr>
            <a:xfrm>
              <a:off x="2693580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225BAA4-2595-DE0C-4A1C-531B8E4DB114}"/>
                </a:ext>
              </a:extLst>
            </p:cNvPr>
            <p:cNvSpPr txBox="1"/>
            <p:nvPr/>
          </p:nvSpPr>
          <p:spPr>
            <a:xfrm>
              <a:off x="5306068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17B352D9-FFEE-7844-8F0C-28A2A4DC4FE3}"/>
                </a:ext>
              </a:extLst>
            </p:cNvPr>
            <p:cNvSpPr txBox="1"/>
            <p:nvPr/>
          </p:nvSpPr>
          <p:spPr>
            <a:xfrm>
              <a:off x="8052713" y="1304448"/>
              <a:ext cx="36841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E97D2C9-920B-0111-60DD-802975288412}"/>
                </a:ext>
              </a:extLst>
            </p:cNvPr>
            <p:cNvSpPr txBox="1"/>
            <p:nvPr/>
          </p:nvSpPr>
          <p:spPr>
            <a:xfrm>
              <a:off x="8059927" y="3937098"/>
              <a:ext cx="440288" cy="3715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5FC3B1A5-12CF-BD68-960A-FE4B4F990B17}"/>
                </a:ext>
              </a:extLst>
            </p:cNvPr>
            <p:cNvCxnSpPr/>
            <p:nvPr/>
          </p:nvCxnSpPr>
          <p:spPr>
            <a:xfrm flipH="1">
              <a:off x="873739" y="3670774"/>
              <a:ext cx="1206000" cy="116691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9C391C2-1A6A-5E4E-3DFB-DB088DCA1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590" y="3542701"/>
              <a:ext cx="819900" cy="79332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4F02C3CD-FC1B-CE12-0EE3-A05833FC127F}"/>
                </a:ext>
              </a:extLst>
            </p:cNvPr>
            <p:cNvSpPr txBox="1"/>
            <p:nvPr/>
          </p:nvSpPr>
          <p:spPr>
            <a:xfrm>
              <a:off x="750374" y="4240268"/>
              <a:ext cx="415813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742394B9-BCD0-8EB4-323B-081BFE0C54C7}"/>
                </a:ext>
              </a:extLst>
            </p:cNvPr>
            <p:cNvSpPr txBox="1"/>
            <p:nvPr/>
          </p:nvSpPr>
          <p:spPr>
            <a:xfrm>
              <a:off x="621034" y="4754381"/>
              <a:ext cx="514826" cy="309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/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32A124DE-763F-36A0-D974-31EA9654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752" y="5264842"/>
                  <a:ext cx="260413" cy="340731"/>
                </a:xfrm>
                <a:prstGeom prst="rect">
                  <a:avLst/>
                </a:prstGeom>
                <a:blipFill>
                  <a:blip r:embed="rId17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/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798A6C8A-B44B-4180-4EED-E4373CEA3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0921" y="5264842"/>
                  <a:ext cx="777419" cy="340731"/>
                </a:xfrm>
                <a:prstGeom prst="rect">
                  <a:avLst/>
                </a:prstGeom>
                <a:blipFill>
                  <a:blip r:embed="rId18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70499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1D13-821A-8EC0-D0B5-ADED7007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6A9D8BC0-5C97-5574-9FB7-9EC32C1000A0}"/>
              </a:ext>
            </a:extLst>
          </p:cNvPr>
          <p:cNvGrpSpPr/>
          <p:nvPr/>
        </p:nvGrpSpPr>
        <p:grpSpPr>
          <a:xfrm>
            <a:off x="2047699" y="3042879"/>
            <a:ext cx="16248863" cy="7550448"/>
            <a:chOff x="2047699" y="3042879"/>
            <a:chExt cx="16248863" cy="7550448"/>
          </a:xfrm>
        </p:grpSpPr>
        <p:pic>
          <p:nvPicPr>
            <p:cNvPr id="92" name="図 91">
              <a:extLst>
                <a:ext uri="{FF2B5EF4-FFF2-40B4-BE49-F238E27FC236}">
                  <a16:creationId xmlns:a16="http://schemas.microsoft.com/office/drawing/2014/main" id="{26AF97F6-DF48-AD43-76C2-7863694BC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12674" y="6939999"/>
              <a:ext cx="4383888" cy="3653240"/>
            </a:xfrm>
            <a:prstGeom prst="rect">
              <a:avLst/>
            </a:prstGeom>
          </p:spPr>
        </p:pic>
        <p:pic>
          <p:nvPicPr>
            <p:cNvPr id="94" name="図 93">
              <a:extLst>
                <a:ext uri="{FF2B5EF4-FFF2-40B4-BE49-F238E27FC236}">
                  <a16:creationId xmlns:a16="http://schemas.microsoft.com/office/drawing/2014/main" id="{83192BB6-2524-0D37-4239-E8FB86091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12674" y="3310922"/>
              <a:ext cx="4383548" cy="3652957"/>
            </a:xfrm>
            <a:prstGeom prst="rect">
              <a:avLst/>
            </a:prstGeom>
          </p:spPr>
        </p:pic>
        <p:pic>
          <p:nvPicPr>
            <p:cNvPr id="87" name="図 86">
              <a:extLst>
                <a:ext uri="{FF2B5EF4-FFF2-40B4-BE49-F238E27FC236}">
                  <a16:creationId xmlns:a16="http://schemas.microsoft.com/office/drawing/2014/main" id="{B52D947C-C2D9-FE5C-6303-3D081BADB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86959" y="6941948"/>
              <a:ext cx="3649343" cy="3649343"/>
            </a:xfrm>
            <a:prstGeom prst="rect">
              <a:avLst/>
            </a:prstGeom>
          </p:spPr>
        </p:pic>
        <p:pic>
          <p:nvPicPr>
            <p:cNvPr id="89" name="図 88">
              <a:extLst>
                <a:ext uri="{FF2B5EF4-FFF2-40B4-BE49-F238E27FC236}">
                  <a16:creationId xmlns:a16="http://schemas.microsoft.com/office/drawing/2014/main" id="{1CDDAB00-EEEA-D469-8B32-DFC5B41B8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85152" y="3310922"/>
              <a:ext cx="3652957" cy="3652957"/>
            </a:xfrm>
            <a:prstGeom prst="rect">
              <a:avLst/>
            </a:prstGeom>
          </p:spPr>
        </p:pic>
        <p:pic>
          <p:nvPicPr>
            <p:cNvPr id="85" name="図 84">
              <a:extLst>
                <a:ext uri="{FF2B5EF4-FFF2-40B4-BE49-F238E27FC236}">
                  <a16:creationId xmlns:a16="http://schemas.microsoft.com/office/drawing/2014/main" id="{C408060E-64DE-C9BE-E8EE-2C5516DCF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35858" y="3310922"/>
              <a:ext cx="3652957" cy="3652957"/>
            </a:xfrm>
            <a:prstGeom prst="rect">
              <a:avLst/>
            </a:prstGeom>
          </p:spPr>
        </p:pic>
        <p:pic>
          <p:nvPicPr>
            <p:cNvPr id="84" name="図 83">
              <a:extLst>
                <a:ext uri="{FF2B5EF4-FFF2-40B4-BE49-F238E27FC236}">
                  <a16:creationId xmlns:a16="http://schemas.microsoft.com/office/drawing/2014/main" id="{2050435D-AA34-1120-C70C-008426B88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09476" y="6939911"/>
              <a:ext cx="3653416" cy="3653416"/>
            </a:xfrm>
            <a:prstGeom prst="rect">
              <a:avLst/>
            </a:prstGeom>
          </p:spPr>
        </p:pic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A0ACBDB2-8280-5CF3-3805-E03D53D2A0AF}"/>
                </a:ext>
              </a:extLst>
            </p:cNvPr>
            <p:cNvGrpSpPr/>
            <p:nvPr/>
          </p:nvGrpSpPr>
          <p:grpSpPr>
            <a:xfrm>
              <a:off x="2047699" y="3704310"/>
              <a:ext cx="4396346" cy="5893820"/>
              <a:chOff x="916584" y="2848391"/>
              <a:chExt cx="4279398" cy="3313596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BF9ECB48-C2A5-378D-F389-9B1595A41A1D}"/>
                  </a:ext>
                </a:extLst>
              </p:cNvPr>
              <p:cNvGrpSpPr/>
              <p:nvPr/>
            </p:nvGrpSpPr>
            <p:grpSpPr>
              <a:xfrm>
                <a:off x="916584" y="2848391"/>
                <a:ext cx="4279398" cy="3313596"/>
                <a:chOff x="916584" y="2848391"/>
                <a:chExt cx="4279398" cy="3313596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577F6271-25D6-93ED-CF51-EC81A93BE98A}"/>
                    </a:ext>
                  </a:extLst>
                </p:cNvPr>
                <p:cNvGrpSpPr/>
                <p:nvPr/>
              </p:nvGrpSpPr>
              <p:grpSpPr>
                <a:xfrm>
                  <a:off x="916584" y="2950023"/>
                  <a:ext cx="3957145" cy="3211964"/>
                  <a:chOff x="916584" y="2950023"/>
                  <a:chExt cx="3957145" cy="3211964"/>
                </a:xfrm>
              </p:grpSpPr>
              <p:pic>
                <p:nvPicPr>
                  <p:cNvPr id="29" name="図 28">
                    <a:extLst>
                      <a:ext uri="{FF2B5EF4-FFF2-40B4-BE49-F238E27FC236}">
                        <a16:creationId xmlns:a16="http://schemas.microsoft.com/office/drawing/2014/main" id="{677E103F-48DA-C7FF-654F-20B5CB0A3F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rcRect l="23307" t="22048" r="4567" b="21066"/>
                  <a:stretch>
                    <a:fillRect/>
                  </a:stretch>
                </p:blipFill>
                <p:spPr>
                  <a:xfrm>
                    <a:off x="916584" y="3040979"/>
                    <a:ext cx="3957145" cy="3121008"/>
                  </a:xfrm>
                  <a:prstGeom prst="rect">
                    <a:avLst/>
                  </a:prstGeom>
                </p:spPr>
              </p:pic>
              <p:sp>
                <p:nvSpPr>
                  <p:cNvPr id="21" name="三角形 20">
                    <a:extLst>
                      <a:ext uri="{FF2B5EF4-FFF2-40B4-BE49-F238E27FC236}">
                        <a16:creationId xmlns:a16="http://schemas.microsoft.com/office/drawing/2014/main" id="{6D80FB8D-869C-33A4-92B9-2BB8F8488D32}"/>
                      </a:ext>
                    </a:extLst>
                  </p:cNvPr>
                  <p:cNvSpPr/>
                  <p:nvPr/>
                </p:nvSpPr>
                <p:spPr>
                  <a:xfrm rot="6000000">
                    <a:off x="4668592" y="5598775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2" name="三角形 21">
                    <a:extLst>
                      <a:ext uri="{FF2B5EF4-FFF2-40B4-BE49-F238E27FC236}">
                        <a16:creationId xmlns:a16="http://schemas.microsoft.com/office/drawing/2014/main" id="{A09500F8-DC32-F241-68A4-312FA746E018}"/>
                      </a:ext>
                    </a:extLst>
                  </p:cNvPr>
                  <p:cNvSpPr/>
                  <p:nvPr/>
                </p:nvSpPr>
                <p:spPr>
                  <a:xfrm>
                    <a:off x="922229" y="2950023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  <p:sp>
                <p:nvSpPr>
                  <p:cNvPr id="23" name="三角形 22">
                    <a:extLst>
                      <a:ext uri="{FF2B5EF4-FFF2-40B4-BE49-F238E27FC236}">
                        <a16:creationId xmlns:a16="http://schemas.microsoft.com/office/drawing/2014/main" id="{BB8CDD73-C90D-3576-0ED5-D579864F6562}"/>
                      </a:ext>
                    </a:extLst>
                  </p:cNvPr>
                  <p:cNvSpPr/>
                  <p:nvPr/>
                </p:nvSpPr>
                <p:spPr>
                  <a:xfrm rot="3659594">
                    <a:off x="1971744" y="4372580"/>
                    <a:ext cx="137160" cy="118241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 sz="261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BA290F6D-07CE-DB62-AA7A-98F73A2E9F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acc>
                              <m:accPr>
                                <m:chr m:val="̅"/>
                                <m:ctrlP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61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acc>
                            <m:r>
                              <a:rPr lang="en-US" altLang="ja-JP" sz="2610" i="1">
                                <a:latin typeface="Cambria Math" panose="02040503050406030204" pitchFamily="18" charset="0"/>
                              </a:rPr>
                              <m:t>02</m:t>
                            </m:r>
                          </m:oMath>
                        </m:oMathPara>
                      </a14:m>
                      <a:endParaRPr lang="ja-JP" altLang="en-US" sz="2610">
                        <a:latin typeface="Helvetica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テキスト ボックス 24">
                      <a:extLst>
                        <a:ext uri="{FF2B5EF4-FFF2-40B4-BE49-F238E27FC236}">
                          <a16:creationId xmlns:a16="http://schemas.microsoft.com/office/drawing/2014/main" id="{0CA45026-1033-A250-E385-F144441297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8541" y="4795048"/>
                      <a:ext cx="552451" cy="27822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4348" r="-304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0E9365F9-B15F-A82D-5B87-689F46C97B6F}"/>
                    </a:ext>
                  </a:extLst>
                </p:cNvPr>
                <p:cNvSpPr txBox="1"/>
                <p:nvPr/>
              </p:nvSpPr>
              <p:spPr>
                <a:xfrm>
                  <a:off x="3390033" y="5694499"/>
                  <a:ext cx="1805949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(0,0,</a:t>
                  </a:r>
                  <a:r>
                    <a:rPr lang="en-US" altLang="ja-JP" sz="2610" i="1" dirty="0">
                      <a:latin typeface="Helvetica" pitchFamily="2" charset="0"/>
                    </a:rPr>
                    <a:t>L</a:t>
                  </a:r>
                  <a:r>
                    <a:rPr lang="en-US" altLang="ja-JP" sz="2610" dirty="0">
                      <a:latin typeface="Helvetica" pitchFamily="2" charset="0"/>
                    </a:rPr>
                    <a:t>) || y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1FAE8912-24F2-C6CC-B286-AAF1C5A4646E}"/>
                    </a:ext>
                  </a:extLst>
                </p:cNvPr>
                <p:cNvSpPr txBox="1"/>
                <p:nvPr/>
              </p:nvSpPr>
              <p:spPr>
                <a:xfrm>
                  <a:off x="1042667" y="2848391"/>
                  <a:ext cx="2219984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/2,</a:t>
                  </a:r>
                  <a:r>
                    <a:rPr lang="en-US" altLang="ja-JP" sz="2610" i="1" dirty="0">
                      <a:latin typeface="Helvetica" pitchFamily="2" charset="0"/>
                    </a:rPr>
                    <a:t>K</a:t>
                  </a:r>
                  <a:r>
                    <a:rPr lang="en-US" altLang="ja-JP" sz="2610" dirty="0">
                      <a:latin typeface="Helvetica" pitchFamily="2" charset="0"/>
                    </a:rPr>
                    <a:t>,0) || z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B040C4B9-8886-593B-9790-AFA0B7D648D9}"/>
                    </a:ext>
                  </a:extLst>
                </p:cNvPr>
                <p:cNvSpPr txBox="1"/>
                <p:nvPr/>
              </p:nvSpPr>
              <p:spPr>
                <a:xfrm>
                  <a:off x="3652921" y="3764375"/>
                  <a:ext cx="115116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(d), (e)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4CE18518-6B1D-5DB0-90BD-56239CD7842A}"/>
                    </a:ext>
                  </a:extLst>
                </p:cNvPr>
                <p:cNvSpPr txBox="1"/>
                <p:nvPr/>
              </p:nvSpPr>
              <p:spPr>
                <a:xfrm>
                  <a:off x="2453484" y="3419406"/>
                  <a:ext cx="1116431" cy="2526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320" dirty="0">
                      <a:latin typeface="Helvetica" pitchFamily="2" charset="0"/>
                    </a:rPr>
                    <a:t>(b), (c) </a:t>
                  </a:r>
                  <a:endParaRPr lang="ja-JP" altLang="en-US" sz="2320">
                    <a:latin typeface="Helvetica" pitchFamily="2" charset="0"/>
                  </a:endParaRPr>
                </a:p>
              </p:txBody>
            </p:sp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6E7F4E33-EED4-87BF-DACA-1A7441F486D2}"/>
                    </a:ext>
                  </a:extLst>
                </p:cNvPr>
                <p:cNvSpPr txBox="1"/>
                <p:nvPr/>
              </p:nvSpPr>
              <p:spPr>
                <a:xfrm>
                  <a:off x="1237034" y="3984095"/>
                  <a:ext cx="2053113" cy="2777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2610" dirty="0">
                      <a:latin typeface="Helvetica" pitchFamily="2" charset="0"/>
                    </a:rPr>
                    <a:t>(-</a:t>
                  </a:r>
                  <a:r>
                    <a:rPr lang="en-US" altLang="ja-JP" sz="2610" i="1" dirty="0">
                      <a:latin typeface="Helvetica" pitchFamily="2" charset="0"/>
                    </a:rPr>
                    <a:t>H</a:t>
                  </a:r>
                  <a:r>
                    <a:rPr lang="en-US" altLang="ja-JP" sz="2610" dirty="0">
                      <a:latin typeface="Helvetica" pitchFamily="2" charset="0"/>
                    </a:rPr>
                    <a:t>,0,0) || -x</a:t>
                  </a:r>
                  <a:endParaRPr lang="ja-JP" altLang="en-US" sz="2610">
                    <a:latin typeface="Helvetica" pitchFamily="2" charset="0"/>
                  </a:endParaRPr>
                </a:p>
              </p:txBody>
            </p: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336E5896-4191-E075-4536-A5163043CC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34125" y="4084382"/>
                  <a:ext cx="197243" cy="2165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E6E85FAF-6CA3-4E0D-D32E-6E5A0E99A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19926" y="3738866"/>
                  <a:ext cx="166323" cy="4094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2C3D52EA-B424-D8D6-F9C6-377D77B5527B}"/>
                      </a:ext>
                    </a:extLst>
                  </p:cNvPr>
                  <p:cNvSpPr txBox="1"/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0" name="テキスト ボックス 59">
                    <a:extLst>
                      <a:ext uri="{FF2B5EF4-FFF2-40B4-BE49-F238E27FC236}">
                        <a16:creationId xmlns:a16="http://schemas.microsoft.com/office/drawing/2014/main" id="{64B5CF5C-7A66-3E3C-9CF6-810A95212C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2531" y="4451748"/>
                    <a:ext cx="367496" cy="27772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EFF48E1D-2BAA-E440-CED2-40EC580395F3}"/>
                      </a:ext>
                    </a:extLst>
                  </p:cNvPr>
                  <p:cNvSpPr txBox="1"/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1" name="テキスト ボックス 60">
                    <a:extLst>
                      <a:ext uri="{FF2B5EF4-FFF2-40B4-BE49-F238E27FC236}">
                        <a16:creationId xmlns:a16="http://schemas.microsoft.com/office/drawing/2014/main" id="{CF9F1BDC-E0E1-965B-E159-619891975B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6538" y="5261779"/>
                    <a:ext cx="367496" cy="27772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C21B1CB-C7B8-E122-D068-78BE617F04D5}"/>
                      </a:ext>
                    </a:extLst>
                  </p:cNvPr>
                  <p:cNvSpPr txBox="1"/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ja-JP" sz="261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ja-JP" altLang="en-US" sz="2610" b="1">
                      <a:latin typeface="Helvetica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DF96C108-B3B9-79D0-8969-59770B5A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68170" y="4477309"/>
                    <a:ext cx="367496" cy="27772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452" r="-35484" b="-7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0D5A5E1-C4CA-23E2-F6F8-B9D4DAD71562}"/>
                </a:ext>
              </a:extLst>
            </p:cNvPr>
            <p:cNvSpPr txBox="1"/>
            <p:nvPr/>
          </p:nvSpPr>
          <p:spPr>
            <a:xfrm>
              <a:off x="2299994" y="3259730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(a)</a:t>
              </a:r>
              <a:endParaRPr lang="ja-JP" altLang="en-US" sz="290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A848DD8-3A92-35BC-2F6A-B9D642FADF4C}"/>
                    </a:ext>
                  </a:extLst>
                </p:cNvPr>
                <p:cNvSpPr txBox="1"/>
                <p:nvPr/>
              </p:nvSpPr>
              <p:spPr>
                <a:xfrm>
                  <a:off x="7366053" y="4046862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A848DD8-3A92-35BC-2F6A-B9D642FAD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053" y="4046862"/>
                  <a:ext cx="377539" cy="493981"/>
                </a:xfrm>
                <a:prstGeom prst="rect">
                  <a:avLst/>
                </a:prstGeom>
                <a:blipFill>
                  <a:blip r:embed="rId14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167119C-5D36-7909-BA11-C7317623B9C7}"/>
                    </a:ext>
                  </a:extLst>
                </p:cNvPr>
                <p:cNvSpPr txBox="1"/>
                <p:nvPr/>
              </p:nvSpPr>
              <p:spPr>
                <a:xfrm>
                  <a:off x="8243222" y="3657130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167119C-5D36-7909-BA11-C7317623B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3222" y="3657130"/>
                  <a:ext cx="377539" cy="493981"/>
                </a:xfrm>
                <a:prstGeom prst="rect">
                  <a:avLst/>
                </a:prstGeom>
                <a:blipFill>
                  <a:blip r:embed="rId15"/>
                  <a:stretch>
                    <a:fillRect l="-3226" r="-25806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A54D924-0D54-8F7E-B6F8-E49E435472CA}"/>
                    </a:ext>
                  </a:extLst>
                </p:cNvPr>
                <p:cNvSpPr txBox="1"/>
                <p:nvPr/>
              </p:nvSpPr>
              <p:spPr>
                <a:xfrm>
                  <a:off x="8243222" y="5601303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5A54D924-0D54-8F7E-B6F8-E49E43547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3222" y="5601303"/>
                  <a:ext cx="377539" cy="493981"/>
                </a:xfrm>
                <a:prstGeom prst="rect">
                  <a:avLst/>
                </a:prstGeom>
                <a:blipFill>
                  <a:blip r:embed="rId16"/>
                  <a:stretch>
                    <a:fillRect l="-3226" r="-25806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DF15199E-1A39-BBA2-6F1C-9F4C333412DE}"/>
                </a:ext>
              </a:extLst>
            </p:cNvPr>
            <p:cNvSpPr txBox="1"/>
            <p:nvPr/>
          </p:nvSpPr>
          <p:spPr>
            <a:xfrm>
              <a:off x="5952767" y="3042879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(b)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583A30E-5EA1-39FF-FC94-5B3E026035DD}"/>
                </a:ext>
              </a:extLst>
            </p:cNvPr>
            <p:cNvSpPr txBox="1"/>
            <p:nvPr/>
          </p:nvSpPr>
          <p:spPr>
            <a:xfrm>
              <a:off x="9740269" y="3042879"/>
              <a:ext cx="617477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(c)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CEB0FD1-0277-C547-945B-1815563DE449}"/>
                </a:ext>
              </a:extLst>
            </p:cNvPr>
            <p:cNvSpPr txBox="1"/>
            <p:nvPr/>
          </p:nvSpPr>
          <p:spPr>
            <a:xfrm>
              <a:off x="5952767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(d)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D3A6D1A1-6F12-A4DE-FA93-A79F16C5417B}"/>
                </a:ext>
              </a:extLst>
            </p:cNvPr>
            <p:cNvSpPr txBox="1"/>
            <p:nvPr/>
          </p:nvSpPr>
          <p:spPr>
            <a:xfrm>
              <a:off x="9740269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(e)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6CC948B-AD28-421F-8741-3CB6803244F9}"/>
                </a:ext>
              </a:extLst>
            </p:cNvPr>
            <p:cNvSpPr txBox="1"/>
            <p:nvPr/>
          </p:nvSpPr>
          <p:spPr>
            <a:xfrm>
              <a:off x="13779596" y="3042879"/>
              <a:ext cx="534121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(f)</a:t>
              </a:r>
              <a:endParaRPr lang="ja-JP" altLang="en-US" sz="29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366EFBA8-8C34-0EE6-1B57-CA7F4BA57FFD}"/>
                </a:ext>
              </a:extLst>
            </p:cNvPr>
            <p:cNvSpPr txBox="1"/>
            <p:nvPr/>
          </p:nvSpPr>
          <p:spPr>
            <a:xfrm>
              <a:off x="13727498" y="6859612"/>
              <a:ext cx="63831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900" dirty="0">
                  <a:latin typeface="Helvetica" pitchFamily="2" charset="0"/>
                </a:rPr>
                <a:t>(g)</a:t>
              </a:r>
              <a:endParaRPr lang="ja-JP" altLang="en-US" sz="2900">
                <a:latin typeface="Helvetica" pitchFamily="2" charset="0"/>
              </a:endParaRP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87F14BDB-C98A-CBCD-FCAA-C2087A477911}"/>
                </a:ext>
              </a:extLst>
            </p:cNvPr>
            <p:cNvCxnSpPr/>
            <p:nvPr/>
          </p:nvCxnSpPr>
          <p:spPr>
            <a:xfrm flipH="1">
              <a:off x="3314418" y="6473504"/>
              <a:ext cx="1748421" cy="169175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D5A763BA-BB96-9AD5-B83D-A177174498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5457" y="6287828"/>
              <a:ext cx="1188665" cy="115014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6F086D42-5B9C-46E3-0F28-B70F28F17F7A}"/>
                </a:ext>
              </a:extLst>
            </p:cNvPr>
            <p:cNvSpPr txBox="1"/>
            <p:nvPr/>
          </p:nvSpPr>
          <p:spPr>
            <a:xfrm>
              <a:off x="3135568" y="7299139"/>
              <a:ext cx="602833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(f) </a:t>
              </a:r>
              <a:endParaRPr lang="ja-JP" altLang="en-US" sz="2320">
                <a:latin typeface="Helvetica" pitchFamily="2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7522D0B8-5044-DB47-4AF4-793901265A2A}"/>
                </a:ext>
              </a:extLst>
            </p:cNvPr>
            <p:cNvSpPr txBox="1"/>
            <p:nvPr/>
          </p:nvSpPr>
          <p:spPr>
            <a:xfrm>
              <a:off x="2948055" y="8044484"/>
              <a:ext cx="746379" cy="4493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20" dirty="0">
                  <a:latin typeface="Helvetica" pitchFamily="2" charset="0"/>
                </a:rPr>
                <a:t>(g) </a:t>
              </a:r>
              <a:endParaRPr lang="ja-JP" altLang="en-US" sz="2320">
                <a:latin typeface="Helvetica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FB1B2341-0E46-AB98-3286-0F294903B950}"/>
                    </a:ext>
                  </a:extLst>
                </p:cNvPr>
                <p:cNvSpPr txBox="1"/>
                <p:nvPr/>
              </p:nvSpPr>
              <p:spPr>
                <a:xfrm>
                  <a:off x="7077115" y="8467919"/>
                  <a:ext cx="377539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FB1B2341-0E46-AB98-3286-0F294903B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115" y="8467919"/>
                  <a:ext cx="377539" cy="493981"/>
                </a:xfrm>
                <a:prstGeom prst="rect">
                  <a:avLst/>
                </a:prstGeom>
                <a:blipFill>
                  <a:blip r:embed="rId14"/>
                  <a:stretch>
                    <a:fillRect l="-6452" r="-22581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38A224C9-C8BD-DFE3-239B-089A9D8DCB8F}"/>
                    </a:ext>
                  </a:extLst>
                </p:cNvPr>
                <p:cNvSpPr txBox="1"/>
                <p:nvPr/>
              </p:nvSpPr>
              <p:spPr>
                <a:xfrm>
                  <a:off x="7622853" y="8453623"/>
                  <a:ext cx="1127078" cy="493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ja-JP" sz="2610"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accent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38A224C9-C8BD-DFE3-239B-089A9D8DC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2853" y="8453623"/>
                  <a:ext cx="1127078" cy="493981"/>
                </a:xfrm>
                <a:prstGeom prst="rect">
                  <a:avLst/>
                </a:prstGeom>
                <a:blipFill>
                  <a:blip r:embed="rId17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4799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45B5-67E9-3F8E-FE3A-1FCA024E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図 63">
            <a:extLst>
              <a:ext uri="{FF2B5EF4-FFF2-40B4-BE49-F238E27FC236}">
                <a16:creationId xmlns:a16="http://schemas.microsoft.com/office/drawing/2014/main" id="{1C97C1B0-5955-B613-D943-E992444C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046" y="4460532"/>
            <a:ext cx="4656629" cy="4656629"/>
          </a:xfrm>
          <a:prstGeom prst="rect">
            <a:avLst/>
          </a:prstGeom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797EEE6-CEB7-5B31-C7AD-819CC09D1E56}"/>
              </a:ext>
            </a:extLst>
          </p:cNvPr>
          <p:cNvGrpSpPr/>
          <p:nvPr/>
        </p:nvGrpSpPr>
        <p:grpSpPr>
          <a:xfrm>
            <a:off x="4224256" y="4551176"/>
            <a:ext cx="4656629" cy="4656629"/>
            <a:chOff x="1672403" y="3305754"/>
            <a:chExt cx="3653417" cy="365341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1DF20F7-37BA-1C87-369B-E790BC9E04CA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2403" y="3305754"/>
              <a:ext cx="3653417" cy="365341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C134112-0B99-B025-29E3-8343A4614B29}"/>
                    </a:ext>
                  </a:extLst>
                </p:cNvPr>
                <p:cNvSpPr txBox="1"/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C134112-0B99-B025-29E3-8343A4614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524" y="4260311"/>
                  <a:ext cx="377539" cy="387559"/>
                </a:xfrm>
                <a:prstGeom prst="rect">
                  <a:avLst/>
                </a:prstGeom>
                <a:blipFill>
                  <a:blip r:embed="rId5"/>
                  <a:stretch>
                    <a:fillRect l="-5128" b="-769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FA3BCA-A848-47E9-44A0-671100F4F0B8}"/>
                    </a:ext>
                  </a:extLst>
                </p:cNvPr>
                <p:cNvSpPr txBox="1"/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FA3BCA-A848-47E9-44A0-671100F4F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0339" y="3762752"/>
                  <a:ext cx="377539" cy="387559"/>
                </a:xfrm>
                <a:prstGeom prst="rect">
                  <a:avLst/>
                </a:prstGeom>
                <a:blipFill>
                  <a:blip r:embed="rId6"/>
                  <a:stretch>
                    <a:fillRect l="-5263"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2E2EEB0-E004-3818-9FFF-04D864689A45}"/>
                    </a:ext>
                  </a:extLst>
                </p:cNvPr>
                <p:cNvSpPr txBox="1"/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ja-JP" sz="261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ja-JP" altLang="en-US" sz="2610">
                    <a:solidFill>
                      <a:schemeClr val="bg1"/>
                    </a:solidFill>
                    <a:latin typeface="Helvetica" pitchFamily="2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22E2EEB0-E004-3818-9FFF-04D864689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9109" y="4903528"/>
                  <a:ext cx="377539" cy="387559"/>
                </a:xfrm>
                <a:prstGeom prst="rect">
                  <a:avLst/>
                </a:prstGeom>
                <a:blipFill>
                  <a:blip r:embed="rId7"/>
                  <a:stretch>
                    <a:fillRect l="-5128" b="-75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18D2F8E9-CEA3-F5FD-1BA6-CCDA24DF57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3835" y="7217317"/>
            <a:ext cx="5309735" cy="3318584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3E9223C-9677-ACFD-871E-8EC9F44EDB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3835" y="3378832"/>
            <a:ext cx="5309732" cy="331858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95B1C4A-6632-ABF4-ADF1-D6D466E91208}"/>
              </a:ext>
            </a:extLst>
          </p:cNvPr>
          <p:cNvSpPr txBox="1"/>
          <p:nvPr/>
        </p:nvSpPr>
        <p:spPr>
          <a:xfrm>
            <a:off x="4224256" y="734518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Unpol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8756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6224210-8A84-C70F-AB0D-C6E47C20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AD1A11D-78F8-D43A-2275-2EBD5A82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967137E-B497-80B3-5FC3-777F0ECDE15C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D59DB7-763D-FB52-96A2-39C95BAE990E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35D50F-AF62-F121-34F2-FF59DEAC96C5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0D1E9EB-A672-8665-DB97-39E37506176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8949D95-EC9C-F28C-75CF-03C76B6E54D6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7D0D6C9-7EFE-6174-F461-4458D11A14C9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6E33F6-60D2-2ED5-4CFC-E871AEFC2418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F71808-DFD0-7B37-2DDC-D3FFE3695A32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1283968-087B-D71A-3373-1E68F78086F2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2D6BF6-B024-7295-0F9D-1D09ED54487D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6937011-057C-D696-2E73-DB9DE0641CC8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3A1E43E-0794-0668-91A1-5F143436C8E4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A5CC8D5-45B8-1C5D-292A-29124508D396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EF4726-49C8-20E9-0770-3B94B270A4AE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5E7CB37-C681-AABD-54AC-78EA6B0ED6BA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BAFDA75-32DE-CF75-ECD7-E830A6DD8594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EBDE48A-905E-1244-D8B8-8F1E3B0510A5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F04C406-A292-F0A2-EF33-0E8F770D880E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8ECE270-45A8-D19B-EC7A-F82F1981DC2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2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EBB5-0CED-5095-6915-5B0360DE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73CCB41-9238-C248-9AC0-E0F9B95B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5" t="19854" r="7074" b="42295"/>
          <a:stretch>
            <a:fillRect/>
          </a:stretch>
        </p:blipFill>
        <p:spPr>
          <a:xfrm>
            <a:off x="10363671" y="4278095"/>
            <a:ext cx="6783661" cy="49206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09ADB6-3119-27F2-63C5-D1819C7823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91" t="32396" r="57233" b="31851"/>
          <a:stretch>
            <a:fillRect/>
          </a:stretch>
        </p:blipFill>
        <p:spPr>
          <a:xfrm>
            <a:off x="3283937" y="4152898"/>
            <a:ext cx="6239059" cy="5461081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5F42A04-0F52-3BC6-78E8-F22A4E4AF343}"/>
              </a:ext>
            </a:extLst>
          </p:cNvPr>
          <p:cNvSpPr>
            <a:spLocks/>
          </p:cNvSpPr>
          <p:nvPr/>
        </p:nvSpPr>
        <p:spPr>
          <a:xfrm>
            <a:off x="4823659" y="4278094"/>
            <a:ext cx="2493342" cy="1481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DDD0F68-0752-0F28-7979-B72F0BC9D828}"/>
              </a:ext>
            </a:extLst>
          </p:cNvPr>
          <p:cNvSpPr>
            <a:spLocks/>
          </p:cNvSpPr>
          <p:nvPr/>
        </p:nvSpPr>
        <p:spPr>
          <a:xfrm>
            <a:off x="4088783" y="5341175"/>
            <a:ext cx="2493342" cy="21369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04E0C90-AA15-53A6-AD54-0AD17518EFA0}"/>
              </a:ext>
            </a:extLst>
          </p:cNvPr>
          <p:cNvSpPr>
            <a:spLocks/>
          </p:cNvSpPr>
          <p:nvPr/>
        </p:nvSpPr>
        <p:spPr>
          <a:xfrm>
            <a:off x="5204763" y="5576297"/>
            <a:ext cx="2493342" cy="1739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FC22278-AD3B-619B-BDA6-07B010328D3D}"/>
              </a:ext>
            </a:extLst>
          </p:cNvPr>
          <p:cNvCxnSpPr>
            <a:cxnSpLocks/>
          </p:cNvCxnSpPr>
          <p:nvPr/>
        </p:nvCxnSpPr>
        <p:spPr>
          <a:xfrm>
            <a:off x="7531319" y="4941138"/>
            <a:ext cx="0" cy="24014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2E8EB44-345D-5086-F7F8-BE772099FAA5}"/>
              </a:ext>
            </a:extLst>
          </p:cNvPr>
          <p:cNvCxnSpPr>
            <a:cxnSpLocks/>
          </p:cNvCxnSpPr>
          <p:nvPr/>
        </p:nvCxnSpPr>
        <p:spPr>
          <a:xfrm>
            <a:off x="3950195" y="6265691"/>
            <a:ext cx="4192383" cy="0"/>
          </a:xfrm>
          <a:prstGeom prst="line">
            <a:avLst/>
          </a:prstGeom>
          <a:ln w="6350">
            <a:solidFill>
              <a:srgbClr val="99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509E11-6287-4A91-DBDB-FDECCD48DD37}"/>
              </a:ext>
            </a:extLst>
          </p:cNvPr>
          <p:cNvSpPr/>
          <p:nvPr/>
        </p:nvSpPr>
        <p:spPr>
          <a:xfrm>
            <a:off x="-808135" y="4893556"/>
            <a:ext cx="460302" cy="152201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AF7241-EAB4-EBA6-FD9D-368B67CB8CCC}"/>
              </a:ext>
            </a:extLst>
          </p:cNvPr>
          <p:cNvSpPr/>
          <p:nvPr/>
        </p:nvSpPr>
        <p:spPr>
          <a:xfrm>
            <a:off x="4500806" y="4995899"/>
            <a:ext cx="1697796" cy="220553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6904E61-B402-E76F-0CC7-AC9E3EFD3A05}"/>
              </a:ext>
            </a:extLst>
          </p:cNvPr>
          <p:cNvSpPr/>
          <p:nvPr/>
        </p:nvSpPr>
        <p:spPr>
          <a:xfrm>
            <a:off x="-1412631" y="5225682"/>
            <a:ext cx="223392" cy="3550605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0569F23-1DC5-0208-15A3-1559A0170501}"/>
              </a:ext>
            </a:extLst>
          </p:cNvPr>
          <p:cNvSpPr/>
          <p:nvPr/>
        </p:nvSpPr>
        <p:spPr>
          <a:xfrm>
            <a:off x="5975220" y="5225680"/>
            <a:ext cx="223392" cy="3550606"/>
          </a:xfrm>
          <a:prstGeom prst="rect">
            <a:avLst/>
          </a:prstGeom>
          <a:solidFill>
            <a:schemeClr val="bg1">
              <a:lumMod val="50000"/>
              <a:alpha val="29804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311F5D1-21EF-02CD-3078-508349E69D9E}"/>
              </a:ext>
            </a:extLst>
          </p:cNvPr>
          <p:cNvSpPr/>
          <p:nvPr/>
        </p:nvSpPr>
        <p:spPr>
          <a:xfrm>
            <a:off x="4614532" y="5487085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805864E-69DD-E193-9ADF-F46C67CBCB70}"/>
              </a:ext>
            </a:extLst>
          </p:cNvPr>
          <p:cNvSpPr/>
          <p:nvPr/>
        </p:nvSpPr>
        <p:spPr>
          <a:xfrm>
            <a:off x="4623645" y="6849354"/>
            <a:ext cx="1442375" cy="194947"/>
          </a:xfrm>
          <a:prstGeom prst="rect">
            <a:avLst/>
          </a:prstGeom>
          <a:solidFill>
            <a:schemeClr val="accent2"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B0C8715-BA49-D76E-2964-54368FD7268A}"/>
              </a:ext>
            </a:extLst>
          </p:cNvPr>
          <p:cNvSpPr/>
          <p:nvPr/>
        </p:nvSpPr>
        <p:spPr>
          <a:xfrm>
            <a:off x="6150903" y="5806757"/>
            <a:ext cx="1148959" cy="879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B5F9D9-A68A-61D8-3690-1F7511692820}"/>
              </a:ext>
            </a:extLst>
          </p:cNvPr>
          <p:cNvSpPr/>
          <p:nvPr/>
        </p:nvSpPr>
        <p:spPr>
          <a:xfrm>
            <a:off x="4129585" y="7331078"/>
            <a:ext cx="3109503" cy="135495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AD02B35-C7A9-6F17-EDEF-8121A6B18013}"/>
              </a:ext>
            </a:extLst>
          </p:cNvPr>
          <p:cNvSpPr/>
          <p:nvPr/>
        </p:nvSpPr>
        <p:spPr>
          <a:xfrm>
            <a:off x="4500806" y="5693761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9AE440F-E879-E835-F2AD-7BE4BCBBCB16}"/>
              </a:ext>
            </a:extLst>
          </p:cNvPr>
          <p:cNvSpPr/>
          <p:nvPr/>
        </p:nvSpPr>
        <p:spPr>
          <a:xfrm>
            <a:off x="4500806" y="7055946"/>
            <a:ext cx="1697796" cy="66282"/>
          </a:xfrm>
          <a:prstGeom prst="rect">
            <a:avLst/>
          </a:prstGeom>
          <a:solidFill>
            <a:schemeClr val="bg1">
              <a:lumMod val="50000"/>
              <a:alpha val="3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39379E6-0C0A-6FEA-8119-D5FDE7962C86}"/>
              </a:ext>
            </a:extLst>
          </p:cNvPr>
          <p:cNvSpPr/>
          <p:nvPr/>
        </p:nvSpPr>
        <p:spPr>
          <a:xfrm>
            <a:off x="6150900" y="6703594"/>
            <a:ext cx="1148940" cy="97870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BD1FDDB-2AF4-ABAA-26CF-D5E71BAC74E3}"/>
              </a:ext>
            </a:extLst>
          </p:cNvPr>
          <p:cNvSpPr/>
          <p:nvPr/>
        </p:nvSpPr>
        <p:spPr>
          <a:xfrm rot="5400000">
            <a:off x="6692385" y="7023502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589D29-696F-6FA4-ACEB-0462CBBFA179}"/>
              </a:ext>
            </a:extLst>
          </p:cNvPr>
          <p:cNvSpPr/>
          <p:nvPr/>
        </p:nvSpPr>
        <p:spPr>
          <a:xfrm rot="5400000">
            <a:off x="6191495" y="7023886"/>
            <a:ext cx="529613" cy="85536"/>
          </a:xfrm>
          <a:prstGeom prst="rect">
            <a:avLst/>
          </a:prstGeom>
          <a:solidFill>
            <a:schemeClr val="tx2">
              <a:lumMod val="50000"/>
              <a:lumOff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61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F8C4D10A-0C85-9DA6-6B2F-9376C2D4380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-583533" y="4654495"/>
            <a:ext cx="0" cy="2823588"/>
          </a:xfrm>
          <a:prstGeom prst="line">
            <a:avLst/>
          </a:prstGeom>
          <a:ln w="9525">
            <a:solidFill>
              <a:srgbClr val="B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1285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DD6B-760E-BF3D-F696-BB92DC04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6BE99FC7-1D95-77A1-F9BA-C45902271B28}"/>
              </a:ext>
            </a:extLst>
          </p:cNvPr>
          <p:cNvGrpSpPr/>
          <p:nvPr/>
        </p:nvGrpSpPr>
        <p:grpSpPr>
          <a:xfrm>
            <a:off x="10971609" y="426075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6CDB06E-8459-FC42-080C-969500D41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FDE4319-D3E9-6EBC-C441-8E5ADF66B266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B3E31E-EAFD-FDC1-41DE-D959EEAE56FE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445A6CDF-39D4-F995-77DD-0F62BB9A041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C76704F-EA5E-F56B-91A8-35D8E98775B5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89FB841-4FFC-5BF3-A92C-F38E19F588EA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0E56DA2-504F-216B-6816-0D07848E9D34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D5E2DA0-B509-3174-12F0-55A42805FC59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29AEDE9-2C4B-2650-39B6-A3E5949DB786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C992BEC-E59A-344B-6FC1-79B3BE40D85C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6EC74C2-C53A-5EC8-5E36-E8ABDCBB155B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FCC1CA0-D673-FFB5-0F11-DEB4A9D7A8F7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9C122E6-9AD2-546A-468F-3650B2627C5A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967213C4-CF74-5C46-F500-47B642BE7461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EAA60E8-1401-AE3D-A1A9-E17E9F9E5047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18F2CC8-7865-869A-CD73-B5B07BBFC218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63A5126-FEE3-92B4-0A66-EB9E55CE3795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DA2C2778-222D-AE53-0402-7358BAFBB527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ED29CDD-E014-D7F2-0245-E0C8523FDFEA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25DCF32-C77C-5A9C-7D0A-45ADB028BC36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46482D6-E2B2-0AF5-035D-0B5CBE3C5B2E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1764EE5-606E-6BBA-4B9A-61C600991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A32D85E-CB21-55AE-C99D-A78990A3D545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5CD8C1C-83A7-F812-38DC-73B5D3E57C5D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AE3837A-F277-C47C-7E90-0B1DFC252F2D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0DF8B8CE-69A0-E407-DB5E-0BC6CAC05F0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72DED07-CE4F-3735-8913-59FD75B8CA04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89176F72-D9EE-15CA-D4D9-28AA348A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DE9E368-4D09-4C78-3C39-BB81DCFE28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A4AF68E-E0D2-BAB7-C24A-FB8E9917588C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9AC0F6FD-4E2E-5EAB-F851-144823EEB4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72B3C28-60D2-43F3-EDA7-627DFA89E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D3A542D9-199A-65D2-E35C-F2642674A9F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DBD41B5E-0C3D-75C4-ED70-AD4BD8625389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4FCE320-7367-1C98-3414-DDB071DB9B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0FE058D0-A7C7-C356-EA22-8341A75B3BEF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6" name="図 55">
            <a:extLst>
              <a:ext uri="{FF2B5EF4-FFF2-40B4-BE49-F238E27FC236}">
                <a16:creationId xmlns:a16="http://schemas.microsoft.com/office/drawing/2014/main" id="{EE7D1DDB-E135-077A-0581-665B110E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"/>
          <a:stretch>
            <a:fillRect/>
          </a:stretch>
        </p:blipFill>
        <p:spPr>
          <a:xfrm>
            <a:off x="3541202" y="4586761"/>
            <a:ext cx="7245610" cy="46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622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9A5F-7A2F-2D96-00CD-9E0D8051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92F67E8-3BB5-5990-BC89-23B1F9A35E77}"/>
              </a:ext>
            </a:extLst>
          </p:cNvPr>
          <p:cNvGrpSpPr/>
          <p:nvPr/>
        </p:nvGrpSpPr>
        <p:grpSpPr>
          <a:xfrm>
            <a:off x="3606784" y="3634747"/>
            <a:ext cx="6084181" cy="5255018"/>
            <a:chOff x="852714" y="2070100"/>
            <a:chExt cx="4196657" cy="3624729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62220FA-19C8-513A-A490-A2A79D59E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1" t="32396" r="57950" b="33200"/>
            <a:stretch>
              <a:fillRect/>
            </a:stretch>
          </p:blipFill>
          <p:spPr>
            <a:xfrm>
              <a:off x="852714" y="2070100"/>
              <a:ext cx="4196657" cy="3624729"/>
            </a:xfrm>
            <a:prstGeom prst="rect">
              <a:avLst/>
            </a:prstGeom>
          </p:spPr>
        </p:pic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F3793976-4855-FDA1-18F7-A652DA5BDE18}"/>
                </a:ext>
              </a:extLst>
            </p:cNvPr>
            <p:cNvSpPr>
              <a:spLocks/>
            </p:cNvSpPr>
            <p:nvPr/>
          </p:nvSpPr>
          <p:spPr>
            <a:xfrm>
              <a:off x="1914761" y="2156457"/>
              <a:ext cx="1719821" cy="102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4789FA5-6408-2A41-5475-501A69E265CF}"/>
                </a:ext>
              </a:extLst>
            </p:cNvPr>
            <p:cNvSpPr>
              <a:spLocks/>
            </p:cNvSpPr>
            <p:nvPr/>
          </p:nvSpPr>
          <p:spPr>
            <a:xfrm>
              <a:off x="1407869" y="2889733"/>
              <a:ext cx="1719821" cy="14739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1CE0E5-C94C-F013-C9C4-7A3BA334DEA7}"/>
                </a:ext>
              </a:extLst>
            </p:cNvPr>
            <p:cNvSpPr>
              <a:spLocks/>
            </p:cNvSpPr>
            <p:nvPr/>
          </p:nvSpPr>
          <p:spPr>
            <a:xfrm>
              <a:off x="2177633" y="3051912"/>
              <a:ext cx="1719821" cy="1200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63E08AB-F447-C0BA-F8F5-BB822889D951}"/>
                </a:ext>
              </a:extLst>
            </p:cNvPr>
            <p:cNvCxnSpPr>
              <a:cxnSpLocks/>
            </p:cNvCxnSpPr>
            <p:nvPr/>
          </p:nvCxnSpPr>
          <p:spPr>
            <a:xfrm>
              <a:off x="3782411" y="2613801"/>
              <a:ext cx="0" cy="165643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375FED41-AD23-02E7-5B4D-54842269C5F1}"/>
                </a:ext>
              </a:extLst>
            </p:cNvPr>
            <p:cNvCxnSpPr>
              <a:cxnSpLocks/>
            </p:cNvCxnSpPr>
            <p:nvPr/>
          </p:nvCxnSpPr>
          <p:spPr>
            <a:xfrm>
              <a:off x="1312276" y="3527432"/>
              <a:ext cx="2891760" cy="0"/>
            </a:xfrm>
            <a:prstGeom prst="line">
              <a:avLst/>
            </a:prstGeom>
            <a:ln w="6350">
              <a:solidFill>
                <a:srgbClr val="99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D57C65E-3F0C-C231-593D-49F9F7648C48}"/>
                </a:ext>
              </a:extLst>
            </p:cNvPr>
            <p:cNvSpPr>
              <a:spLocks/>
            </p:cNvSpPr>
            <p:nvPr/>
          </p:nvSpPr>
          <p:spPr>
            <a:xfrm>
              <a:off x="2109029" y="2580980"/>
              <a:ext cx="317500" cy="104983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351A01-CA74-A469-B0B7-55CC04C1F6CC}"/>
                </a:ext>
              </a:extLst>
            </p:cNvPr>
            <p:cNvSpPr>
              <a:spLocks/>
            </p:cNvSpPr>
            <p:nvPr/>
          </p:nvSpPr>
          <p:spPr>
            <a:xfrm>
              <a:off x="1692068" y="2651572"/>
              <a:ext cx="1171081" cy="152130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4092332-4943-3E31-8EC7-5B0F9FD02E61}"/>
                </a:ext>
              </a:extLst>
            </p:cNvPr>
            <p:cNvSpPr>
              <a:spLocks/>
            </p:cNvSpPr>
            <p:nvPr/>
          </p:nvSpPr>
          <p:spPr>
            <a:xfrm>
              <a:off x="1692069" y="2810069"/>
              <a:ext cx="154088" cy="2449084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D29AB7D-E7EF-42B6-4DAF-9C3291D2E801}"/>
                </a:ext>
              </a:extLst>
            </p:cNvPr>
            <p:cNvSpPr>
              <a:spLocks/>
            </p:cNvSpPr>
            <p:nvPr/>
          </p:nvSpPr>
          <p:spPr>
            <a:xfrm>
              <a:off x="2709068" y="2810068"/>
              <a:ext cx="154088" cy="2449085"/>
            </a:xfrm>
            <a:prstGeom prst="rect">
              <a:avLst/>
            </a:prstGeom>
            <a:solidFill>
              <a:schemeClr val="bg1">
                <a:lumMod val="50000"/>
                <a:alpha val="29804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C02E65E-C416-BB25-7162-09FCBE81D9F0}"/>
                </a:ext>
              </a:extLst>
            </p:cNvPr>
            <p:cNvSpPr>
              <a:spLocks/>
            </p:cNvSpPr>
            <p:nvPr/>
          </p:nvSpPr>
          <p:spPr>
            <a:xfrm>
              <a:off x="1770512" y="2990375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C1900A4-29AB-D650-6F60-072140CA425D}"/>
                </a:ext>
              </a:extLst>
            </p:cNvPr>
            <p:cNvSpPr>
              <a:spLocks/>
            </p:cNvSpPr>
            <p:nvPr/>
          </p:nvSpPr>
          <p:spPr>
            <a:xfrm>
              <a:off x="1776798" y="3930021"/>
              <a:ext cx="994900" cy="134468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DF5D923-8CC4-DDB9-FB63-09C094D4E2C9}"/>
                </a:ext>
              </a:extLst>
            </p:cNvPr>
            <p:cNvSpPr>
              <a:spLocks/>
            </p:cNvSpPr>
            <p:nvPr/>
          </p:nvSpPr>
          <p:spPr>
            <a:xfrm>
              <a:off x="2830247" y="3210874"/>
              <a:ext cx="792512" cy="60645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2DE7EEA-4FFD-F1A5-01C5-F36A262D157B}"/>
                </a:ext>
              </a:extLst>
            </p:cNvPr>
            <p:cNvSpPr>
              <a:spLocks/>
            </p:cNvSpPr>
            <p:nvPr/>
          </p:nvSpPr>
          <p:spPr>
            <a:xfrm>
              <a:off x="1436012" y="4262298"/>
              <a:ext cx="2144827" cy="934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FDA24D6-2BCD-DA76-3744-EEF51B4486A6}"/>
                </a:ext>
              </a:extLst>
            </p:cNvPr>
            <p:cNvSpPr>
              <a:spLocks/>
            </p:cNvSpPr>
            <p:nvPr/>
          </p:nvSpPr>
          <p:spPr>
            <a:xfrm>
              <a:off x="1692068" y="3132934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AD1CB97-CCFC-499E-970C-2FD27A2AB78A}"/>
                </a:ext>
              </a:extLst>
            </p:cNvPr>
            <p:cNvSpPr>
              <a:spLocks/>
            </p:cNvSpPr>
            <p:nvPr/>
          </p:nvSpPr>
          <p:spPr>
            <a:xfrm>
              <a:off x="1692068" y="4072522"/>
              <a:ext cx="1171081" cy="45719"/>
            </a:xfrm>
            <a:prstGeom prst="rect">
              <a:avLst/>
            </a:prstGeom>
            <a:solidFill>
              <a:schemeClr val="bg1">
                <a:lumMod val="50000"/>
                <a:alpha val="3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364B3D6-2908-E07D-4078-99279C9D8757}"/>
                </a:ext>
              </a:extLst>
            </p:cNvPr>
            <p:cNvSpPr>
              <a:spLocks/>
            </p:cNvSpPr>
            <p:nvPr/>
          </p:nvSpPr>
          <p:spPr>
            <a:xfrm>
              <a:off x="2830246" y="3829482"/>
              <a:ext cx="792499" cy="67507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01961519-FB41-08DE-D7AC-E186E11A75DF}"/>
                </a:ext>
              </a:extLst>
            </p:cNvPr>
            <p:cNvSpPr>
              <a:spLocks/>
            </p:cNvSpPr>
            <p:nvPr/>
          </p:nvSpPr>
          <p:spPr>
            <a:xfrm rot="5400000">
              <a:off x="3203742" y="4050144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D5A17DB-F20F-9CBD-7DE7-EA1E6817502B}"/>
                </a:ext>
              </a:extLst>
            </p:cNvPr>
            <p:cNvSpPr>
              <a:spLocks/>
            </p:cNvSpPr>
            <p:nvPr/>
          </p:nvSpPr>
          <p:spPr>
            <a:xfrm rot="5400000">
              <a:off x="2858245" y="4050409"/>
              <a:ext cx="365309" cy="59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24BF7686-97B6-455E-D697-704E8D64B2F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263952" y="2416085"/>
              <a:ext cx="0" cy="1947613"/>
            </a:xfrm>
            <a:prstGeom prst="line">
              <a:avLst/>
            </a:prstGeom>
            <a:ln w="9525">
              <a:solidFill>
                <a:srgbClr val="B0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8DFD19E-98F7-4836-0988-C7345BAF767A}"/>
                </a:ext>
              </a:extLst>
            </p:cNvPr>
            <p:cNvSpPr>
              <a:spLocks/>
            </p:cNvSpPr>
            <p:nvPr/>
          </p:nvSpPr>
          <p:spPr>
            <a:xfrm>
              <a:off x="3132027" y="3362883"/>
              <a:ext cx="188952" cy="32485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73A6CCB-CB1F-B9A8-39CD-E66E461B96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7524" y="3124843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9A229EE-B222-CF06-87B1-9F7E803928E3}"/>
                </a:ext>
              </a:extLst>
            </p:cNvPr>
            <p:cNvSpPr>
              <a:spLocks/>
            </p:cNvSpPr>
            <p:nvPr/>
          </p:nvSpPr>
          <p:spPr>
            <a:xfrm>
              <a:off x="4219750" y="3374860"/>
              <a:ext cx="765769" cy="263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Analyzing aperture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A09C081D-329E-5D4C-1CC4-F4A6F2045905}"/>
                </a:ext>
              </a:extLst>
            </p:cNvPr>
            <p:cNvSpPr>
              <a:spLocks/>
            </p:cNvSpPr>
            <p:nvPr/>
          </p:nvSpPr>
          <p:spPr>
            <a:xfrm>
              <a:off x="4049001" y="5096024"/>
              <a:ext cx="896602" cy="543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A8BD9B90-3468-56F6-0B12-9BA6D9D1AB43}"/>
                </a:ext>
              </a:extLst>
            </p:cNvPr>
            <p:cNvSpPr>
              <a:spLocks/>
            </p:cNvSpPr>
            <p:nvPr/>
          </p:nvSpPr>
          <p:spPr>
            <a:xfrm>
              <a:off x="3035375" y="2895107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27751780-ADA7-40A3-D3AC-D8DFC261A868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3226503" y="3124843"/>
              <a:ext cx="94476" cy="8603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E7AEB240-6D42-A8CE-FD1B-DD5634B1BFA3}"/>
                </a:ext>
              </a:extLst>
            </p:cNvPr>
            <p:cNvSpPr>
              <a:spLocks/>
            </p:cNvSpPr>
            <p:nvPr/>
          </p:nvSpPr>
          <p:spPr>
            <a:xfrm>
              <a:off x="2816989" y="2479926"/>
              <a:ext cx="731474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Sample + cryostat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A230DB4-30D2-2AF6-4C62-51D80336F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4801" y="2778658"/>
              <a:ext cx="673782" cy="61846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0CF8276D-C230-EF06-E986-772E3492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0211" y="2482660"/>
              <a:ext cx="14097" cy="21100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49A5C608-DDF0-E411-0D7B-4C40B965B8AB}"/>
                </a:ext>
              </a:extLst>
            </p:cNvPr>
            <p:cNvSpPr>
              <a:spLocks/>
            </p:cNvSpPr>
            <p:nvPr/>
          </p:nvSpPr>
          <p:spPr>
            <a:xfrm>
              <a:off x="1514622" y="2222791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sample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AC1A65A3-8716-2547-B246-71F9EFBDE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7959" y="3029555"/>
              <a:ext cx="257580" cy="6459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8319D57A-1A4D-7A03-DC84-F0B483FF18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56855" y="3059056"/>
              <a:ext cx="318364" cy="92974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3B30D9A-8306-C191-3AB1-F4397385B1E5}"/>
                </a:ext>
              </a:extLst>
            </p:cNvPr>
            <p:cNvSpPr>
              <a:spLocks/>
            </p:cNvSpPr>
            <p:nvPr/>
          </p:nvSpPr>
          <p:spPr>
            <a:xfrm>
              <a:off x="1032196" y="2798933"/>
              <a:ext cx="989033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Helmholtz coil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039F8C3-7B86-76FA-792E-E065CC74B902}"/>
                </a:ext>
              </a:extLst>
            </p:cNvPr>
            <p:cNvSpPr>
              <a:spLocks/>
            </p:cNvSpPr>
            <p:nvPr/>
          </p:nvSpPr>
          <p:spPr>
            <a:xfrm>
              <a:off x="3083848" y="4452530"/>
              <a:ext cx="862055" cy="263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450" dirty="0" err="1">
                  <a:solidFill>
                    <a:sysClr val="windowText" lastClr="000000"/>
                  </a:solidFill>
                  <a:latin typeface="Helvetica" pitchFamily="2" charset="0"/>
                </a:rPr>
                <a:t>ω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 stage for </a:t>
              </a:r>
              <a:r>
                <a:rPr lang="en-US" altLang="ja-JP" sz="1450" baseline="30000" dirty="0">
                  <a:solidFill>
                    <a:sysClr val="windowText" lastClr="000000"/>
                  </a:solidFill>
                  <a:latin typeface="Helvetica" pitchFamily="2" charset="0"/>
                </a:rPr>
                <a:t>3</a:t>
              </a:r>
              <a:r>
                <a:rPr lang="en-US" altLang="ja-JP" sz="1450" dirty="0">
                  <a:solidFill>
                    <a:sysClr val="windowText" lastClr="000000"/>
                  </a:solidFill>
                  <a:latin typeface="Helvetica" pitchFamily="2" charset="0"/>
                </a:rPr>
                <a:t>He-NSF</a:t>
              </a:r>
              <a:endParaRPr lang="ja-JP" altLang="en-US" sz="145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0E8215FE-0387-5908-F38F-4BF459DF1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8581" y="4303388"/>
              <a:ext cx="176362" cy="14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A09C641F-8DA1-AB87-DE14-0AFFB77DAFA8}"/>
                </a:ext>
              </a:extLst>
            </p:cNvPr>
            <p:cNvCxnSpPr>
              <a:cxnSpLocks/>
            </p:cNvCxnSpPr>
            <p:nvPr/>
          </p:nvCxnSpPr>
          <p:spPr>
            <a:xfrm>
              <a:off x="2266715" y="3532265"/>
              <a:ext cx="2671355" cy="396401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318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2298-46C8-4F07-E10D-E0A34B24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BA51727-8D1D-0F53-08EE-4D41A7BF3A00}"/>
              </a:ext>
            </a:extLst>
          </p:cNvPr>
          <p:cNvGrpSpPr/>
          <p:nvPr/>
        </p:nvGrpSpPr>
        <p:grpSpPr>
          <a:xfrm>
            <a:off x="4128194" y="3879215"/>
            <a:ext cx="13514586" cy="5579749"/>
            <a:chOff x="1435054" y="1881322"/>
            <a:chExt cx="9321892" cy="3848717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ED1BA6DF-6902-0FED-A11F-762568AD940F}"/>
                </a:ext>
              </a:extLst>
            </p:cNvPr>
            <p:cNvGrpSpPr/>
            <p:nvPr/>
          </p:nvGrpSpPr>
          <p:grpSpPr>
            <a:xfrm>
              <a:off x="1435054" y="2105310"/>
              <a:ext cx="9321892" cy="3624729"/>
              <a:chOff x="1030167" y="2144498"/>
              <a:chExt cx="9321892" cy="3624729"/>
            </a:xfrm>
          </p:grpSpPr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904671D5-B83F-2E42-6108-304FFCB506F9}"/>
                  </a:ext>
                </a:extLst>
              </p:cNvPr>
              <p:cNvGrpSpPr/>
              <p:nvPr/>
            </p:nvGrpSpPr>
            <p:grpSpPr>
              <a:xfrm>
                <a:off x="6155402" y="2144498"/>
                <a:ext cx="4196657" cy="3624729"/>
                <a:chOff x="852714" y="2070100"/>
                <a:chExt cx="4196657" cy="3624729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C11A4E79-5712-CBA8-B1A1-CF18FE8DF3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3891" t="32396" r="57950" b="33200"/>
                <a:stretch>
                  <a:fillRect/>
                </a:stretch>
              </p:blipFill>
              <p:spPr>
                <a:xfrm>
                  <a:off x="852714" y="2070100"/>
                  <a:ext cx="4196657" cy="3624729"/>
                </a:xfrm>
                <a:prstGeom prst="rect">
                  <a:avLst/>
                </a:prstGeom>
              </p:spPr>
            </p:pic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299C0F99-FA8D-5BA5-F30B-2490A961DE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914761" y="2156457"/>
                  <a:ext cx="1719821" cy="10221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8EC88B6D-F12C-308B-4ADD-8A704E977D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07869" y="2889733"/>
                  <a:ext cx="1719821" cy="14739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B8508876-F23E-59F0-903A-EA72A6904CA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77633" y="3051912"/>
                  <a:ext cx="1719821" cy="1200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55924938-B38D-91A4-CA35-B2BFD4D17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82411" y="2613801"/>
                  <a:ext cx="0" cy="165643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B1204F4C-B839-F7C0-83D0-6468B52AC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2276" y="3527432"/>
                  <a:ext cx="2891760" cy="0"/>
                </a:xfrm>
                <a:prstGeom prst="line">
                  <a:avLst/>
                </a:prstGeom>
                <a:ln w="6350">
                  <a:solidFill>
                    <a:srgbClr val="9999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正方形/長方形 5">
                  <a:extLst>
                    <a:ext uri="{FF2B5EF4-FFF2-40B4-BE49-F238E27FC236}">
                      <a16:creationId xmlns:a16="http://schemas.microsoft.com/office/drawing/2014/main" id="{E2369861-D2F0-5108-B9C7-72853A3668D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09029" y="2580980"/>
                  <a:ext cx="317500" cy="10498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9524C654-DAC7-48C7-1E78-342C4EFD809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2651572"/>
                  <a:ext cx="1171081" cy="152130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79D18EC8-4EE3-5226-7A41-28561CC5F96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9" y="2810069"/>
                  <a:ext cx="154088" cy="2449084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09C43C5C-9540-DD59-C6BB-F2C87D0800A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9068" y="2810068"/>
                  <a:ext cx="154088" cy="2449085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29804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2792D3F-7B93-B699-3EC4-C638A7068A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0512" y="2990375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F5B98E1B-C09D-789A-E6A2-0671CF3F46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76798" y="3930021"/>
                  <a:ext cx="994900" cy="134468"/>
                </a:xfrm>
                <a:prstGeom prst="rect">
                  <a:avLst/>
                </a:prstGeom>
                <a:solidFill>
                  <a:schemeClr val="accent2"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D90ACAE-FF90-FD1B-4923-93A53CA7A0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7" y="3210874"/>
                  <a:ext cx="792512" cy="6064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935A6050-87BD-EDC9-3C9B-5FB2BDDA46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36012" y="4262298"/>
                  <a:ext cx="2144827" cy="9346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439C51F2-BEAB-F192-0624-A44EDB712C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3132934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DE85DB9-4A33-1320-04B4-F5EA7150A3B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92068" y="4072522"/>
                  <a:ext cx="1171081" cy="45719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40082BC-870F-980E-EB0B-E9632FDE7D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30246" y="3829482"/>
                  <a:ext cx="792499" cy="67507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9B6DA284-5A73-3093-84FF-8E14A3644EA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3203742" y="4050144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EF06669D-8A5A-45D0-D1DF-DC591E33823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858245" y="4050409"/>
                  <a:ext cx="365309" cy="5900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  <a:alpha val="3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A5C73CDA-ABC4-A942-BDC6-DE35E7D9CD52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>
                  <a:off x="2263952" y="2416085"/>
                  <a:ext cx="0" cy="1947613"/>
                </a:xfrm>
                <a:prstGeom prst="line">
                  <a:avLst/>
                </a:prstGeom>
                <a:ln w="9525">
                  <a:solidFill>
                    <a:srgbClr val="B0FF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正方形/長方形 4">
                  <a:extLst>
                    <a:ext uri="{FF2B5EF4-FFF2-40B4-BE49-F238E27FC236}">
                      <a16:creationId xmlns:a16="http://schemas.microsoft.com/office/drawing/2014/main" id="{C11B96CC-ED98-7E20-2EC6-AA2AFD103E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32027" y="3362883"/>
                  <a:ext cx="188952" cy="324859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2610"/>
                </a:p>
              </p:txBody>
            </p: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2F71A8F6-7AA9-AFB2-0FB0-D94F4132F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7524" y="3124843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95A07015-C95D-0640-73B3-835E0C03B6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19750" y="3374860"/>
                  <a:ext cx="765769" cy="2638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Analyzing aperture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0B074A9E-8115-CE4B-23E5-47584CADC8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49001" y="5096024"/>
                  <a:ext cx="896602" cy="5438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A25CE5-84A8-4074-786F-824834DBAC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35375" y="2895107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2838932C-9C22-4B6B-A3F4-EC9DB1B48AFB}"/>
                    </a:ext>
                  </a:extLst>
                </p:cNvPr>
                <p:cNvCxnSpPr>
                  <a:cxnSpLocks/>
                  <a:stCxn id="19" idx="0"/>
                </p:cNvCxnSpPr>
                <p:nvPr/>
              </p:nvCxnSpPr>
              <p:spPr>
                <a:xfrm flipV="1">
                  <a:off x="3226503" y="3124843"/>
                  <a:ext cx="94476" cy="8603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BF1F899F-5209-C555-27B6-78D0CDB46B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816989" y="2479926"/>
                  <a:ext cx="731474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Sample + cryostat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E6D7E7A9-43B1-BE13-2195-65B147EE0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94801" y="2778658"/>
                  <a:ext cx="673782" cy="618463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D34A7889-2B39-5F9D-F0A8-306156EC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30211" y="2482660"/>
                  <a:ext cx="14097" cy="21100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8A66025-CED9-B21D-1AED-067B11792D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14622" y="2222791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sample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0D11C5C7-6470-2728-679E-742ADBF981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617959" y="3029555"/>
                  <a:ext cx="257580" cy="6459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C16E5D75-CD57-D9A1-6361-CEF030B241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56855" y="3059056"/>
                  <a:ext cx="318364" cy="92974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F0146967-A446-47E9-33CF-D733B3B122A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032196" y="2798933"/>
                  <a:ext cx="989033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Helmholtz coil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48" name="正方形/長方形 47">
                  <a:extLst>
                    <a:ext uri="{FF2B5EF4-FFF2-40B4-BE49-F238E27FC236}">
                      <a16:creationId xmlns:a16="http://schemas.microsoft.com/office/drawing/2014/main" id="{9683AB5A-6CC7-6D81-47DC-C2A679B6A2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83848" y="4452530"/>
                  <a:ext cx="862055" cy="26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sz="1450" dirty="0" err="1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ω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 stage for </a:t>
                  </a:r>
                  <a:r>
                    <a:rPr lang="en-US" altLang="ja-JP" sz="1450" baseline="3000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3</a:t>
                  </a:r>
                  <a:r>
                    <a:rPr lang="en-US" altLang="ja-JP" sz="1450" dirty="0">
                      <a:solidFill>
                        <a:sysClr val="windowText" lastClr="000000"/>
                      </a:solidFill>
                      <a:latin typeface="Helvetica" pitchFamily="2" charset="0"/>
                    </a:rPr>
                    <a:t>He-NSF</a:t>
                  </a:r>
                  <a:endParaRPr lang="ja-JP" altLang="en-US" sz="1450">
                    <a:solidFill>
                      <a:sysClr val="windowText" lastClr="000000"/>
                    </a:solidFill>
                    <a:latin typeface="Helvetica" pitchFamily="2" charset="0"/>
                  </a:endParaRPr>
                </a:p>
              </p:txBody>
            </p:sp>
            <p:cxnSp>
              <p:nvCxnSpPr>
                <p:cNvPr id="49" name="直線コネクタ 48">
                  <a:extLst>
                    <a:ext uri="{FF2B5EF4-FFF2-40B4-BE49-F238E27FC236}">
                      <a16:creationId xmlns:a16="http://schemas.microsoft.com/office/drawing/2014/main" id="{3DE6CDB8-A48D-2A58-E989-3AE7562DFA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978581" y="4303388"/>
                  <a:ext cx="176362" cy="14634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線コネクタ 52">
                  <a:extLst>
                    <a:ext uri="{FF2B5EF4-FFF2-40B4-BE49-F238E27FC236}">
                      <a16:creationId xmlns:a16="http://schemas.microsoft.com/office/drawing/2014/main" id="{52330901-9525-A7C2-5AF1-58BD514D10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6715" y="3532265"/>
                  <a:ext cx="2671355" cy="39640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6" name="図 55">
                <a:extLst>
                  <a:ext uri="{FF2B5EF4-FFF2-40B4-BE49-F238E27FC236}">
                    <a16:creationId xmlns:a16="http://schemas.microsoft.com/office/drawing/2014/main" id="{A8A31EDB-EE8A-F9A7-2897-CD14A847D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25"/>
              <a:stretch>
                <a:fillRect/>
              </a:stretch>
            </p:blipFill>
            <p:spPr>
              <a:xfrm>
                <a:off x="1030167" y="2369363"/>
                <a:ext cx="4997770" cy="3175000"/>
              </a:xfrm>
              <a:prstGeom prst="rect">
                <a:avLst/>
              </a:prstGeom>
            </p:spPr>
          </p:pic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AB3F209-EC28-2FE5-73D7-2C2E606FE924}"/>
                </a:ext>
              </a:extLst>
            </p:cNvPr>
            <p:cNvSpPr txBox="1"/>
            <p:nvPr/>
          </p:nvSpPr>
          <p:spPr>
            <a:xfrm>
              <a:off x="2090057" y="1883476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(a)</a:t>
              </a:r>
              <a:endParaRPr lang="ja-JP" altLang="en-US" sz="3480">
                <a:latin typeface="Helvetica" pitchFamily="2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077254A-FFF6-CAE5-EBA8-54424BB00426}"/>
                </a:ext>
              </a:extLst>
            </p:cNvPr>
            <p:cNvSpPr txBox="1"/>
            <p:nvPr/>
          </p:nvSpPr>
          <p:spPr>
            <a:xfrm>
              <a:off x="6745976" y="1881322"/>
              <a:ext cx="504418" cy="433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3480" dirty="0">
                  <a:latin typeface="Helvetica" pitchFamily="2" charset="0"/>
                </a:rPr>
                <a:t>(b)</a:t>
              </a:r>
              <a:endParaRPr lang="ja-JP" altLang="en-US" sz="348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7183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1BEAD26-29DE-398E-C534-1960DFF24743}"/>
              </a:ext>
            </a:extLst>
          </p:cNvPr>
          <p:cNvGrpSpPr/>
          <p:nvPr/>
        </p:nvGrpSpPr>
        <p:grpSpPr>
          <a:xfrm>
            <a:off x="8799434" y="3606785"/>
            <a:ext cx="3329280" cy="2243078"/>
            <a:chOff x="4657113" y="1693411"/>
            <a:chExt cx="2296422" cy="1547197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46D07320-5366-A4E8-30C5-10489B15B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156" r="28298" b="74578"/>
            <a:stretch>
              <a:fillRect/>
            </a:stretch>
          </p:blipFill>
          <p:spPr>
            <a:xfrm>
              <a:off x="4657113" y="1693411"/>
              <a:ext cx="2296422" cy="154719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1A2A48F-AFD3-6054-90F4-4096135C4504}"/>
                </a:ext>
              </a:extLst>
            </p:cNvPr>
            <p:cNvSpPr/>
            <p:nvPr/>
          </p:nvSpPr>
          <p:spPr>
            <a:xfrm>
              <a:off x="4747364" y="3147739"/>
              <a:ext cx="217543" cy="928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610"/>
            </a:p>
          </p:txBody>
        </p:sp>
      </p:grpSp>
    </p:spTree>
    <p:extLst>
      <p:ext uri="{BB962C8B-B14F-4D97-AF65-F5344CB8AC3E}">
        <p14:creationId xmlns:p14="http://schemas.microsoft.com/office/powerpoint/2010/main" val="7898104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CF2FA-205A-1C22-6598-C4F530C3D7C0}"/>
              </a:ext>
            </a:extLst>
          </p:cNvPr>
          <p:cNvSpPr txBox="1"/>
          <p:nvPr/>
        </p:nvSpPr>
        <p:spPr>
          <a:xfrm>
            <a:off x="2647018" y="5431714"/>
            <a:ext cx="3406702" cy="1297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610" dirty="0"/>
              <a:t>X</a:t>
            </a:r>
            <a:r>
              <a:rPr lang="ja-JP" altLang="en-US" sz="2610"/>
              <a:t>軸</a:t>
            </a:r>
            <a:r>
              <a:rPr lang="en-US" altLang="ja-JP" sz="2610" dirty="0"/>
              <a:t> : </a:t>
            </a:r>
            <a:r>
              <a:rPr lang="ja-JP" altLang="en-US" sz="2610"/>
              <a:t>水平</a:t>
            </a:r>
            <a:endParaRPr lang="en-US" altLang="ja-JP" sz="2610" dirty="0"/>
          </a:p>
          <a:p>
            <a:r>
              <a:rPr lang="en-US" altLang="ja-JP" sz="2610" dirty="0"/>
              <a:t>Y</a:t>
            </a:r>
            <a:r>
              <a:rPr lang="ja-JP" altLang="en-US" sz="2610"/>
              <a:t>軸：鉛直方向</a:t>
            </a:r>
            <a:endParaRPr lang="en-US" altLang="ja-JP" sz="2610" dirty="0"/>
          </a:p>
          <a:p>
            <a:r>
              <a:rPr lang="en-US" altLang="ja-JP" sz="2610" dirty="0"/>
              <a:t>Z</a:t>
            </a:r>
            <a:r>
              <a:rPr lang="ja-JP" altLang="en-US" sz="2610"/>
              <a:t>軸：中性子進行方向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/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610"/>
                  <a:t>磁場中での中性子スピンの時間発展</a:t>
                </a:r>
                <a:br>
                  <a:rPr lang="en-US" altLang="ja-JP" sz="2610" dirty="0"/>
                </a:br>
                <a:r>
                  <a:rPr lang="ja-JP" altLang="en-US" sz="2610"/>
                  <a:t>→ブロッホ方程式</a:t>
                </a:r>
                <a:endParaRPr lang="en-US" altLang="ja-JP" sz="261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altLang="ja-JP" sz="261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61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a:rPr lang="en-US" altLang="ja-JP" sz="261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ja-JP" sz="261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ja-JP" sz="2610" b="1" i="1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altLang="ja-JP" sz="2610" b="1" dirty="0"/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中性子の磁気モーメント</a:t>
                </a:r>
                <a:r>
                  <a:rPr lang="en-US" altLang="ja-JP" sz="2610" dirty="0"/>
                  <a:t>,</a:t>
                </a:r>
                <a:br>
                  <a:rPr lang="en-US" altLang="ja-JP" sz="2610" dirty="0"/>
                </a:br>
                <a:r>
                  <a:rPr lang="en-US" altLang="ja-JP" sz="261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altLang="ja-JP" sz="261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中性子の磁気回転比</a:t>
                </a:r>
                <a:r>
                  <a:rPr lang="en-US" altLang="ja-JP" sz="2610" dirty="0"/>
                  <a:t>,</a:t>
                </a:r>
              </a:p>
              <a:p>
                <a:r>
                  <a:rPr lang="en-US" altLang="ja-JP" sz="261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 </a:t>
                </a:r>
                <a:r>
                  <a:rPr lang="en-US" altLang="ja-JP" sz="2610" dirty="0"/>
                  <a:t>: </a:t>
                </a:r>
                <a:r>
                  <a:rPr lang="ja-JP" altLang="en-US" sz="2610"/>
                  <a:t>中性子が通過するパス上の磁場</a:t>
                </a:r>
                <a:r>
                  <a:rPr lang="en-US" altLang="ja-JP" sz="2610" dirty="0"/>
                  <a:t>.</a:t>
                </a: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6415C285-22B9-66D6-31C5-BD4BDFF0B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018" y="2157483"/>
                <a:ext cx="5545108" cy="2863220"/>
              </a:xfrm>
              <a:prstGeom prst="rect">
                <a:avLst/>
              </a:prstGeom>
              <a:blipFill>
                <a:blip r:embed="rId2"/>
                <a:stretch>
                  <a:fillRect l="-2055" t="-1762" r="-913" b="-4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C85037-59E1-40F5-0E90-AEE34AB7FF87}"/>
              </a:ext>
            </a:extLst>
          </p:cNvPr>
          <p:cNvSpPr txBox="1"/>
          <p:nvPr/>
        </p:nvSpPr>
        <p:spPr>
          <a:xfrm>
            <a:off x="10144413" y="9463165"/>
            <a:ext cx="9040729" cy="89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10" dirty="0"/>
              <a:t>1 </a:t>
            </a:r>
            <a:r>
              <a:rPr lang="en-US" altLang="ja-JP" sz="2610" dirty="0" err="1"/>
              <a:t>mT</a:t>
            </a:r>
            <a:r>
              <a:rPr lang="ja-JP" altLang="en-US" sz="2610"/>
              <a:t>を</a:t>
            </a:r>
            <a:r>
              <a:rPr lang="en-US" altLang="ja-JP" sz="2610" dirty="0"/>
              <a:t>Z</a:t>
            </a:r>
            <a:r>
              <a:rPr lang="ja-JP" altLang="en-US" sz="2610"/>
              <a:t>軸方向へ印加しているパス上を初期位相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x</a:t>
            </a:r>
            <a:r>
              <a:rPr lang="en-US" altLang="ja-JP" sz="2610" dirty="0" err="1"/>
              <a:t>,σ</a:t>
            </a:r>
            <a:r>
              <a:rPr lang="en-US" altLang="ja-JP" sz="2610" baseline="-25000" dirty="0" err="1"/>
              <a:t>z</a:t>
            </a:r>
            <a:r>
              <a:rPr lang="en-US" altLang="ja-JP" sz="2610" dirty="0"/>
              <a:t>=0, </a:t>
            </a:r>
            <a:r>
              <a:rPr lang="en-US" altLang="ja-JP" sz="2610" dirty="0" err="1"/>
              <a:t>σ</a:t>
            </a:r>
            <a:r>
              <a:rPr lang="en-US" altLang="ja-JP" sz="2610" baseline="-25000" dirty="0" err="1"/>
              <a:t>y</a:t>
            </a:r>
            <a:r>
              <a:rPr lang="en-US" altLang="ja-JP" sz="2610" dirty="0"/>
              <a:t>=1</a:t>
            </a:r>
            <a:r>
              <a:rPr lang="ja-JP" altLang="en-US" sz="2610"/>
              <a:t>の中性子が通過するときの各位置でのスピン状態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45DE635-D9A3-BEEC-B736-6CC8E958B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940" y="1490743"/>
            <a:ext cx="10734231" cy="797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3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176564</TotalTime>
  <Words>2311</Words>
  <Application>Microsoft Macintosh PowerPoint</Application>
  <PresentationFormat>ユーザー設定</PresentationFormat>
  <Paragraphs>685</Paragraphs>
  <Slides>66</Slides>
  <Notes>45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66</vt:i4>
      </vt:variant>
    </vt:vector>
  </HeadingPairs>
  <TitlesOfParts>
    <vt:vector size="74" baseType="lpstr">
      <vt:lpstr>游ゴシック</vt:lpstr>
      <vt:lpstr>Aptos</vt:lpstr>
      <vt:lpstr>Aptos Display</vt:lpstr>
      <vt:lpstr>Arial</vt:lpstr>
      <vt:lpstr>Cambria Math</vt:lpstr>
      <vt:lpstr>Helvetica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30</cp:revision>
  <dcterms:created xsi:type="dcterms:W3CDTF">2025-12-28T23:03:07Z</dcterms:created>
  <dcterms:modified xsi:type="dcterms:W3CDTF">2026-07-14T00:38:26Z</dcterms:modified>
</cp:coreProperties>
</file>